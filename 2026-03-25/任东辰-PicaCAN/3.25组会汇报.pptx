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2"/>
  </p:notesMasterIdLst>
  <p:sldIdLst>
    <p:sldId id="1855" r:id="rId2"/>
    <p:sldId id="1787" r:id="rId3"/>
    <p:sldId id="1788" r:id="rId4"/>
    <p:sldId id="1886" r:id="rId5"/>
    <p:sldId id="1887" r:id="rId6"/>
    <p:sldId id="1857" r:id="rId7"/>
    <p:sldId id="1888" r:id="rId8"/>
    <p:sldId id="1889" r:id="rId9"/>
    <p:sldId id="1890" r:id="rId10"/>
    <p:sldId id="1891" r:id="rId11"/>
    <p:sldId id="1892" r:id="rId12"/>
    <p:sldId id="1894" r:id="rId13"/>
    <p:sldId id="1896" r:id="rId14"/>
    <p:sldId id="1895" r:id="rId15"/>
    <p:sldId id="1893" r:id="rId16"/>
    <p:sldId id="1858" r:id="rId17"/>
    <p:sldId id="1882" r:id="rId18"/>
    <p:sldId id="1897" r:id="rId19"/>
    <p:sldId id="1898" r:id="rId20"/>
    <p:sldId id="1825" r:id="rId21"/>
  </p:sldIdLst>
  <p:sldSz cx="12192000" cy="6858000"/>
  <p:notesSz cx="6858000" cy="9144000"/>
  <p:custDataLst>
    <p:tags r:id="rId23"/>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21" autoAdjust="0"/>
    <p:restoredTop sz="84325" autoAdjust="0"/>
  </p:normalViewPr>
  <p:slideViewPr>
    <p:cSldViewPr snapToGrid="0">
      <p:cViewPr varScale="1">
        <p:scale>
          <a:sx n="92" d="100"/>
          <a:sy n="92" d="100"/>
        </p:scale>
        <p:origin x="1110" y="90"/>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gs" Target="tags/tag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7B60DB6-D47D-420D-A313-128021A50BB0}" type="datetimeFigureOut">
              <a:rPr lang="zh-CN" altLang="en-US" smtClean="0"/>
              <a:t>2026/3/24</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7D5B987-1E06-4EBC-82C5-DF6871542F57}"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7D5B987-1E06-4EBC-82C5-DF6871542F57}" type="slidenum">
              <a:rPr lang="zh-CN" altLang="en-US" smtClean="0"/>
              <a:t>1</a:t>
            </a:fld>
            <a:endParaRPr lang="zh-CN" altLang="en-US"/>
          </a:p>
        </p:txBody>
      </p:sp>
    </p:spTree>
    <p:extLst>
      <p:ext uri="{BB962C8B-B14F-4D97-AF65-F5344CB8AC3E}">
        <p14:creationId xmlns:p14="http://schemas.microsoft.com/office/powerpoint/2010/main" val="11316686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动力总成系统的设备</a:t>
            </a:r>
            <a:r>
              <a:rPr lang="en-US" altLang="zh-CN" dirty="0"/>
              <a:t>(</a:t>
            </a:r>
            <a:r>
              <a:rPr lang="zh-CN" altLang="en-US" dirty="0"/>
              <a:t>如汽车发动机、加速踏板</a:t>
            </a:r>
            <a:r>
              <a:rPr lang="en-US" altLang="zh-CN" dirty="0"/>
              <a:t>)</a:t>
            </a:r>
            <a:r>
              <a:rPr lang="zh-CN" altLang="en-US" dirty="0"/>
              <a:t>通过动力总成</a:t>
            </a:r>
            <a:r>
              <a:rPr lang="en-US" altLang="zh-CN" dirty="0"/>
              <a:t>CAN (PT-CAN)</a:t>
            </a:r>
            <a:r>
              <a:rPr lang="zh-CN" altLang="en-US" dirty="0"/>
              <a:t>总线相互通信，并使用</a:t>
            </a:r>
            <a:r>
              <a:rPr lang="en-US" altLang="zh-CN" dirty="0"/>
              <a:t>CAN</a:t>
            </a:r>
            <a:r>
              <a:rPr lang="zh-CN" altLang="en-US" dirty="0"/>
              <a:t>信</a:t>
            </a:r>
          </a:p>
          <a:p>
            <a:r>
              <a:rPr lang="zh-CN" altLang="en-US" dirty="0"/>
              <a:t>息发送</a:t>
            </a:r>
            <a:r>
              <a:rPr lang="en-US" altLang="zh-CN" dirty="0"/>
              <a:t>/</a:t>
            </a:r>
            <a:r>
              <a:rPr lang="zh-CN" altLang="en-US" dirty="0"/>
              <a:t>接收实时物理信号</a:t>
            </a:r>
            <a:r>
              <a:rPr lang="en-US" altLang="zh-CN" dirty="0"/>
              <a:t>(</a:t>
            </a:r>
            <a:r>
              <a:rPr lang="zh-CN" altLang="en-US" dirty="0"/>
              <a:t>如发动机转速和踏板位置</a:t>
            </a:r>
            <a:r>
              <a:rPr lang="en-US" altLang="zh-CN" dirty="0"/>
              <a:t>)</a:t>
            </a:r>
            <a:endParaRPr lang="zh-CN" altLang="en-US" dirty="0"/>
          </a:p>
        </p:txBody>
      </p:sp>
      <p:sp>
        <p:nvSpPr>
          <p:cNvPr id="4" name="灯片编号占位符 3"/>
          <p:cNvSpPr>
            <a:spLocks noGrp="1"/>
          </p:cNvSpPr>
          <p:nvPr>
            <p:ph type="sldNum" sz="quarter" idx="5"/>
          </p:nvPr>
        </p:nvSpPr>
        <p:spPr/>
        <p:txBody>
          <a:bodyPr/>
          <a:lstStyle/>
          <a:p>
            <a:fld id="{37D5B987-1E06-4EBC-82C5-DF6871542F57}" type="slidenum">
              <a:rPr lang="zh-CN" altLang="en-US" smtClean="0"/>
              <a:t>2</a:t>
            </a:fld>
            <a:endParaRPr lang="zh-CN" altLang="en-US"/>
          </a:p>
        </p:txBody>
      </p:sp>
    </p:spTree>
    <p:extLst>
      <p:ext uri="{BB962C8B-B14F-4D97-AF65-F5344CB8AC3E}">
        <p14:creationId xmlns:p14="http://schemas.microsoft.com/office/powerpoint/2010/main" val="18630082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观察</a:t>
            </a:r>
            <a:r>
              <a:rPr lang="en-US" altLang="zh-CN" dirty="0"/>
              <a:t>1</a:t>
            </a:r>
            <a:r>
              <a:rPr lang="zh-CN" altLang="en-US" dirty="0"/>
              <a:t>：例如，每当驾驶员踩下油门踏板，发动机控制模块（</a:t>
            </a:r>
            <a:r>
              <a:rPr lang="en-US" altLang="zh-CN" dirty="0"/>
              <a:t>ECM</a:t>
            </a:r>
            <a:r>
              <a:rPr lang="zh-CN" altLang="en-US" dirty="0"/>
              <a:t>）首先接收到踏板位置信号，随后计算出所需的节气门开度，并控制节气门电机做出反应 。随着节气门阀门增大，进入气缸的空气量增加，在喷油和点火的作用下，活塞运动加快，从而产生更高的发动机转速，最终导致车轮转速提高 。普适性</a:t>
            </a:r>
            <a:endParaRPr lang="en-US" altLang="zh-CN" dirty="0"/>
          </a:p>
          <a:p>
            <a:r>
              <a:rPr lang="zh-CN" altLang="en-US" dirty="0"/>
              <a:t>观察二，进行如图的流程时不同信号对之间的影响延迟是不同的，这种延迟的差异取决于信号在同一个控制反馈环路中所处的具体位置。</a:t>
            </a:r>
            <a:endParaRPr lang="en-US" altLang="zh-CN" dirty="0"/>
          </a:p>
          <a:p>
            <a:r>
              <a:rPr lang="zh-CN" altLang="en-US" dirty="0"/>
              <a:t>观察三延迟来源于</a:t>
            </a:r>
            <a:r>
              <a:rPr lang="en-US" altLang="zh-CN" dirty="0"/>
              <a:t>can</a:t>
            </a:r>
            <a:r>
              <a:rPr lang="zh-CN" altLang="en-US" dirty="0"/>
              <a:t>总线上传输等过程，这种延迟能使用普通 </a:t>
            </a:r>
            <a:r>
              <a:rPr lang="en-US" altLang="zh-CN" dirty="0"/>
              <a:t>CAN </a:t>
            </a:r>
            <a:r>
              <a:rPr lang="zh-CN" altLang="en-US" dirty="0"/>
              <a:t>数据采集设备，最小采样周期通常为 </a:t>
            </a:r>
            <a:r>
              <a:rPr lang="en-US" altLang="zh-CN" dirty="0"/>
              <a:t>10 </a:t>
            </a:r>
            <a:r>
              <a:rPr lang="zh-CN" altLang="en-US" dirty="0"/>
              <a:t>毫秒（</a:t>
            </a:r>
            <a:r>
              <a:rPr lang="en-US" altLang="zh-CN" dirty="0"/>
              <a:t>10ms</a:t>
            </a:r>
            <a:r>
              <a:rPr lang="zh-CN" altLang="en-US" dirty="0"/>
              <a:t>），是</a:t>
            </a:r>
            <a:r>
              <a:rPr lang="zh-CN" altLang="en-US" b="1" dirty="0"/>
              <a:t>完全可见且可以被捕捉到的</a:t>
            </a:r>
            <a:r>
              <a:rPr lang="zh-CN" altLang="en-US" dirty="0"/>
              <a:t> </a:t>
            </a:r>
          </a:p>
        </p:txBody>
      </p:sp>
      <p:sp>
        <p:nvSpPr>
          <p:cNvPr id="4" name="灯片编号占位符 3"/>
          <p:cNvSpPr>
            <a:spLocks noGrp="1"/>
          </p:cNvSpPr>
          <p:nvPr>
            <p:ph type="sldNum" sz="quarter" idx="5"/>
          </p:nvPr>
        </p:nvSpPr>
        <p:spPr/>
        <p:txBody>
          <a:bodyPr/>
          <a:lstStyle/>
          <a:p>
            <a:fld id="{37D5B987-1E06-4EBC-82C5-DF6871542F57}" type="slidenum">
              <a:rPr lang="zh-CN" altLang="en-US" smtClean="0"/>
              <a:t>4</a:t>
            </a:fld>
            <a:endParaRPr lang="zh-CN" altLang="en-US"/>
          </a:p>
        </p:txBody>
      </p:sp>
    </p:spTree>
    <p:extLst>
      <p:ext uri="{BB962C8B-B14F-4D97-AF65-F5344CB8AC3E}">
        <p14:creationId xmlns:p14="http://schemas.microsoft.com/office/powerpoint/2010/main" val="20190695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112919-A9CD-FE8E-ACE0-E98414A0E34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46E3B5C-04C3-A9FF-BF8A-5A6B166A91E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1DEA615-89AA-9AD3-7103-B865CCDBA57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图九数据预处理：按</a:t>
            </a:r>
            <a:r>
              <a:rPr lang="en-US" altLang="zh-CN" dirty="0"/>
              <a:t>ID</a:t>
            </a:r>
            <a:r>
              <a:rPr lang="zh-CN" altLang="en-US" dirty="0"/>
              <a:t>聚类，计算比特翻转率确定边界和大小端格式，最后将边界和编码方式转化成十进制原始数值。</a:t>
            </a:r>
          </a:p>
          <a:p>
            <a:r>
              <a:rPr lang="zh-CN" altLang="en-US" dirty="0"/>
              <a:t>整体流程：输入目标车辆的动力类型（指导选择 </a:t>
            </a:r>
            <a:r>
              <a:rPr lang="en-US" altLang="zh-CN" dirty="0"/>
              <a:t>SECG </a:t>
            </a:r>
            <a:r>
              <a:rPr lang="zh-CN" altLang="en-US" dirty="0"/>
              <a:t>图）和正常 </a:t>
            </a:r>
            <a:r>
              <a:rPr lang="en-US" altLang="zh-CN" dirty="0"/>
              <a:t>CAN </a:t>
            </a:r>
            <a:r>
              <a:rPr lang="zh-CN" altLang="en-US" dirty="0"/>
              <a:t>轨迹。</a:t>
            </a:r>
            <a:r>
              <a:rPr lang="zh-CN" altLang="en-US" b="1" dirty="0"/>
              <a:t>物理信号提取</a:t>
            </a:r>
            <a:r>
              <a:rPr lang="zh-CN" altLang="en-US" dirty="0"/>
              <a:t>：通过检测比特翻转率（</a:t>
            </a:r>
            <a:r>
              <a:rPr lang="en-US" altLang="zh-CN" dirty="0"/>
              <a:t>Bit-flip rate</a:t>
            </a:r>
            <a:r>
              <a:rPr lang="zh-CN" altLang="en-US" dirty="0"/>
              <a:t>）的单调递减特性提取有效信号 。</a:t>
            </a:r>
            <a:r>
              <a:rPr lang="zh-CN" altLang="en-US" b="1" dirty="0"/>
              <a:t>信号预处理</a:t>
            </a:r>
            <a:r>
              <a:rPr lang="zh-CN" altLang="en-US" dirty="0"/>
              <a:t>：利用时间延迟皮尔逊相关系数将物理信号聚类为“语义集” 。</a:t>
            </a:r>
            <a:r>
              <a:rPr lang="en-US" altLang="zh-CN" b="1" dirty="0" err="1"/>
              <a:t>RatioDSTE</a:t>
            </a:r>
            <a:r>
              <a:rPr lang="en-US" altLang="zh-CN" b="1" dirty="0"/>
              <a:t> </a:t>
            </a:r>
            <a:r>
              <a:rPr lang="zh-CN" altLang="en-US" b="1" dirty="0"/>
              <a:t>计算</a:t>
            </a:r>
            <a:r>
              <a:rPr lang="zh-CN" altLang="en-US" dirty="0"/>
              <a:t>：设计比例双符号转移熵来捕捉信号对之间的因果方向和影响延迟 。</a:t>
            </a:r>
            <a:r>
              <a:rPr lang="en-US" altLang="zh-CN" b="1" dirty="0"/>
              <a:t>TECG </a:t>
            </a:r>
            <a:r>
              <a:rPr lang="zh-CN" altLang="en-US" b="1" dirty="0"/>
              <a:t>构建</a:t>
            </a:r>
            <a:r>
              <a:rPr lang="zh-CN" altLang="en-US" dirty="0"/>
              <a:t>：基于上一步数据生成定时事件因果图 。</a:t>
            </a:r>
            <a:r>
              <a:rPr lang="zh-CN" altLang="en-US" b="1" dirty="0"/>
              <a:t>子图匹配</a:t>
            </a:r>
            <a:r>
              <a:rPr lang="zh-CN" altLang="en-US" dirty="0"/>
              <a:t>：将数据生成的 </a:t>
            </a:r>
            <a:r>
              <a:rPr lang="en-US" altLang="zh-CN" dirty="0"/>
              <a:t>TECG </a:t>
            </a:r>
            <a:r>
              <a:rPr lang="zh-CN" altLang="en-US" dirty="0"/>
              <a:t>与基于先验物理知识的 </a:t>
            </a:r>
            <a:r>
              <a:rPr lang="en-US" altLang="zh-CN" dirty="0"/>
              <a:t>SECG</a:t>
            </a:r>
            <a:r>
              <a:rPr lang="zh-CN" altLang="en-US" dirty="0"/>
              <a:t>（顺序事件因果图）进行匹配，完成语义映射 。</a:t>
            </a:r>
            <a:endParaRPr lang="en-US" altLang="zh-CN" dirty="0"/>
          </a:p>
        </p:txBody>
      </p:sp>
      <p:sp>
        <p:nvSpPr>
          <p:cNvPr id="4" name="灯片编号占位符 3">
            <a:extLst>
              <a:ext uri="{FF2B5EF4-FFF2-40B4-BE49-F238E27FC236}">
                <a16:creationId xmlns:a16="http://schemas.microsoft.com/office/drawing/2014/main" id="{A5F5A2AC-B1ED-96D8-55D7-4008E538317B}"/>
              </a:ext>
            </a:extLst>
          </p:cNvPr>
          <p:cNvSpPr>
            <a:spLocks noGrp="1"/>
          </p:cNvSpPr>
          <p:nvPr>
            <p:ph type="sldNum" sz="quarter" idx="5"/>
          </p:nvPr>
        </p:nvSpPr>
        <p:spPr/>
        <p:txBody>
          <a:bodyPr/>
          <a:lstStyle/>
          <a:p>
            <a:fld id="{37D5B987-1E06-4EBC-82C5-DF6871542F57}" type="slidenum">
              <a:rPr lang="zh-CN" altLang="en-US" smtClean="0"/>
              <a:t>5</a:t>
            </a:fld>
            <a:endParaRPr lang="zh-CN" altLang="en-US"/>
          </a:p>
        </p:txBody>
      </p:sp>
    </p:spTree>
    <p:extLst>
      <p:ext uri="{BB962C8B-B14F-4D97-AF65-F5344CB8AC3E}">
        <p14:creationId xmlns:p14="http://schemas.microsoft.com/office/powerpoint/2010/main" val="7514089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sz="1200" b="0" i="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37D5B987-1E06-4EBC-82C5-DF6871542F57}" type="slidenum">
              <a:rPr lang="zh-CN" altLang="en-US" smtClean="0"/>
              <a:t>6</a:t>
            </a:fld>
            <a:endParaRPr lang="zh-CN" altLang="en-US"/>
          </a:p>
        </p:txBody>
      </p:sp>
    </p:spTree>
    <p:extLst>
      <p:ext uri="{BB962C8B-B14F-4D97-AF65-F5344CB8AC3E}">
        <p14:creationId xmlns:p14="http://schemas.microsoft.com/office/powerpoint/2010/main" val="222660670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D9956A-C6ED-0843-A3A4-340B670085A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EEF04B2-79D7-3D37-58AF-1DCB15DFAFE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6973266-48B3-6337-84E3-3B811AC99E9A}"/>
              </a:ext>
            </a:extLst>
          </p:cNvPr>
          <p:cNvSpPr>
            <a:spLocks noGrp="1"/>
          </p:cNvSpPr>
          <p:nvPr>
            <p:ph type="body" idx="1"/>
          </p:nvPr>
        </p:nvSpPr>
        <p:spPr/>
        <p:txBody>
          <a:bodyPr/>
          <a:lstStyle/>
          <a:p>
            <a:r>
              <a:rPr lang="zh-CN" altLang="en-US" dirty="0"/>
              <a:t>图</a:t>
            </a:r>
            <a:r>
              <a:rPr lang="en-US" altLang="zh-CN" dirty="0"/>
              <a:t>4</a:t>
            </a:r>
            <a:r>
              <a:rPr lang="zh-CN" altLang="en-US" dirty="0"/>
              <a:t>动力的传递路径：</a:t>
            </a:r>
            <a:r>
              <a:rPr lang="zh-CN" altLang="en-US" sz="1200" kern="1200" dirty="0">
                <a:solidFill>
                  <a:schemeClr val="tx1"/>
                </a:solidFill>
                <a:effectLst/>
                <a:latin typeface="+mn-lt"/>
                <a:ea typeface="+mn-ea"/>
                <a:cs typeface="+mn-cs"/>
              </a:rPr>
              <a:t>驾驶员踩下踏板 </a:t>
            </a:r>
            <a:r>
              <a:rPr lang="en-US" altLang="zh-CN" sz="1200" kern="1200" dirty="0">
                <a:solidFill>
                  <a:schemeClr val="tx1"/>
                </a:solidFill>
                <a:effectLst/>
                <a:latin typeface="+mn-lt"/>
                <a:ea typeface="+mn-ea"/>
                <a:cs typeface="+mn-cs"/>
              </a:rPr>
              <a:t>(Pedals) </a:t>
            </a:r>
            <a:r>
              <a:rPr lang="en-US" altLang="zh-CN" sz="1200" kern="1200" dirty="0">
                <a:solidFill>
                  <a:schemeClr val="tx1"/>
                </a:solidFill>
                <a:effectLst/>
                <a:latin typeface="+mn-lt"/>
                <a:ea typeface="+mn-ea"/>
                <a:cs typeface="+mn-cs"/>
                <a:sym typeface="Wingdings" panose="05000000000000000000" pitchFamily="2" charset="2"/>
              </a:rPr>
              <a:t></a:t>
            </a:r>
            <a:r>
              <a:rPr lang="zh-CN" altLang="en-US" sz="1200" kern="1200" dirty="0">
                <a:solidFill>
                  <a:schemeClr val="tx1"/>
                </a:solidFill>
                <a:effectLst/>
                <a:latin typeface="+mn-lt"/>
                <a:ea typeface="+mn-ea"/>
                <a:cs typeface="+mn-cs"/>
              </a:rPr>
              <a:t>节气门 </a:t>
            </a:r>
            <a:r>
              <a:rPr lang="en-US" altLang="zh-CN" sz="1200" kern="1200" dirty="0">
                <a:solidFill>
                  <a:schemeClr val="tx1"/>
                </a:solidFill>
                <a:effectLst/>
                <a:latin typeface="+mn-lt"/>
                <a:ea typeface="+mn-ea"/>
                <a:cs typeface="+mn-cs"/>
              </a:rPr>
              <a:t>(Throttle) </a:t>
            </a:r>
            <a:r>
              <a:rPr lang="zh-CN" altLang="en-US" sz="1200" kern="1200" dirty="0">
                <a:solidFill>
                  <a:schemeClr val="tx1"/>
                </a:solidFill>
                <a:effectLst/>
                <a:latin typeface="+mn-lt"/>
                <a:ea typeface="+mn-ea"/>
                <a:cs typeface="+mn-cs"/>
              </a:rPr>
              <a:t>响应 </a:t>
            </a:r>
            <a:r>
              <a:rPr lang="en-US" altLang="zh-CN" sz="1200" kern="1200" dirty="0">
                <a:solidFill>
                  <a:schemeClr val="tx1"/>
                </a:solidFill>
                <a:effectLst/>
                <a:latin typeface="+mn-lt"/>
                <a:ea typeface="+mn-ea"/>
                <a:cs typeface="+mn-cs"/>
                <a:sym typeface="Wingdings" panose="05000000000000000000" pitchFamily="2" charset="2"/>
              </a:rPr>
              <a:t></a:t>
            </a:r>
            <a:r>
              <a:rPr lang="zh-CN" altLang="en-US" sz="1200" kern="1200" dirty="0">
                <a:solidFill>
                  <a:schemeClr val="tx1"/>
                </a:solidFill>
                <a:effectLst/>
                <a:latin typeface="+mn-lt"/>
                <a:ea typeface="+mn-ea"/>
                <a:cs typeface="+mn-cs"/>
              </a:rPr>
              <a:t>发动机 </a:t>
            </a:r>
            <a:r>
              <a:rPr lang="en-US" altLang="zh-CN" sz="1200" kern="1200" dirty="0">
                <a:solidFill>
                  <a:schemeClr val="tx1"/>
                </a:solidFill>
                <a:effectLst/>
                <a:latin typeface="+mn-lt"/>
                <a:ea typeface="+mn-ea"/>
                <a:cs typeface="+mn-cs"/>
              </a:rPr>
              <a:t>(Engine) </a:t>
            </a:r>
            <a:r>
              <a:rPr lang="zh-CN" altLang="en-US" sz="1200" kern="1200" dirty="0">
                <a:solidFill>
                  <a:schemeClr val="tx1"/>
                </a:solidFill>
                <a:effectLst/>
                <a:latin typeface="+mn-lt"/>
                <a:ea typeface="+mn-ea"/>
                <a:cs typeface="+mn-cs"/>
              </a:rPr>
              <a:t>运转 </a:t>
            </a:r>
            <a:r>
              <a:rPr lang="en-US" altLang="zh-CN" sz="1200" kern="1200" dirty="0">
                <a:solidFill>
                  <a:schemeClr val="tx1"/>
                </a:solidFill>
                <a:effectLst/>
                <a:latin typeface="+mn-lt"/>
                <a:ea typeface="+mn-ea"/>
                <a:cs typeface="+mn-cs"/>
                <a:sym typeface="Wingdings" panose="05000000000000000000" pitchFamily="2" charset="2"/>
              </a:rPr>
              <a:t></a:t>
            </a:r>
            <a:r>
              <a:rPr lang="zh-CN" altLang="en-US" sz="1200" kern="1200" dirty="0">
                <a:solidFill>
                  <a:schemeClr val="tx1"/>
                </a:solidFill>
                <a:effectLst/>
                <a:latin typeface="+mn-lt"/>
                <a:ea typeface="+mn-ea"/>
                <a:cs typeface="+mn-cs"/>
              </a:rPr>
              <a:t>离合器 </a:t>
            </a:r>
            <a:r>
              <a:rPr lang="en-US" altLang="zh-CN" sz="1200" kern="1200" dirty="0">
                <a:solidFill>
                  <a:schemeClr val="tx1"/>
                </a:solidFill>
                <a:effectLst/>
                <a:latin typeface="+mn-lt"/>
                <a:ea typeface="+mn-ea"/>
                <a:cs typeface="+mn-cs"/>
              </a:rPr>
              <a:t>(Clutch) </a:t>
            </a:r>
            <a:r>
              <a:rPr lang="zh-CN" altLang="en-US" sz="1200" kern="1200" dirty="0">
                <a:solidFill>
                  <a:schemeClr val="tx1"/>
                </a:solidFill>
                <a:effectLst/>
                <a:latin typeface="+mn-lt"/>
                <a:ea typeface="+mn-ea"/>
                <a:cs typeface="+mn-cs"/>
              </a:rPr>
              <a:t>与变速箱 </a:t>
            </a:r>
            <a:r>
              <a:rPr lang="en-US" altLang="zh-CN" sz="1200" kern="1200" dirty="0">
                <a:solidFill>
                  <a:schemeClr val="tx1"/>
                </a:solidFill>
                <a:effectLst/>
                <a:latin typeface="+mn-lt"/>
                <a:ea typeface="+mn-ea"/>
                <a:cs typeface="+mn-cs"/>
              </a:rPr>
              <a:t>(Transmission) </a:t>
            </a:r>
            <a:r>
              <a:rPr lang="zh-CN" altLang="en-US" sz="1200" kern="1200" dirty="0">
                <a:solidFill>
                  <a:schemeClr val="tx1"/>
                </a:solidFill>
                <a:effectLst/>
                <a:latin typeface="+mn-lt"/>
                <a:ea typeface="+mn-ea"/>
                <a:cs typeface="+mn-cs"/>
              </a:rPr>
              <a:t>传导 </a:t>
            </a:r>
            <a:r>
              <a:rPr lang="en-US" altLang="zh-CN" sz="1200" kern="1200" dirty="0">
                <a:solidFill>
                  <a:schemeClr val="tx1"/>
                </a:solidFill>
                <a:effectLst/>
                <a:latin typeface="+mn-lt"/>
                <a:ea typeface="+mn-ea"/>
                <a:cs typeface="+mn-cs"/>
                <a:sym typeface="Wingdings" panose="05000000000000000000" pitchFamily="2" charset="2"/>
              </a:rPr>
              <a:t></a:t>
            </a:r>
            <a:r>
              <a:rPr lang="zh-CN" altLang="en-US" sz="1200" kern="1200" dirty="0">
                <a:solidFill>
                  <a:schemeClr val="tx1"/>
                </a:solidFill>
                <a:effectLst/>
                <a:latin typeface="+mn-lt"/>
                <a:ea typeface="+mn-ea"/>
                <a:cs typeface="+mn-cs"/>
              </a:rPr>
              <a:t>差速器 </a:t>
            </a:r>
            <a:r>
              <a:rPr lang="en-US" altLang="zh-CN" sz="1200" kern="1200" dirty="0">
                <a:solidFill>
                  <a:schemeClr val="tx1"/>
                </a:solidFill>
                <a:effectLst/>
                <a:latin typeface="+mn-lt"/>
                <a:ea typeface="+mn-ea"/>
                <a:cs typeface="+mn-cs"/>
              </a:rPr>
              <a:t>(Differential) </a:t>
            </a:r>
            <a:r>
              <a:rPr lang="en-US" altLang="zh-CN" sz="1200" kern="1200" dirty="0">
                <a:solidFill>
                  <a:schemeClr val="tx1"/>
                </a:solidFill>
                <a:effectLst/>
                <a:latin typeface="+mn-lt"/>
                <a:ea typeface="+mn-ea"/>
                <a:cs typeface="+mn-cs"/>
                <a:sym typeface="Wingdings" panose="05000000000000000000" pitchFamily="2" charset="2"/>
              </a:rPr>
              <a:t></a:t>
            </a:r>
            <a:r>
              <a:rPr lang="zh-CN" altLang="en-US" sz="1200" kern="1200" dirty="0">
                <a:solidFill>
                  <a:schemeClr val="tx1"/>
                </a:solidFill>
                <a:effectLst/>
                <a:latin typeface="+mn-lt"/>
                <a:ea typeface="+mn-ea"/>
                <a:cs typeface="+mn-cs"/>
              </a:rPr>
              <a:t>车轮 </a:t>
            </a:r>
            <a:r>
              <a:rPr lang="en-US" altLang="zh-CN" sz="1200" kern="1200" dirty="0">
                <a:solidFill>
                  <a:schemeClr val="tx1"/>
                </a:solidFill>
                <a:effectLst/>
                <a:latin typeface="+mn-lt"/>
                <a:ea typeface="+mn-ea"/>
                <a:cs typeface="+mn-cs"/>
              </a:rPr>
              <a:t>(Wheel) </a:t>
            </a:r>
            <a:r>
              <a:rPr lang="zh-CN" altLang="en-US" sz="1200" kern="1200" dirty="0">
                <a:solidFill>
                  <a:schemeClr val="tx1"/>
                </a:solidFill>
                <a:effectLst/>
                <a:latin typeface="+mn-lt"/>
                <a:ea typeface="+mn-ea"/>
                <a:cs typeface="+mn-cs"/>
              </a:rPr>
              <a:t>转动 。</a:t>
            </a:r>
            <a:endParaRPr lang="en-US" altLang="zh-CN" sz="120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图</a:t>
            </a:r>
            <a:r>
              <a:rPr lang="en-US" altLang="zh-CN" sz="1200" b="0" i="0" kern="1200" dirty="0">
                <a:solidFill>
                  <a:schemeClr val="tx1"/>
                </a:solidFill>
                <a:effectLst/>
                <a:latin typeface="+mn-lt"/>
                <a:ea typeface="+mn-ea"/>
                <a:cs typeface="+mn-cs"/>
              </a:rPr>
              <a:t>5 </a:t>
            </a:r>
            <a:r>
              <a:rPr lang="zh-CN" altLang="en-US" sz="1200" b="0" i="0" kern="1200" dirty="0">
                <a:solidFill>
                  <a:schemeClr val="tx1"/>
                </a:solidFill>
                <a:effectLst/>
                <a:latin typeface="+mn-lt"/>
                <a:ea typeface="+mn-ea"/>
                <a:cs typeface="+mn-cs"/>
              </a:rPr>
              <a:t>提取核心节点</a:t>
            </a:r>
            <a:r>
              <a:rPr lang="en-US" altLang="zh-CN" dirty="0"/>
              <a:t>1. </a:t>
            </a:r>
            <a:r>
              <a:rPr lang="zh-CN" altLang="en-US" dirty="0"/>
              <a:t>加速踏板位置；</a:t>
            </a:r>
            <a:r>
              <a:rPr lang="en-US" altLang="zh-CN" dirty="0"/>
              <a:t>2. </a:t>
            </a:r>
            <a:r>
              <a:rPr lang="zh-CN" altLang="en-US" dirty="0"/>
              <a:t>制动（刹车）踏板位置；</a:t>
            </a:r>
            <a:r>
              <a:rPr lang="en-US" altLang="zh-CN" dirty="0"/>
              <a:t>3. </a:t>
            </a:r>
            <a:r>
              <a:rPr lang="zh-CN" altLang="en-US" dirty="0"/>
              <a:t>节气门位置；</a:t>
            </a:r>
            <a:r>
              <a:rPr lang="en-US" altLang="zh-CN" dirty="0"/>
              <a:t>4. </a:t>
            </a:r>
            <a:r>
              <a:rPr lang="zh-CN" altLang="en-US" dirty="0"/>
              <a:t>发动机转速；</a:t>
            </a:r>
            <a:r>
              <a:rPr lang="en-US" altLang="zh-CN" dirty="0"/>
              <a:t>5. </a:t>
            </a:r>
            <a:r>
              <a:rPr lang="zh-CN" altLang="en-US" dirty="0"/>
              <a:t>车速 。</a:t>
            </a:r>
            <a:endParaRPr lang="en-US" altLang="zh-CN" dirty="0"/>
          </a:p>
          <a:p>
            <a:r>
              <a:rPr lang="zh-CN" altLang="en-US" sz="1200" kern="1200" dirty="0">
                <a:solidFill>
                  <a:schemeClr val="tx1"/>
                </a:solidFill>
                <a:effectLst/>
                <a:latin typeface="+mn-lt"/>
                <a:ea typeface="+mn-ea"/>
                <a:cs typeface="+mn-cs"/>
              </a:rPr>
              <a:t>从图 </a:t>
            </a:r>
            <a:r>
              <a:rPr lang="en-US" altLang="zh-CN" sz="1200" kern="1200" dirty="0">
                <a:solidFill>
                  <a:schemeClr val="tx1"/>
                </a:solidFill>
                <a:effectLst/>
                <a:latin typeface="+mn-lt"/>
                <a:ea typeface="+mn-ea"/>
                <a:cs typeface="+mn-cs"/>
              </a:rPr>
              <a:t>5 </a:t>
            </a:r>
            <a:r>
              <a:rPr lang="zh-CN" altLang="en-US" sz="1200" kern="1200" dirty="0">
                <a:solidFill>
                  <a:schemeClr val="tx1"/>
                </a:solidFill>
                <a:effectLst/>
                <a:latin typeface="+mn-lt"/>
                <a:ea typeface="+mn-ea"/>
                <a:cs typeface="+mn-cs"/>
              </a:rPr>
              <a:t>中可以清晰看到蓝色有向边构成的因果链：加速踏板 </a:t>
            </a:r>
            <a:r>
              <a:rPr lang="en-US" altLang="zh-CN" sz="1200" kern="1200" dirty="0">
                <a:solidFill>
                  <a:schemeClr val="tx1"/>
                </a:solidFill>
                <a:effectLst/>
                <a:latin typeface="+mn-lt"/>
                <a:ea typeface="+mn-ea"/>
                <a:cs typeface="+mn-cs"/>
                <a:sym typeface="Wingdings" panose="05000000000000000000" pitchFamily="2" charset="2"/>
              </a:rPr>
              <a:t></a:t>
            </a:r>
            <a:r>
              <a:rPr lang="zh-CN" altLang="en-US" sz="1200" kern="1200" dirty="0">
                <a:solidFill>
                  <a:schemeClr val="tx1"/>
                </a:solidFill>
                <a:effectLst/>
                <a:latin typeface="+mn-lt"/>
                <a:ea typeface="+mn-ea"/>
                <a:cs typeface="+mn-cs"/>
              </a:rPr>
              <a:t>节气门 </a:t>
            </a:r>
            <a:r>
              <a:rPr lang="en-US" altLang="zh-CN" sz="1200" kern="1200" dirty="0">
                <a:solidFill>
                  <a:schemeClr val="tx1"/>
                </a:solidFill>
                <a:effectLst/>
                <a:latin typeface="+mn-lt"/>
                <a:ea typeface="+mn-ea"/>
                <a:cs typeface="+mn-cs"/>
                <a:sym typeface="Wingdings" panose="05000000000000000000" pitchFamily="2" charset="2"/>
              </a:rPr>
              <a:t></a:t>
            </a:r>
            <a:r>
              <a:rPr lang="zh-CN" altLang="en-US" sz="1200" kern="1200" dirty="0">
                <a:solidFill>
                  <a:schemeClr val="tx1"/>
                </a:solidFill>
                <a:effectLst/>
                <a:latin typeface="+mn-lt"/>
                <a:ea typeface="+mn-ea"/>
                <a:cs typeface="+mn-cs"/>
              </a:rPr>
              <a:t>发动机转速 </a:t>
            </a:r>
            <a:r>
              <a:rPr lang="en-US" altLang="zh-CN" sz="1200" kern="1200" dirty="0">
                <a:solidFill>
                  <a:schemeClr val="tx1"/>
                </a:solidFill>
                <a:effectLst/>
                <a:latin typeface="+mn-lt"/>
                <a:ea typeface="+mn-ea"/>
                <a:cs typeface="+mn-cs"/>
                <a:sym typeface="Wingdings" panose="05000000000000000000" pitchFamily="2" charset="2"/>
              </a:rPr>
              <a:t></a:t>
            </a:r>
            <a:r>
              <a:rPr lang="zh-CN" altLang="en-US" sz="1200" kern="1200" dirty="0">
                <a:solidFill>
                  <a:schemeClr val="tx1"/>
                </a:solidFill>
                <a:effectLst/>
                <a:latin typeface="+mn-lt"/>
                <a:ea typeface="+mn-ea"/>
                <a:cs typeface="+mn-cs"/>
              </a:rPr>
              <a:t>车速 。边上的数字代表了影响的顺序（例如 </a:t>
            </a:r>
            <a:r>
              <a:rPr lang="en-US" altLang="zh-CN" sz="1200" kern="1200" dirty="0">
                <a:solidFill>
                  <a:schemeClr val="tx1"/>
                </a:solidFill>
                <a:effectLst/>
                <a:latin typeface="+mn-lt"/>
                <a:ea typeface="+mn-ea"/>
                <a:cs typeface="+mn-cs"/>
              </a:rPr>
              <a:t>1 </a:t>
            </a:r>
            <a:r>
              <a:rPr lang="zh-CN" altLang="en-US" sz="1200" kern="1200" dirty="0">
                <a:solidFill>
                  <a:schemeClr val="tx1"/>
                </a:solidFill>
                <a:effectLst/>
                <a:latin typeface="+mn-lt"/>
                <a:ea typeface="+mn-ea"/>
                <a:cs typeface="+mn-cs"/>
              </a:rPr>
              <a:t>代表最直接的影响，数字越大代表在传递链上下游的延迟越长）。</a:t>
            </a:r>
            <a:endParaRPr lang="en-US" altLang="zh-CN" sz="120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纯电汽车和混合动力汽车构建过程相似，</a:t>
            </a:r>
            <a:endParaRPr lang="en-US" altLang="zh-CN" sz="1200" b="0" i="0"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F89F456A-451C-96A8-0B9B-E3E6D3F861F0}"/>
              </a:ext>
            </a:extLst>
          </p:cNvPr>
          <p:cNvSpPr>
            <a:spLocks noGrp="1"/>
          </p:cNvSpPr>
          <p:nvPr>
            <p:ph type="sldNum" sz="quarter" idx="5"/>
          </p:nvPr>
        </p:nvSpPr>
        <p:spPr/>
        <p:txBody>
          <a:bodyPr/>
          <a:lstStyle/>
          <a:p>
            <a:fld id="{37D5B987-1E06-4EBC-82C5-DF6871542F57}" type="slidenum">
              <a:rPr lang="zh-CN" altLang="en-US" smtClean="0"/>
              <a:t>7</a:t>
            </a:fld>
            <a:endParaRPr lang="zh-CN" altLang="en-US"/>
          </a:p>
        </p:txBody>
      </p:sp>
    </p:spTree>
    <p:extLst>
      <p:ext uri="{BB962C8B-B14F-4D97-AF65-F5344CB8AC3E}">
        <p14:creationId xmlns:p14="http://schemas.microsoft.com/office/powerpoint/2010/main" val="2114852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4FDD31-EEF7-A0BF-5006-5521CF2692D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E3D9454-5780-1F6E-E289-6E625203FD4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0AB424C-E0C4-207E-9CB4-DEDE04F9A12C}"/>
              </a:ext>
            </a:extLst>
          </p:cNvPr>
          <p:cNvSpPr>
            <a:spLocks noGrp="1"/>
          </p:cNvSpPr>
          <p:nvPr>
            <p:ph type="body" idx="1"/>
          </p:nvPr>
        </p:nvSpPr>
        <p:spPr/>
        <p:txBody>
          <a:bodyPr/>
          <a:lstStyle/>
          <a:p>
            <a:r>
              <a:rPr lang="zh-CN" altLang="en-US" sz="1200" b="0" i="0" kern="1200" dirty="0">
                <a:solidFill>
                  <a:schemeClr val="tx1"/>
                </a:solidFill>
                <a:effectLst/>
                <a:latin typeface="+mn-lt"/>
                <a:ea typeface="+mn-ea"/>
                <a:cs typeface="+mn-cs"/>
              </a:rPr>
              <a:t>创新点</a:t>
            </a:r>
            <a:endParaRPr lang="en-US" altLang="zh-CN"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按到达时刻排序</a:t>
            </a:r>
            <a:endParaRPr lang="en-US" altLang="zh-CN"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按传统排序，</a:t>
            </a:r>
            <a:r>
              <a:rPr lang="zh-CN" altLang="en-US" dirty="0"/>
              <a:t>计算机看到 </a:t>
            </a:r>
            <a:r>
              <a:rPr lang="en-US" altLang="zh-CN" sz="1200" kern="1200" dirty="0">
                <a:solidFill>
                  <a:schemeClr val="tx1"/>
                </a:solidFill>
                <a:latin typeface="+mn-lt"/>
                <a:ea typeface="+mn-ea"/>
                <a:cs typeface="+mn-cs"/>
              </a:rPr>
              <a:t>[1, 2, 3]</a:t>
            </a:r>
            <a:r>
              <a:rPr lang="zh-CN" altLang="en-US" dirty="0"/>
              <a:t> 时，它根本不知道这段数据到底是在“上升”</a:t>
            </a:r>
            <a:r>
              <a:rPr lang="zh-CN" altLang="en-US" b="1" dirty="0"/>
              <a:t>，还是在</a:t>
            </a:r>
            <a:r>
              <a:rPr lang="zh-CN" altLang="en-US" dirty="0"/>
              <a:t>“保持平稳”！对于 </a:t>
            </a:r>
            <a:r>
              <a:rPr lang="en-US" altLang="zh-CN" dirty="0"/>
              <a:t>CAN </a:t>
            </a:r>
            <a:r>
              <a:rPr lang="zh-CN" altLang="en-US" dirty="0"/>
              <a:t>总线这种包含大量相同连续值的系统来说，这种“误认”是灾难性的。</a:t>
            </a:r>
            <a:endParaRPr lang="en-US" altLang="zh-CN" dirty="0"/>
          </a:p>
          <a:p>
            <a:r>
              <a:rPr lang="en-US" altLang="zh-CN" dirty="0"/>
              <a:t>DSTE</a:t>
            </a:r>
            <a:r>
              <a:rPr lang="zh-CN" altLang="en-US" dirty="0"/>
              <a:t>规则</a:t>
            </a:r>
            <a:endParaRPr lang="en-US" altLang="zh-CN" dirty="0"/>
          </a:p>
          <a:p>
            <a:r>
              <a:rPr lang="zh-CN" altLang="en-US" dirty="0"/>
              <a:t>第一次排把数字从小到大排。</a:t>
            </a:r>
            <a:r>
              <a:rPr lang="zh-CN" altLang="en-US" b="1" dirty="0"/>
              <a:t>如果遇到相等的数字，就按它们出场的先后时间顺序排。</a:t>
            </a:r>
            <a:endParaRPr lang="en-US" altLang="zh-CN" b="1" dirty="0"/>
          </a:p>
          <a:p>
            <a:r>
              <a:rPr lang="zh-CN" altLang="en-US" b="1" dirty="0"/>
              <a:t>第二次排</a:t>
            </a:r>
            <a:r>
              <a:rPr lang="zh-CN" altLang="en-US" dirty="0"/>
              <a:t>依然把数字从小到大排。</a:t>
            </a:r>
            <a:r>
              <a:rPr lang="zh-CN" altLang="en-US" b="1" dirty="0"/>
              <a:t>但是！如果遇到相等的数字，故意把它们的出场顺序倒过来排！</a:t>
            </a:r>
            <a:endParaRPr lang="en-US" altLang="zh-CN" b="1" dirty="0"/>
          </a:p>
          <a:p>
            <a:r>
              <a:rPr lang="zh-CN" altLang="en-US" b="1" dirty="0"/>
              <a:t>目的：将序列中的数值转化位变化趋势，减少噪声。</a:t>
            </a:r>
            <a:endParaRPr lang="en-US" altLang="zh-CN" dirty="0"/>
          </a:p>
          <a:p>
            <a:endParaRPr lang="en-US" altLang="zh-CN" sz="1200" b="0" i="0"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4BC2947F-9926-3D4A-AB00-E8A72241C8C4}"/>
              </a:ext>
            </a:extLst>
          </p:cNvPr>
          <p:cNvSpPr>
            <a:spLocks noGrp="1"/>
          </p:cNvSpPr>
          <p:nvPr>
            <p:ph type="sldNum" sz="quarter" idx="5"/>
          </p:nvPr>
        </p:nvSpPr>
        <p:spPr/>
        <p:txBody>
          <a:bodyPr/>
          <a:lstStyle/>
          <a:p>
            <a:fld id="{37D5B987-1E06-4EBC-82C5-DF6871542F57}" type="slidenum">
              <a:rPr lang="zh-CN" altLang="en-US" smtClean="0"/>
              <a:t>8</a:t>
            </a:fld>
            <a:endParaRPr lang="zh-CN" altLang="en-US"/>
          </a:p>
        </p:txBody>
      </p:sp>
    </p:spTree>
    <p:extLst>
      <p:ext uri="{BB962C8B-B14F-4D97-AF65-F5344CB8AC3E}">
        <p14:creationId xmlns:p14="http://schemas.microsoft.com/office/powerpoint/2010/main" val="19825996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6385E1-DEC2-0BAD-352B-E8F81DA1BDA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07829D9-40E5-6B95-1030-C83D267C454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428CA7A-F6C2-83EB-9804-D14D64CEF0B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因为知道了 </a:t>
            </a:r>
            <a:r>
              <a:rPr lang="en-US" altLang="zh-CN" dirty="0"/>
              <a:t>X</a:t>
            </a:r>
            <a:r>
              <a:rPr lang="zh-CN" altLang="en-US" dirty="0"/>
              <a:t>，使得我对 </a:t>
            </a:r>
            <a:r>
              <a:rPr lang="en-US" altLang="zh-CN" dirty="0"/>
              <a:t>Y </a:t>
            </a:r>
            <a:r>
              <a:rPr lang="zh-CN" altLang="en-US" dirty="0"/>
              <a:t>的预测准确度提升的量”</a:t>
            </a:r>
            <a:r>
              <a:rPr lang="zh-CN" altLang="en-US" b="1" dirty="0"/>
              <a:t>，在数学上就叫做</a:t>
            </a:r>
            <a:r>
              <a:rPr lang="zh-CN" altLang="en-US" dirty="0"/>
              <a:t>转移熵。提升越多，说明 </a:t>
            </a:r>
            <a:r>
              <a:rPr lang="en-US" altLang="zh-CN" dirty="0"/>
              <a:t>X </a:t>
            </a:r>
            <a:r>
              <a:rPr lang="zh-CN" altLang="en-US" dirty="0"/>
              <a:t>里面包含的关于 </a:t>
            </a:r>
            <a:r>
              <a:rPr lang="en-US" altLang="zh-CN" dirty="0"/>
              <a:t>Y </a:t>
            </a:r>
            <a:r>
              <a:rPr lang="zh-CN" altLang="en-US" dirty="0"/>
              <a:t>的信息越多。</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排除掉</a:t>
            </a:r>
            <a:r>
              <a:rPr lang="en-US" altLang="zh-CN" dirty="0"/>
              <a:t>Y</a:t>
            </a:r>
            <a:r>
              <a:rPr lang="zh-CN" altLang="en-US" dirty="0"/>
              <a:t>自身的波动干扰后，我们找到了一个纯粹的**“最大影响延迟时间 </a:t>
            </a:r>
            <a:r>
              <a:rPr lang="en-US" altLang="zh-CN" sz="1200" kern="1200" dirty="0" err="1">
                <a:solidFill>
                  <a:schemeClr val="tx1"/>
                </a:solidFill>
                <a:effectLst/>
                <a:latin typeface="+mn-lt"/>
                <a:ea typeface="+mn-ea"/>
                <a:cs typeface="+mn-cs"/>
              </a:rPr>
              <a:t>Tmax</a:t>
            </a:r>
            <a:r>
              <a:rPr lang="zh-CN" altLang="en-US" dirty="0"/>
              <a:t>。比如系统算出：</a:t>
            </a:r>
            <a:r>
              <a:rPr lang="en-US" altLang="zh-CN" dirty="0"/>
              <a:t>X </a:t>
            </a:r>
            <a:r>
              <a:rPr lang="zh-CN" altLang="en-US" dirty="0"/>
              <a:t>对 </a:t>
            </a:r>
            <a:r>
              <a:rPr lang="en-US" altLang="zh-CN" dirty="0"/>
              <a:t>Y </a:t>
            </a:r>
            <a:r>
              <a:rPr lang="zh-CN" altLang="en-US" dirty="0"/>
              <a:t>产生最大影响需要 </a:t>
            </a:r>
            <a:r>
              <a:rPr lang="en-US" altLang="zh-CN" sz="1200" b="1" kern="1200" dirty="0">
                <a:solidFill>
                  <a:schemeClr val="tx1"/>
                </a:solidFill>
                <a:effectLst/>
                <a:latin typeface="+mn-lt"/>
                <a:ea typeface="+mn-ea"/>
                <a:cs typeface="+mn-cs"/>
              </a:rPr>
              <a:t>50</a:t>
            </a:r>
            <a:r>
              <a:rPr lang="zh-CN" altLang="en-US" sz="1200" b="1" kern="1200" dirty="0">
                <a:solidFill>
                  <a:schemeClr val="tx1"/>
                </a:solidFill>
                <a:effectLst/>
                <a:latin typeface="+mn-lt"/>
                <a:ea typeface="+mn-ea"/>
                <a:cs typeface="+mn-cs"/>
              </a:rPr>
              <a:t>毫秒</a:t>
            </a:r>
            <a:r>
              <a:rPr lang="zh-CN" altLang="en-US" dirty="0"/>
              <a:t>。</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因为 </a:t>
            </a:r>
            <a:r>
              <a:rPr lang="en-US" altLang="zh-CN" dirty="0"/>
              <a:t>50</a:t>
            </a:r>
            <a:r>
              <a:rPr lang="zh-CN" altLang="en-US" dirty="0"/>
              <a:t>毫秒 </a:t>
            </a:r>
            <a:r>
              <a:rPr lang="en-US" altLang="zh-CN" dirty="0"/>
              <a:t>&lt; 200</a:t>
            </a:r>
            <a:r>
              <a:rPr lang="zh-CN" altLang="en-US" dirty="0"/>
              <a:t>毫秒，所以系统断定：</a:t>
            </a:r>
            <a:r>
              <a:rPr lang="en-US" altLang="zh-CN" b="1" dirty="0"/>
              <a:t>X </a:t>
            </a:r>
            <a:r>
              <a:rPr lang="zh-CN" altLang="en-US" b="1" dirty="0"/>
              <a:t>是因，</a:t>
            </a:r>
            <a:r>
              <a:rPr lang="en-US" altLang="zh-CN" b="1" dirty="0"/>
              <a:t>Y </a:t>
            </a:r>
            <a:r>
              <a:rPr lang="zh-CN" altLang="en-US" b="1" dirty="0"/>
              <a:t>是果</a:t>
            </a:r>
            <a:r>
              <a:rPr lang="zh-CN" altLang="en-US" dirty="0"/>
              <a:t> 。在因果图（</a:t>
            </a:r>
            <a:r>
              <a:rPr lang="en-US" altLang="zh-CN" dirty="0"/>
              <a:t>TECG</a:t>
            </a:r>
            <a:r>
              <a:rPr lang="zh-CN" altLang="en-US" dirty="0"/>
              <a:t>）上，就会画一条从 </a:t>
            </a:r>
            <a:r>
              <a:rPr lang="en-US" altLang="zh-CN" dirty="0"/>
              <a:t>X </a:t>
            </a:r>
            <a:r>
              <a:rPr lang="zh-CN" altLang="en-US" dirty="0"/>
              <a:t>指向 </a:t>
            </a:r>
            <a:r>
              <a:rPr lang="en-US" altLang="zh-CN" dirty="0"/>
              <a:t>Y </a:t>
            </a:r>
            <a:r>
              <a:rPr lang="zh-CN" altLang="en-US" dirty="0"/>
              <a:t>的箭头，并在箭头上标记权重“</a:t>
            </a:r>
            <a:r>
              <a:rPr lang="en-US" altLang="zh-CN" dirty="0"/>
              <a:t>50ms”</a:t>
            </a:r>
            <a:r>
              <a:rPr lang="zh-CN" altLang="en-US" dirty="0"/>
              <a:t>。</a:t>
            </a:r>
            <a:endParaRPr lang="en-US" altLang="zh-CN" dirty="0"/>
          </a:p>
          <a:p>
            <a:endParaRPr lang="en-US" altLang="zh-CN" sz="1200" b="0" i="0"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39A6C8EA-7A8B-DC64-7040-6488CD3ACFEA}"/>
              </a:ext>
            </a:extLst>
          </p:cNvPr>
          <p:cNvSpPr>
            <a:spLocks noGrp="1"/>
          </p:cNvSpPr>
          <p:nvPr>
            <p:ph type="sldNum" sz="quarter" idx="5"/>
          </p:nvPr>
        </p:nvSpPr>
        <p:spPr/>
        <p:txBody>
          <a:bodyPr/>
          <a:lstStyle/>
          <a:p>
            <a:fld id="{37D5B987-1E06-4EBC-82C5-DF6871542F57}" type="slidenum">
              <a:rPr lang="zh-CN" altLang="en-US" smtClean="0"/>
              <a:t>9</a:t>
            </a:fld>
            <a:endParaRPr lang="zh-CN" altLang="en-US"/>
          </a:p>
        </p:txBody>
      </p:sp>
    </p:spTree>
    <p:extLst>
      <p:ext uri="{BB962C8B-B14F-4D97-AF65-F5344CB8AC3E}">
        <p14:creationId xmlns:p14="http://schemas.microsoft.com/office/powerpoint/2010/main" val="36807633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1E6F8F-2FD8-B6C8-300D-A78F6FA774D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EAB0052-AFBC-CB38-0532-020602F5E7C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D4FEEFE-8421-3DCE-DC80-81EBC2E02FBA}"/>
              </a:ext>
            </a:extLst>
          </p:cNvPr>
          <p:cNvSpPr>
            <a:spLocks noGrp="1"/>
          </p:cNvSpPr>
          <p:nvPr>
            <p:ph type="body" idx="1"/>
          </p:nvPr>
        </p:nvSpPr>
        <p:spPr/>
        <p:txBody>
          <a:bodyPr/>
          <a:lstStyle/>
          <a:p>
            <a:r>
              <a:rPr lang="zh-CN" altLang="en-US" dirty="0"/>
              <a:t>首先，我们通过聚类解决了‘信号冗余’的问题（第一步）；然后，利用 </a:t>
            </a:r>
            <a:r>
              <a:rPr lang="en-US" altLang="zh-CN" dirty="0" err="1"/>
              <a:t>RatioDSTE</a:t>
            </a:r>
            <a:r>
              <a:rPr lang="en-US" altLang="zh-CN" dirty="0"/>
              <a:t> </a:t>
            </a:r>
            <a:r>
              <a:rPr lang="zh-CN" altLang="en-US" dirty="0"/>
              <a:t>算法找出了信号之间谁反应快、谁反应慢，从而确定了因果方向（第二步）；最后，我们将这个反应时间 </a:t>
            </a:r>
            <a:r>
              <a:rPr lang="en-US" altLang="zh-CN" sz="1200" kern="1200" dirty="0">
                <a:solidFill>
                  <a:schemeClr val="tx1"/>
                </a:solidFill>
                <a:effectLst/>
                <a:latin typeface="+mn-lt"/>
                <a:ea typeface="+mn-ea"/>
                <a:cs typeface="+mn-cs"/>
              </a:rPr>
              <a:t>$\tau_{max}$</a:t>
            </a:r>
            <a:r>
              <a:rPr lang="zh-CN" altLang="en-US" dirty="0"/>
              <a:t> 记录在图中作为权重（第三步）。这张生成的 </a:t>
            </a:r>
            <a:r>
              <a:rPr lang="en-US" altLang="zh-CN" dirty="0"/>
              <a:t>TECG </a:t>
            </a:r>
            <a:r>
              <a:rPr lang="zh-CN" altLang="en-US" dirty="0"/>
              <a:t>图就是车辆在当前驾驶状态下的‘数字逻辑画像’。”</a:t>
            </a:r>
            <a:endParaRPr lang="en-US" altLang="zh-CN" sz="1200" b="0" i="0"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04065734-123B-D8EB-CC64-EFD26ADA3878}"/>
              </a:ext>
            </a:extLst>
          </p:cNvPr>
          <p:cNvSpPr>
            <a:spLocks noGrp="1"/>
          </p:cNvSpPr>
          <p:nvPr>
            <p:ph type="sldNum" sz="quarter" idx="5"/>
          </p:nvPr>
        </p:nvSpPr>
        <p:spPr/>
        <p:txBody>
          <a:bodyPr/>
          <a:lstStyle/>
          <a:p>
            <a:fld id="{37D5B987-1E06-4EBC-82C5-DF6871542F57}" type="slidenum">
              <a:rPr lang="zh-CN" altLang="en-US" smtClean="0"/>
              <a:t>10</a:t>
            </a:fld>
            <a:endParaRPr lang="zh-CN" altLang="en-US"/>
          </a:p>
        </p:txBody>
      </p:sp>
    </p:spTree>
    <p:extLst>
      <p:ext uri="{BB962C8B-B14F-4D97-AF65-F5344CB8AC3E}">
        <p14:creationId xmlns:p14="http://schemas.microsoft.com/office/powerpoint/2010/main" val="422826238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D73F22-31F9-9A66-D151-6378B7390FF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FA23047-8EF5-AEF6-BFE5-08FF61E1E1F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DFDDD8B-F5A9-9809-34DC-CEFB3C8C70A7}"/>
              </a:ext>
            </a:extLst>
          </p:cNvPr>
          <p:cNvSpPr>
            <a:spLocks noGrp="1"/>
          </p:cNvSpPr>
          <p:nvPr>
            <p:ph type="body" idx="1"/>
          </p:nvPr>
        </p:nvSpPr>
        <p:spPr/>
        <p:txBody>
          <a:bodyPr/>
          <a:lstStyle/>
          <a:p>
            <a:endParaRPr lang="en-US" altLang="zh-CN" sz="1200" b="0" i="0"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3A9F337C-DC98-8046-1B11-13586526D034}"/>
              </a:ext>
            </a:extLst>
          </p:cNvPr>
          <p:cNvSpPr>
            <a:spLocks noGrp="1"/>
          </p:cNvSpPr>
          <p:nvPr>
            <p:ph type="sldNum" sz="quarter" idx="5"/>
          </p:nvPr>
        </p:nvSpPr>
        <p:spPr/>
        <p:txBody>
          <a:bodyPr/>
          <a:lstStyle/>
          <a:p>
            <a:fld id="{37D5B987-1E06-4EBC-82C5-DF6871542F57}" type="slidenum">
              <a:rPr lang="zh-CN" altLang="en-US" smtClean="0"/>
              <a:t>11</a:t>
            </a:fld>
            <a:endParaRPr lang="zh-CN" altLang="en-US"/>
          </a:p>
        </p:txBody>
      </p:sp>
    </p:spTree>
    <p:extLst>
      <p:ext uri="{BB962C8B-B14F-4D97-AF65-F5344CB8AC3E}">
        <p14:creationId xmlns:p14="http://schemas.microsoft.com/office/powerpoint/2010/main" val="21072997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88A6EA-B73E-32FB-1D22-E3BD3DC546A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1D20087-317D-5038-482B-B5A9E79E954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3AE52BB-D7B8-8DCB-61FC-3A9D1E04646B}"/>
              </a:ext>
            </a:extLst>
          </p:cNvPr>
          <p:cNvSpPr>
            <a:spLocks noGrp="1"/>
          </p:cNvSpPr>
          <p:nvPr>
            <p:ph type="body" idx="1"/>
          </p:nvPr>
        </p:nvSpPr>
        <p:spPr/>
        <p:txBody>
          <a:bodyPr/>
          <a:lstStyle/>
          <a:p>
            <a:endParaRPr lang="en-US" altLang="zh-CN" sz="1200" b="0" i="0"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19388534-A9A6-940B-579B-E63EE3F70921}"/>
              </a:ext>
            </a:extLst>
          </p:cNvPr>
          <p:cNvSpPr>
            <a:spLocks noGrp="1"/>
          </p:cNvSpPr>
          <p:nvPr>
            <p:ph type="sldNum" sz="quarter" idx="5"/>
          </p:nvPr>
        </p:nvSpPr>
        <p:spPr/>
        <p:txBody>
          <a:bodyPr/>
          <a:lstStyle/>
          <a:p>
            <a:fld id="{37D5B987-1E06-4EBC-82C5-DF6871542F57}" type="slidenum">
              <a:rPr lang="zh-CN" altLang="en-US" smtClean="0"/>
              <a:t>12</a:t>
            </a:fld>
            <a:endParaRPr lang="zh-CN" altLang="en-US"/>
          </a:p>
        </p:txBody>
      </p:sp>
    </p:spTree>
    <p:extLst>
      <p:ext uri="{BB962C8B-B14F-4D97-AF65-F5344CB8AC3E}">
        <p14:creationId xmlns:p14="http://schemas.microsoft.com/office/powerpoint/2010/main" val="193659635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32F0DA-7C46-6D9A-B7F1-00DDE48BCF8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494683F-D01A-282B-848A-FD197628464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39B222A-957A-65B6-E707-C5E8BE220650}"/>
              </a:ext>
            </a:extLst>
          </p:cNvPr>
          <p:cNvSpPr>
            <a:spLocks noGrp="1"/>
          </p:cNvSpPr>
          <p:nvPr>
            <p:ph type="body" idx="1"/>
          </p:nvPr>
        </p:nvSpPr>
        <p:spPr/>
        <p:txBody>
          <a:bodyPr/>
          <a:lstStyle/>
          <a:p>
            <a:r>
              <a:rPr lang="zh-CN" altLang="en-US" dirty="0"/>
              <a:t>通过比特翻转率</a:t>
            </a:r>
            <a:r>
              <a:rPr lang="zh-CN" altLang="en-US" b="1" dirty="0"/>
              <a:t>从三辆测试车的海量 </a:t>
            </a:r>
            <a:r>
              <a:rPr lang="en-US" altLang="zh-CN" b="1" dirty="0"/>
              <a:t>CAN </a:t>
            </a:r>
            <a:r>
              <a:rPr lang="zh-CN" altLang="en-US" b="1" dirty="0"/>
              <a:t>报文中，成功提取出的所有“连续物理信号”的编码规格和位边界</a:t>
            </a:r>
            <a:r>
              <a:rPr lang="zh-CN" altLang="en-US" dirty="0"/>
              <a:t> 。</a:t>
            </a:r>
            <a:endParaRPr lang="en-US" altLang="zh-CN" sz="1200" b="0" i="0"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107617AB-7460-337D-FA53-E7D595AECE92}"/>
              </a:ext>
            </a:extLst>
          </p:cNvPr>
          <p:cNvSpPr>
            <a:spLocks noGrp="1"/>
          </p:cNvSpPr>
          <p:nvPr>
            <p:ph type="sldNum" sz="quarter" idx="5"/>
          </p:nvPr>
        </p:nvSpPr>
        <p:spPr/>
        <p:txBody>
          <a:bodyPr/>
          <a:lstStyle/>
          <a:p>
            <a:fld id="{37D5B987-1E06-4EBC-82C5-DF6871542F57}" type="slidenum">
              <a:rPr lang="zh-CN" altLang="en-US" smtClean="0"/>
              <a:t>13</a:t>
            </a:fld>
            <a:endParaRPr lang="zh-CN" altLang="en-US"/>
          </a:p>
        </p:txBody>
      </p:sp>
    </p:spTree>
    <p:extLst>
      <p:ext uri="{BB962C8B-B14F-4D97-AF65-F5344CB8AC3E}">
        <p14:creationId xmlns:p14="http://schemas.microsoft.com/office/powerpoint/2010/main" val="238030366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A18761-0380-908A-FD59-CD9D5B47A5E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1614B9B-74D3-0198-5075-1BDA5303412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318C2B7-004B-EF95-4E6D-482D96E551C8}"/>
              </a:ext>
            </a:extLst>
          </p:cNvPr>
          <p:cNvSpPr>
            <a:spLocks noGrp="1"/>
          </p:cNvSpPr>
          <p:nvPr>
            <p:ph type="body" idx="1"/>
          </p:nvPr>
        </p:nvSpPr>
        <p:spPr/>
        <p:txBody>
          <a:bodyPr/>
          <a:lstStyle/>
          <a:p>
            <a:endParaRPr lang="en-US" altLang="zh-CN" sz="1200" b="0" i="0"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B7820397-5EAB-89FF-3DB1-EAC3AA56E434}"/>
              </a:ext>
            </a:extLst>
          </p:cNvPr>
          <p:cNvSpPr>
            <a:spLocks noGrp="1"/>
          </p:cNvSpPr>
          <p:nvPr>
            <p:ph type="sldNum" sz="quarter" idx="5"/>
          </p:nvPr>
        </p:nvSpPr>
        <p:spPr/>
        <p:txBody>
          <a:bodyPr/>
          <a:lstStyle/>
          <a:p>
            <a:fld id="{37D5B987-1E06-4EBC-82C5-DF6871542F57}" type="slidenum">
              <a:rPr lang="zh-CN" altLang="en-US" smtClean="0"/>
              <a:t>14</a:t>
            </a:fld>
            <a:endParaRPr lang="zh-CN" altLang="en-US"/>
          </a:p>
        </p:txBody>
      </p:sp>
    </p:spTree>
    <p:extLst>
      <p:ext uri="{BB962C8B-B14F-4D97-AF65-F5344CB8AC3E}">
        <p14:creationId xmlns:p14="http://schemas.microsoft.com/office/powerpoint/2010/main" val="52097990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CDAAFC-80D0-8246-842B-C6C7F26932F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49EA2B1-68A5-CDF7-9623-FD4CD24A86F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90F5881-C002-180C-B391-6592A6316188}"/>
              </a:ext>
            </a:extLst>
          </p:cNvPr>
          <p:cNvSpPr>
            <a:spLocks noGrp="1"/>
          </p:cNvSpPr>
          <p:nvPr>
            <p:ph type="body" idx="1"/>
          </p:nvPr>
        </p:nvSpPr>
        <p:spPr/>
        <p:txBody>
          <a:bodyPr/>
          <a:lstStyle/>
          <a:p>
            <a:r>
              <a:rPr lang="zh-CN" altLang="en-US" sz="1200" b="1" kern="1200" dirty="0">
                <a:solidFill>
                  <a:schemeClr val="tx1"/>
                </a:solidFill>
                <a:effectLst/>
                <a:latin typeface="+mn-lt"/>
                <a:ea typeface="+mn-ea"/>
                <a:cs typeface="+mn-cs"/>
              </a:rPr>
              <a:t>结论</a:t>
            </a:r>
            <a:r>
              <a:rPr lang="zh-CN" altLang="en-US" sz="1200" kern="1200" dirty="0">
                <a:solidFill>
                  <a:schemeClr val="tx1"/>
                </a:solidFill>
                <a:effectLst/>
                <a:latin typeface="+mn-lt"/>
                <a:ea typeface="+mn-ea"/>
                <a:cs typeface="+mn-cs"/>
              </a:rPr>
              <a:t>：在识别踏板位置、发动机转速、节气门位置、车速四个信号的因果图时，只有 </a:t>
            </a:r>
            <a:r>
              <a:rPr lang="en-US" altLang="zh-CN" sz="1200" kern="1200" dirty="0" err="1">
                <a:solidFill>
                  <a:schemeClr val="tx1"/>
                </a:solidFill>
                <a:effectLst/>
                <a:latin typeface="+mn-lt"/>
                <a:ea typeface="+mn-ea"/>
                <a:cs typeface="+mn-cs"/>
              </a:rPr>
              <a:t>RatioDSTE</a:t>
            </a:r>
            <a:r>
              <a:rPr lang="en-US" altLang="zh-CN" sz="1200" kern="1200" dirty="0">
                <a:solidFill>
                  <a:schemeClr val="tx1"/>
                </a:solidFill>
                <a:effectLst/>
                <a:latin typeface="+mn-lt"/>
                <a:ea typeface="+mn-ea"/>
                <a:cs typeface="+mn-cs"/>
              </a:rPr>
              <a:t> </a:t>
            </a:r>
            <a:r>
              <a:rPr lang="zh-CN" altLang="en-US" sz="1200" kern="1200" dirty="0">
                <a:solidFill>
                  <a:schemeClr val="tx1"/>
                </a:solidFill>
                <a:effectLst/>
                <a:latin typeface="+mn-lt"/>
                <a:ea typeface="+mn-ea"/>
                <a:cs typeface="+mn-cs"/>
              </a:rPr>
              <a:t>成功识别了所有正确的因果关系 。</a:t>
            </a:r>
          </a:p>
          <a:p>
            <a:r>
              <a:rPr lang="zh-CN" altLang="en-US" sz="1200" b="1" kern="1200" dirty="0">
                <a:solidFill>
                  <a:schemeClr val="tx1"/>
                </a:solidFill>
                <a:effectLst/>
                <a:latin typeface="+mn-lt"/>
                <a:ea typeface="+mn-ea"/>
                <a:cs typeface="+mn-cs"/>
              </a:rPr>
              <a:t>对比情况</a:t>
            </a:r>
            <a:r>
              <a:rPr lang="zh-CN" altLang="en-US"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TCDF </a:t>
            </a:r>
            <a:r>
              <a:rPr lang="zh-CN" altLang="en-US" sz="1200" kern="1200" dirty="0">
                <a:solidFill>
                  <a:schemeClr val="tx1"/>
                </a:solidFill>
                <a:effectLst/>
                <a:latin typeface="+mn-lt"/>
                <a:ea typeface="+mn-ea"/>
                <a:cs typeface="+mn-cs"/>
              </a:rPr>
              <a:t>算法完全失败；传统的 </a:t>
            </a:r>
            <a:r>
              <a:rPr lang="en-US" altLang="zh-CN" sz="1200" kern="1200" dirty="0">
                <a:solidFill>
                  <a:schemeClr val="tx1"/>
                </a:solidFill>
                <a:effectLst/>
                <a:latin typeface="+mn-lt"/>
                <a:ea typeface="+mn-ea"/>
                <a:cs typeface="+mn-cs"/>
              </a:rPr>
              <a:t>MVGC </a:t>
            </a:r>
            <a:r>
              <a:rPr lang="zh-CN" altLang="en-US" sz="1200" kern="1200" dirty="0">
                <a:solidFill>
                  <a:schemeClr val="tx1"/>
                </a:solidFill>
                <a:effectLst/>
                <a:latin typeface="+mn-lt"/>
                <a:ea typeface="+mn-ea"/>
                <a:cs typeface="+mn-cs"/>
              </a:rPr>
              <a:t>算法因为信号非平稳性表现极差；</a:t>
            </a:r>
            <a:r>
              <a:rPr lang="en-US" altLang="zh-CN" sz="1200" kern="1200" dirty="0">
                <a:solidFill>
                  <a:schemeClr val="tx1"/>
                </a:solidFill>
                <a:effectLst/>
                <a:latin typeface="+mn-lt"/>
                <a:ea typeface="+mn-ea"/>
                <a:cs typeface="+mn-cs"/>
              </a:rPr>
              <a:t>STE </a:t>
            </a:r>
            <a:r>
              <a:rPr lang="zh-CN" altLang="en-US" sz="1200" kern="1200" dirty="0">
                <a:solidFill>
                  <a:schemeClr val="tx1"/>
                </a:solidFill>
                <a:effectLst/>
                <a:latin typeface="+mn-lt"/>
                <a:ea typeface="+mn-ea"/>
                <a:cs typeface="+mn-cs"/>
              </a:rPr>
              <a:t>算法因为无法处理数据相等区间，只得到了部分正确结果 。随着采集时间长度的增加，</a:t>
            </a:r>
            <a:r>
              <a:rPr lang="en-US" altLang="zh-CN" sz="1200" kern="1200" dirty="0" err="1">
                <a:solidFill>
                  <a:schemeClr val="tx1"/>
                </a:solidFill>
                <a:effectLst/>
                <a:latin typeface="+mn-lt"/>
                <a:ea typeface="+mn-ea"/>
                <a:cs typeface="+mn-cs"/>
              </a:rPr>
              <a:t>RatioDSTE</a:t>
            </a:r>
            <a:r>
              <a:rPr lang="en-US" altLang="zh-CN" sz="1200" kern="1200" dirty="0">
                <a:solidFill>
                  <a:schemeClr val="tx1"/>
                </a:solidFill>
                <a:effectLst/>
                <a:latin typeface="+mn-lt"/>
                <a:ea typeface="+mn-ea"/>
                <a:cs typeface="+mn-cs"/>
              </a:rPr>
              <a:t> </a:t>
            </a:r>
            <a:r>
              <a:rPr lang="zh-CN" altLang="en-US" sz="1200" kern="1200" dirty="0">
                <a:solidFill>
                  <a:schemeClr val="tx1"/>
                </a:solidFill>
                <a:effectLst/>
                <a:latin typeface="+mn-lt"/>
                <a:ea typeface="+mn-ea"/>
                <a:cs typeface="+mn-cs"/>
              </a:rPr>
              <a:t>的 </a:t>
            </a:r>
            <a:r>
              <a:rPr lang="en-US" altLang="zh-CN" sz="1200" kern="1200" dirty="0">
                <a:solidFill>
                  <a:schemeClr val="tx1"/>
                </a:solidFill>
                <a:effectLst/>
                <a:latin typeface="+mn-lt"/>
                <a:ea typeface="+mn-ea"/>
                <a:cs typeface="+mn-cs"/>
              </a:rPr>
              <a:t>F1-score </a:t>
            </a:r>
            <a:r>
              <a:rPr lang="zh-CN" altLang="en-US" sz="1200" kern="1200" dirty="0">
                <a:solidFill>
                  <a:schemeClr val="tx1"/>
                </a:solidFill>
                <a:effectLst/>
                <a:latin typeface="+mn-lt"/>
                <a:ea typeface="+mn-ea"/>
                <a:cs typeface="+mn-cs"/>
              </a:rPr>
              <a:t>最终稳定达到了 </a:t>
            </a:r>
            <a:r>
              <a:rPr lang="en-US" altLang="zh-CN" sz="1200" kern="1200" dirty="0">
                <a:solidFill>
                  <a:schemeClr val="tx1"/>
                </a:solidFill>
                <a:effectLst/>
                <a:latin typeface="+mn-lt"/>
                <a:ea typeface="+mn-ea"/>
                <a:cs typeface="+mn-cs"/>
              </a:rPr>
              <a:t>100% </a:t>
            </a:r>
            <a:r>
              <a:rPr lang="zh-CN" altLang="en-US" sz="1200" kern="1200" dirty="0">
                <a:solidFill>
                  <a:schemeClr val="tx1"/>
                </a:solidFill>
                <a:effectLst/>
                <a:latin typeface="+mn-lt"/>
                <a:ea typeface="+mn-ea"/>
                <a:cs typeface="+mn-cs"/>
              </a:rPr>
              <a:t>。</a:t>
            </a:r>
          </a:p>
          <a:p>
            <a:endParaRPr lang="en-US" altLang="zh-CN" sz="1200" b="0" i="0"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C98C78A8-1881-655F-5232-24C19A97F8F8}"/>
              </a:ext>
            </a:extLst>
          </p:cNvPr>
          <p:cNvSpPr>
            <a:spLocks noGrp="1"/>
          </p:cNvSpPr>
          <p:nvPr>
            <p:ph type="sldNum" sz="quarter" idx="5"/>
          </p:nvPr>
        </p:nvSpPr>
        <p:spPr/>
        <p:txBody>
          <a:bodyPr/>
          <a:lstStyle/>
          <a:p>
            <a:fld id="{37D5B987-1E06-4EBC-82C5-DF6871542F57}" type="slidenum">
              <a:rPr lang="zh-CN" altLang="en-US" smtClean="0"/>
              <a:t>15</a:t>
            </a:fld>
            <a:endParaRPr lang="zh-CN" altLang="en-US"/>
          </a:p>
        </p:txBody>
      </p:sp>
    </p:spTree>
    <p:extLst>
      <p:ext uri="{BB962C8B-B14F-4D97-AF65-F5344CB8AC3E}">
        <p14:creationId xmlns:p14="http://schemas.microsoft.com/office/powerpoint/2010/main" val="233023640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上层是我们之前基于车辆物理结构画出的</a:t>
            </a:r>
            <a:r>
              <a:rPr lang="zh-CN" altLang="en-US" b="1" dirty="0"/>
              <a:t>顺序事件因果图，</a:t>
            </a:r>
            <a:r>
              <a:rPr lang="zh-CN" altLang="en-US" b="0" dirty="0"/>
              <a:t>下层</a:t>
            </a:r>
            <a:r>
              <a:rPr lang="zh-CN" altLang="en-US" dirty="0"/>
              <a:t>是系统完全通过数据驱动，从海量 </a:t>
            </a:r>
            <a:r>
              <a:rPr lang="en-US" altLang="zh-CN" dirty="0"/>
              <a:t>CAN </a:t>
            </a:r>
            <a:r>
              <a:rPr lang="zh-CN" altLang="en-US" dirty="0"/>
              <a:t>报文中盲猜并计算出来的</a:t>
            </a:r>
            <a:r>
              <a:rPr lang="zh-CN" altLang="en-US" b="1" dirty="0"/>
              <a:t>定时事件因果图，两图之间的连线就是</a:t>
            </a:r>
            <a:r>
              <a:rPr lang="en-US" altLang="zh-CN" b="1" dirty="0"/>
              <a:t>can</a:t>
            </a:r>
            <a:r>
              <a:rPr lang="zh-CN" altLang="en-US" b="1" dirty="0"/>
              <a:t>报文对应的语义关系。</a:t>
            </a:r>
            <a:endParaRPr lang="zh-CN" altLang="en-US" b="0" dirty="0"/>
          </a:p>
        </p:txBody>
      </p:sp>
      <p:sp>
        <p:nvSpPr>
          <p:cNvPr id="4" name="灯片编号占位符 3"/>
          <p:cNvSpPr>
            <a:spLocks noGrp="1"/>
          </p:cNvSpPr>
          <p:nvPr>
            <p:ph type="sldNum" sz="quarter" idx="5"/>
          </p:nvPr>
        </p:nvSpPr>
        <p:spPr/>
        <p:txBody>
          <a:bodyPr/>
          <a:lstStyle/>
          <a:p>
            <a:fld id="{37D5B987-1E06-4EBC-82C5-DF6871542F57}" type="slidenum">
              <a:rPr lang="zh-CN" altLang="en-US" smtClean="0"/>
              <a:t>16</a:t>
            </a:fld>
            <a:endParaRPr lang="zh-CN" altLang="en-US"/>
          </a:p>
        </p:txBody>
      </p:sp>
    </p:spTree>
    <p:extLst>
      <p:ext uri="{BB962C8B-B14F-4D97-AF65-F5344CB8AC3E}">
        <p14:creationId xmlns:p14="http://schemas.microsoft.com/office/powerpoint/2010/main" val="45475173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表中的每一列代表一种被成功破解的汽车物理部件</a:t>
            </a:r>
            <a:r>
              <a:rPr lang="en-US" altLang="zh-CN" dirty="0"/>
              <a:t>/</a:t>
            </a:r>
            <a:r>
              <a:rPr lang="zh-CN" altLang="en-US" dirty="0"/>
              <a:t>状态。</a:t>
            </a:r>
            <a:r>
              <a:rPr lang="en-US" altLang="zh-CN" dirty="0"/>
              <a:t>f</a:t>
            </a:r>
            <a:r>
              <a:rPr lang="zh-CN" altLang="en-US" dirty="0"/>
              <a:t>代表我们在表 </a:t>
            </a:r>
            <a:r>
              <a:rPr lang="en-US" altLang="zh-CN" dirty="0"/>
              <a:t>II</a:t>
            </a:r>
            <a:r>
              <a:rPr lang="zh-CN" altLang="en-US" dirty="0"/>
              <a:t>（</a:t>
            </a:r>
            <a:r>
              <a:rPr lang="en-US" altLang="zh-CN" dirty="0"/>
              <a:t>Table II</a:t>
            </a:r>
            <a:r>
              <a:rPr lang="zh-CN" altLang="en-US" dirty="0"/>
              <a:t>）中通过比特翻转率盲提取出来的、一个个具体的底层物理信号（对应特定的 </a:t>
            </a:r>
            <a:r>
              <a:rPr lang="en-US" altLang="zh-CN" dirty="0"/>
              <a:t>CAN ID </a:t>
            </a:r>
            <a:r>
              <a:rPr lang="zh-CN" altLang="en-US" dirty="0"/>
              <a:t>和比特位）。</a:t>
            </a:r>
            <a:r>
              <a:rPr lang="en-US" altLang="zh-CN" dirty="0"/>
              <a:t>v</a:t>
            </a:r>
            <a:r>
              <a:rPr lang="zh-CN" altLang="en-US" sz="1200" kern="1200" dirty="0">
                <a:solidFill>
                  <a:schemeClr val="tx1"/>
                </a:solidFill>
                <a:effectLst/>
                <a:latin typeface="+mn-lt"/>
                <a:ea typeface="+mn-ea"/>
                <a:cs typeface="+mn-cs"/>
              </a:rPr>
              <a:t>代表“语义集”或 </a:t>
            </a:r>
            <a:r>
              <a:rPr lang="en-US" altLang="zh-CN" sz="1200" kern="1200" dirty="0">
                <a:solidFill>
                  <a:schemeClr val="tx1"/>
                </a:solidFill>
                <a:effectLst/>
                <a:latin typeface="+mn-lt"/>
                <a:ea typeface="+mn-ea"/>
                <a:cs typeface="+mn-cs"/>
              </a:rPr>
              <a:t>TECG </a:t>
            </a:r>
            <a:r>
              <a:rPr lang="zh-CN" altLang="en-US" sz="1200" kern="1200" dirty="0">
                <a:solidFill>
                  <a:schemeClr val="tx1"/>
                </a:solidFill>
                <a:effectLst/>
                <a:latin typeface="+mn-lt"/>
                <a:ea typeface="+mn-ea"/>
                <a:cs typeface="+mn-cs"/>
              </a:rPr>
              <a:t>图中的“节点”。因为车内往往有多个传感器或 </a:t>
            </a:r>
            <a:r>
              <a:rPr lang="en-US" altLang="zh-CN" sz="1200" kern="1200" dirty="0">
                <a:solidFill>
                  <a:schemeClr val="tx1"/>
                </a:solidFill>
                <a:effectLst/>
                <a:latin typeface="+mn-lt"/>
                <a:ea typeface="+mn-ea"/>
                <a:cs typeface="+mn-cs"/>
              </a:rPr>
              <a:t>ECU </a:t>
            </a:r>
            <a:r>
              <a:rPr lang="zh-CN" altLang="en-US" sz="1200" kern="1200" dirty="0">
                <a:solidFill>
                  <a:schemeClr val="tx1"/>
                </a:solidFill>
                <a:effectLst/>
                <a:latin typeface="+mn-lt"/>
                <a:ea typeface="+mn-ea"/>
                <a:cs typeface="+mn-cs"/>
              </a:rPr>
              <a:t>会发送同一个物理量，所以系统通过皮尔逊相关系数把这些高度相关的</a:t>
            </a:r>
            <a:r>
              <a:rPr lang="en-US" altLang="zh-CN" sz="1200" kern="1200" dirty="0">
                <a:solidFill>
                  <a:schemeClr val="tx1"/>
                </a:solidFill>
                <a:effectLst/>
                <a:latin typeface="+mn-lt"/>
                <a:ea typeface="+mn-ea"/>
                <a:cs typeface="+mn-cs"/>
              </a:rPr>
              <a:t>f</a:t>
            </a:r>
            <a:r>
              <a:rPr lang="zh-CN" altLang="en-US" sz="1200" kern="1200" dirty="0">
                <a:solidFill>
                  <a:schemeClr val="tx1"/>
                </a:solidFill>
                <a:effectLst/>
                <a:latin typeface="+mn-lt"/>
                <a:ea typeface="+mn-ea"/>
                <a:cs typeface="+mn-cs"/>
              </a:rPr>
              <a:t>信号打包成了一个群组。</a:t>
            </a:r>
            <a:endParaRPr lang="en-US" altLang="zh-CN" dirty="0"/>
          </a:p>
        </p:txBody>
      </p:sp>
      <p:sp>
        <p:nvSpPr>
          <p:cNvPr id="4" name="灯片编号占位符 3"/>
          <p:cNvSpPr>
            <a:spLocks noGrp="1"/>
          </p:cNvSpPr>
          <p:nvPr>
            <p:ph type="sldNum" sz="quarter" idx="5"/>
          </p:nvPr>
        </p:nvSpPr>
        <p:spPr/>
        <p:txBody>
          <a:bodyPr/>
          <a:lstStyle/>
          <a:p>
            <a:fld id="{37D5B987-1E06-4EBC-82C5-DF6871542F57}" type="slidenum">
              <a:rPr lang="zh-CN" altLang="en-US" smtClean="0"/>
              <a:t>17</a:t>
            </a:fld>
            <a:endParaRPr lang="zh-CN" altLang="en-US"/>
          </a:p>
        </p:txBody>
      </p:sp>
    </p:spTree>
    <p:extLst>
      <p:ext uri="{BB962C8B-B14F-4D97-AF65-F5344CB8AC3E}">
        <p14:creationId xmlns:p14="http://schemas.microsoft.com/office/powerpoint/2010/main" val="282489429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415F5F-F0E1-343C-DC79-0D01846518D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DDB4AD1-D76D-CBE4-6A27-5222700BB07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A451A1C-53F4-5F96-306E-5D6D37E082DF}"/>
              </a:ext>
            </a:extLst>
          </p:cNvPr>
          <p:cNvSpPr>
            <a:spLocks noGrp="1"/>
          </p:cNvSpPr>
          <p:nvPr>
            <p:ph type="body" idx="1"/>
          </p:nvPr>
        </p:nvSpPr>
        <p:spPr/>
        <p:txBody>
          <a:bodyPr/>
          <a:lstStyle/>
          <a:p>
            <a:r>
              <a:rPr lang="zh-CN" altLang="en-US" dirty="0"/>
              <a:t>左图是通过</a:t>
            </a:r>
            <a:r>
              <a:rPr lang="en-US" altLang="zh-CN" dirty="0"/>
              <a:t>OBD-II</a:t>
            </a:r>
            <a:r>
              <a:rPr lang="zh-CN" altLang="en-US" dirty="0"/>
              <a:t>诊断数据和逆向结果的数值对比，上下两个图的峰值走向高度重合，说明逆向结果是正确的。右表是实验的一个总结</a:t>
            </a:r>
            <a:endParaRPr lang="en-US" altLang="zh-CN" dirty="0"/>
          </a:p>
          <a:p>
            <a:r>
              <a:rPr lang="en-US" altLang="zh-CN" dirty="0"/>
              <a:t>Continuous Signal </a:t>
            </a:r>
            <a:r>
              <a:rPr lang="zh-CN" altLang="en-US" dirty="0"/>
              <a:t>连续信号</a:t>
            </a:r>
            <a:r>
              <a:rPr lang="en-US" altLang="zh-CN" dirty="0"/>
              <a:t> Physical Signal </a:t>
            </a:r>
            <a:r>
              <a:rPr lang="zh-CN" altLang="en-US" dirty="0"/>
              <a:t>物理信号</a:t>
            </a:r>
            <a:endParaRPr lang="en-US" altLang="zh-CN" dirty="0"/>
          </a:p>
          <a:p>
            <a:r>
              <a:rPr lang="en-US" altLang="zh-CN" dirty="0"/>
              <a:t>Decoded Physical Signal </a:t>
            </a:r>
            <a:r>
              <a:rPr lang="zh-CN" altLang="en-US" dirty="0"/>
              <a:t>成功解码的物理信号</a:t>
            </a:r>
            <a:r>
              <a:rPr lang="en-US" altLang="zh-CN" b="1" dirty="0"/>
              <a:t>Decoded Semantic Type </a:t>
            </a:r>
            <a:r>
              <a:rPr lang="zh-CN" altLang="en-US" b="1" dirty="0"/>
              <a:t>解码的语义类型</a:t>
            </a:r>
          </a:p>
          <a:p>
            <a:endParaRPr lang="en-US" altLang="zh-CN" dirty="0"/>
          </a:p>
        </p:txBody>
      </p:sp>
      <p:sp>
        <p:nvSpPr>
          <p:cNvPr id="4" name="灯片编号占位符 3">
            <a:extLst>
              <a:ext uri="{FF2B5EF4-FFF2-40B4-BE49-F238E27FC236}">
                <a16:creationId xmlns:a16="http://schemas.microsoft.com/office/drawing/2014/main" id="{40212431-D106-FA80-1906-56769499BB41}"/>
              </a:ext>
            </a:extLst>
          </p:cNvPr>
          <p:cNvSpPr>
            <a:spLocks noGrp="1"/>
          </p:cNvSpPr>
          <p:nvPr>
            <p:ph type="sldNum" sz="quarter" idx="5"/>
          </p:nvPr>
        </p:nvSpPr>
        <p:spPr/>
        <p:txBody>
          <a:bodyPr/>
          <a:lstStyle/>
          <a:p>
            <a:fld id="{37D5B987-1E06-4EBC-82C5-DF6871542F57}" type="slidenum">
              <a:rPr lang="zh-CN" altLang="en-US" smtClean="0"/>
              <a:t>18</a:t>
            </a:fld>
            <a:endParaRPr lang="zh-CN" altLang="en-US"/>
          </a:p>
        </p:txBody>
      </p:sp>
    </p:spTree>
    <p:extLst>
      <p:ext uri="{BB962C8B-B14F-4D97-AF65-F5344CB8AC3E}">
        <p14:creationId xmlns:p14="http://schemas.microsoft.com/office/powerpoint/2010/main" val="395805845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8919A4-4E35-1472-3D6B-6BED0AFEE88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33CB093-370A-FEF6-7804-8BBA8F20D8A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34E8241-E5EE-25DF-528B-2EEBF2FC39CC}"/>
              </a:ext>
            </a:extLst>
          </p:cNvPr>
          <p:cNvSpPr>
            <a:spLocks noGrp="1"/>
          </p:cNvSpPr>
          <p:nvPr>
            <p:ph type="body" idx="1"/>
          </p:nvPr>
        </p:nvSpPr>
        <p:spPr/>
        <p:txBody>
          <a:bodyPr/>
          <a:lstStyle/>
          <a:p>
            <a:endParaRPr lang="en-US" altLang="zh-CN" dirty="0"/>
          </a:p>
        </p:txBody>
      </p:sp>
      <p:sp>
        <p:nvSpPr>
          <p:cNvPr id="4" name="灯片编号占位符 3">
            <a:extLst>
              <a:ext uri="{FF2B5EF4-FFF2-40B4-BE49-F238E27FC236}">
                <a16:creationId xmlns:a16="http://schemas.microsoft.com/office/drawing/2014/main" id="{B965CC70-3AB3-D87C-9AD6-82514DC32683}"/>
              </a:ext>
            </a:extLst>
          </p:cNvPr>
          <p:cNvSpPr>
            <a:spLocks noGrp="1"/>
          </p:cNvSpPr>
          <p:nvPr>
            <p:ph type="sldNum" sz="quarter" idx="5"/>
          </p:nvPr>
        </p:nvSpPr>
        <p:spPr/>
        <p:txBody>
          <a:bodyPr/>
          <a:lstStyle/>
          <a:p>
            <a:fld id="{37D5B987-1E06-4EBC-82C5-DF6871542F57}" type="slidenum">
              <a:rPr lang="zh-CN" altLang="en-US" smtClean="0"/>
              <a:t>19</a:t>
            </a:fld>
            <a:endParaRPr lang="zh-CN" altLang="en-US"/>
          </a:p>
        </p:txBody>
      </p:sp>
    </p:spTree>
    <p:extLst>
      <p:ext uri="{BB962C8B-B14F-4D97-AF65-F5344CB8AC3E}">
        <p14:creationId xmlns:p14="http://schemas.microsoft.com/office/powerpoint/2010/main" val="356522310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30135EF0-F1E5-476D-8FAE-E222393CAF14}" type="datetimeFigureOut">
              <a:rPr lang="zh-CN" altLang="en-US" smtClean="0"/>
              <a:t>2026/3/24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8165F9D-F3F6-4996-8EE6-4E8463525FF2}"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30135EF0-F1E5-476D-8FAE-E222393CAF14}" type="datetimeFigureOut">
              <a:rPr lang="zh-CN" altLang="en-US" smtClean="0"/>
              <a:t>2026/3/24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8165F9D-F3F6-4996-8EE6-4E8463525FF2}"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30135EF0-F1E5-476D-8FAE-E222393CAF14}" type="datetimeFigureOut">
              <a:rPr lang="zh-CN" altLang="en-US" smtClean="0"/>
              <a:t>2026/3/24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8165F9D-F3F6-4996-8EE6-4E8463525FF2}"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30135EF0-F1E5-476D-8FAE-E222393CAF14}" type="datetimeFigureOut">
              <a:rPr lang="zh-CN" altLang="en-US" smtClean="0"/>
              <a:t>2026/3/24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8165F9D-F3F6-4996-8EE6-4E8463525FF2}"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30135EF0-F1E5-476D-8FAE-E222393CAF14}" type="datetimeFigureOut">
              <a:rPr lang="zh-CN" altLang="en-US" smtClean="0"/>
              <a:t>2026/3/24</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8165F9D-F3F6-4996-8EE6-4E8463525FF2}"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30135EF0-F1E5-476D-8FAE-E222393CAF14}" type="datetimeFigureOut">
              <a:rPr lang="zh-CN" altLang="en-US" smtClean="0"/>
              <a:t>2026/3/24</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8165F9D-F3F6-4996-8EE6-4E8463525FF2}"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30135EF0-F1E5-476D-8FAE-E222393CAF14}" type="datetimeFigureOut">
              <a:rPr lang="zh-CN" altLang="en-US" smtClean="0"/>
              <a:t>2026/3/24</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8165F9D-F3F6-4996-8EE6-4E8463525FF2}"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30135EF0-F1E5-476D-8FAE-E222393CAF14}" type="datetimeFigureOut">
              <a:rPr lang="zh-CN" altLang="en-US" smtClean="0"/>
              <a:t>2026/3/24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8165F9D-F3F6-4996-8EE6-4E8463525FF2}"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30135EF0-F1E5-476D-8FAE-E222393CAF14}" type="datetimeFigureOut">
              <a:rPr lang="zh-CN" altLang="en-US" smtClean="0"/>
              <a:t>2026/3/24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8165F9D-F3F6-4996-8EE6-4E8463525FF2}"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30135EF0-F1E5-476D-8FAE-E222393CAF14}" type="datetimeFigureOut">
              <a:rPr lang="zh-CN" altLang="en-US" smtClean="0"/>
              <a:t>2026/3/24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8165F9D-F3F6-4996-8EE6-4E8463525FF2}"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30135EF0-F1E5-476D-8FAE-E222393CAF14}" type="datetimeFigureOut">
              <a:rPr lang="zh-CN" altLang="en-US" smtClean="0"/>
              <a:t>2026/3/24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8165F9D-F3F6-4996-8EE6-4E8463525FF2}"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封面">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 cstate="print">
            <a:extLst>
              <a:ext uri="{BEBA8EAE-BF5A-486C-A8C5-ECC9F3942E4B}">
                <a14:imgProps xmlns:a14="http://schemas.microsoft.com/office/drawing/2010/main">
                  <a14:imgLayer r:embed="rId3">
                    <a14:imgEffect>
                      <a14:artisticBlur/>
                    </a14:imgEffect>
                  </a14:imgLayer>
                </a14:imgProps>
              </a:ext>
            </a:extLst>
          </a:blip>
          <a:srcRect t="23405" b="8394"/>
          <a:stretch>
            <a:fillRect/>
          </a:stretch>
        </p:blipFill>
        <p:spPr>
          <a:xfrm>
            <a:off x="-7998" y="-6894"/>
            <a:ext cx="12199999" cy="4347246"/>
          </a:xfrm>
          <a:prstGeom prst="rect">
            <a:avLst/>
          </a:prstGeom>
        </p:spPr>
      </p:pic>
      <p:sp>
        <p:nvSpPr>
          <p:cNvPr id="15" name="矩形 14"/>
          <p:cNvSpPr/>
          <p:nvPr userDrawn="1"/>
        </p:nvSpPr>
        <p:spPr>
          <a:xfrm>
            <a:off x="-7999" y="0"/>
            <a:ext cx="12199999" cy="4340352"/>
          </a:xfrm>
          <a:prstGeom prst="rect">
            <a:avLst/>
          </a:prstGeom>
          <a:gradFill flip="none" rotWithShape="1">
            <a:gsLst>
              <a:gs pos="55000">
                <a:schemeClr val="bg1"/>
              </a:gs>
              <a:gs pos="0">
                <a:schemeClr val="bg1">
                  <a:alpha val="66000"/>
                </a:schemeClr>
              </a:gs>
              <a:gs pos="100000">
                <a:schemeClr val="bg1">
                  <a:alpha val="6400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10845"/>
            <a:endParaRPr lang="zh-CN" altLang="en-US" sz="665" kern="0" dirty="0">
              <a:solidFill>
                <a:srgbClr val="FFFFFF"/>
              </a:solidFill>
              <a:sym typeface="Helvetica"/>
            </a:endParaRPr>
          </a:p>
        </p:txBody>
      </p:sp>
      <p:sp>
        <p:nvSpPr>
          <p:cNvPr id="4" name="Shape 30"/>
          <p:cNvSpPr/>
          <p:nvPr userDrawn="1"/>
        </p:nvSpPr>
        <p:spPr>
          <a:xfrm>
            <a:off x="-7998" y="4340352"/>
            <a:ext cx="12199999" cy="2517649"/>
          </a:xfrm>
          <a:prstGeom prst="rect">
            <a:avLst/>
          </a:prstGeom>
          <a:gradFill flip="none" rotWithShape="1">
            <a:gsLst>
              <a:gs pos="0">
                <a:schemeClr val="accent1">
                  <a:lumMod val="75000"/>
                  <a:shade val="30000"/>
                  <a:satMod val="115000"/>
                </a:schemeClr>
              </a:gs>
              <a:gs pos="50000">
                <a:schemeClr val="accent1">
                  <a:lumMod val="75000"/>
                  <a:shade val="67500"/>
                  <a:satMod val="115000"/>
                </a:schemeClr>
              </a:gs>
              <a:gs pos="100000">
                <a:schemeClr val="accent1">
                  <a:lumMod val="75000"/>
                  <a:shade val="100000"/>
                  <a:satMod val="115000"/>
                </a:schemeClr>
              </a:gs>
            </a:gsLst>
            <a:lin ang="18900000" scaled="1"/>
            <a:tileRect/>
          </a:gradFill>
          <a:ln>
            <a:solidFill>
              <a:schemeClr val="accent1">
                <a:lumMod val="75000"/>
              </a:schemeClr>
            </a:solidFill>
          </a:ln>
        </p:spPr>
        <p:style>
          <a:lnRef idx="0">
            <a:schemeClr val="accent1"/>
          </a:lnRef>
          <a:fillRef idx="3">
            <a:schemeClr val="accent1"/>
          </a:fillRef>
          <a:effectRef idx="3">
            <a:schemeClr val="accent1"/>
          </a:effectRef>
          <a:fontRef idx="minor">
            <a:schemeClr val="lt1"/>
          </a:fontRef>
        </p:style>
        <p:txBody>
          <a:bodyPr lIns="0" tIns="0" rIns="0" bIns="0" anchor="ctr"/>
          <a:lstStyle/>
          <a:p>
            <a:pPr algn="ctr" defTabSz="410845">
              <a:defRPr sz="2400">
                <a:solidFill>
                  <a:srgbClr val="FFFFFF"/>
                </a:solidFill>
                <a:latin typeface="Helvetica Light"/>
                <a:ea typeface="Helvetica Light"/>
                <a:cs typeface="Helvetica Light"/>
                <a:sym typeface="Helvetica Light"/>
              </a:defRPr>
            </a:pPr>
            <a:endParaRPr sz="2250" kern="0" dirty="0">
              <a:solidFill>
                <a:srgbClr val="FFFFFF"/>
              </a:solidFill>
              <a:latin typeface="Helvetica Light"/>
              <a:ea typeface="Helvetica Light"/>
              <a:cs typeface="Helvetica Light"/>
              <a:sym typeface="Helvetica Light"/>
            </a:endParaRPr>
          </a:p>
        </p:txBody>
      </p:sp>
      <p:sp>
        <p:nvSpPr>
          <p:cNvPr id="5" name="AutoShape 7" descr="C:\Users\netlab\AppData\Roaming\Tencent\Users\152540513\QQ\WinTemp\RichOle\%JV)]WU0%W6ZJA7RU(.png"/>
          <p:cNvSpPr>
            <a:spLocks noChangeAspect="1" noChangeArrowheads="1"/>
          </p:cNvSpPr>
          <p:nvPr userDrawn="1"/>
        </p:nvSpPr>
        <p:spPr bwMode="auto">
          <a:xfrm>
            <a:off x="0" y="607568"/>
            <a:ext cx="214306" cy="214313"/>
          </a:xfrm>
          <a:prstGeom prst="rect">
            <a:avLst/>
          </a:prstGeom>
          <a:noFill/>
        </p:spPr>
        <p:txBody>
          <a:bodyPr vert="horz" wrap="square" lIns="64290" tIns="32145" rIns="64290" bIns="32145" numCol="1" anchor="t" anchorCtr="0" compatLnSpc="1"/>
          <a:lstStyle/>
          <a:p>
            <a:pPr algn="ctr" defTabSz="410845"/>
            <a:endParaRPr lang="zh-CN" altLang="en-US" sz="1265" kern="0">
              <a:solidFill>
                <a:sysClr val="windowText" lastClr="000000"/>
              </a:solidFill>
              <a:sym typeface="Helvetica"/>
            </a:endParaRPr>
          </a:p>
        </p:txBody>
      </p:sp>
      <p:sp>
        <p:nvSpPr>
          <p:cNvPr id="6" name="AutoShape 8" descr="C:\Users\netlab\AppData\Roaming\Tencent\Users\152540513\QQ\WinTemp\RichOle\%JV)]WU0%W6ZJA7RU(.png"/>
          <p:cNvSpPr>
            <a:spLocks noChangeAspect="1" noChangeArrowheads="1"/>
          </p:cNvSpPr>
          <p:nvPr userDrawn="1"/>
        </p:nvSpPr>
        <p:spPr bwMode="auto">
          <a:xfrm>
            <a:off x="0" y="607568"/>
            <a:ext cx="214306" cy="214313"/>
          </a:xfrm>
          <a:prstGeom prst="rect">
            <a:avLst/>
          </a:prstGeom>
          <a:noFill/>
        </p:spPr>
        <p:txBody>
          <a:bodyPr vert="horz" wrap="square" lIns="64290" tIns="32145" rIns="64290" bIns="32145" numCol="1" anchor="t" anchorCtr="0" compatLnSpc="1"/>
          <a:lstStyle/>
          <a:p>
            <a:pPr algn="ctr" defTabSz="410845"/>
            <a:endParaRPr lang="zh-CN" altLang="en-US" sz="1265" kern="0">
              <a:solidFill>
                <a:sysClr val="windowText" lastClr="000000"/>
              </a:solidFill>
              <a:sym typeface="Helvetica"/>
            </a:endParaRPr>
          </a:p>
        </p:txBody>
      </p:sp>
      <p:sp>
        <p:nvSpPr>
          <p:cNvPr id="7" name="AutoShape 9" descr="C:\Users\netlab\AppData\Roaming\Tencent\Users\152540513\QQ\WinTemp\RichOle\%JV)]WU0%W6ZJA7RU(.png"/>
          <p:cNvSpPr>
            <a:spLocks noChangeAspect="1" noChangeArrowheads="1"/>
          </p:cNvSpPr>
          <p:nvPr userDrawn="1"/>
        </p:nvSpPr>
        <p:spPr bwMode="auto">
          <a:xfrm>
            <a:off x="0" y="607568"/>
            <a:ext cx="214306" cy="214313"/>
          </a:xfrm>
          <a:prstGeom prst="rect">
            <a:avLst/>
          </a:prstGeom>
          <a:noFill/>
        </p:spPr>
        <p:txBody>
          <a:bodyPr vert="horz" wrap="square" lIns="64290" tIns="32145" rIns="64290" bIns="32145" numCol="1" anchor="t" anchorCtr="0" compatLnSpc="1"/>
          <a:lstStyle/>
          <a:p>
            <a:pPr algn="ctr" defTabSz="410845"/>
            <a:endParaRPr lang="zh-CN" altLang="en-US" sz="1265" kern="0">
              <a:solidFill>
                <a:sysClr val="windowText" lastClr="000000"/>
              </a:solidFill>
              <a:sym typeface="Helvetica"/>
            </a:endParaRPr>
          </a:p>
        </p:txBody>
      </p:sp>
      <p:sp>
        <p:nvSpPr>
          <p:cNvPr id="8" name="AutoShape 10" descr="C:\Users\netlab\AppData\Roaming\Tencent\Users\152540513\QQ\WinTemp\RichOle\%JV)]WU0%W6ZJA7RU(.png"/>
          <p:cNvSpPr>
            <a:spLocks noChangeAspect="1" noChangeArrowheads="1"/>
          </p:cNvSpPr>
          <p:nvPr userDrawn="1"/>
        </p:nvSpPr>
        <p:spPr bwMode="auto">
          <a:xfrm>
            <a:off x="0" y="607568"/>
            <a:ext cx="214306" cy="214313"/>
          </a:xfrm>
          <a:prstGeom prst="rect">
            <a:avLst/>
          </a:prstGeom>
          <a:noFill/>
        </p:spPr>
        <p:txBody>
          <a:bodyPr vert="horz" wrap="square" lIns="64290" tIns="32145" rIns="64290" bIns="32145" numCol="1" anchor="t" anchorCtr="0" compatLnSpc="1"/>
          <a:lstStyle/>
          <a:p>
            <a:pPr algn="ctr" defTabSz="410845"/>
            <a:endParaRPr lang="zh-CN" altLang="en-US" sz="1265" kern="0">
              <a:solidFill>
                <a:sysClr val="windowText" lastClr="000000"/>
              </a:solidFill>
              <a:sym typeface="Helvetica"/>
            </a:endParaRPr>
          </a:p>
        </p:txBody>
      </p:sp>
      <p:sp>
        <p:nvSpPr>
          <p:cNvPr id="9" name="AutoShape 11" descr="C:\Users\netlab\AppData\Roaming\Tencent\Users\152540513\QQ\WinTemp\RichOle\%JV)]WU0%W6ZJA7RU(.png"/>
          <p:cNvSpPr>
            <a:spLocks noChangeAspect="1" noChangeArrowheads="1"/>
          </p:cNvSpPr>
          <p:nvPr userDrawn="1"/>
        </p:nvSpPr>
        <p:spPr bwMode="auto">
          <a:xfrm>
            <a:off x="0" y="607568"/>
            <a:ext cx="214306" cy="214313"/>
          </a:xfrm>
          <a:prstGeom prst="rect">
            <a:avLst/>
          </a:prstGeom>
          <a:noFill/>
        </p:spPr>
        <p:txBody>
          <a:bodyPr vert="horz" wrap="square" lIns="64290" tIns="32145" rIns="64290" bIns="32145" numCol="1" anchor="t" anchorCtr="0" compatLnSpc="1"/>
          <a:lstStyle/>
          <a:p>
            <a:pPr algn="ctr" defTabSz="410845"/>
            <a:endParaRPr lang="zh-CN" altLang="en-US" sz="1265" kern="0">
              <a:solidFill>
                <a:sysClr val="windowText" lastClr="000000"/>
              </a:solidFill>
              <a:sym typeface="Helvetica"/>
            </a:endParaRPr>
          </a:p>
        </p:txBody>
      </p:sp>
      <p:sp>
        <p:nvSpPr>
          <p:cNvPr id="14" name="Title Placeholder 1"/>
          <p:cNvSpPr>
            <a:spLocks noGrp="1"/>
          </p:cNvSpPr>
          <p:nvPr>
            <p:ph type="ctrTitle" hasCustomPrompt="1"/>
          </p:nvPr>
        </p:nvSpPr>
        <p:spPr>
          <a:xfrm>
            <a:off x="1033092" y="543055"/>
            <a:ext cx="10125816" cy="3008784"/>
          </a:xfrm>
          <a:prstGeom prst="rect">
            <a:avLst/>
          </a:prstGeom>
          <a:noFill/>
          <a:ln w="12700" cap="rnd">
            <a:solidFill>
              <a:schemeClr val="bg1"/>
            </a:solidFill>
            <a:prstDash val="dash"/>
            <a:round/>
          </a:ln>
        </p:spPr>
        <p:txBody>
          <a:bodyPr anchor="ctr"/>
          <a:lstStyle>
            <a:lvl1pPr lvl="0" algn="ctr">
              <a:defRPr sz="6185" b="0" kern="1200" cap="none" spc="0">
                <a:ln w="0"/>
                <a:solidFill>
                  <a:schemeClr val="tx1"/>
                </a:solidFill>
                <a:effectLst>
                  <a:outerShdw blurRad="38100" dist="19050" dir="2700000" algn="tl" rotWithShape="0">
                    <a:schemeClr val="dk1">
                      <a:alpha val="40000"/>
                    </a:schemeClr>
                  </a:outerShdw>
                </a:effectLst>
              </a:defRPr>
            </a:lvl1pPr>
          </a:lstStyle>
          <a:p>
            <a:pPr lvl="0"/>
            <a:r>
              <a:rPr lang="zh-CN" altLang="en-US" dirty="0"/>
              <a:t>标题</a:t>
            </a:r>
          </a:p>
        </p:txBody>
      </p:sp>
    </p:spTree>
  </p:cSld>
  <p:clrMapOvr>
    <a:masterClrMapping/>
  </p:clrMapOvr>
  <p:hf hdr="0" ftr="0"/>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3_自定义版式">
    <p:spTree>
      <p:nvGrpSpPr>
        <p:cNvPr id="1" name=""/>
        <p:cNvGrpSpPr/>
        <p:nvPr/>
      </p:nvGrpSpPr>
      <p:grpSpPr>
        <a:xfrm>
          <a:off x="0" y="0"/>
          <a:ext cx="0" cy="0"/>
          <a:chOff x="0" y="0"/>
          <a:chExt cx="0" cy="0"/>
        </a:xfrm>
      </p:grpSpPr>
      <p:sp>
        <p:nvSpPr>
          <p:cNvPr id="6" name="Shape 30"/>
          <p:cNvSpPr/>
          <p:nvPr userDrawn="1"/>
        </p:nvSpPr>
        <p:spPr>
          <a:xfrm>
            <a:off x="-8255" y="-1905"/>
            <a:ext cx="12200255" cy="737235"/>
          </a:xfrm>
          <a:prstGeom prst="rect">
            <a:avLst/>
          </a:prstGeom>
          <a:gradFill flip="none" rotWithShape="1">
            <a:gsLst>
              <a:gs pos="0">
                <a:schemeClr val="accent1">
                  <a:lumMod val="75000"/>
                  <a:shade val="30000"/>
                  <a:satMod val="115000"/>
                </a:schemeClr>
              </a:gs>
              <a:gs pos="50000">
                <a:schemeClr val="accent1">
                  <a:lumMod val="75000"/>
                  <a:shade val="67500"/>
                  <a:satMod val="115000"/>
                </a:schemeClr>
              </a:gs>
              <a:gs pos="100000">
                <a:schemeClr val="accent1">
                  <a:lumMod val="75000"/>
                  <a:shade val="100000"/>
                  <a:satMod val="115000"/>
                </a:schemeClr>
              </a:gs>
            </a:gsLst>
            <a:lin ang="18900000" scaled="1"/>
            <a:tileRect/>
          </a:gradFill>
          <a:ln>
            <a:solidFill>
              <a:schemeClr val="accent1">
                <a:lumMod val="75000"/>
              </a:schemeClr>
            </a:solidFill>
          </a:ln>
        </p:spPr>
        <p:style>
          <a:lnRef idx="0">
            <a:schemeClr val="accent1"/>
          </a:lnRef>
          <a:fillRef idx="3">
            <a:schemeClr val="accent1"/>
          </a:fillRef>
          <a:effectRef idx="3">
            <a:schemeClr val="accent1"/>
          </a:effectRef>
          <a:fontRef idx="minor">
            <a:schemeClr val="lt1"/>
          </a:fontRef>
        </p:style>
        <p:txBody>
          <a:bodyPr lIns="0" tIns="0" rIns="0" bIns="0" anchor="ctr"/>
          <a:lstStyle/>
          <a:p>
            <a:pPr algn="ctr" defTabSz="410845">
              <a:defRPr sz="2400">
                <a:solidFill>
                  <a:srgbClr val="FFFFFF"/>
                </a:solidFill>
                <a:latin typeface="Helvetica Light"/>
                <a:ea typeface="Helvetica Light"/>
                <a:cs typeface="Helvetica Light"/>
                <a:sym typeface="Helvetica Light"/>
              </a:defRPr>
            </a:pPr>
            <a:endParaRPr sz="2250" kern="0" dirty="0">
              <a:solidFill>
                <a:srgbClr val="FFFFFF"/>
              </a:solidFill>
              <a:latin typeface="Helvetica Light"/>
              <a:ea typeface="Helvetica Light"/>
              <a:cs typeface="Helvetica Light"/>
              <a:sym typeface="Helvetica Light"/>
            </a:endParaRPr>
          </a:p>
        </p:txBody>
      </p:sp>
      <p:sp>
        <p:nvSpPr>
          <p:cNvPr id="2" name="标题 1"/>
          <p:cNvSpPr>
            <a:spLocks noGrp="1"/>
          </p:cNvSpPr>
          <p:nvPr>
            <p:ph type="title"/>
          </p:nvPr>
        </p:nvSpPr>
        <p:spPr>
          <a:xfrm>
            <a:off x="210358" y="67310"/>
            <a:ext cx="11772207" cy="744625"/>
          </a:xfrm>
        </p:spPr>
        <p:txBody>
          <a:bodyPr>
            <a:normAutofit/>
          </a:bodyPr>
          <a:lstStyle>
            <a:lvl1pPr>
              <a:defRPr sz="3000" b="1" baseline="0">
                <a:solidFill>
                  <a:schemeClr val="bg1"/>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0135EF0-F1E5-476D-8FAE-E222393CAF14}" type="datetimeFigureOut">
              <a:rPr lang="zh-CN" altLang="en-US" smtClean="0"/>
              <a:t>2026/3/24</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165F9D-F3F6-4996-8EE6-4E8463525FF2}"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3.xml"/><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3.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3.xm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3.xml"/><Relationship Id="rId5" Type="http://schemas.openxmlformats.org/officeDocument/2006/relationships/image" Target="../media/image15.png"/><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13.xml"/><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7.xml"/><Relationship Id="rId1" Type="http://schemas.openxmlformats.org/officeDocument/2006/relationships/slideLayout" Target="../slideLayouts/slideLayout13.xml"/><Relationship Id="rId4" Type="http://schemas.openxmlformats.org/officeDocument/2006/relationships/image" Target="../media/image21.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30188" y="214721"/>
            <a:ext cx="3113573" cy="834597"/>
          </a:xfrm>
          <a:prstGeom prst="rect">
            <a:avLst/>
          </a:prstGeom>
        </p:spPr>
      </p:pic>
      <p:sp>
        <p:nvSpPr>
          <p:cNvPr id="2" name="文本框 1"/>
          <p:cNvSpPr txBox="1"/>
          <p:nvPr/>
        </p:nvSpPr>
        <p:spPr>
          <a:xfrm>
            <a:off x="1210310" y="1339850"/>
            <a:ext cx="9346565" cy="1443990"/>
          </a:xfrm>
          <a:prstGeom prst="rect">
            <a:avLst/>
          </a:prstGeom>
          <a:noFill/>
        </p:spPr>
        <p:txBody>
          <a:bodyPr wrap="square" rtlCol="0">
            <a:noAutofit/>
          </a:bodyPr>
          <a:lstStyle/>
          <a:p>
            <a:endParaRPr lang="zh-CN" altLang="en-US"/>
          </a:p>
        </p:txBody>
      </p:sp>
      <p:sp>
        <p:nvSpPr>
          <p:cNvPr id="4" name="文本框 3"/>
          <p:cNvSpPr txBox="1"/>
          <p:nvPr/>
        </p:nvSpPr>
        <p:spPr>
          <a:xfrm>
            <a:off x="301625" y="1631399"/>
            <a:ext cx="11588750" cy="1797601"/>
          </a:xfrm>
          <a:prstGeom prst="rect">
            <a:avLst/>
          </a:prstGeom>
          <a:noFill/>
        </p:spPr>
        <p:txBody>
          <a:bodyPr wrap="square" rtlCol="0">
            <a:noAutofit/>
          </a:bodyPr>
          <a:lstStyle/>
          <a:p>
            <a:pPr algn="ctr"/>
            <a:r>
              <a:rPr lang="en-US" altLang="zh-CN" sz="4800" dirty="0" err="1"/>
              <a:t>PicaCAN</a:t>
            </a:r>
            <a:r>
              <a:rPr lang="en-US" altLang="zh-CN" sz="4800" dirty="0"/>
              <a:t>:</a:t>
            </a:r>
            <a:r>
              <a:rPr lang="zh-CN" altLang="en-US" sz="4800" dirty="0"/>
              <a:t>利用物理诱导因果关系对</a:t>
            </a:r>
            <a:r>
              <a:rPr lang="en-US" altLang="zh-CN" sz="4800" dirty="0"/>
              <a:t>CAN</a:t>
            </a:r>
            <a:r>
              <a:rPr lang="zh-CN" altLang="en-US" sz="4800" dirty="0"/>
              <a:t>信号的物理语义的逆向工程</a:t>
            </a:r>
          </a:p>
        </p:txBody>
      </p:sp>
      <p:sp>
        <p:nvSpPr>
          <p:cNvPr id="6" name="文本框 5"/>
          <p:cNvSpPr txBox="1"/>
          <p:nvPr/>
        </p:nvSpPr>
        <p:spPr>
          <a:xfrm>
            <a:off x="9313545" y="4267200"/>
            <a:ext cx="2437130" cy="460375"/>
          </a:xfrm>
          <a:prstGeom prst="rect">
            <a:avLst/>
          </a:prstGeom>
          <a:noFill/>
        </p:spPr>
        <p:txBody>
          <a:bodyPr wrap="square" rtlCol="0">
            <a:spAutoFit/>
          </a:bodyPr>
          <a:lstStyle/>
          <a:p>
            <a:r>
              <a:rPr lang="zh-CN" altLang="en-US" sz="2400" dirty="0"/>
              <a:t>汇报人：任东辰</a:t>
            </a:r>
          </a:p>
        </p:txBody>
      </p:sp>
      <p:sp>
        <p:nvSpPr>
          <p:cNvPr id="3" name="文本框 2">
            <a:extLst>
              <a:ext uri="{FF2B5EF4-FFF2-40B4-BE49-F238E27FC236}">
                <a16:creationId xmlns:a16="http://schemas.microsoft.com/office/drawing/2014/main" id="{F691D264-B350-2F4E-EC75-84376737CB62}"/>
              </a:ext>
            </a:extLst>
          </p:cNvPr>
          <p:cNvSpPr txBox="1"/>
          <p:nvPr/>
        </p:nvSpPr>
        <p:spPr>
          <a:xfrm>
            <a:off x="866273" y="4580270"/>
            <a:ext cx="8137050" cy="646331"/>
          </a:xfrm>
          <a:prstGeom prst="rect">
            <a:avLst/>
          </a:prstGeom>
          <a:noFill/>
        </p:spPr>
        <p:txBody>
          <a:bodyPr wrap="square" rtlCol="0">
            <a:spAutoFit/>
          </a:bodyPr>
          <a:lstStyle/>
          <a:p>
            <a:r>
              <a:rPr lang="fr-FR" altLang="zh-CN" dirty="0"/>
              <a:t>IEEE TRANSACTIONS ON MOBILE COMPUTING  2025</a:t>
            </a:r>
            <a:endParaRPr lang="en-US" altLang="zh-CN" dirty="0"/>
          </a:p>
          <a:p>
            <a:r>
              <a:rPr lang="en-US" altLang="zh-CN" dirty="0"/>
              <a:t>Yucheng Ruan , </a:t>
            </a:r>
            <a:r>
              <a:rPr lang="en-US" altLang="zh-CN" dirty="0" err="1"/>
              <a:t>Chengcheng</a:t>
            </a:r>
            <a:r>
              <a:rPr lang="en-US" altLang="zh-CN" dirty="0"/>
              <a:t> Zhao  </a:t>
            </a:r>
            <a:r>
              <a:rPr lang="zh-CN" altLang="en-US" dirty="0"/>
              <a:t>  浙江大学控制科学与工程学院</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标题 1"/>
          <p:cNvSpPr>
            <a:spLocks noGrp="1"/>
          </p:cNvSpPr>
          <p:nvPr/>
        </p:nvSpPr>
        <p:spPr>
          <a:xfrm>
            <a:off x="1773555" y="1107440"/>
            <a:ext cx="8256270" cy="868680"/>
          </a:xfrm>
          <a:prstGeom prst="rect">
            <a:avLst/>
          </a:prstGeom>
          <a:noFill/>
          <a:ln w="9525">
            <a:noFill/>
            <a:miter lim="800000"/>
          </a:ln>
        </p:spPr>
        <p:txBody>
          <a:bodyPr vert="horz" wrap="square" lIns="91440" tIns="45720" rIns="91440" bIns="45720" numCol="1" anchor="ctr" anchorCtr="0" compatLnSpc="1"/>
          <a:lstStyle>
            <a:lvl1pPr algn="ctr" rtl="0" eaLnBrk="0" fontAlgn="base" hangingPunct="0">
              <a:spcBef>
                <a:spcPct val="0"/>
              </a:spcBef>
              <a:spcAft>
                <a:spcPct val="0"/>
              </a:spcAft>
              <a:defRPr sz="4200" b="0" i="0" kern="1200">
                <a:solidFill>
                  <a:schemeClr val="tx1"/>
                </a:solidFill>
                <a:latin typeface="宋体" panose="02010600030101010101" pitchFamily="2" charset="-122"/>
                <a:ea typeface="宋体" panose="02010600030101010101" pitchFamily="2" charset="-122"/>
                <a:cs typeface="+mj-cs"/>
              </a:defRPr>
            </a:lvl1pPr>
            <a:lvl2pPr algn="ctr" rtl="0" eaLnBrk="0" fontAlgn="base" hangingPunct="0">
              <a:spcBef>
                <a:spcPct val="0"/>
              </a:spcBef>
              <a:spcAft>
                <a:spcPct val="0"/>
              </a:spcAft>
              <a:defRPr sz="4200">
                <a:solidFill>
                  <a:schemeClr val="tx1"/>
                </a:solidFill>
                <a:latin typeface="宋体" panose="02010600030101010101" pitchFamily="2" charset="-122"/>
                <a:ea typeface="宋体" panose="02010600030101010101" pitchFamily="2" charset="-122"/>
              </a:defRPr>
            </a:lvl2pPr>
            <a:lvl3pPr algn="ctr" rtl="0" eaLnBrk="0" fontAlgn="base" hangingPunct="0">
              <a:spcBef>
                <a:spcPct val="0"/>
              </a:spcBef>
              <a:spcAft>
                <a:spcPct val="0"/>
              </a:spcAft>
              <a:defRPr sz="4200">
                <a:solidFill>
                  <a:schemeClr val="tx1"/>
                </a:solidFill>
                <a:latin typeface="宋体" panose="02010600030101010101" pitchFamily="2" charset="-122"/>
                <a:ea typeface="宋体" panose="02010600030101010101" pitchFamily="2" charset="-122"/>
              </a:defRPr>
            </a:lvl3pPr>
            <a:lvl4pPr algn="ctr" rtl="0" eaLnBrk="0" fontAlgn="base" hangingPunct="0">
              <a:spcBef>
                <a:spcPct val="0"/>
              </a:spcBef>
              <a:spcAft>
                <a:spcPct val="0"/>
              </a:spcAft>
              <a:defRPr sz="4200">
                <a:solidFill>
                  <a:schemeClr val="tx1"/>
                </a:solidFill>
                <a:latin typeface="宋体" panose="02010600030101010101" pitchFamily="2" charset="-122"/>
                <a:ea typeface="宋体" panose="02010600030101010101" pitchFamily="2" charset="-122"/>
              </a:defRPr>
            </a:lvl4pPr>
            <a:lvl5pPr algn="ctr" rtl="0" eaLnBrk="0" fontAlgn="base" hangingPunct="0">
              <a:spcBef>
                <a:spcPct val="0"/>
              </a:spcBef>
              <a:spcAft>
                <a:spcPct val="0"/>
              </a:spcAft>
              <a:defRPr sz="4200">
                <a:solidFill>
                  <a:schemeClr val="tx1"/>
                </a:solidFill>
                <a:latin typeface="宋体" panose="02010600030101010101" pitchFamily="2" charset="-122"/>
                <a:ea typeface="宋体" panose="02010600030101010101" pitchFamily="2" charset="-122"/>
              </a:defRPr>
            </a:lvl5pPr>
            <a:lvl6pPr marL="457200" algn="ctr" rtl="0" fontAlgn="base">
              <a:spcBef>
                <a:spcPct val="0"/>
              </a:spcBef>
              <a:spcAft>
                <a:spcPct val="0"/>
              </a:spcAft>
              <a:defRPr sz="4200" b="1" i="1">
                <a:solidFill>
                  <a:schemeClr val="tx1"/>
                </a:solidFill>
                <a:latin typeface="Arial" panose="020B0604020202020204" pitchFamily="34" charset="0"/>
              </a:defRPr>
            </a:lvl6pPr>
            <a:lvl7pPr marL="914400" algn="ctr" rtl="0" fontAlgn="base">
              <a:spcBef>
                <a:spcPct val="0"/>
              </a:spcBef>
              <a:spcAft>
                <a:spcPct val="0"/>
              </a:spcAft>
              <a:defRPr sz="4200" b="1" i="1">
                <a:solidFill>
                  <a:schemeClr val="tx1"/>
                </a:solidFill>
                <a:latin typeface="Arial" panose="020B0604020202020204" pitchFamily="34" charset="0"/>
              </a:defRPr>
            </a:lvl7pPr>
            <a:lvl8pPr marL="1371600" algn="ctr" rtl="0" fontAlgn="base">
              <a:spcBef>
                <a:spcPct val="0"/>
              </a:spcBef>
              <a:spcAft>
                <a:spcPct val="0"/>
              </a:spcAft>
              <a:defRPr sz="4200" b="1" i="1">
                <a:solidFill>
                  <a:schemeClr val="tx1"/>
                </a:solidFill>
                <a:latin typeface="Arial" panose="020B0604020202020204" pitchFamily="34" charset="0"/>
              </a:defRPr>
            </a:lvl8pPr>
            <a:lvl9pPr marL="1828800" algn="ctr" rtl="0" fontAlgn="base">
              <a:spcBef>
                <a:spcPct val="0"/>
              </a:spcBef>
              <a:spcAft>
                <a:spcPct val="0"/>
              </a:spcAft>
              <a:defRPr sz="4200" b="1" i="1">
                <a:solidFill>
                  <a:schemeClr val="tx1"/>
                </a:solidFill>
                <a:latin typeface="Arial" panose="020B0604020202020204" pitchFamily="34" charset="0"/>
              </a:defRPr>
            </a:lvl9pPr>
          </a:lstStyle>
          <a:p>
            <a:pPr algn="ctr"/>
            <a:endParaRPr lang="zh-CN" altLang="en-US" sz="3600" b="1" dirty="0">
              <a:solidFill>
                <a:schemeClr val="accent5"/>
              </a:solidFill>
              <a:sym typeface="+mn-ea"/>
            </a:endParaRPr>
          </a:p>
        </p:txBody>
      </p:sp>
      <p:sp>
        <p:nvSpPr>
          <p:cNvPr id="3" name="文本框 2"/>
          <p:cNvSpPr txBox="1"/>
          <p:nvPr/>
        </p:nvSpPr>
        <p:spPr>
          <a:xfrm>
            <a:off x="153187" y="120730"/>
            <a:ext cx="6169842" cy="583565"/>
          </a:xfrm>
          <a:prstGeom prst="rect">
            <a:avLst/>
          </a:prstGeom>
          <a:noFill/>
        </p:spPr>
        <p:txBody>
          <a:bodyPr wrap="square">
            <a:spAutoFit/>
          </a:bodyPr>
          <a:lstStyle/>
          <a:p>
            <a:pPr defTabSz="410845"/>
            <a:r>
              <a:rPr lang="zh-CN" altLang="en-US" sz="3200" b="1" kern="0" dirty="0">
                <a:solidFill>
                  <a:srgbClr val="FFFFFF"/>
                </a:solidFill>
                <a:latin typeface="华文中宋" panose="02010600040101010101" charset="-122"/>
                <a:ea typeface="华文中宋" panose="02010600040101010101" charset="-122"/>
                <a:sym typeface="Helvetica"/>
              </a:rPr>
              <a:t>研究背景与动机</a:t>
            </a:r>
          </a:p>
        </p:txBody>
      </p:sp>
      <p:pic>
        <p:nvPicPr>
          <p:cNvPr id="5" name="图片 4">
            <a:extLst>
              <a:ext uri="{FF2B5EF4-FFF2-40B4-BE49-F238E27FC236}">
                <a16:creationId xmlns:a16="http://schemas.microsoft.com/office/drawing/2014/main" id="{22F1008F-76BF-9A3D-D633-CD1E05261C01}"/>
              </a:ext>
            </a:extLst>
          </p:cNvPr>
          <p:cNvPicPr>
            <a:picLocks noChangeAspect="1"/>
          </p:cNvPicPr>
          <p:nvPr/>
        </p:nvPicPr>
        <p:blipFill>
          <a:blip r:embed="rId3"/>
          <a:stretch>
            <a:fillRect/>
          </a:stretch>
        </p:blipFill>
        <p:spPr>
          <a:xfrm>
            <a:off x="5651585" y="2083446"/>
            <a:ext cx="6030029" cy="2798435"/>
          </a:xfrm>
          <a:prstGeom prst="rect">
            <a:avLst/>
          </a:prstGeom>
        </p:spPr>
      </p:pic>
      <p:sp>
        <p:nvSpPr>
          <p:cNvPr id="6" name="文本框 5">
            <a:extLst>
              <a:ext uri="{FF2B5EF4-FFF2-40B4-BE49-F238E27FC236}">
                <a16:creationId xmlns:a16="http://schemas.microsoft.com/office/drawing/2014/main" id="{A16074CC-EAE2-DC6B-5991-533CF0B5A058}"/>
              </a:ext>
            </a:extLst>
          </p:cNvPr>
          <p:cNvSpPr txBox="1"/>
          <p:nvPr/>
        </p:nvSpPr>
        <p:spPr>
          <a:xfrm>
            <a:off x="153187" y="1255259"/>
            <a:ext cx="5051859" cy="5386090"/>
          </a:xfrm>
          <a:prstGeom prst="rect">
            <a:avLst/>
          </a:prstGeom>
          <a:noFill/>
        </p:spPr>
        <p:txBody>
          <a:bodyPr wrap="square" rtlCol="0">
            <a:spAutoFit/>
          </a:bodyPr>
          <a:lstStyle/>
          <a:p>
            <a:r>
              <a:rPr lang="zh-CN" altLang="en-US" sz="2200" dirty="0"/>
              <a:t>车载网络安全风险：随着智能网联汽车和 </a:t>
            </a:r>
            <a:r>
              <a:rPr lang="en-US" altLang="zh-CN" sz="2200" dirty="0"/>
              <a:t>V2X </a:t>
            </a:r>
            <a:r>
              <a:rPr lang="zh-CN" altLang="en-US" sz="2200" dirty="0"/>
              <a:t>技术的发展</a:t>
            </a:r>
            <a:r>
              <a:rPr lang="en-US" altLang="zh-CN" sz="2200" dirty="0"/>
              <a:t>,</a:t>
            </a:r>
            <a:r>
              <a:rPr lang="zh-CN" altLang="en-US" sz="2200" dirty="0"/>
              <a:t>动力传动系统控制器局域网</a:t>
            </a:r>
            <a:r>
              <a:rPr lang="en-US" altLang="zh-CN" sz="2200" dirty="0"/>
              <a:t>(PT-CAN)</a:t>
            </a:r>
            <a:r>
              <a:rPr lang="zh-CN" altLang="en-US" sz="2200" dirty="0"/>
              <a:t>面临着越来越高的外部攻击风险。</a:t>
            </a:r>
            <a:endParaRPr lang="en-US" altLang="zh-CN" sz="2200" dirty="0"/>
          </a:p>
          <a:p>
            <a:endParaRPr lang="en-US" altLang="zh-CN" sz="2200" dirty="0"/>
          </a:p>
          <a:p>
            <a:r>
              <a:rPr lang="zh-CN" altLang="en-US" sz="2200" dirty="0"/>
              <a:t>攻击的核心目标：攻击者一旦入侵 </a:t>
            </a:r>
            <a:r>
              <a:rPr lang="en-US" altLang="zh-CN" sz="2200" dirty="0"/>
              <a:t>PT-CAN</a:t>
            </a:r>
            <a:r>
              <a:rPr lang="zh-CN" altLang="en-US" sz="2200" dirty="0"/>
              <a:t>，就可以通过篡改特定的动力相关信号</a:t>
            </a:r>
            <a:r>
              <a:rPr lang="en-US" altLang="zh-CN" sz="2200" dirty="0"/>
              <a:t>(</a:t>
            </a:r>
            <a:r>
              <a:rPr lang="zh-CN" altLang="en-US" sz="2200" dirty="0"/>
              <a:t>如伪造车速、使刹车失效</a:t>
            </a:r>
            <a:r>
              <a:rPr lang="en-US" altLang="zh-CN" sz="2200" dirty="0"/>
              <a:t>)</a:t>
            </a:r>
            <a:r>
              <a:rPr lang="zh-CN" altLang="en-US" sz="2200" dirty="0"/>
              <a:t>来物理威胁车辆安全。</a:t>
            </a:r>
            <a:endParaRPr lang="en-US" altLang="zh-CN" sz="2200" dirty="0"/>
          </a:p>
          <a:p>
            <a:endParaRPr lang="en-US" altLang="zh-CN" sz="2200" dirty="0"/>
          </a:p>
          <a:p>
            <a:r>
              <a:rPr lang="zh-CN" altLang="en-US" sz="2200" dirty="0"/>
              <a:t>目前乘用车</a:t>
            </a:r>
            <a:r>
              <a:rPr lang="en-US" altLang="zh-CN" sz="2200" dirty="0"/>
              <a:t>DBC </a:t>
            </a:r>
            <a:r>
              <a:rPr lang="zh-CN" altLang="en-US" sz="2200" dirty="0"/>
              <a:t>文件是原始设备制造商的专有资产</a:t>
            </a:r>
            <a:r>
              <a:rPr lang="en-US" altLang="zh-CN" sz="2200" dirty="0"/>
              <a:t>,</a:t>
            </a:r>
            <a:r>
              <a:rPr lang="zh-CN" altLang="en-US" sz="2200" dirty="0"/>
              <a:t>不对外公开。为了进行全面的安全分析和防御，迫切需要将 </a:t>
            </a:r>
            <a:r>
              <a:rPr lang="en-US" altLang="zh-CN" sz="2200" dirty="0"/>
              <a:t>PT-CAN </a:t>
            </a:r>
            <a:r>
              <a:rPr lang="zh-CN" altLang="en-US" sz="2200" dirty="0"/>
              <a:t>逆向工程到语义级别。</a:t>
            </a:r>
            <a:endParaRPr lang="en-US" altLang="zh-CN" sz="2200" dirty="0"/>
          </a:p>
          <a:p>
            <a:endParaRPr lang="en-US" altLang="zh-CN" dirty="0"/>
          </a:p>
          <a:p>
            <a:endParaRPr lang="zh-CN"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53187" y="93425"/>
            <a:ext cx="6169842" cy="583565"/>
          </a:xfrm>
          <a:prstGeom prst="rect">
            <a:avLst/>
          </a:prstGeom>
          <a:noFill/>
        </p:spPr>
        <p:txBody>
          <a:bodyPr wrap="square">
            <a:spAutoFit/>
          </a:bodyPr>
          <a:lstStyle/>
          <a:p>
            <a:pPr defTabSz="410845"/>
            <a:r>
              <a:rPr lang="zh-CN" altLang="en-US" sz="3200" b="1" kern="0" dirty="0">
                <a:solidFill>
                  <a:srgbClr val="FFFFFF"/>
                </a:solidFill>
                <a:latin typeface="华文中宋" panose="02010600040101010101" charset="-122"/>
                <a:ea typeface="华文中宋" panose="02010600040101010101" charset="-122"/>
                <a:sym typeface="Helvetica"/>
              </a:rPr>
              <a:t>现有方法的局限性与本文目标</a:t>
            </a:r>
          </a:p>
        </p:txBody>
      </p:sp>
      <p:sp>
        <p:nvSpPr>
          <p:cNvPr id="5" name="文本框 4"/>
          <p:cNvSpPr txBox="1"/>
          <p:nvPr/>
        </p:nvSpPr>
        <p:spPr>
          <a:xfrm>
            <a:off x="342900" y="1071879"/>
            <a:ext cx="11245362" cy="5373165"/>
          </a:xfrm>
          <a:prstGeom prst="rect">
            <a:avLst/>
          </a:prstGeom>
          <a:noFill/>
        </p:spPr>
        <p:txBody>
          <a:bodyPr wrap="square" rtlCol="0">
            <a:noAutofit/>
          </a:bodyPr>
          <a:lstStyle/>
          <a:p>
            <a:r>
              <a:rPr lang="zh-CN" altLang="en-US" sz="2800" dirty="0"/>
              <a:t>现有方法的局限：</a:t>
            </a:r>
            <a:endParaRPr lang="en-US" altLang="zh-CN" sz="2800" dirty="0"/>
          </a:p>
          <a:p>
            <a:pPr marL="457200" indent="-457200">
              <a:buFont typeface="Arial" panose="020B0604020202020204" pitchFamily="34" charset="0"/>
              <a:buChar char="•"/>
            </a:pPr>
            <a:r>
              <a:rPr lang="zh-CN" altLang="en-US" sz="2800" dirty="0"/>
              <a:t>基于</a:t>
            </a:r>
            <a:r>
              <a:rPr lang="en-US" altLang="zh-CN" sz="2800" dirty="0"/>
              <a:t>PID</a:t>
            </a:r>
            <a:r>
              <a:rPr lang="zh-CN" altLang="en-US" sz="2800" dirty="0"/>
              <a:t>的方法：需要通过</a:t>
            </a:r>
            <a:r>
              <a:rPr lang="en-US" altLang="zh-CN" sz="2800" dirty="0">
                <a:solidFill>
                  <a:srgbClr val="FF0000"/>
                </a:solidFill>
              </a:rPr>
              <a:t>OBD-II</a:t>
            </a:r>
            <a:r>
              <a:rPr lang="zh-CN" altLang="en-US" sz="2800" dirty="0">
                <a:solidFill>
                  <a:srgbClr val="FF0000"/>
                </a:solidFill>
              </a:rPr>
              <a:t>端口</a:t>
            </a:r>
            <a:r>
              <a:rPr lang="zh-CN" altLang="en-US" sz="2800" dirty="0"/>
              <a:t>注入诊断代码，主要</a:t>
            </a:r>
            <a:r>
              <a:rPr lang="zh-CN" altLang="en-US" sz="2800" dirty="0">
                <a:solidFill>
                  <a:srgbClr val="FF0000"/>
                </a:solidFill>
              </a:rPr>
              <a:t>适用于燃油车</a:t>
            </a:r>
            <a:r>
              <a:rPr lang="zh-CN" altLang="en-US" sz="2800" dirty="0"/>
              <a:t>。</a:t>
            </a:r>
            <a:endParaRPr lang="en-US" altLang="zh-CN" sz="2800" dirty="0"/>
          </a:p>
          <a:p>
            <a:pPr marL="457200" indent="-457200">
              <a:buFont typeface="Arial" panose="020B0604020202020204" pitchFamily="34" charset="0"/>
              <a:buChar char="•"/>
            </a:pPr>
            <a:r>
              <a:rPr lang="zh-CN" altLang="en-US" sz="2800" dirty="0"/>
              <a:t>基于操作交互的方法：</a:t>
            </a:r>
            <a:r>
              <a:rPr lang="zh-CN" altLang="en-US" sz="2800" dirty="0">
                <a:solidFill>
                  <a:srgbClr val="FF0000"/>
                </a:solidFill>
              </a:rPr>
              <a:t>需要人工执行特定动作</a:t>
            </a:r>
            <a:r>
              <a:rPr lang="en-US" altLang="zh-CN" sz="2800" dirty="0"/>
              <a:t>(</a:t>
            </a:r>
            <a:r>
              <a:rPr lang="zh-CN" altLang="en-US" sz="2800" dirty="0"/>
              <a:t>如安装外部传感器、踩踏板等</a:t>
            </a:r>
            <a:r>
              <a:rPr lang="en-US" altLang="zh-CN" sz="2800" dirty="0"/>
              <a:t>)</a:t>
            </a:r>
            <a:r>
              <a:rPr lang="zh-CN" altLang="en-US" sz="2800" dirty="0"/>
              <a:t>并监控 </a:t>
            </a:r>
            <a:r>
              <a:rPr lang="en-US" altLang="zh-CN" sz="2800" dirty="0"/>
              <a:t>CAN </a:t>
            </a:r>
            <a:r>
              <a:rPr lang="zh-CN" altLang="en-US" sz="2800" dirty="0"/>
              <a:t>轨迹。面对不同年份和型号的车辆，耗费大量人力和财力。</a:t>
            </a:r>
            <a:endParaRPr lang="en-US" altLang="zh-CN" sz="2800" dirty="0"/>
          </a:p>
          <a:p>
            <a:pPr marL="457200" indent="-457200">
              <a:buFont typeface="Arial" panose="020B0604020202020204" pitchFamily="34" charset="0"/>
              <a:buChar char="•"/>
            </a:pPr>
            <a:endParaRPr lang="en-US" altLang="zh-CN" sz="2800" dirty="0"/>
          </a:p>
          <a:p>
            <a:r>
              <a:rPr lang="zh-CN" altLang="en-US" sz="2800" dirty="0"/>
              <a:t>无交互逆向的挑战：在正常行驶的数百万条无标签十六进制 </a:t>
            </a:r>
            <a:r>
              <a:rPr lang="en-US" altLang="zh-CN" sz="2800" dirty="0"/>
              <a:t>CAN </a:t>
            </a:r>
            <a:r>
              <a:rPr lang="zh-CN" altLang="en-US" sz="2800" dirty="0"/>
              <a:t>报文中，动力信号具有复杂的输入输出控制逻辑和难以建模的混合物理动态。</a:t>
            </a:r>
            <a:endParaRPr lang="en-US" altLang="zh-CN" sz="2800" dirty="0"/>
          </a:p>
          <a:p>
            <a:endParaRPr lang="en-US" altLang="zh-CN" sz="2800" dirty="0"/>
          </a:p>
          <a:p>
            <a:r>
              <a:rPr lang="zh-CN" altLang="en-US" sz="2800" dirty="0"/>
              <a:t>本文目标：提出一种名为 </a:t>
            </a:r>
            <a:r>
              <a:rPr lang="en-US" altLang="zh-CN" sz="2800" b="1" dirty="0" err="1"/>
              <a:t>PicaCAN</a:t>
            </a:r>
            <a:r>
              <a:rPr lang="zh-CN" altLang="en-US" sz="2800" dirty="0"/>
              <a:t> 的新型自动化框架，</a:t>
            </a:r>
            <a:r>
              <a:rPr lang="zh-CN" altLang="en-US" sz="2800" b="1" dirty="0">
                <a:solidFill>
                  <a:srgbClr val="FF0000"/>
                </a:solidFill>
              </a:rPr>
              <a:t>无需注入 </a:t>
            </a:r>
            <a:r>
              <a:rPr lang="en-US" altLang="zh-CN" sz="2800" b="1" dirty="0">
                <a:solidFill>
                  <a:srgbClr val="FF0000"/>
                </a:solidFill>
              </a:rPr>
              <a:t>PID </a:t>
            </a:r>
            <a:r>
              <a:rPr lang="zh-CN" altLang="en-US" sz="2800" b="1" dirty="0">
                <a:solidFill>
                  <a:srgbClr val="FF0000"/>
                </a:solidFill>
              </a:rPr>
              <a:t>或人工交互</a:t>
            </a:r>
            <a:r>
              <a:rPr lang="zh-CN" altLang="en-US" sz="2800" dirty="0"/>
              <a:t>，即可从 </a:t>
            </a:r>
            <a:r>
              <a:rPr lang="en-US" altLang="zh-CN" sz="2800" dirty="0"/>
              <a:t>CAN </a:t>
            </a:r>
            <a:r>
              <a:rPr lang="zh-CN" altLang="en-US" sz="2800" dirty="0"/>
              <a:t>报文中提取信号并逆向其物理语义。</a:t>
            </a:r>
            <a:endParaRPr lang="en-US" altLang="zh-CN" sz="2800" dirty="0"/>
          </a:p>
          <a:p>
            <a:endParaRPr lang="zh-CN" altLang="en-US"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核心思想：物理诱发因果关系</a:t>
            </a:r>
          </a:p>
        </p:txBody>
      </p:sp>
      <p:sp>
        <p:nvSpPr>
          <p:cNvPr id="5" name="文本框 4"/>
          <p:cNvSpPr txBox="1"/>
          <p:nvPr/>
        </p:nvSpPr>
        <p:spPr>
          <a:xfrm>
            <a:off x="536454" y="1278994"/>
            <a:ext cx="5899515" cy="4678204"/>
          </a:xfrm>
          <a:prstGeom prst="rect">
            <a:avLst/>
          </a:prstGeom>
          <a:noFill/>
        </p:spPr>
        <p:txBody>
          <a:bodyPr wrap="square">
            <a:spAutoFit/>
          </a:bodyPr>
          <a:lstStyle/>
          <a:p>
            <a:r>
              <a:rPr lang="zh-CN" altLang="en-US" sz="2400" dirty="0"/>
              <a:t>基本原理：</a:t>
            </a:r>
            <a:r>
              <a:rPr lang="en-US" altLang="zh-CN" sz="2400" dirty="0" err="1"/>
              <a:t>PicaCAN</a:t>
            </a:r>
            <a:r>
              <a:rPr lang="zh-CN" altLang="en-US" sz="2400" dirty="0"/>
              <a:t>基于这样一个事实，即</a:t>
            </a:r>
            <a:r>
              <a:rPr lang="en-US" altLang="zh-CN" sz="2400" b="1" dirty="0"/>
              <a:t>CAN</a:t>
            </a:r>
            <a:r>
              <a:rPr lang="zh-CN" altLang="en-US" sz="2400" b="1" dirty="0"/>
              <a:t>消息中信号的因果关系是由相应动力传动系统设备的动态特性所决定的</a:t>
            </a:r>
            <a:r>
              <a:rPr lang="zh-CN" altLang="en-US" sz="2400" dirty="0"/>
              <a:t>。文中通过三种观察结果来显示车辆动力总成系统中物理诱发的因果关系。</a:t>
            </a:r>
            <a:endParaRPr lang="en-US" altLang="zh-CN" sz="2400" dirty="0"/>
          </a:p>
          <a:p>
            <a:endParaRPr lang="en-US" altLang="zh-CN" sz="2400" dirty="0"/>
          </a:p>
          <a:p>
            <a:r>
              <a:rPr lang="zh-CN" altLang="en-US" sz="2200" dirty="0"/>
              <a:t>观察</a:t>
            </a:r>
            <a:r>
              <a:rPr lang="en-US" altLang="zh-CN" sz="2200" dirty="0"/>
              <a:t>1</a:t>
            </a:r>
            <a:r>
              <a:rPr lang="zh-CN" altLang="en-US" sz="2200" dirty="0"/>
              <a:t>：在车辆动力系统内的物理信号之间存在常见的物理诱发因果关系；</a:t>
            </a:r>
            <a:endParaRPr lang="en-US" altLang="zh-CN" sz="2200" dirty="0"/>
          </a:p>
          <a:p>
            <a:r>
              <a:rPr lang="zh-CN" altLang="en-US" sz="2200" dirty="0"/>
              <a:t>观察</a:t>
            </a:r>
            <a:r>
              <a:rPr lang="en-US" altLang="zh-CN" sz="2200" dirty="0"/>
              <a:t>2</a:t>
            </a:r>
            <a:r>
              <a:rPr lang="zh-CN" altLang="en-US" sz="2200" dirty="0"/>
              <a:t>：一个信号对另一个信号的影响需要一定的时间，而这种影响延迟对于位于同一回路不同位置的不同信号是不同的；</a:t>
            </a:r>
            <a:endParaRPr lang="en-US" altLang="zh-CN" sz="2200" dirty="0"/>
          </a:p>
          <a:p>
            <a:r>
              <a:rPr lang="zh-CN" altLang="en-US" sz="2200" dirty="0"/>
              <a:t>观察</a:t>
            </a:r>
            <a:r>
              <a:rPr lang="en-US" altLang="zh-CN" sz="2200" dirty="0"/>
              <a:t>3</a:t>
            </a:r>
            <a:r>
              <a:rPr lang="zh-CN" altLang="en-US" sz="2200" dirty="0"/>
              <a:t>：逻辑上最近的两个物理信号之间的冲击延迟以数十毫秒或数百毫秒的量级累积。</a:t>
            </a:r>
            <a:endParaRPr lang="en-US" altLang="zh-CN" sz="2200" dirty="0"/>
          </a:p>
        </p:txBody>
      </p:sp>
      <p:pic>
        <p:nvPicPr>
          <p:cNvPr id="4" name="图片 3">
            <a:extLst>
              <a:ext uri="{FF2B5EF4-FFF2-40B4-BE49-F238E27FC236}">
                <a16:creationId xmlns:a16="http://schemas.microsoft.com/office/drawing/2014/main" id="{830671C0-1FBE-0098-0CF2-EDF5110C1C0F}"/>
              </a:ext>
            </a:extLst>
          </p:cNvPr>
          <p:cNvPicPr>
            <a:picLocks noChangeAspect="1"/>
          </p:cNvPicPr>
          <p:nvPr/>
        </p:nvPicPr>
        <p:blipFill>
          <a:blip r:embed="rId3"/>
          <a:stretch>
            <a:fillRect/>
          </a:stretch>
        </p:blipFill>
        <p:spPr>
          <a:xfrm>
            <a:off x="6583557" y="2017160"/>
            <a:ext cx="5240747" cy="282367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64E1F3-E445-FE96-D124-F5F997CF6090}"/>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2A452852-9177-FB9C-E21D-5898D6B274B1}"/>
              </a:ext>
            </a:extLst>
          </p:cNvPr>
          <p:cNvSpPr>
            <a:spLocks noGrp="1"/>
          </p:cNvSpPr>
          <p:nvPr>
            <p:ph type="title"/>
          </p:nvPr>
        </p:nvSpPr>
        <p:spPr/>
        <p:txBody>
          <a:bodyPr/>
          <a:lstStyle/>
          <a:p>
            <a:r>
              <a:rPr lang="en-US" altLang="zh-CN" dirty="0" err="1"/>
              <a:t>PicaCAN</a:t>
            </a:r>
            <a:r>
              <a:rPr lang="en-US" altLang="zh-CN" dirty="0"/>
              <a:t> </a:t>
            </a:r>
            <a:r>
              <a:rPr lang="zh-CN" altLang="en-US" dirty="0"/>
              <a:t>框架总览</a:t>
            </a:r>
          </a:p>
        </p:txBody>
      </p:sp>
      <p:pic>
        <p:nvPicPr>
          <p:cNvPr id="4" name="图片 3">
            <a:extLst>
              <a:ext uri="{FF2B5EF4-FFF2-40B4-BE49-F238E27FC236}">
                <a16:creationId xmlns:a16="http://schemas.microsoft.com/office/drawing/2014/main" id="{E60A6C72-6DC8-A862-C4D3-48AAF23BF140}"/>
              </a:ext>
            </a:extLst>
          </p:cNvPr>
          <p:cNvPicPr>
            <a:picLocks noChangeAspect="1"/>
          </p:cNvPicPr>
          <p:nvPr/>
        </p:nvPicPr>
        <p:blipFill>
          <a:blip r:embed="rId3"/>
          <a:stretch>
            <a:fillRect/>
          </a:stretch>
        </p:blipFill>
        <p:spPr>
          <a:xfrm>
            <a:off x="210358" y="1173573"/>
            <a:ext cx="11669754" cy="2857899"/>
          </a:xfrm>
          <a:prstGeom prst="rect">
            <a:avLst/>
          </a:prstGeom>
        </p:spPr>
      </p:pic>
      <p:pic>
        <p:nvPicPr>
          <p:cNvPr id="7" name="图片 6">
            <a:extLst>
              <a:ext uri="{FF2B5EF4-FFF2-40B4-BE49-F238E27FC236}">
                <a16:creationId xmlns:a16="http://schemas.microsoft.com/office/drawing/2014/main" id="{849C70EE-94C1-62C7-2C9D-455E9BAF4996}"/>
              </a:ext>
            </a:extLst>
          </p:cNvPr>
          <p:cNvPicPr>
            <a:picLocks noChangeAspect="1"/>
          </p:cNvPicPr>
          <p:nvPr/>
        </p:nvPicPr>
        <p:blipFill>
          <a:blip r:embed="rId4"/>
          <a:stretch>
            <a:fillRect/>
          </a:stretch>
        </p:blipFill>
        <p:spPr>
          <a:xfrm>
            <a:off x="351035" y="4217265"/>
            <a:ext cx="5906324" cy="1752845"/>
          </a:xfrm>
          <a:prstGeom prst="rect">
            <a:avLst/>
          </a:prstGeom>
        </p:spPr>
      </p:pic>
      <p:pic>
        <p:nvPicPr>
          <p:cNvPr id="9" name="图片 8">
            <a:extLst>
              <a:ext uri="{FF2B5EF4-FFF2-40B4-BE49-F238E27FC236}">
                <a16:creationId xmlns:a16="http://schemas.microsoft.com/office/drawing/2014/main" id="{972DDF39-1D84-F251-8821-3B4E5082CC7C}"/>
              </a:ext>
            </a:extLst>
          </p:cNvPr>
          <p:cNvPicPr>
            <a:picLocks noChangeAspect="1"/>
          </p:cNvPicPr>
          <p:nvPr/>
        </p:nvPicPr>
        <p:blipFill>
          <a:blip r:embed="rId5"/>
          <a:stretch>
            <a:fillRect/>
          </a:stretch>
        </p:blipFill>
        <p:spPr>
          <a:xfrm>
            <a:off x="6209465" y="3677570"/>
            <a:ext cx="5982535" cy="2562583"/>
          </a:xfrm>
          <a:prstGeom prst="rect">
            <a:avLst/>
          </a:prstGeom>
        </p:spPr>
      </p:pic>
    </p:spTree>
    <p:extLst>
      <p:ext uri="{BB962C8B-B14F-4D97-AF65-F5344CB8AC3E}">
        <p14:creationId xmlns:p14="http://schemas.microsoft.com/office/powerpoint/2010/main" val="8713955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SECG</a:t>
            </a:r>
            <a:r>
              <a:rPr lang="zh-CN" altLang="en-US" dirty="0"/>
              <a:t>图生成</a:t>
            </a:r>
          </a:p>
        </p:txBody>
      </p:sp>
      <p:sp>
        <p:nvSpPr>
          <p:cNvPr id="3" name="文本框 2">
            <a:extLst>
              <a:ext uri="{FF2B5EF4-FFF2-40B4-BE49-F238E27FC236}">
                <a16:creationId xmlns:a16="http://schemas.microsoft.com/office/drawing/2014/main" id="{9B43E16C-9D31-3C0B-699D-13622E35EC5E}"/>
              </a:ext>
            </a:extLst>
          </p:cNvPr>
          <p:cNvSpPr txBox="1"/>
          <p:nvPr/>
        </p:nvSpPr>
        <p:spPr>
          <a:xfrm>
            <a:off x="457200" y="1266092"/>
            <a:ext cx="10322169" cy="4154984"/>
          </a:xfrm>
          <a:prstGeom prst="rect">
            <a:avLst/>
          </a:prstGeom>
          <a:noFill/>
        </p:spPr>
        <p:txBody>
          <a:bodyPr wrap="square" rtlCol="0">
            <a:spAutoFit/>
          </a:bodyPr>
          <a:lstStyle/>
          <a:p>
            <a:r>
              <a:rPr lang="en-US" altLang="zh-CN" sz="2400" dirty="0"/>
              <a:t>SECG</a:t>
            </a:r>
            <a:r>
              <a:rPr lang="zh-CN" altLang="en-US" sz="2400" dirty="0"/>
              <a:t>的目的是在车辆动力总成系统中嵌入触发事件的先验知识，特别强调它们在时间顺序上的依赖性。</a:t>
            </a:r>
            <a:endParaRPr lang="en-US" altLang="zh-CN" sz="2400" dirty="0"/>
          </a:p>
          <a:p>
            <a:endParaRPr lang="en-US" altLang="zh-CN" sz="2400" dirty="0"/>
          </a:p>
          <a:p>
            <a:r>
              <a:rPr lang="zh-CN" altLang="en-US" sz="2400" dirty="0"/>
              <a:t>为了保证后续能与数据驱动生成的 </a:t>
            </a:r>
            <a:r>
              <a:rPr lang="en-US" altLang="zh-CN" sz="2400" dirty="0"/>
              <a:t>TECG </a:t>
            </a:r>
            <a:r>
              <a:rPr lang="zh-CN" altLang="en-US" sz="2400" dirty="0"/>
              <a:t>成功匹配，</a:t>
            </a:r>
            <a:r>
              <a:rPr lang="en-US" altLang="zh-CN" sz="2400" dirty="0"/>
              <a:t>SECG </a:t>
            </a:r>
            <a:r>
              <a:rPr lang="zh-CN" altLang="en-US" sz="2400" dirty="0"/>
              <a:t>被构建为一个</a:t>
            </a:r>
            <a:r>
              <a:rPr lang="zh-CN" altLang="en-US" sz="2400" b="1" dirty="0"/>
              <a:t>有向加权图</a:t>
            </a:r>
            <a:r>
              <a:rPr lang="zh-CN" altLang="en-US" sz="2400" dirty="0"/>
              <a:t> ：</a:t>
            </a:r>
          </a:p>
          <a:p>
            <a:r>
              <a:rPr lang="zh-CN" altLang="en-US" sz="2400" b="1" dirty="0"/>
              <a:t>节点 </a:t>
            </a:r>
            <a:r>
              <a:rPr lang="zh-CN" altLang="en-US" sz="2400" dirty="0"/>
              <a:t>：代表动力系统中的关键物理信号（如踏板位置、车速等） 。</a:t>
            </a:r>
          </a:p>
          <a:p>
            <a:r>
              <a:rPr lang="zh-CN" altLang="en-US" sz="2400" b="1" dirty="0"/>
              <a:t>边的方向</a:t>
            </a:r>
            <a:r>
              <a:rPr lang="zh-CN" altLang="en-US" sz="2400" dirty="0"/>
              <a:t>：由机械耦合结构中的先后顺序，或同一个 </a:t>
            </a:r>
            <a:r>
              <a:rPr lang="en-US" altLang="zh-CN" sz="2400" dirty="0"/>
              <a:t>ECU </a:t>
            </a:r>
            <a:r>
              <a:rPr lang="zh-CN" altLang="en-US" sz="2400" dirty="0"/>
              <a:t>的输入</a:t>
            </a:r>
            <a:r>
              <a:rPr lang="en-US" altLang="zh-CN" sz="2400" dirty="0"/>
              <a:t>/</a:t>
            </a:r>
            <a:r>
              <a:rPr lang="zh-CN" altLang="en-US" sz="2400" dirty="0"/>
              <a:t>输出关系决定 。</a:t>
            </a:r>
          </a:p>
          <a:p>
            <a:r>
              <a:rPr lang="zh-CN" altLang="en-US" sz="2400" b="1" dirty="0"/>
              <a:t>边的权重</a:t>
            </a:r>
            <a:r>
              <a:rPr lang="zh-CN" altLang="en-US" sz="2400" dirty="0"/>
              <a:t>：由信号影响的顺序以及它们之间是正相关还是负相关（用正负号表示）来定义 。</a:t>
            </a:r>
          </a:p>
          <a:p>
            <a:endParaRPr lang="zh-CN" altLang="en-US" sz="2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1314E4-3F9B-0256-251E-494B964BE5CE}"/>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6D5D6A88-AC27-6BDC-AC7C-1AFFFD484E88}"/>
              </a:ext>
            </a:extLst>
          </p:cNvPr>
          <p:cNvSpPr>
            <a:spLocks noGrp="1"/>
          </p:cNvSpPr>
          <p:nvPr>
            <p:ph type="title"/>
          </p:nvPr>
        </p:nvSpPr>
        <p:spPr/>
        <p:txBody>
          <a:bodyPr/>
          <a:lstStyle/>
          <a:p>
            <a:r>
              <a:rPr lang="en-US" altLang="zh-CN" dirty="0"/>
              <a:t>SECG</a:t>
            </a:r>
            <a:r>
              <a:rPr lang="zh-CN" altLang="en-US" dirty="0"/>
              <a:t>图生成</a:t>
            </a:r>
          </a:p>
        </p:txBody>
      </p:sp>
      <p:pic>
        <p:nvPicPr>
          <p:cNvPr id="5" name="图片 4">
            <a:extLst>
              <a:ext uri="{FF2B5EF4-FFF2-40B4-BE49-F238E27FC236}">
                <a16:creationId xmlns:a16="http://schemas.microsoft.com/office/drawing/2014/main" id="{780E09E6-F694-3249-CDCA-63FEC24B46A3}"/>
              </a:ext>
            </a:extLst>
          </p:cNvPr>
          <p:cNvPicPr>
            <a:picLocks noChangeAspect="1"/>
          </p:cNvPicPr>
          <p:nvPr/>
        </p:nvPicPr>
        <p:blipFill>
          <a:blip r:embed="rId3"/>
          <a:stretch>
            <a:fillRect/>
          </a:stretch>
        </p:blipFill>
        <p:spPr>
          <a:xfrm>
            <a:off x="210358" y="2443246"/>
            <a:ext cx="6233799" cy="3079982"/>
          </a:xfrm>
          <a:prstGeom prst="rect">
            <a:avLst/>
          </a:prstGeom>
        </p:spPr>
      </p:pic>
      <p:pic>
        <p:nvPicPr>
          <p:cNvPr id="7" name="图片 6">
            <a:extLst>
              <a:ext uri="{FF2B5EF4-FFF2-40B4-BE49-F238E27FC236}">
                <a16:creationId xmlns:a16="http://schemas.microsoft.com/office/drawing/2014/main" id="{02DCDD56-89C8-46D9-4E6A-55BA986883C4}"/>
              </a:ext>
            </a:extLst>
          </p:cNvPr>
          <p:cNvPicPr>
            <a:picLocks noChangeAspect="1"/>
          </p:cNvPicPr>
          <p:nvPr/>
        </p:nvPicPr>
        <p:blipFill>
          <a:blip r:embed="rId4"/>
          <a:stretch>
            <a:fillRect/>
          </a:stretch>
        </p:blipFill>
        <p:spPr>
          <a:xfrm>
            <a:off x="6421830" y="2443246"/>
            <a:ext cx="5425370" cy="3079982"/>
          </a:xfrm>
          <a:prstGeom prst="rect">
            <a:avLst/>
          </a:prstGeom>
        </p:spPr>
      </p:pic>
      <p:sp>
        <p:nvSpPr>
          <p:cNvPr id="9" name="文本框 8">
            <a:extLst>
              <a:ext uri="{FF2B5EF4-FFF2-40B4-BE49-F238E27FC236}">
                <a16:creationId xmlns:a16="http://schemas.microsoft.com/office/drawing/2014/main" id="{2323C427-FBFC-3A26-236D-1FC2FA182B1E}"/>
              </a:ext>
            </a:extLst>
          </p:cNvPr>
          <p:cNvSpPr txBox="1"/>
          <p:nvPr/>
        </p:nvSpPr>
        <p:spPr>
          <a:xfrm>
            <a:off x="767462" y="1161221"/>
            <a:ext cx="9695384" cy="523220"/>
          </a:xfrm>
          <a:prstGeom prst="rect">
            <a:avLst/>
          </a:prstGeom>
          <a:noFill/>
        </p:spPr>
        <p:txBody>
          <a:bodyPr wrap="square" rtlCol="0">
            <a:spAutoFit/>
          </a:bodyPr>
          <a:lstStyle/>
          <a:p>
            <a:r>
              <a:rPr lang="zh-CN" altLang="en-US" sz="2800" dirty="0"/>
              <a:t>燃油车</a:t>
            </a:r>
            <a:r>
              <a:rPr lang="en-US" altLang="zh-CN" sz="2800" dirty="0"/>
              <a:t>(ICEV)</a:t>
            </a:r>
            <a:r>
              <a:rPr lang="zh-CN" altLang="en-US" sz="2800" dirty="0"/>
              <a:t>的</a:t>
            </a:r>
            <a:r>
              <a:rPr lang="en-US" altLang="zh-CN" sz="2800" dirty="0"/>
              <a:t>SECG</a:t>
            </a:r>
            <a:r>
              <a:rPr lang="zh-CN" altLang="en-US" sz="2800" dirty="0"/>
              <a:t>生成</a:t>
            </a:r>
          </a:p>
        </p:txBody>
      </p:sp>
    </p:spTree>
    <p:extLst>
      <p:ext uri="{BB962C8B-B14F-4D97-AF65-F5344CB8AC3E}">
        <p14:creationId xmlns:p14="http://schemas.microsoft.com/office/powerpoint/2010/main" val="3935360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19D096-7BAE-3FE5-4D5F-6899E73050A4}"/>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170E75D1-C379-744E-69EE-3E4F0126D7D9}"/>
              </a:ext>
            </a:extLst>
          </p:cNvPr>
          <p:cNvSpPr>
            <a:spLocks noGrp="1"/>
          </p:cNvSpPr>
          <p:nvPr>
            <p:ph type="title"/>
          </p:nvPr>
        </p:nvSpPr>
        <p:spPr/>
        <p:txBody>
          <a:bodyPr/>
          <a:lstStyle/>
          <a:p>
            <a:r>
              <a:rPr lang="en-US" altLang="zh-CN" dirty="0" err="1"/>
              <a:t>RatioDSTE</a:t>
            </a:r>
            <a:r>
              <a:rPr lang="zh-CN" altLang="en-US" dirty="0"/>
              <a:t>（比例双符号转移熵）计算</a:t>
            </a:r>
          </a:p>
        </p:txBody>
      </p:sp>
      <p:sp>
        <p:nvSpPr>
          <p:cNvPr id="3" name="文本框 2">
            <a:extLst>
              <a:ext uri="{FF2B5EF4-FFF2-40B4-BE49-F238E27FC236}">
                <a16:creationId xmlns:a16="http://schemas.microsoft.com/office/drawing/2014/main" id="{426DE62D-A46A-A240-B725-3A9A03EC6356}"/>
              </a:ext>
            </a:extLst>
          </p:cNvPr>
          <p:cNvSpPr txBox="1"/>
          <p:nvPr/>
        </p:nvSpPr>
        <p:spPr>
          <a:xfrm>
            <a:off x="247765" y="1019907"/>
            <a:ext cx="11734800" cy="5632311"/>
          </a:xfrm>
          <a:prstGeom prst="rect">
            <a:avLst/>
          </a:prstGeom>
          <a:noFill/>
        </p:spPr>
        <p:txBody>
          <a:bodyPr wrap="square" rtlCol="0">
            <a:spAutoFit/>
          </a:bodyPr>
          <a:lstStyle/>
          <a:p>
            <a:r>
              <a:rPr lang="en-US" altLang="zh-CN" sz="2400" dirty="0" err="1"/>
              <a:t>RatioDSTE</a:t>
            </a:r>
            <a:r>
              <a:rPr lang="zh-CN" altLang="en-US" sz="2400" dirty="0"/>
              <a:t>的任务从纯数据驱动的角度，判断两个物理信号之间的因果关系，并计算出它们之间的延迟时间。</a:t>
            </a:r>
            <a:endParaRPr lang="en-US" altLang="zh-CN" sz="2400" dirty="0"/>
          </a:p>
          <a:p>
            <a:endParaRPr lang="en-US" altLang="zh-CN" sz="2400" dirty="0"/>
          </a:p>
          <a:p>
            <a:r>
              <a:rPr lang="zh-CN" altLang="en-US" sz="2400" dirty="0"/>
              <a:t>传统符号转移熵</a:t>
            </a:r>
            <a:r>
              <a:rPr lang="en-US" altLang="zh-CN" sz="2400" dirty="0"/>
              <a:t>(STE)</a:t>
            </a:r>
            <a:r>
              <a:rPr lang="zh-CN" altLang="en-US" sz="2400" dirty="0"/>
              <a:t>的缺陷：</a:t>
            </a:r>
            <a:r>
              <a:rPr lang="en-US" altLang="zh-CN" sz="2400" dirty="0"/>
              <a:t>STE </a:t>
            </a:r>
            <a:r>
              <a:rPr lang="zh-CN" altLang="en-US" sz="2400" dirty="0"/>
              <a:t>方法通过将时间序列转换为排序向量来重建平稳时间序列。但是，现有的</a:t>
            </a:r>
            <a:r>
              <a:rPr lang="en-US" altLang="zh-CN" sz="2400" dirty="0"/>
              <a:t>STE</a:t>
            </a:r>
            <a:r>
              <a:rPr lang="zh-CN" altLang="en-US" sz="2400" dirty="0"/>
              <a:t>方法</a:t>
            </a:r>
            <a:r>
              <a:rPr lang="zh-CN" altLang="en-US" sz="2400" dirty="0">
                <a:solidFill>
                  <a:srgbClr val="FF0000"/>
                </a:solidFill>
              </a:rPr>
              <a:t>无法区分原始信号中存在连续相等的值</a:t>
            </a:r>
            <a:r>
              <a:rPr lang="zh-CN" altLang="en-US" sz="2400" dirty="0"/>
              <a:t>的情况。</a:t>
            </a:r>
            <a:endParaRPr lang="en-US" altLang="zh-CN" sz="2400" dirty="0"/>
          </a:p>
          <a:p>
            <a:endParaRPr lang="en-US" altLang="zh-CN" sz="2400" dirty="0"/>
          </a:p>
          <a:p>
            <a:r>
              <a:rPr lang="zh-CN" altLang="en-US" sz="2400" dirty="0"/>
              <a:t>如何区分连续相等值的排序：假设我们有三个连续的采样点，按时间顺序分别是：时刻</a:t>
            </a:r>
            <a:r>
              <a:rPr lang="en-US" altLang="zh-CN" sz="2400" dirty="0"/>
              <a:t>1</a:t>
            </a:r>
            <a:r>
              <a:rPr lang="zh-CN" altLang="en-US" sz="2400" dirty="0"/>
              <a:t>，时刻</a:t>
            </a:r>
            <a:r>
              <a:rPr lang="en-US" altLang="zh-CN" sz="2400" dirty="0"/>
              <a:t>2</a:t>
            </a:r>
            <a:r>
              <a:rPr lang="zh-CN" altLang="en-US" sz="2400" dirty="0"/>
              <a:t>，时刻</a:t>
            </a:r>
            <a:r>
              <a:rPr lang="en-US" altLang="zh-CN" sz="2400" dirty="0"/>
              <a:t>3</a:t>
            </a:r>
            <a:r>
              <a:rPr lang="zh-CN" altLang="en-US" sz="2400" dirty="0"/>
              <a:t>。传统符号化算法（</a:t>
            </a:r>
            <a:r>
              <a:rPr lang="en-US" altLang="zh-CN" sz="2400" dirty="0"/>
              <a:t>STE</a:t>
            </a:r>
            <a:r>
              <a:rPr lang="zh-CN" altLang="en-US" sz="2400" dirty="0"/>
              <a:t>）的规则是：</a:t>
            </a:r>
            <a:r>
              <a:rPr lang="zh-CN" altLang="en-US" sz="2400" b="1" dirty="0"/>
              <a:t>把数字从小到大排序，然后记录它们原本所在的时间位置。</a:t>
            </a:r>
            <a:endParaRPr lang="en-US" altLang="zh-CN" sz="2400" b="1" dirty="0"/>
          </a:p>
          <a:p>
            <a:r>
              <a:rPr lang="zh-CN" altLang="en-US" sz="2400" b="1" dirty="0"/>
              <a:t>（</a:t>
            </a:r>
            <a:r>
              <a:rPr lang="en-US" altLang="zh-CN" sz="2400" b="1" dirty="0"/>
              <a:t>10</a:t>
            </a:r>
            <a:r>
              <a:rPr lang="zh-CN" altLang="en-US" sz="2400" b="1" dirty="0"/>
              <a:t>，</a:t>
            </a:r>
            <a:r>
              <a:rPr lang="en-US" altLang="zh-CN" sz="2400" b="1" dirty="0"/>
              <a:t>8</a:t>
            </a:r>
            <a:r>
              <a:rPr lang="zh-CN" altLang="en-US" sz="2400" b="1" dirty="0"/>
              <a:t>，</a:t>
            </a:r>
            <a:r>
              <a:rPr lang="en-US" altLang="zh-CN" sz="2400" b="1" dirty="0"/>
              <a:t>9</a:t>
            </a:r>
            <a:r>
              <a:rPr lang="zh-CN" altLang="en-US" sz="2400" b="1" dirty="0"/>
              <a:t>）对应（</a:t>
            </a:r>
            <a:r>
              <a:rPr lang="en-US" altLang="zh-CN" sz="2400" b="1" dirty="0"/>
              <a:t>2</a:t>
            </a:r>
            <a:r>
              <a:rPr lang="zh-CN" altLang="en-US" sz="2400" b="1" dirty="0"/>
              <a:t>，</a:t>
            </a:r>
            <a:r>
              <a:rPr lang="en-US" altLang="zh-CN" sz="2400" b="1" dirty="0"/>
              <a:t>3</a:t>
            </a:r>
            <a:r>
              <a:rPr lang="zh-CN" altLang="en-US" sz="2400" b="1" dirty="0"/>
              <a:t>，</a:t>
            </a:r>
            <a:r>
              <a:rPr lang="en-US" altLang="zh-CN" sz="2400" b="1" dirty="0"/>
              <a:t>1</a:t>
            </a:r>
            <a:r>
              <a:rPr lang="zh-CN" altLang="en-US" sz="2400" b="1" dirty="0"/>
              <a:t>）        （</a:t>
            </a:r>
            <a:r>
              <a:rPr lang="en-US" altLang="zh-CN" sz="2400" b="1" dirty="0"/>
              <a:t>8</a:t>
            </a:r>
            <a:r>
              <a:rPr lang="zh-CN" altLang="en-US" sz="2400" b="1" dirty="0"/>
              <a:t>，</a:t>
            </a:r>
            <a:r>
              <a:rPr lang="en-US" altLang="zh-CN" sz="2400" b="1" dirty="0"/>
              <a:t>9</a:t>
            </a:r>
            <a:r>
              <a:rPr lang="zh-CN" altLang="en-US" sz="2400" b="1" dirty="0"/>
              <a:t>，</a:t>
            </a:r>
            <a:r>
              <a:rPr lang="en-US" altLang="zh-CN" sz="2400" b="1" dirty="0"/>
              <a:t>10</a:t>
            </a:r>
            <a:r>
              <a:rPr lang="zh-CN" altLang="en-US" sz="2400" b="1" dirty="0"/>
              <a:t>）对应（</a:t>
            </a:r>
            <a:r>
              <a:rPr lang="en-US" altLang="zh-CN" sz="2400" b="1" dirty="0"/>
              <a:t>1</a:t>
            </a:r>
            <a:r>
              <a:rPr lang="zh-CN" altLang="en-US" sz="2400" b="1" dirty="0"/>
              <a:t>，</a:t>
            </a:r>
            <a:r>
              <a:rPr lang="en-US" altLang="zh-CN" sz="2400" b="1" dirty="0"/>
              <a:t>2</a:t>
            </a:r>
            <a:r>
              <a:rPr lang="zh-CN" altLang="en-US" sz="2400" b="1" dirty="0"/>
              <a:t>，</a:t>
            </a:r>
            <a:r>
              <a:rPr lang="en-US" altLang="zh-CN" sz="2400" b="1" dirty="0"/>
              <a:t>3</a:t>
            </a:r>
            <a:r>
              <a:rPr lang="zh-CN" altLang="en-US" sz="2400" b="1" dirty="0"/>
              <a:t>）                          （</a:t>
            </a:r>
            <a:r>
              <a:rPr lang="en-US" altLang="zh-CN" sz="2400" b="1" dirty="0"/>
              <a:t>10</a:t>
            </a:r>
            <a:r>
              <a:rPr lang="zh-CN" altLang="en-US" sz="2400" b="1" dirty="0"/>
              <a:t>，</a:t>
            </a:r>
            <a:r>
              <a:rPr lang="en-US" altLang="zh-CN" sz="2400" b="1" dirty="0"/>
              <a:t>10</a:t>
            </a:r>
            <a:r>
              <a:rPr lang="zh-CN" altLang="en-US" sz="2400" b="1" dirty="0"/>
              <a:t>，</a:t>
            </a:r>
            <a:r>
              <a:rPr lang="en-US" altLang="zh-CN" sz="2400" b="1" dirty="0"/>
              <a:t>10</a:t>
            </a:r>
            <a:r>
              <a:rPr lang="zh-CN" altLang="en-US" sz="2400" b="1" dirty="0"/>
              <a:t>）对应（</a:t>
            </a:r>
            <a:r>
              <a:rPr lang="en-US" altLang="zh-CN" sz="2400" b="1" dirty="0"/>
              <a:t>1</a:t>
            </a:r>
            <a:r>
              <a:rPr lang="zh-CN" altLang="en-US" sz="2400" b="1" dirty="0"/>
              <a:t>，</a:t>
            </a:r>
            <a:r>
              <a:rPr lang="en-US" altLang="zh-CN" sz="2400" b="1" dirty="0"/>
              <a:t>2</a:t>
            </a:r>
            <a:r>
              <a:rPr lang="zh-CN" altLang="en-US" sz="2400" b="1" dirty="0"/>
              <a:t>，</a:t>
            </a:r>
            <a:r>
              <a:rPr lang="en-US" altLang="zh-CN" sz="2400" b="1" dirty="0"/>
              <a:t>3</a:t>
            </a:r>
            <a:r>
              <a:rPr lang="zh-CN" altLang="en-US" sz="2400" b="1" dirty="0"/>
              <a:t>） </a:t>
            </a:r>
            <a:endParaRPr lang="en-US" altLang="zh-CN" sz="2400" b="1" dirty="0"/>
          </a:p>
          <a:p>
            <a:r>
              <a:rPr lang="en-US" altLang="zh-CN" sz="2400" b="1" dirty="0"/>
              <a:t>DSTE</a:t>
            </a:r>
            <a:r>
              <a:rPr lang="zh-CN" altLang="en-US" sz="2400" b="1" dirty="0"/>
              <a:t>的改进，排序两遍：</a:t>
            </a:r>
            <a:endParaRPr lang="en-US" altLang="zh-CN" sz="2400" b="1" dirty="0"/>
          </a:p>
          <a:p>
            <a:r>
              <a:rPr lang="zh-CN" altLang="en-US" sz="2400" b="1" dirty="0"/>
              <a:t>（</a:t>
            </a:r>
            <a:r>
              <a:rPr lang="en-US" altLang="zh-CN" sz="2400" b="1" dirty="0"/>
              <a:t>8</a:t>
            </a:r>
            <a:r>
              <a:rPr lang="zh-CN" altLang="en-US" sz="2400" b="1" dirty="0"/>
              <a:t>，</a:t>
            </a:r>
            <a:r>
              <a:rPr lang="en-US" altLang="zh-CN" sz="2400" b="1" dirty="0"/>
              <a:t>9</a:t>
            </a:r>
            <a:r>
              <a:rPr lang="zh-CN" altLang="en-US" sz="2400" b="1" dirty="0"/>
              <a:t>，</a:t>
            </a:r>
            <a:r>
              <a:rPr lang="en-US" altLang="zh-CN" sz="2400" b="1" dirty="0"/>
              <a:t>10</a:t>
            </a:r>
            <a:r>
              <a:rPr lang="zh-CN" altLang="en-US" sz="2400" b="1" dirty="0"/>
              <a:t>）对应（</a:t>
            </a:r>
            <a:r>
              <a:rPr lang="en-US" altLang="zh-CN" sz="2400" b="1" dirty="0"/>
              <a:t>1</a:t>
            </a:r>
            <a:r>
              <a:rPr lang="zh-CN" altLang="en-US" sz="2400" b="1" dirty="0"/>
              <a:t>，</a:t>
            </a:r>
            <a:r>
              <a:rPr lang="en-US" altLang="zh-CN" sz="2400" b="1" dirty="0"/>
              <a:t>2</a:t>
            </a:r>
            <a:r>
              <a:rPr lang="zh-CN" altLang="en-US" sz="2400" b="1" dirty="0"/>
              <a:t>，</a:t>
            </a:r>
            <a:r>
              <a:rPr lang="en-US" altLang="zh-CN" sz="2400" b="1" dirty="0"/>
              <a:t>3</a:t>
            </a:r>
            <a:r>
              <a:rPr lang="zh-CN" altLang="en-US" sz="2400" b="1" dirty="0"/>
              <a:t>，</a:t>
            </a:r>
            <a:r>
              <a:rPr lang="en-US" altLang="zh-CN" sz="2400" b="1" dirty="0"/>
              <a:t>1</a:t>
            </a:r>
            <a:r>
              <a:rPr lang="zh-CN" altLang="en-US" sz="2400" b="1" dirty="0"/>
              <a:t>，</a:t>
            </a:r>
            <a:r>
              <a:rPr lang="en-US" altLang="zh-CN" sz="2400" b="1" dirty="0"/>
              <a:t>2</a:t>
            </a:r>
            <a:r>
              <a:rPr lang="zh-CN" altLang="en-US" sz="2400" b="1" dirty="0"/>
              <a:t>，</a:t>
            </a:r>
            <a:r>
              <a:rPr lang="en-US" altLang="zh-CN" sz="2400" b="1" dirty="0"/>
              <a:t>3</a:t>
            </a:r>
            <a:r>
              <a:rPr lang="zh-CN" altLang="en-US" sz="2400" b="1" dirty="0"/>
              <a:t>）   </a:t>
            </a:r>
            <a:endParaRPr lang="en-US" altLang="zh-CN" sz="2400" b="1" dirty="0"/>
          </a:p>
          <a:p>
            <a:r>
              <a:rPr lang="zh-CN" altLang="en-US" sz="2400" b="1" dirty="0"/>
              <a:t>（</a:t>
            </a:r>
            <a:r>
              <a:rPr lang="en-US" altLang="zh-CN" sz="2400" b="1" dirty="0"/>
              <a:t>10</a:t>
            </a:r>
            <a:r>
              <a:rPr lang="zh-CN" altLang="en-US" sz="2400" b="1" dirty="0"/>
              <a:t>，</a:t>
            </a:r>
            <a:r>
              <a:rPr lang="en-US" altLang="zh-CN" sz="2400" b="1" dirty="0"/>
              <a:t>10</a:t>
            </a:r>
            <a:r>
              <a:rPr lang="zh-CN" altLang="en-US" sz="2400" b="1" dirty="0"/>
              <a:t>，</a:t>
            </a:r>
            <a:r>
              <a:rPr lang="en-US" altLang="zh-CN" sz="2400" b="1" dirty="0"/>
              <a:t>10</a:t>
            </a:r>
            <a:r>
              <a:rPr lang="zh-CN" altLang="en-US" sz="2400" b="1" dirty="0"/>
              <a:t>）对应（</a:t>
            </a:r>
            <a:r>
              <a:rPr lang="en-US" altLang="zh-CN" sz="2400" b="1" dirty="0"/>
              <a:t>1</a:t>
            </a:r>
            <a:r>
              <a:rPr lang="zh-CN" altLang="en-US" sz="2400" b="1" dirty="0"/>
              <a:t>，</a:t>
            </a:r>
            <a:r>
              <a:rPr lang="en-US" altLang="zh-CN" sz="2400" b="1" dirty="0"/>
              <a:t>2</a:t>
            </a:r>
            <a:r>
              <a:rPr lang="zh-CN" altLang="en-US" sz="2400" b="1" dirty="0"/>
              <a:t>，</a:t>
            </a:r>
            <a:r>
              <a:rPr lang="en-US" altLang="zh-CN" sz="2400" b="1" dirty="0"/>
              <a:t>3</a:t>
            </a:r>
            <a:r>
              <a:rPr lang="zh-CN" altLang="en-US" sz="2400" b="1" dirty="0"/>
              <a:t>，</a:t>
            </a:r>
            <a:r>
              <a:rPr lang="en-US" altLang="zh-CN" sz="2400" b="1" dirty="0"/>
              <a:t>3</a:t>
            </a:r>
            <a:r>
              <a:rPr lang="zh-CN" altLang="en-US" sz="2400" b="1" dirty="0"/>
              <a:t>，</a:t>
            </a:r>
            <a:r>
              <a:rPr lang="en-US" altLang="zh-CN" sz="2400" b="1" dirty="0"/>
              <a:t>2</a:t>
            </a:r>
            <a:r>
              <a:rPr lang="zh-CN" altLang="en-US" sz="2400" b="1" dirty="0"/>
              <a:t>，</a:t>
            </a:r>
            <a:r>
              <a:rPr lang="en-US" altLang="zh-CN" sz="2400" b="1" dirty="0"/>
              <a:t>1</a:t>
            </a:r>
            <a:r>
              <a:rPr lang="zh-CN" altLang="en-US" sz="2400" b="1" dirty="0"/>
              <a:t>） </a:t>
            </a:r>
            <a:endParaRPr lang="en-US" altLang="zh-CN" sz="2400" b="1" dirty="0"/>
          </a:p>
          <a:p>
            <a:endParaRPr lang="en-US" altLang="zh-CN" sz="2400" dirty="0"/>
          </a:p>
        </p:txBody>
      </p:sp>
    </p:spTree>
    <p:extLst>
      <p:ext uri="{BB962C8B-B14F-4D97-AF65-F5344CB8AC3E}">
        <p14:creationId xmlns:p14="http://schemas.microsoft.com/office/powerpoint/2010/main" val="39463720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CA875E-A14C-6F61-EFCC-4FC462DF8BEB}"/>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C465E0AB-547E-8706-A324-D9705E99309A}"/>
              </a:ext>
            </a:extLst>
          </p:cNvPr>
          <p:cNvSpPr>
            <a:spLocks noGrp="1"/>
          </p:cNvSpPr>
          <p:nvPr>
            <p:ph type="title"/>
          </p:nvPr>
        </p:nvSpPr>
        <p:spPr/>
        <p:txBody>
          <a:bodyPr/>
          <a:lstStyle/>
          <a:p>
            <a:r>
              <a:rPr lang="en-US" altLang="zh-CN" dirty="0" err="1"/>
              <a:t>RatioDSTE</a:t>
            </a:r>
            <a:r>
              <a:rPr lang="zh-CN" altLang="en-US" dirty="0"/>
              <a:t>（比例双符号转移熵）计算</a:t>
            </a:r>
          </a:p>
        </p:txBody>
      </p:sp>
      <p:sp>
        <p:nvSpPr>
          <p:cNvPr id="4" name="文本框 3">
            <a:extLst>
              <a:ext uri="{FF2B5EF4-FFF2-40B4-BE49-F238E27FC236}">
                <a16:creationId xmlns:a16="http://schemas.microsoft.com/office/drawing/2014/main" id="{D9DE8225-5E3F-A67D-C8B0-AC66A4B6C62C}"/>
              </a:ext>
            </a:extLst>
          </p:cNvPr>
          <p:cNvSpPr txBox="1"/>
          <p:nvPr/>
        </p:nvSpPr>
        <p:spPr>
          <a:xfrm>
            <a:off x="562708" y="1195754"/>
            <a:ext cx="10005646" cy="5355312"/>
          </a:xfrm>
          <a:prstGeom prst="rect">
            <a:avLst/>
          </a:prstGeom>
          <a:noFill/>
        </p:spPr>
        <p:txBody>
          <a:bodyPr wrap="square" rtlCol="0">
            <a:spAutoFit/>
          </a:bodyPr>
          <a:lstStyle/>
          <a:p>
            <a:r>
              <a:rPr lang="zh-CN" altLang="en-US" dirty="0"/>
              <a:t>举例：假设现在两个语义集中分别有一个未知信号：</a:t>
            </a:r>
            <a:r>
              <a:rPr lang="en-US" altLang="zh-CN" dirty="0"/>
              <a:t>X</a:t>
            </a:r>
            <a:r>
              <a:rPr lang="zh-CN" altLang="en-US" dirty="0"/>
              <a:t>：油门踏板位置，</a:t>
            </a:r>
            <a:r>
              <a:rPr lang="en-US" altLang="zh-CN" dirty="0"/>
              <a:t>Y</a:t>
            </a:r>
            <a:r>
              <a:rPr lang="zh-CN" altLang="en-US" dirty="0"/>
              <a:t>：发动机转速。</a:t>
            </a:r>
            <a:endParaRPr lang="en-US" altLang="zh-CN" dirty="0"/>
          </a:p>
          <a:p>
            <a:r>
              <a:rPr lang="en-US" altLang="zh-CN" dirty="0" err="1"/>
              <a:t>RatioDSTE</a:t>
            </a:r>
            <a:r>
              <a:rPr lang="zh-CN" altLang="en-US" dirty="0"/>
              <a:t>的任务就是在完全不知道这两个信号是什么的情况下，只看它们跳动的数字，判断出“是 </a:t>
            </a:r>
            <a:r>
              <a:rPr lang="en-US" altLang="zh-CN" dirty="0"/>
              <a:t>X </a:t>
            </a:r>
            <a:r>
              <a:rPr lang="zh-CN" altLang="en-US" dirty="0"/>
              <a:t>导致了 </a:t>
            </a:r>
            <a:r>
              <a:rPr lang="en-US" altLang="zh-CN" dirty="0"/>
              <a:t>Y</a:t>
            </a:r>
            <a:r>
              <a:rPr lang="zh-CN" altLang="en-US" dirty="0"/>
              <a:t>，还是 </a:t>
            </a:r>
            <a:r>
              <a:rPr lang="en-US" altLang="zh-CN" dirty="0"/>
              <a:t>Y </a:t>
            </a:r>
            <a:r>
              <a:rPr lang="zh-CN" altLang="en-US" dirty="0"/>
              <a:t>导致了 </a:t>
            </a:r>
            <a:r>
              <a:rPr lang="en-US" altLang="zh-CN" dirty="0"/>
              <a:t>X</a:t>
            </a:r>
            <a:r>
              <a:rPr lang="zh-CN" altLang="en-US" dirty="0"/>
              <a:t>？影响过程花了多少毫秒？</a:t>
            </a:r>
            <a:endParaRPr lang="en-US" altLang="zh-CN" dirty="0"/>
          </a:p>
          <a:p>
            <a:endParaRPr lang="en-US" altLang="zh-CN" dirty="0"/>
          </a:p>
          <a:p>
            <a:r>
              <a:rPr lang="zh-CN" altLang="en-US" dirty="0"/>
              <a:t>计算转移熵</a:t>
            </a:r>
            <a:endParaRPr lang="en-US" altLang="zh-CN" dirty="0"/>
          </a:p>
          <a:p>
            <a:r>
              <a:rPr lang="zh-CN" altLang="en-US" dirty="0"/>
              <a:t>现在要预测下一秒的</a:t>
            </a:r>
            <a:r>
              <a:rPr lang="en-US" altLang="zh-CN" dirty="0"/>
              <a:t>Y</a:t>
            </a:r>
            <a:r>
              <a:rPr lang="zh-CN" altLang="en-US" dirty="0"/>
              <a:t>：</a:t>
            </a:r>
            <a:endParaRPr lang="en-US" altLang="zh-CN" dirty="0"/>
          </a:p>
          <a:p>
            <a:pPr marL="285750" indent="-285750">
              <a:buFont typeface="Arial" panose="020B0604020202020204" pitchFamily="34" charset="0"/>
              <a:buChar char="•"/>
            </a:pPr>
            <a:r>
              <a:rPr lang="zh-CN" altLang="en-US" dirty="0"/>
              <a:t>只看</a:t>
            </a:r>
            <a:r>
              <a:rPr lang="en-US" altLang="zh-CN" dirty="0"/>
              <a:t>Y</a:t>
            </a:r>
            <a:r>
              <a:rPr lang="zh-CN" altLang="en-US" dirty="0"/>
              <a:t>的过去状态 ，可以大概预测出来</a:t>
            </a:r>
            <a:endParaRPr lang="en-US" altLang="zh-CN" dirty="0"/>
          </a:p>
          <a:p>
            <a:pPr marL="285750" indent="-285750">
              <a:buFont typeface="Arial" panose="020B0604020202020204" pitchFamily="34" charset="0"/>
              <a:buChar char="•"/>
            </a:pPr>
            <a:r>
              <a:rPr lang="zh-CN" altLang="en-US" dirty="0"/>
              <a:t>同时看</a:t>
            </a:r>
            <a:r>
              <a:rPr lang="en-US" altLang="zh-CN" dirty="0"/>
              <a:t>X</a:t>
            </a:r>
            <a:r>
              <a:rPr lang="zh-CN" altLang="en-US" dirty="0"/>
              <a:t>的过去状态，对</a:t>
            </a:r>
            <a:r>
              <a:rPr lang="en-US" altLang="zh-CN" dirty="0"/>
              <a:t>Y</a:t>
            </a:r>
            <a:r>
              <a:rPr lang="zh-CN" altLang="en-US" dirty="0"/>
              <a:t>的预测准确度会大幅提升。</a:t>
            </a:r>
            <a:endParaRPr lang="en-US" altLang="zh-CN" dirty="0"/>
          </a:p>
          <a:p>
            <a:pPr marL="285750" indent="-285750">
              <a:buFont typeface="Arial" panose="020B0604020202020204" pitchFamily="34" charset="0"/>
              <a:buChar char="•"/>
            </a:pPr>
            <a:endParaRPr lang="en-US" altLang="zh-CN" dirty="0"/>
          </a:p>
          <a:p>
            <a:r>
              <a:rPr lang="zh-CN" altLang="en-US" dirty="0"/>
              <a:t>排除环境干扰，找</a:t>
            </a:r>
            <a:r>
              <a:rPr lang="zh-CN" altLang="en-US" b="1" dirty="0"/>
              <a:t>最佳延迟时间</a:t>
            </a:r>
            <a:endParaRPr lang="en-US" altLang="zh-CN" dirty="0"/>
          </a:p>
          <a:p>
            <a:r>
              <a:rPr lang="zh-CN" altLang="en-US" dirty="0"/>
              <a:t>测试不同的延迟时间，比如 </a:t>
            </a:r>
            <a:r>
              <a:rPr lang="en-US" altLang="zh-CN" dirty="0"/>
              <a:t>10</a:t>
            </a:r>
            <a:r>
              <a:rPr lang="zh-CN" altLang="en-US" dirty="0"/>
              <a:t>毫秒、</a:t>
            </a:r>
            <a:r>
              <a:rPr lang="en-US" altLang="zh-CN" dirty="0"/>
              <a:t>20</a:t>
            </a:r>
            <a:r>
              <a:rPr lang="zh-CN" altLang="en-US" dirty="0"/>
              <a:t>毫秒、</a:t>
            </a:r>
            <a:r>
              <a:rPr lang="en-US" altLang="zh-CN" dirty="0"/>
              <a:t>50</a:t>
            </a:r>
            <a:r>
              <a:rPr lang="zh-CN" altLang="en-US" dirty="0"/>
              <a:t>毫秒、</a:t>
            </a:r>
            <a:r>
              <a:rPr lang="en-US" altLang="zh-CN" dirty="0"/>
              <a:t>100</a:t>
            </a:r>
            <a:r>
              <a:rPr lang="zh-CN" altLang="en-US" dirty="0"/>
              <a:t>毫秒。假设在测试到 </a:t>
            </a:r>
            <a:r>
              <a:rPr lang="en-US" altLang="zh-CN" b="1" dirty="0"/>
              <a:t>50</a:t>
            </a:r>
            <a:r>
              <a:rPr lang="zh-CN" altLang="en-US" b="1" dirty="0"/>
              <a:t>毫秒</a:t>
            </a:r>
            <a:r>
              <a:rPr lang="zh-CN" altLang="en-US" dirty="0"/>
              <a:t> 时，</a:t>
            </a:r>
            <a:r>
              <a:rPr lang="en-US" altLang="zh-CN" dirty="0"/>
              <a:t>X </a:t>
            </a:r>
            <a:r>
              <a:rPr lang="zh-CN" altLang="en-US" dirty="0"/>
              <a:t>对 </a:t>
            </a:r>
            <a:r>
              <a:rPr lang="en-US" altLang="zh-CN" dirty="0"/>
              <a:t>Y </a:t>
            </a:r>
            <a:r>
              <a:rPr lang="zh-CN" altLang="en-US" dirty="0"/>
              <a:t>的预测准确度提升最大。但这里需要排除环境的混乱度，得到归一化后的 </a:t>
            </a:r>
            <a:r>
              <a:rPr lang="en-US" altLang="zh-CN" b="1" dirty="0" err="1"/>
              <a:t>RatioDSTE</a:t>
            </a:r>
            <a:r>
              <a:rPr lang="zh-CN" altLang="en-US" b="1" dirty="0"/>
              <a:t>。</a:t>
            </a:r>
            <a:endParaRPr lang="en-US" altLang="zh-CN" b="1" dirty="0"/>
          </a:p>
          <a:p>
            <a:endParaRPr lang="en-US" altLang="zh-CN" b="1" dirty="0"/>
          </a:p>
          <a:p>
            <a:r>
              <a:rPr lang="zh-CN" altLang="en-US" dirty="0"/>
              <a:t>判断因果</a:t>
            </a:r>
            <a:endParaRPr lang="en-US" altLang="zh-CN" dirty="0"/>
          </a:p>
          <a:p>
            <a:r>
              <a:rPr lang="zh-CN" altLang="en-US" dirty="0"/>
              <a:t>得到</a:t>
            </a:r>
            <a:r>
              <a:rPr lang="en-US" altLang="zh-CN" dirty="0"/>
              <a:t>X</a:t>
            </a:r>
            <a:r>
              <a:rPr lang="zh-CN" altLang="en-US" dirty="0"/>
              <a:t>对</a:t>
            </a:r>
            <a:r>
              <a:rPr lang="en-US" altLang="zh-CN" dirty="0"/>
              <a:t>Y</a:t>
            </a:r>
            <a:r>
              <a:rPr lang="zh-CN" altLang="en-US" dirty="0"/>
              <a:t>的影响时间，反过来计算</a:t>
            </a:r>
            <a:r>
              <a:rPr lang="en-US" altLang="zh-CN" dirty="0"/>
              <a:t>Y</a:t>
            </a:r>
            <a:r>
              <a:rPr lang="zh-CN" altLang="en-US" dirty="0"/>
              <a:t>对</a:t>
            </a:r>
            <a:r>
              <a:rPr lang="en-US" altLang="zh-CN" dirty="0"/>
              <a:t>X</a:t>
            </a:r>
            <a:r>
              <a:rPr lang="zh-CN" altLang="en-US" dirty="0"/>
              <a:t>的影响时间</a:t>
            </a:r>
            <a:endParaRPr lang="en-US" altLang="zh-CN" dirty="0"/>
          </a:p>
          <a:p>
            <a:r>
              <a:rPr lang="zh-CN" altLang="en-US" dirty="0"/>
              <a:t>假设</a:t>
            </a:r>
            <a:r>
              <a:rPr lang="en-US" altLang="zh-CN" dirty="0"/>
              <a:t>X</a:t>
            </a:r>
            <a:r>
              <a:rPr lang="zh-CN" altLang="en-US" dirty="0"/>
              <a:t>（油门）影响 </a:t>
            </a:r>
            <a:r>
              <a:rPr lang="en-US" altLang="zh-CN" dirty="0"/>
              <a:t>Y</a:t>
            </a:r>
            <a:r>
              <a:rPr lang="zh-CN" altLang="en-US" dirty="0"/>
              <a:t>（转速）的最大延迟是 </a:t>
            </a:r>
            <a:r>
              <a:rPr lang="en-US" altLang="zh-CN" b="1" dirty="0"/>
              <a:t>50</a:t>
            </a:r>
            <a:r>
              <a:rPr lang="zh-CN" altLang="en-US" b="1" dirty="0"/>
              <a:t>毫秒，</a:t>
            </a:r>
            <a:r>
              <a:rPr lang="en-US" altLang="zh-CN" dirty="0"/>
              <a:t>Y</a:t>
            </a:r>
            <a:r>
              <a:rPr lang="zh-CN" altLang="en-US" dirty="0"/>
              <a:t>（转速）影响 </a:t>
            </a:r>
            <a:r>
              <a:rPr lang="en-US" altLang="zh-CN" dirty="0"/>
              <a:t>X</a:t>
            </a:r>
            <a:r>
              <a:rPr lang="zh-CN" altLang="en-US" dirty="0"/>
              <a:t>（油门）的最大延迟是 </a:t>
            </a:r>
            <a:r>
              <a:rPr lang="en-US" altLang="zh-CN" b="1" dirty="0"/>
              <a:t>200</a:t>
            </a:r>
            <a:r>
              <a:rPr lang="zh-CN" altLang="en-US" b="1" dirty="0"/>
              <a:t>毫秒。</a:t>
            </a:r>
            <a:endParaRPr lang="en-US" altLang="zh-CN" b="1" dirty="0"/>
          </a:p>
          <a:p>
            <a:r>
              <a:rPr lang="zh-CN" altLang="en-US" b="1" dirty="0"/>
              <a:t>判定规则</a:t>
            </a:r>
            <a:r>
              <a:rPr lang="zh-CN" altLang="en-US" dirty="0"/>
              <a:t>：因为物理世界中，“原因”传递到“结果”的时间，一定短于“结果”反作用于“原因”的时间 。</a:t>
            </a:r>
            <a:endParaRPr lang="en-US" altLang="zh-CN" dirty="0"/>
          </a:p>
          <a:p>
            <a:endParaRPr lang="zh-CN" altLang="en-US" dirty="0"/>
          </a:p>
        </p:txBody>
      </p:sp>
    </p:spTree>
    <p:extLst>
      <p:ext uri="{BB962C8B-B14F-4D97-AF65-F5344CB8AC3E}">
        <p14:creationId xmlns:p14="http://schemas.microsoft.com/office/powerpoint/2010/main" val="38987556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A109C3-8AC9-A2D1-EB96-04409A968EFE}"/>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F2E44437-C0C5-A350-7FF7-70164E354482}"/>
              </a:ext>
            </a:extLst>
          </p:cNvPr>
          <p:cNvSpPr>
            <a:spLocks noGrp="1"/>
          </p:cNvSpPr>
          <p:nvPr>
            <p:ph type="title"/>
          </p:nvPr>
        </p:nvSpPr>
        <p:spPr/>
        <p:txBody>
          <a:bodyPr/>
          <a:lstStyle/>
          <a:p>
            <a:r>
              <a:rPr lang="en-US" altLang="zh-CN" dirty="0"/>
              <a:t>TECG</a:t>
            </a:r>
            <a:r>
              <a:rPr lang="zh-CN" altLang="en-US" dirty="0"/>
              <a:t>图生成</a:t>
            </a:r>
          </a:p>
        </p:txBody>
      </p:sp>
      <p:sp>
        <p:nvSpPr>
          <p:cNvPr id="3" name="文本框 2">
            <a:extLst>
              <a:ext uri="{FF2B5EF4-FFF2-40B4-BE49-F238E27FC236}">
                <a16:creationId xmlns:a16="http://schemas.microsoft.com/office/drawing/2014/main" id="{B1D2DB86-8A3E-628B-8AC3-C4EA4E243BD1}"/>
              </a:ext>
            </a:extLst>
          </p:cNvPr>
          <p:cNvSpPr txBox="1"/>
          <p:nvPr/>
        </p:nvSpPr>
        <p:spPr>
          <a:xfrm>
            <a:off x="457200" y="1266092"/>
            <a:ext cx="10322169" cy="4832092"/>
          </a:xfrm>
          <a:prstGeom prst="rect">
            <a:avLst/>
          </a:prstGeom>
          <a:noFill/>
        </p:spPr>
        <p:txBody>
          <a:bodyPr wrap="square" rtlCol="0">
            <a:spAutoFit/>
          </a:bodyPr>
          <a:lstStyle/>
          <a:p>
            <a:r>
              <a:rPr lang="en-US" altLang="zh-CN" sz="2400" dirty="0"/>
              <a:t>TECG</a:t>
            </a:r>
            <a:r>
              <a:rPr lang="zh-CN" altLang="en-US" sz="2400" dirty="0"/>
              <a:t>图：定时事件因果图。将上一步输出的因果关系和延迟提炼出一张能反映车辆内部动力逻辑的</a:t>
            </a:r>
            <a:r>
              <a:rPr lang="zh-CN" altLang="en-US" sz="2400" b="1" dirty="0"/>
              <a:t>有向加权图。</a:t>
            </a:r>
            <a:endParaRPr lang="en-US" altLang="zh-CN" sz="2400" b="1" dirty="0"/>
          </a:p>
          <a:p>
            <a:r>
              <a:rPr lang="en-US" altLang="zh-CN" sz="2400" dirty="0"/>
              <a:t>1.</a:t>
            </a:r>
            <a:r>
              <a:rPr lang="zh-CN" altLang="en-US" sz="2400" dirty="0"/>
              <a:t>节点确定</a:t>
            </a:r>
            <a:endParaRPr lang="en-US" altLang="zh-CN" sz="2400" dirty="0"/>
          </a:p>
          <a:p>
            <a:pPr marL="342900" indent="-342900">
              <a:buFont typeface="Arial" panose="020B0604020202020204" pitchFamily="34" charset="0"/>
              <a:buChar char="•"/>
            </a:pPr>
            <a:r>
              <a:rPr lang="zh-CN" altLang="en-US" sz="2000" b="1" dirty="0"/>
              <a:t>语义集划分</a:t>
            </a:r>
            <a:r>
              <a:rPr lang="zh-CN" altLang="en-US" sz="2000" dirty="0"/>
              <a:t>：利用带延迟的皮尔逊相关系数将具有高度线性相关的物理信号（如多个轮速信号）聚类为单一“语义集”</a:t>
            </a:r>
            <a:endParaRPr lang="en-US" altLang="zh-CN" sz="2000" dirty="0"/>
          </a:p>
          <a:p>
            <a:pPr marL="342900" indent="-342900">
              <a:buFont typeface="Arial" panose="020B0604020202020204" pitchFamily="34" charset="0"/>
              <a:buChar char="•"/>
            </a:pPr>
            <a:r>
              <a:rPr lang="zh-CN" altLang="en-US" sz="2000" b="1" dirty="0"/>
              <a:t>确定枢轴信号 </a:t>
            </a:r>
            <a:r>
              <a:rPr lang="en-US" altLang="zh-CN" sz="2000" b="1" dirty="0"/>
              <a:t>(Pivot Signal)</a:t>
            </a:r>
            <a:r>
              <a:rPr lang="zh-CN" altLang="en-US" sz="2000" dirty="0"/>
              <a:t>：在每个语义集中，选择时间尺度上响应最快的信号作为枢轴信号，代表该节点</a:t>
            </a:r>
            <a:endParaRPr lang="en-US" altLang="zh-CN" sz="2000" dirty="0"/>
          </a:p>
          <a:p>
            <a:r>
              <a:rPr lang="en-US" altLang="zh-CN" sz="2400" dirty="0"/>
              <a:t>2.</a:t>
            </a:r>
            <a:r>
              <a:rPr lang="zh-CN" altLang="en-US" sz="2400" dirty="0"/>
              <a:t>因果关系构建</a:t>
            </a:r>
            <a:endParaRPr lang="en-US" altLang="zh-CN" sz="2400" dirty="0"/>
          </a:p>
          <a:p>
            <a:r>
              <a:rPr lang="zh-CN" altLang="en-US" sz="2000" dirty="0"/>
              <a:t>计算两两枢轴信号之间的 </a:t>
            </a:r>
            <a:r>
              <a:rPr lang="en-US" altLang="zh-CN" sz="2000" b="1" dirty="0" err="1"/>
              <a:t>RatioDSTE</a:t>
            </a:r>
            <a:r>
              <a:rPr lang="zh-CN" altLang="en-US" sz="2000" dirty="0"/>
              <a:t>，寻找影响最大的延迟时间</a:t>
            </a:r>
            <a:r>
              <a:rPr lang="en-US" altLang="zh-CN" sz="2000" dirty="0" err="1"/>
              <a:t>Tmax</a:t>
            </a:r>
            <a:r>
              <a:rPr lang="zh-CN" altLang="en-US" sz="2000" dirty="0"/>
              <a:t>。</a:t>
            </a:r>
            <a:endParaRPr lang="en-US" altLang="zh-CN" sz="2000" dirty="0"/>
          </a:p>
          <a:p>
            <a:r>
              <a:rPr lang="en-US" altLang="zh-CN" sz="2400" dirty="0"/>
              <a:t>3.</a:t>
            </a:r>
            <a:r>
              <a:rPr lang="zh-CN" altLang="en-US" sz="2400" dirty="0"/>
              <a:t>权重赋值</a:t>
            </a:r>
            <a:endParaRPr lang="en-US" altLang="zh-CN" sz="2400" dirty="0"/>
          </a:p>
          <a:p>
            <a:r>
              <a:rPr lang="zh-CN" altLang="en-US" sz="2000" dirty="0"/>
              <a:t>取算出来的最大延迟时间赋值。</a:t>
            </a:r>
            <a:endParaRPr lang="en-US" altLang="zh-CN" sz="2000" dirty="0"/>
          </a:p>
          <a:p>
            <a:endParaRPr lang="en-US" altLang="zh-CN" sz="2000" dirty="0"/>
          </a:p>
          <a:p>
            <a:r>
              <a:rPr lang="zh-CN" altLang="en-US" sz="2400" b="1" dirty="0"/>
              <a:t>最终结果</a:t>
            </a:r>
            <a:r>
              <a:rPr lang="zh-CN" altLang="en-US" sz="2400" dirty="0"/>
              <a:t>：生成一个每两个节点间都有唯一方向和权重的定时事件因果图。</a:t>
            </a:r>
            <a:endParaRPr lang="en-US" altLang="zh-CN" sz="2400" dirty="0"/>
          </a:p>
          <a:p>
            <a:endParaRPr lang="en-US" altLang="zh-CN" sz="2400" b="1" dirty="0"/>
          </a:p>
        </p:txBody>
      </p:sp>
    </p:spTree>
    <p:extLst>
      <p:ext uri="{BB962C8B-B14F-4D97-AF65-F5344CB8AC3E}">
        <p14:creationId xmlns:p14="http://schemas.microsoft.com/office/powerpoint/2010/main" val="16163453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04510A-C379-74DD-EB2E-A1F2B4A4AAF2}"/>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F51908B6-5195-3760-1358-32B659CF6419}"/>
              </a:ext>
            </a:extLst>
          </p:cNvPr>
          <p:cNvSpPr>
            <a:spLocks noGrp="1"/>
          </p:cNvSpPr>
          <p:nvPr>
            <p:ph type="title"/>
          </p:nvPr>
        </p:nvSpPr>
        <p:spPr/>
        <p:txBody>
          <a:bodyPr/>
          <a:lstStyle/>
          <a:p>
            <a:r>
              <a:rPr lang="zh-CN" altLang="en-US" dirty="0"/>
              <a:t>匹配语义</a:t>
            </a:r>
          </a:p>
        </p:txBody>
      </p:sp>
      <p:sp>
        <p:nvSpPr>
          <p:cNvPr id="3" name="文本框 2">
            <a:extLst>
              <a:ext uri="{FF2B5EF4-FFF2-40B4-BE49-F238E27FC236}">
                <a16:creationId xmlns:a16="http://schemas.microsoft.com/office/drawing/2014/main" id="{CFEC62C8-4F67-3270-4FEE-3DEB58632BFC}"/>
              </a:ext>
            </a:extLst>
          </p:cNvPr>
          <p:cNvSpPr txBox="1"/>
          <p:nvPr/>
        </p:nvSpPr>
        <p:spPr>
          <a:xfrm>
            <a:off x="457200" y="1266092"/>
            <a:ext cx="10322169" cy="4154984"/>
          </a:xfrm>
          <a:prstGeom prst="rect">
            <a:avLst/>
          </a:prstGeom>
          <a:noFill/>
        </p:spPr>
        <p:txBody>
          <a:bodyPr wrap="square" rtlCol="0">
            <a:spAutoFit/>
          </a:bodyPr>
          <a:lstStyle/>
          <a:p>
            <a:r>
              <a:rPr lang="en-US" altLang="zh-CN" sz="2400" b="1" dirty="0"/>
              <a:t>SECG (</a:t>
            </a:r>
            <a:r>
              <a:rPr lang="zh-CN" altLang="en-US" sz="2400" b="1" dirty="0"/>
              <a:t>顺序事件因果图</a:t>
            </a:r>
            <a:r>
              <a:rPr lang="en-US" altLang="zh-CN" sz="2400" b="1" dirty="0"/>
              <a:t>)</a:t>
            </a:r>
            <a:r>
              <a:rPr lang="zh-CN" altLang="en-US" sz="2400" dirty="0"/>
              <a:t>：根据不同能源类型的传动结构，提取出的反映事件先后顺序的先验知识图谱。</a:t>
            </a:r>
            <a:endParaRPr lang="en-US" altLang="zh-CN" sz="2400" dirty="0"/>
          </a:p>
          <a:p>
            <a:r>
              <a:rPr lang="en-US" altLang="zh-CN" sz="2400" b="1" dirty="0"/>
              <a:t>TECG (</a:t>
            </a:r>
            <a:r>
              <a:rPr lang="zh-CN" altLang="en-US" sz="2400" b="1" dirty="0"/>
              <a:t>定时事件因果图</a:t>
            </a:r>
            <a:r>
              <a:rPr lang="en-US" altLang="zh-CN" sz="2400" b="1" dirty="0"/>
              <a:t>)</a:t>
            </a:r>
            <a:r>
              <a:rPr lang="zh-CN" altLang="en-US" sz="2400" dirty="0"/>
              <a:t>：由系统从 </a:t>
            </a:r>
            <a:r>
              <a:rPr lang="en-US" altLang="zh-CN" sz="2400" dirty="0"/>
              <a:t>CAN </a:t>
            </a:r>
            <a:r>
              <a:rPr lang="zh-CN" altLang="en-US" sz="2400" dirty="0"/>
              <a:t>报文中完全通过数据驱动提取出来的图谱，节点代表聚类后的信号，边代表因果方向，权重代表时间延迟 。</a:t>
            </a:r>
            <a:endParaRPr lang="en-US" altLang="zh-CN" sz="2400" dirty="0"/>
          </a:p>
          <a:p>
            <a:endParaRPr lang="en-US" altLang="zh-CN" sz="2400" dirty="0"/>
          </a:p>
          <a:p>
            <a:r>
              <a:rPr lang="en-US" altLang="zh-CN" sz="2400" dirty="0"/>
              <a:t>TECG</a:t>
            </a:r>
            <a:r>
              <a:rPr lang="zh-CN" altLang="en-US" sz="2400" dirty="0"/>
              <a:t>中包含车辆所有的信号节点，而</a:t>
            </a:r>
            <a:r>
              <a:rPr lang="en-US" altLang="zh-CN" sz="2400" dirty="0"/>
              <a:t>SECG</a:t>
            </a:r>
            <a:r>
              <a:rPr lang="zh-CN" altLang="en-US" sz="2400" dirty="0"/>
              <a:t>仅包含我们要找的动力系统节点，因此第一步需要在巨大的</a:t>
            </a:r>
            <a:r>
              <a:rPr lang="en-US" altLang="zh-CN" sz="2400" dirty="0"/>
              <a:t>TECG</a:t>
            </a:r>
            <a:r>
              <a:rPr lang="zh-CN" altLang="en-US" sz="2400" dirty="0"/>
              <a:t>图中，寻找与</a:t>
            </a:r>
            <a:r>
              <a:rPr lang="en-US" altLang="zh-CN" sz="2400" dirty="0"/>
              <a:t>SECG</a:t>
            </a:r>
            <a:r>
              <a:rPr lang="zh-CN" altLang="en-US" sz="2400" dirty="0"/>
              <a:t>拓扑结构完全一致的子图。</a:t>
            </a:r>
            <a:endParaRPr lang="en-US" altLang="zh-CN" sz="2400" dirty="0"/>
          </a:p>
          <a:p>
            <a:r>
              <a:rPr lang="zh-CN" altLang="en-US" sz="2400" dirty="0"/>
              <a:t>然后通过权重筛选出与物理常识最贴合的那张子图。</a:t>
            </a:r>
            <a:endParaRPr lang="en-US" altLang="zh-CN" sz="2400" dirty="0"/>
          </a:p>
          <a:p>
            <a:endParaRPr lang="en-US" altLang="zh-CN" sz="2400" dirty="0"/>
          </a:p>
          <a:p>
            <a:r>
              <a:rPr lang="zh-CN" altLang="en-US" sz="2400" dirty="0"/>
              <a:t>经过结构和权重的双重筛选，系统最终确定了唯一的对应矩阵</a:t>
            </a:r>
            <a:r>
              <a:rPr lang="en-US" altLang="zh-CN" sz="2400" dirty="0"/>
              <a:t>M</a:t>
            </a:r>
            <a:r>
              <a:rPr lang="zh-CN" altLang="en-US" sz="2400" dirty="0"/>
              <a:t>，完成语义的匹配。</a:t>
            </a:r>
          </a:p>
        </p:txBody>
      </p:sp>
    </p:spTree>
    <p:extLst>
      <p:ext uri="{BB962C8B-B14F-4D97-AF65-F5344CB8AC3E}">
        <p14:creationId xmlns:p14="http://schemas.microsoft.com/office/powerpoint/2010/main" val="38325726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8C3234-1DF5-E2B6-BB9B-B8B6F83BC669}"/>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3CA278CF-24D1-1FFC-ED27-E0F20A250E08}"/>
              </a:ext>
            </a:extLst>
          </p:cNvPr>
          <p:cNvSpPr>
            <a:spLocks noGrp="1"/>
          </p:cNvSpPr>
          <p:nvPr>
            <p:ph type="title"/>
          </p:nvPr>
        </p:nvSpPr>
        <p:spPr/>
        <p:txBody>
          <a:bodyPr/>
          <a:lstStyle/>
          <a:p>
            <a:r>
              <a:rPr lang="zh-CN" altLang="en-US" dirty="0"/>
              <a:t>实验结果</a:t>
            </a:r>
          </a:p>
        </p:txBody>
      </p:sp>
      <p:sp>
        <p:nvSpPr>
          <p:cNvPr id="3" name="文本框 2">
            <a:extLst>
              <a:ext uri="{FF2B5EF4-FFF2-40B4-BE49-F238E27FC236}">
                <a16:creationId xmlns:a16="http://schemas.microsoft.com/office/drawing/2014/main" id="{3F9912AC-C194-EAEE-3B46-A9389C0F09F3}"/>
              </a:ext>
            </a:extLst>
          </p:cNvPr>
          <p:cNvSpPr txBox="1"/>
          <p:nvPr/>
        </p:nvSpPr>
        <p:spPr>
          <a:xfrm>
            <a:off x="457200" y="1266092"/>
            <a:ext cx="10322169" cy="3046988"/>
          </a:xfrm>
          <a:prstGeom prst="rect">
            <a:avLst/>
          </a:prstGeom>
          <a:noFill/>
        </p:spPr>
        <p:txBody>
          <a:bodyPr wrap="square" rtlCol="0">
            <a:spAutoFit/>
          </a:bodyPr>
          <a:lstStyle/>
          <a:p>
            <a:r>
              <a:rPr lang="zh-CN" altLang="en-US" sz="2400" dirty="0"/>
              <a:t>本文实验车辆：</a:t>
            </a:r>
            <a:endParaRPr lang="en-US" altLang="zh-CN" sz="2400" dirty="0"/>
          </a:p>
          <a:p>
            <a:endParaRPr lang="en-US" altLang="zh-CN" sz="2400" dirty="0"/>
          </a:p>
          <a:p>
            <a:endParaRPr lang="en-US" altLang="zh-CN" sz="2400" dirty="0"/>
          </a:p>
          <a:p>
            <a:endParaRPr lang="en-US" altLang="zh-CN" sz="2400" dirty="0"/>
          </a:p>
          <a:p>
            <a:endParaRPr lang="en-US" altLang="zh-CN" sz="2400" dirty="0"/>
          </a:p>
          <a:p>
            <a:endParaRPr lang="en-US" altLang="zh-CN" sz="2400" dirty="0"/>
          </a:p>
          <a:p>
            <a:endParaRPr lang="en-US" altLang="zh-CN" sz="2400" dirty="0"/>
          </a:p>
          <a:p>
            <a:r>
              <a:rPr lang="en-US" altLang="zh-CN" sz="2400" dirty="0"/>
              <a:t>(a),(b)</a:t>
            </a:r>
            <a:r>
              <a:rPr lang="zh-CN" altLang="en-US" sz="2400" dirty="0"/>
              <a:t>是燃油车，</a:t>
            </a:r>
            <a:r>
              <a:rPr lang="en-US" altLang="zh-CN" sz="2400" dirty="0"/>
              <a:t>(c)</a:t>
            </a:r>
            <a:r>
              <a:rPr lang="zh-CN" altLang="en-US" sz="2400" dirty="0"/>
              <a:t>是混合动力车</a:t>
            </a:r>
          </a:p>
        </p:txBody>
      </p:sp>
      <p:pic>
        <p:nvPicPr>
          <p:cNvPr id="5" name="图片 4">
            <a:extLst>
              <a:ext uri="{FF2B5EF4-FFF2-40B4-BE49-F238E27FC236}">
                <a16:creationId xmlns:a16="http://schemas.microsoft.com/office/drawing/2014/main" id="{573B8682-B585-AA6A-0A8D-F1C129ACC1A7}"/>
              </a:ext>
            </a:extLst>
          </p:cNvPr>
          <p:cNvPicPr>
            <a:picLocks noChangeAspect="1"/>
          </p:cNvPicPr>
          <p:nvPr/>
        </p:nvPicPr>
        <p:blipFill>
          <a:blip r:embed="rId3"/>
          <a:stretch>
            <a:fillRect/>
          </a:stretch>
        </p:blipFill>
        <p:spPr>
          <a:xfrm>
            <a:off x="1030697" y="1727757"/>
            <a:ext cx="9379395" cy="2056210"/>
          </a:xfrm>
          <a:prstGeom prst="rect">
            <a:avLst/>
          </a:prstGeom>
        </p:spPr>
      </p:pic>
      <p:pic>
        <p:nvPicPr>
          <p:cNvPr id="7" name="图片 6">
            <a:extLst>
              <a:ext uri="{FF2B5EF4-FFF2-40B4-BE49-F238E27FC236}">
                <a16:creationId xmlns:a16="http://schemas.microsoft.com/office/drawing/2014/main" id="{9484760E-2720-1135-8BA7-E986D5FEDA56}"/>
              </a:ext>
            </a:extLst>
          </p:cNvPr>
          <p:cNvPicPr>
            <a:picLocks noChangeAspect="1"/>
          </p:cNvPicPr>
          <p:nvPr/>
        </p:nvPicPr>
        <p:blipFill>
          <a:blip r:embed="rId4"/>
          <a:stretch>
            <a:fillRect/>
          </a:stretch>
        </p:blipFill>
        <p:spPr>
          <a:xfrm>
            <a:off x="5437015" y="3783967"/>
            <a:ext cx="5915851" cy="2591162"/>
          </a:xfrm>
          <a:prstGeom prst="rect">
            <a:avLst/>
          </a:prstGeom>
        </p:spPr>
      </p:pic>
    </p:spTree>
    <p:extLst>
      <p:ext uri="{BB962C8B-B14F-4D97-AF65-F5344CB8AC3E}">
        <p14:creationId xmlns:p14="http://schemas.microsoft.com/office/powerpoint/2010/main" val="10218274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99613-896F-7CEE-C452-D578E69EC7DD}"/>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A121A002-2481-3548-18BD-03BA7C67BC8B}"/>
              </a:ext>
            </a:extLst>
          </p:cNvPr>
          <p:cNvSpPr>
            <a:spLocks noGrp="1"/>
          </p:cNvSpPr>
          <p:nvPr>
            <p:ph type="title"/>
          </p:nvPr>
        </p:nvSpPr>
        <p:spPr/>
        <p:txBody>
          <a:bodyPr/>
          <a:lstStyle/>
          <a:p>
            <a:r>
              <a:rPr lang="zh-CN" altLang="en-US" dirty="0"/>
              <a:t>实验结果</a:t>
            </a:r>
          </a:p>
        </p:txBody>
      </p:sp>
      <p:pic>
        <p:nvPicPr>
          <p:cNvPr id="5" name="图片 4">
            <a:extLst>
              <a:ext uri="{FF2B5EF4-FFF2-40B4-BE49-F238E27FC236}">
                <a16:creationId xmlns:a16="http://schemas.microsoft.com/office/drawing/2014/main" id="{4BBB62B6-7265-EB82-82B3-D0FF4C111A62}"/>
              </a:ext>
            </a:extLst>
          </p:cNvPr>
          <p:cNvPicPr>
            <a:picLocks noChangeAspect="1"/>
          </p:cNvPicPr>
          <p:nvPr/>
        </p:nvPicPr>
        <p:blipFill>
          <a:blip r:embed="rId3"/>
          <a:stretch>
            <a:fillRect/>
          </a:stretch>
        </p:blipFill>
        <p:spPr>
          <a:xfrm>
            <a:off x="911788" y="1084427"/>
            <a:ext cx="10500627" cy="5511984"/>
          </a:xfrm>
          <a:prstGeom prst="rect">
            <a:avLst/>
          </a:prstGeom>
        </p:spPr>
      </p:pic>
      <p:sp>
        <p:nvSpPr>
          <p:cNvPr id="6" name="文本框 5">
            <a:extLst>
              <a:ext uri="{FF2B5EF4-FFF2-40B4-BE49-F238E27FC236}">
                <a16:creationId xmlns:a16="http://schemas.microsoft.com/office/drawing/2014/main" id="{FB06C1EC-BA55-CD5C-DF49-229DB2C02384}"/>
              </a:ext>
            </a:extLst>
          </p:cNvPr>
          <p:cNvSpPr txBox="1"/>
          <p:nvPr/>
        </p:nvSpPr>
        <p:spPr>
          <a:xfrm>
            <a:off x="222720" y="1153823"/>
            <a:ext cx="2743200" cy="461665"/>
          </a:xfrm>
          <a:prstGeom prst="rect">
            <a:avLst/>
          </a:prstGeom>
          <a:noFill/>
        </p:spPr>
        <p:txBody>
          <a:bodyPr wrap="square" rtlCol="0">
            <a:spAutoFit/>
          </a:bodyPr>
          <a:lstStyle/>
          <a:p>
            <a:r>
              <a:rPr lang="zh-CN" altLang="en-US" sz="2400" dirty="0"/>
              <a:t>信号边界划分结果：</a:t>
            </a:r>
          </a:p>
        </p:txBody>
      </p:sp>
    </p:spTree>
    <p:extLst>
      <p:ext uri="{BB962C8B-B14F-4D97-AF65-F5344CB8AC3E}">
        <p14:creationId xmlns:p14="http://schemas.microsoft.com/office/powerpoint/2010/main" val="35822735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DD1FD7-1B4D-96B5-9A19-87E0C02A133F}"/>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4FD6B2FD-55E6-72E9-C49F-C5B3846AA962}"/>
              </a:ext>
            </a:extLst>
          </p:cNvPr>
          <p:cNvSpPr>
            <a:spLocks noGrp="1"/>
          </p:cNvSpPr>
          <p:nvPr>
            <p:ph type="title"/>
          </p:nvPr>
        </p:nvSpPr>
        <p:spPr/>
        <p:txBody>
          <a:bodyPr/>
          <a:lstStyle/>
          <a:p>
            <a:r>
              <a:rPr lang="zh-CN" altLang="en-US" dirty="0"/>
              <a:t>实验结果</a:t>
            </a:r>
          </a:p>
        </p:txBody>
      </p:sp>
      <p:sp>
        <p:nvSpPr>
          <p:cNvPr id="3" name="文本框 2">
            <a:extLst>
              <a:ext uri="{FF2B5EF4-FFF2-40B4-BE49-F238E27FC236}">
                <a16:creationId xmlns:a16="http://schemas.microsoft.com/office/drawing/2014/main" id="{98F975ED-0932-07A1-1A2E-3FFE89D43DFD}"/>
              </a:ext>
            </a:extLst>
          </p:cNvPr>
          <p:cNvSpPr txBox="1"/>
          <p:nvPr/>
        </p:nvSpPr>
        <p:spPr>
          <a:xfrm>
            <a:off x="190280" y="1166835"/>
            <a:ext cx="4842291" cy="5262979"/>
          </a:xfrm>
          <a:prstGeom prst="rect">
            <a:avLst/>
          </a:prstGeom>
          <a:noFill/>
        </p:spPr>
        <p:txBody>
          <a:bodyPr wrap="square" rtlCol="0">
            <a:spAutoFit/>
          </a:bodyPr>
          <a:lstStyle/>
          <a:p>
            <a:r>
              <a:rPr lang="zh-CN" altLang="en-US" sz="2400" dirty="0"/>
              <a:t>划分语义集：</a:t>
            </a:r>
            <a:endParaRPr lang="en-US" altLang="zh-CN" sz="2400" dirty="0"/>
          </a:p>
          <a:p>
            <a:r>
              <a:rPr lang="en-US" altLang="zh-CN" sz="2400" dirty="0"/>
              <a:t>BMW X1</a:t>
            </a:r>
            <a:r>
              <a:rPr lang="zh-CN" altLang="en-US" sz="2400" dirty="0"/>
              <a:t>的</a:t>
            </a:r>
            <a:r>
              <a:rPr lang="en-US" altLang="zh-CN" sz="2400" dirty="0"/>
              <a:t>b</a:t>
            </a:r>
            <a:r>
              <a:rPr lang="zh-CN" altLang="en-US" sz="2400" dirty="0"/>
              <a:t>，</a:t>
            </a:r>
            <a:r>
              <a:rPr lang="en-US" altLang="zh-CN" sz="2400" dirty="0"/>
              <a:t>e</a:t>
            </a:r>
            <a:r>
              <a:rPr lang="zh-CN" altLang="en-US" sz="2400" dirty="0"/>
              <a:t>形成一个语义集；</a:t>
            </a:r>
            <a:r>
              <a:rPr lang="en-US" altLang="zh-CN" sz="2400" dirty="0"/>
              <a:t>c</a:t>
            </a:r>
            <a:r>
              <a:rPr lang="zh-CN" altLang="en-US" sz="2400" dirty="0"/>
              <a:t>，</a:t>
            </a:r>
            <a:r>
              <a:rPr lang="en-US" altLang="zh-CN" sz="2400" dirty="0"/>
              <a:t>d</a:t>
            </a:r>
            <a:r>
              <a:rPr lang="zh-CN" altLang="en-US" sz="2400" dirty="0"/>
              <a:t>一个语义集；</a:t>
            </a:r>
            <a:r>
              <a:rPr lang="en-US" altLang="zh-CN" sz="2400" dirty="0"/>
              <a:t>a</a:t>
            </a:r>
            <a:r>
              <a:rPr lang="zh-CN" altLang="en-US" sz="2400" dirty="0"/>
              <a:t>单独存在。</a:t>
            </a:r>
            <a:endParaRPr lang="en-US" altLang="zh-CN" sz="2400" dirty="0"/>
          </a:p>
          <a:p>
            <a:endParaRPr lang="en-US" altLang="zh-CN" sz="2400" dirty="0"/>
          </a:p>
          <a:p>
            <a:r>
              <a:rPr lang="en-US" altLang="zh-CN" sz="2400" dirty="0"/>
              <a:t>Renault </a:t>
            </a:r>
            <a:r>
              <a:rPr lang="en-US" altLang="zh-CN" sz="2400" dirty="0" err="1"/>
              <a:t>Koleos</a:t>
            </a:r>
            <a:r>
              <a:rPr lang="zh-CN" altLang="en-US" sz="2400" dirty="0"/>
              <a:t>的</a:t>
            </a:r>
            <a:r>
              <a:rPr lang="en-US" altLang="zh-CN" sz="2400" dirty="0"/>
              <a:t>a</a:t>
            </a:r>
            <a:r>
              <a:rPr lang="zh-CN" altLang="en-US" sz="2400" dirty="0"/>
              <a:t>，</a:t>
            </a:r>
            <a:r>
              <a:rPr lang="en-US" altLang="zh-CN" sz="2400" dirty="0"/>
              <a:t>d</a:t>
            </a:r>
            <a:r>
              <a:rPr lang="zh-CN" altLang="en-US" sz="2400" dirty="0"/>
              <a:t>形成一个语义集；</a:t>
            </a:r>
            <a:r>
              <a:rPr lang="en-US" altLang="zh-CN" sz="2400" dirty="0"/>
              <a:t>b</a:t>
            </a:r>
            <a:r>
              <a:rPr lang="zh-CN" altLang="en-US" sz="2400" dirty="0"/>
              <a:t>，</a:t>
            </a:r>
            <a:r>
              <a:rPr lang="en-US" altLang="zh-CN" sz="2400" dirty="0"/>
              <a:t>e</a:t>
            </a:r>
            <a:r>
              <a:rPr lang="zh-CN" altLang="en-US" sz="2400" dirty="0"/>
              <a:t>一个语义集；</a:t>
            </a:r>
            <a:r>
              <a:rPr lang="en-US" altLang="zh-CN" sz="2400" dirty="0"/>
              <a:t>c</a:t>
            </a:r>
            <a:r>
              <a:rPr lang="zh-CN" altLang="en-US" sz="2400" dirty="0"/>
              <a:t>单独存在。</a:t>
            </a:r>
            <a:endParaRPr lang="en-US" altLang="zh-CN" sz="2400" dirty="0"/>
          </a:p>
          <a:p>
            <a:endParaRPr lang="en-US" altLang="zh-CN" sz="2400" dirty="0"/>
          </a:p>
          <a:p>
            <a:r>
              <a:rPr lang="en-US" altLang="zh-CN" sz="2400" dirty="0"/>
              <a:t>BYD </a:t>
            </a:r>
            <a:r>
              <a:rPr lang="en-US" altLang="zh-CN" sz="2400" dirty="0" err="1"/>
              <a:t>han</a:t>
            </a:r>
            <a:r>
              <a:rPr lang="zh-CN" altLang="en-US" sz="2400" dirty="0"/>
              <a:t>的</a:t>
            </a:r>
            <a:r>
              <a:rPr lang="en-US" altLang="zh-CN" sz="2400" dirty="0"/>
              <a:t>b</a:t>
            </a:r>
            <a:r>
              <a:rPr lang="zh-CN" altLang="en-US" sz="2400" dirty="0"/>
              <a:t>，</a:t>
            </a:r>
            <a:r>
              <a:rPr lang="en-US" altLang="zh-CN" sz="2400" dirty="0"/>
              <a:t>c</a:t>
            </a:r>
            <a:r>
              <a:rPr lang="zh-CN" altLang="en-US" sz="2400" dirty="0"/>
              <a:t>形成一个语义集；</a:t>
            </a:r>
            <a:r>
              <a:rPr lang="en-US" altLang="zh-CN" sz="2400" dirty="0"/>
              <a:t>d</a:t>
            </a:r>
            <a:r>
              <a:rPr lang="zh-CN" altLang="en-US" sz="2400" dirty="0"/>
              <a:t>，</a:t>
            </a:r>
            <a:r>
              <a:rPr lang="en-US" altLang="zh-CN" sz="2400" dirty="0"/>
              <a:t>e</a:t>
            </a:r>
            <a:r>
              <a:rPr lang="zh-CN" altLang="en-US" sz="2400" dirty="0"/>
              <a:t>一个语义集；</a:t>
            </a:r>
            <a:r>
              <a:rPr lang="en-US" altLang="zh-CN" sz="2400" dirty="0"/>
              <a:t>a</a:t>
            </a:r>
            <a:r>
              <a:rPr lang="zh-CN" altLang="en-US" sz="2400" dirty="0"/>
              <a:t>单独存在。</a:t>
            </a:r>
            <a:endParaRPr lang="en-US" altLang="zh-CN" sz="2400" dirty="0"/>
          </a:p>
          <a:p>
            <a:endParaRPr lang="en-US" altLang="zh-CN" sz="2400" dirty="0"/>
          </a:p>
          <a:p>
            <a:endParaRPr lang="en-US" altLang="zh-CN" sz="2400" dirty="0"/>
          </a:p>
          <a:p>
            <a:endParaRPr lang="en-US" altLang="zh-CN" sz="2400" dirty="0"/>
          </a:p>
          <a:p>
            <a:endParaRPr lang="en-US" altLang="zh-CN" sz="2400" dirty="0"/>
          </a:p>
        </p:txBody>
      </p:sp>
      <p:pic>
        <p:nvPicPr>
          <p:cNvPr id="5" name="图片 4">
            <a:extLst>
              <a:ext uri="{FF2B5EF4-FFF2-40B4-BE49-F238E27FC236}">
                <a16:creationId xmlns:a16="http://schemas.microsoft.com/office/drawing/2014/main" id="{ECB6C66F-59D3-D4D1-C233-C9AF3FEE7895}"/>
              </a:ext>
            </a:extLst>
          </p:cNvPr>
          <p:cNvPicPr>
            <a:picLocks noChangeAspect="1"/>
          </p:cNvPicPr>
          <p:nvPr/>
        </p:nvPicPr>
        <p:blipFill>
          <a:blip r:embed="rId3"/>
          <a:stretch>
            <a:fillRect/>
          </a:stretch>
        </p:blipFill>
        <p:spPr>
          <a:xfrm>
            <a:off x="5032571" y="1042767"/>
            <a:ext cx="6949994" cy="1830384"/>
          </a:xfrm>
          <a:prstGeom prst="rect">
            <a:avLst/>
          </a:prstGeom>
        </p:spPr>
      </p:pic>
      <p:pic>
        <p:nvPicPr>
          <p:cNvPr id="7" name="图片 6">
            <a:extLst>
              <a:ext uri="{FF2B5EF4-FFF2-40B4-BE49-F238E27FC236}">
                <a16:creationId xmlns:a16="http://schemas.microsoft.com/office/drawing/2014/main" id="{9DE4649D-5186-EDAF-2997-0015D01CFA7B}"/>
              </a:ext>
            </a:extLst>
          </p:cNvPr>
          <p:cNvPicPr>
            <a:picLocks noChangeAspect="1"/>
          </p:cNvPicPr>
          <p:nvPr/>
        </p:nvPicPr>
        <p:blipFill>
          <a:blip r:embed="rId4"/>
          <a:stretch>
            <a:fillRect/>
          </a:stretch>
        </p:blipFill>
        <p:spPr>
          <a:xfrm>
            <a:off x="5230072" y="3103983"/>
            <a:ext cx="6752493" cy="1680071"/>
          </a:xfrm>
          <a:prstGeom prst="rect">
            <a:avLst/>
          </a:prstGeom>
        </p:spPr>
      </p:pic>
      <p:pic>
        <p:nvPicPr>
          <p:cNvPr id="9" name="图片 8">
            <a:extLst>
              <a:ext uri="{FF2B5EF4-FFF2-40B4-BE49-F238E27FC236}">
                <a16:creationId xmlns:a16="http://schemas.microsoft.com/office/drawing/2014/main" id="{AB633FBA-AE76-D610-1610-90E13AF355C1}"/>
              </a:ext>
            </a:extLst>
          </p:cNvPr>
          <p:cNvPicPr>
            <a:picLocks noChangeAspect="1"/>
          </p:cNvPicPr>
          <p:nvPr/>
        </p:nvPicPr>
        <p:blipFill>
          <a:blip r:embed="rId5"/>
          <a:stretch>
            <a:fillRect/>
          </a:stretch>
        </p:blipFill>
        <p:spPr>
          <a:xfrm>
            <a:off x="5032571" y="4906335"/>
            <a:ext cx="6752493" cy="1688123"/>
          </a:xfrm>
          <a:prstGeom prst="rect">
            <a:avLst/>
          </a:prstGeom>
        </p:spPr>
      </p:pic>
    </p:spTree>
    <p:extLst>
      <p:ext uri="{BB962C8B-B14F-4D97-AF65-F5344CB8AC3E}">
        <p14:creationId xmlns:p14="http://schemas.microsoft.com/office/powerpoint/2010/main" val="33836811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D8075E-6E11-C44F-6AD0-C582DCFDA965}"/>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64B9BA29-5AD9-9ABB-F01F-0B44B08CC0BE}"/>
              </a:ext>
            </a:extLst>
          </p:cNvPr>
          <p:cNvSpPr>
            <a:spLocks noGrp="1"/>
          </p:cNvSpPr>
          <p:nvPr>
            <p:ph type="title"/>
          </p:nvPr>
        </p:nvSpPr>
        <p:spPr/>
        <p:txBody>
          <a:bodyPr>
            <a:normAutofit/>
          </a:bodyPr>
          <a:lstStyle/>
          <a:p>
            <a:r>
              <a:rPr lang="zh-CN" altLang="en-US" dirty="0"/>
              <a:t>实验结果</a:t>
            </a:r>
          </a:p>
        </p:txBody>
      </p:sp>
      <p:sp>
        <p:nvSpPr>
          <p:cNvPr id="3" name="文本框 2">
            <a:extLst>
              <a:ext uri="{FF2B5EF4-FFF2-40B4-BE49-F238E27FC236}">
                <a16:creationId xmlns:a16="http://schemas.microsoft.com/office/drawing/2014/main" id="{7AFD98B8-0D6E-B236-9934-616C4200E42D}"/>
              </a:ext>
            </a:extLst>
          </p:cNvPr>
          <p:cNvSpPr txBox="1"/>
          <p:nvPr/>
        </p:nvSpPr>
        <p:spPr>
          <a:xfrm>
            <a:off x="457200" y="1266092"/>
            <a:ext cx="10322169" cy="461665"/>
          </a:xfrm>
          <a:prstGeom prst="rect">
            <a:avLst/>
          </a:prstGeom>
          <a:noFill/>
        </p:spPr>
        <p:txBody>
          <a:bodyPr wrap="square" rtlCol="0">
            <a:spAutoFit/>
          </a:bodyPr>
          <a:lstStyle/>
          <a:p>
            <a:r>
              <a:rPr lang="en-US" altLang="zh-CN" sz="2400" dirty="0" err="1"/>
              <a:t>RatioDSTE</a:t>
            </a:r>
            <a:r>
              <a:rPr lang="en-US" altLang="zh-CN" sz="2400" dirty="0"/>
              <a:t> </a:t>
            </a:r>
            <a:r>
              <a:rPr lang="zh-CN" altLang="en-US" sz="2400" dirty="0"/>
              <a:t>的性能对比 ：</a:t>
            </a:r>
          </a:p>
        </p:txBody>
      </p:sp>
      <p:pic>
        <p:nvPicPr>
          <p:cNvPr id="7" name="图片 6">
            <a:extLst>
              <a:ext uri="{FF2B5EF4-FFF2-40B4-BE49-F238E27FC236}">
                <a16:creationId xmlns:a16="http://schemas.microsoft.com/office/drawing/2014/main" id="{286D381A-51E3-DD2D-A033-8CCCD9AF0F28}"/>
              </a:ext>
            </a:extLst>
          </p:cNvPr>
          <p:cNvPicPr>
            <a:picLocks noChangeAspect="1"/>
          </p:cNvPicPr>
          <p:nvPr/>
        </p:nvPicPr>
        <p:blipFill>
          <a:blip r:embed="rId3"/>
          <a:stretch>
            <a:fillRect/>
          </a:stretch>
        </p:blipFill>
        <p:spPr>
          <a:xfrm>
            <a:off x="5644662" y="1310031"/>
            <a:ext cx="6655069" cy="4525437"/>
          </a:xfrm>
          <a:prstGeom prst="rect">
            <a:avLst/>
          </a:prstGeom>
        </p:spPr>
      </p:pic>
      <p:pic>
        <p:nvPicPr>
          <p:cNvPr id="5" name="图片 4">
            <a:extLst>
              <a:ext uri="{FF2B5EF4-FFF2-40B4-BE49-F238E27FC236}">
                <a16:creationId xmlns:a16="http://schemas.microsoft.com/office/drawing/2014/main" id="{FCDCFB23-6F5C-3060-FF92-D81BB0B4E1D7}"/>
              </a:ext>
            </a:extLst>
          </p:cNvPr>
          <p:cNvPicPr>
            <a:picLocks noChangeAspect="1"/>
          </p:cNvPicPr>
          <p:nvPr/>
        </p:nvPicPr>
        <p:blipFill>
          <a:blip r:embed="rId4"/>
          <a:stretch>
            <a:fillRect/>
          </a:stretch>
        </p:blipFill>
        <p:spPr>
          <a:xfrm>
            <a:off x="457200" y="2347943"/>
            <a:ext cx="5885642" cy="2449611"/>
          </a:xfrm>
          <a:prstGeom prst="rect">
            <a:avLst/>
          </a:prstGeom>
        </p:spPr>
      </p:pic>
    </p:spTree>
    <p:extLst>
      <p:ext uri="{BB962C8B-B14F-4D97-AF65-F5344CB8AC3E}">
        <p14:creationId xmlns:p14="http://schemas.microsoft.com/office/powerpoint/2010/main" val="38989651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实验结果</a:t>
            </a:r>
          </a:p>
        </p:txBody>
      </p:sp>
      <p:sp>
        <p:nvSpPr>
          <p:cNvPr id="3" name="文本框 2"/>
          <p:cNvSpPr txBox="1"/>
          <p:nvPr/>
        </p:nvSpPr>
        <p:spPr>
          <a:xfrm>
            <a:off x="794384" y="1099185"/>
            <a:ext cx="5301615" cy="461665"/>
          </a:xfrm>
          <a:prstGeom prst="rect">
            <a:avLst/>
          </a:prstGeom>
          <a:noFill/>
        </p:spPr>
        <p:txBody>
          <a:bodyPr wrap="square" rtlCol="0">
            <a:spAutoFit/>
          </a:bodyPr>
          <a:lstStyle/>
          <a:p>
            <a:r>
              <a:rPr lang="en-US" altLang="zh-CN" sz="2400" dirty="0"/>
              <a:t>SECG</a:t>
            </a:r>
            <a:r>
              <a:rPr lang="zh-CN" altLang="en-US" sz="2400" dirty="0"/>
              <a:t>图和</a:t>
            </a:r>
            <a:r>
              <a:rPr lang="en-US" altLang="zh-CN" sz="2400" dirty="0"/>
              <a:t>TECG</a:t>
            </a:r>
            <a:r>
              <a:rPr lang="zh-CN" altLang="en-US" sz="2400" dirty="0"/>
              <a:t>图的子图匹配：</a:t>
            </a:r>
          </a:p>
        </p:txBody>
      </p:sp>
      <p:pic>
        <p:nvPicPr>
          <p:cNvPr id="7" name="图片 6">
            <a:extLst>
              <a:ext uri="{FF2B5EF4-FFF2-40B4-BE49-F238E27FC236}">
                <a16:creationId xmlns:a16="http://schemas.microsoft.com/office/drawing/2014/main" id="{6DB4F3AD-06E5-7C2D-DE64-BED343C285BE}"/>
              </a:ext>
            </a:extLst>
          </p:cNvPr>
          <p:cNvPicPr>
            <a:picLocks noChangeAspect="1"/>
          </p:cNvPicPr>
          <p:nvPr/>
        </p:nvPicPr>
        <p:blipFill>
          <a:blip r:embed="rId3"/>
          <a:stretch>
            <a:fillRect/>
          </a:stretch>
        </p:blipFill>
        <p:spPr>
          <a:xfrm>
            <a:off x="123357" y="1885223"/>
            <a:ext cx="11945284" cy="3087553"/>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kern="0" dirty="0">
                <a:solidFill>
                  <a:srgbClr val="FFFFFF"/>
                </a:solidFill>
                <a:latin typeface="华文中宋" panose="02010600040101010101" charset="-122"/>
                <a:ea typeface="华文中宋" panose="02010600040101010101" charset="-122"/>
                <a:sym typeface="Helvetica"/>
              </a:rPr>
              <a:t>实验结果</a:t>
            </a:r>
            <a:endParaRPr lang="zh-CN" altLang="en-US" dirty="0"/>
          </a:p>
        </p:txBody>
      </p:sp>
      <p:pic>
        <p:nvPicPr>
          <p:cNvPr id="5" name="图片 4">
            <a:extLst>
              <a:ext uri="{FF2B5EF4-FFF2-40B4-BE49-F238E27FC236}">
                <a16:creationId xmlns:a16="http://schemas.microsoft.com/office/drawing/2014/main" id="{DDFB72C9-D929-9AAA-2042-F776127F1996}"/>
              </a:ext>
            </a:extLst>
          </p:cNvPr>
          <p:cNvPicPr>
            <a:picLocks noChangeAspect="1"/>
          </p:cNvPicPr>
          <p:nvPr/>
        </p:nvPicPr>
        <p:blipFill>
          <a:blip r:embed="rId3"/>
          <a:stretch>
            <a:fillRect/>
          </a:stretch>
        </p:blipFill>
        <p:spPr>
          <a:xfrm>
            <a:off x="210358" y="1085710"/>
            <a:ext cx="12192000" cy="387768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948B67-C281-A00A-E116-3FF80C81B0E9}"/>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94F25DBE-162D-11CD-D527-44F299C0884B}"/>
              </a:ext>
            </a:extLst>
          </p:cNvPr>
          <p:cNvSpPr>
            <a:spLocks noGrp="1"/>
          </p:cNvSpPr>
          <p:nvPr>
            <p:ph type="title"/>
          </p:nvPr>
        </p:nvSpPr>
        <p:spPr/>
        <p:txBody>
          <a:bodyPr/>
          <a:lstStyle/>
          <a:p>
            <a:r>
              <a:rPr lang="zh-CN" altLang="en-US" kern="0" dirty="0">
                <a:solidFill>
                  <a:srgbClr val="FFFFFF"/>
                </a:solidFill>
                <a:latin typeface="华文中宋" panose="02010600040101010101" charset="-122"/>
                <a:ea typeface="华文中宋" panose="02010600040101010101" charset="-122"/>
                <a:sym typeface="Helvetica"/>
              </a:rPr>
              <a:t>实验结果</a:t>
            </a:r>
            <a:endParaRPr lang="zh-CN" altLang="en-US" dirty="0"/>
          </a:p>
        </p:txBody>
      </p:sp>
      <p:sp>
        <p:nvSpPr>
          <p:cNvPr id="3" name="文本框 2">
            <a:extLst>
              <a:ext uri="{FF2B5EF4-FFF2-40B4-BE49-F238E27FC236}">
                <a16:creationId xmlns:a16="http://schemas.microsoft.com/office/drawing/2014/main" id="{CBFFE1E9-221B-3E0D-AD25-4E0C19AB5331}"/>
              </a:ext>
            </a:extLst>
          </p:cNvPr>
          <p:cNvSpPr txBox="1"/>
          <p:nvPr/>
        </p:nvSpPr>
        <p:spPr>
          <a:xfrm>
            <a:off x="861646" y="1248508"/>
            <a:ext cx="10638692" cy="523220"/>
          </a:xfrm>
          <a:prstGeom prst="rect">
            <a:avLst/>
          </a:prstGeom>
          <a:noFill/>
        </p:spPr>
        <p:txBody>
          <a:bodyPr wrap="square" rtlCol="0">
            <a:spAutoFit/>
          </a:bodyPr>
          <a:lstStyle/>
          <a:p>
            <a:r>
              <a:rPr lang="en-US" altLang="zh-CN" sz="2800" dirty="0"/>
              <a:t>OBD-II</a:t>
            </a:r>
            <a:r>
              <a:rPr lang="zh-CN" altLang="en-US" sz="2800" dirty="0"/>
              <a:t>数据验证：                      </a:t>
            </a:r>
            <a:r>
              <a:rPr lang="en-US" altLang="zh-CN" sz="2800" dirty="0" err="1"/>
              <a:t>PicaCAN</a:t>
            </a:r>
            <a:r>
              <a:rPr lang="en-US" altLang="zh-CN" sz="2800" dirty="0"/>
              <a:t> </a:t>
            </a:r>
            <a:r>
              <a:rPr lang="zh-CN" altLang="en-US" sz="2800" dirty="0"/>
              <a:t>实验总结：</a:t>
            </a:r>
          </a:p>
        </p:txBody>
      </p:sp>
      <p:pic>
        <p:nvPicPr>
          <p:cNvPr id="8" name="图片 7">
            <a:extLst>
              <a:ext uri="{FF2B5EF4-FFF2-40B4-BE49-F238E27FC236}">
                <a16:creationId xmlns:a16="http://schemas.microsoft.com/office/drawing/2014/main" id="{9D8EC34C-AA3A-E950-5F9E-57D91A77C6FA}"/>
              </a:ext>
            </a:extLst>
          </p:cNvPr>
          <p:cNvPicPr>
            <a:picLocks noChangeAspect="1"/>
          </p:cNvPicPr>
          <p:nvPr/>
        </p:nvPicPr>
        <p:blipFill>
          <a:blip r:embed="rId3"/>
          <a:stretch>
            <a:fillRect/>
          </a:stretch>
        </p:blipFill>
        <p:spPr>
          <a:xfrm>
            <a:off x="5371148" y="2208301"/>
            <a:ext cx="6820852" cy="2753109"/>
          </a:xfrm>
          <a:prstGeom prst="rect">
            <a:avLst/>
          </a:prstGeom>
        </p:spPr>
      </p:pic>
      <p:pic>
        <p:nvPicPr>
          <p:cNvPr id="6" name="图片 5">
            <a:extLst>
              <a:ext uri="{FF2B5EF4-FFF2-40B4-BE49-F238E27FC236}">
                <a16:creationId xmlns:a16="http://schemas.microsoft.com/office/drawing/2014/main" id="{D6124800-E4C1-7B67-566B-5B8FC098615F}"/>
              </a:ext>
            </a:extLst>
          </p:cNvPr>
          <p:cNvPicPr>
            <a:picLocks noChangeAspect="1"/>
          </p:cNvPicPr>
          <p:nvPr/>
        </p:nvPicPr>
        <p:blipFill>
          <a:blip r:embed="rId4"/>
          <a:stretch>
            <a:fillRect/>
          </a:stretch>
        </p:blipFill>
        <p:spPr>
          <a:xfrm>
            <a:off x="209435" y="1771728"/>
            <a:ext cx="5033348" cy="4717887"/>
          </a:xfrm>
          <a:prstGeom prst="rect">
            <a:avLst/>
          </a:prstGeom>
        </p:spPr>
      </p:pic>
    </p:spTree>
    <p:extLst>
      <p:ext uri="{BB962C8B-B14F-4D97-AF65-F5344CB8AC3E}">
        <p14:creationId xmlns:p14="http://schemas.microsoft.com/office/powerpoint/2010/main" val="40971539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3BE498-EB5E-E773-8DD5-E80ED32785FD}"/>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6F6BDCDB-FB9C-58CA-D362-D9F8E6647EDA}"/>
              </a:ext>
            </a:extLst>
          </p:cNvPr>
          <p:cNvSpPr>
            <a:spLocks noGrp="1"/>
          </p:cNvSpPr>
          <p:nvPr>
            <p:ph type="title"/>
          </p:nvPr>
        </p:nvSpPr>
        <p:spPr/>
        <p:txBody>
          <a:bodyPr/>
          <a:lstStyle/>
          <a:p>
            <a:r>
              <a:rPr lang="zh-CN" altLang="en-US" kern="0" dirty="0">
                <a:solidFill>
                  <a:srgbClr val="FFFFFF"/>
                </a:solidFill>
                <a:latin typeface="华文中宋" panose="02010600040101010101" charset="-122"/>
                <a:ea typeface="华文中宋" panose="02010600040101010101" charset="-122"/>
                <a:sym typeface="Helvetica"/>
              </a:rPr>
              <a:t>总结</a:t>
            </a:r>
            <a:endParaRPr lang="zh-CN" altLang="en-US" dirty="0"/>
          </a:p>
        </p:txBody>
      </p:sp>
      <p:sp>
        <p:nvSpPr>
          <p:cNvPr id="5" name="文本框 4">
            <a:extLst>
              <a:ext uri="{FF2B5EF4-FFF2-40B4-BE49-F238E27FC236}">
                <a16:creationId xmlns:a16="http://schemas.microsoft.com/office/drawing/2014/main" id="{572F0615-90C8-C4C7-CDF6-7F0508687E0F}"/>
              </a:ext>
            </a:extLst>
          </p:cNvPr>
          <p:cNvSpPr txBox="1"/>
          <p:nvPr/>
        </p:nvSpPr>
        <p:spPr>
          <a:xfrm>
            <a:off x="914400" y="1417464"/>
            <a:ext cx="10410092" cy="4832092"/>
          </a:xfrm>
          <a:prstGeom prst="rect">
            <a:avLst/>
          </a:prstGeom>
          <a:noFill/>
        </p:spPr>
        <p:txBody>
          <a:bodyPr wrap="square">
            <a:spAutoFit/>
          </a:bodyPr>
          <a:lstStyle/>
          <a:p>
            <a:r>
              <a:rPr lang="en-US" altLang="zh-CN" sz="2800" dirty="0" err="1"/>
              <a:t>PicaCAN</a:t>
            </a:r>
            <a:r>
              <a:rPr lang="zh-CN" altLang="en-US" sz="2800" dirty="0"/>
              <a:t>这篇论文提出了一种全新的</a:t>
            </a:r>
            <a:r>
              <a:rPr lang="zh-CN" altLang="en-US" sz="2800" dirty="0">
                <a:solidFill>
                  <a:srgbClr val="FF0000"/>
                </a:solidFill>
              </a:rPr>
              <a:t>零交互、全自动化</a:t>
            </a:r>
            <a:r>
              <a:rPr lang="zh-CN" altLang="en-US" sz="2800" dirty="0"/>
              <a:t>框架来逆向动力类</a:t>
            </a:r>
            <a:r>
              <a:rPr lang="en-US" altLang="zh-CN" sz="2800" dirty="0"/>
              <a:t>CAN</a:t>
            </a:r>
            <a:r>
              <a:rPr lang="zh-CN" altLang="en-US" sz="2800" dirty="0"/>
              <a:t>信号。由于汽车机械传动部件的响应天然存在先后顺序和毫秒级的时间延迟，作者巧妙地抓住了这种“</a:t>
            </a:r>
            <a:r>
              <a:rPr lang="zh-CN" altLang="en-US" sz="2800" dirty="0">
                <a:solidFill>
                  <a:srgbClr val="FF0000"/>
                </a:solidFill>
              </a:rPr>
              <a:t>物理诱发因果关系</a:t>
            </a:r>
            <a:r>
              <a:rPr lang="zh-CN" altLang="en-US" sz="2800" dirty="0"/>
              <a:t>”作为突破口：系统首先从海量且带有干扰的底层</a:t>
            </a:r>
            <a:r>
              <a:rPr lang="en-US" altLang="zh-CN" sz="2800" dirty="0"/>
              <a:t>CAN</a:t>
            </a:r>
            <a:r>
              <a:rPr lang="zh-CN" altLang="en-US" sz="2800" dirty="0"/>
              <a:t>报文中提取出连续的物理信号，接着通过创新的</a:t>
            </a:r>
            <a:r>
              <a:rPr lang="zh-CN" altLang="en-US" sz="2800" dirty="0">
                <a:solidFill>
                  <a:srgbClr val="FF0000"/>
                </a:solidFill>
              </a:rPr>
              <a:t>比例双符号转移熵</a:t>
            </a:r>
            <a:r>
              <a:rPr lang="en-US" altLang="zh-CN" sz="2800" dirty="0" err="1"/>
              <a:t>RatioDSTE</a:t>
            </a:r>
            <a:r>
              <a:rPr lang="zh-CN" altLang="en-US" sz="2800" dirty="0"/>
              <a:t>算法精准测算出信号间的影响延迟，从而构建出反映数据底层逻辑的有向因果图</a:t>
            </a:r>
            <a:r>
              <a:rPr lang="en-US" altLang="zh-CN" sz="2800" dirty="0"/>
              <a:t>TECG</a:t>
            </a:r>
            <a:r>
              <a:rPr lang="zh-CN" altLang="en-US" sz="2800" dirty="0"/>
              <a:t>；最后，将这张通过数据算出来的网络图，与代表车辆机械常识的先验物理图</a:t>
            </a:r>
            <a:r>
              <a:rPr lang="en-US" altLang="zh-CN" sz="2800" dirty="0"/>
              <a:t>SECG</a:t>
            </a:r>
            <a:r>
              <a:rPr lang="zh-CN" altLang="en-US" sz="2800" dirty="0"/>
              <a:t>进行完美的“子图匹配”，成功将原本杂乱无章的十六进制底层代码，一一对应到了人类能理解的真实汽车物理部件上，为汽车网络安全漏洞分析和防御提供了一把极其高效的万能钥匙。</a:t>
            </a:r>
          </a:p>
        </p:txBody>
      </p:sp>
    </p:spTree>
    <p:extLst>
      <p:ext uri="{BB962C8B-B14F-4D97-AF65-F5344CB8AC3E}">
        <p14:creationId xmlns:p14="http://schemas.microsoft.com/office/powerpoint/2010/main" val="11979326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8583" y="117566"/>
            <a:ext cx="3113573" cy="834597"/>
          </a:xfrm>
          <a:prstGeom prst="rect">
            <a:avLst/>
          </a:prstGeom>
        </p:spPr>
      </p:pic>
      <p:sp>
        <p:nvSpPr>
          <p:cNvPr id="4" name="文本框 3">
            <a:extLst>
              <a:ext uri="{FF2B5EF4-FFF2-40B4-BE49-F238E27FC236}">
                <a16:creationId xmlns:a16="http://schemas.microsoft.com/office/drawing/2014/main" id="{04A12A75-6EC6-B1B5-62A5-EA6A81A7A83D}"/>
              </a:ext>
            </a:extLst>
          </p:cNvPr>
          <p:cNvSpPr txBox="1"/>
          <p:nvPr/>
        </p:nvSpPr>
        <p:spPr>
          <a:xfrm>
            <a:off x="1131277" y="1861375"/>
            <a:ext cx="10322169" cy="1200329"/>
          </a:xfrm>
          <a:prstGeom prst="rect">
            <a:avLst/>
          </a:prstGeom>
          <a:noFill/>
        </p:spPr>
        <p:txBody>
          <a:bodyPr wrap="square" rtlCol="0">
            <a:spAutoFit/>
          </a:bodyPr>
          <a:lstStyle/>
          <a:p>
            <a:pPr algn="ctr"/>
            <a:r>
              <a:rPr lang="zh-CN" altLang="en-US" sz="7200" dirty="0">
                <a:solidFill>
                  <a:schemeClr val="accent1">
                    <a:lumMod val="50000"/>
                  </a:schemeClr>
                </a:solidFill>
              </a:rPr>
              <a:t>感谢各位的聆听！</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YzM2ZTE3OWRlNDlmN2Y2NmFhOGFlMmQxMzZkYmYwY2U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1719</TotalTime>
  <Words>2823</Words>
  <Application>Microsoft Office PowerPoint</Application>
  <PresentationFormat>宽屏</PresentationFormat>
  <Paragraphs>159</Paragraphs>
  <Slides>20</Slides>
  <Notes>19</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20</vt:i4>
      </vt:variant>
    </vt:vector>
  </HeadingPairs>
  <TitlesOfParts>
    <vt:vector size="28" baseType="lpstr">
      <vt:lpstr>Helvetica Light</vt:lpstr>
      <vt:lpstr>等线</vt:lpstr>
      <vt:lpstr>等线 Light</vt:lpstr>
      <vt:lpstr>华文中宋</vt:lpstr>
      <vt:lpstr>微软雅黑</vt:lpstr>
      <vt:lpstr>Arial</vt:lpstr>
      <vt:lpstr>Helvetica</vt:lpstr>
      <vt:lpstr>Office 主题​​</vt:lpstr>
      <vt:lpstr>PowerPoint 演示文稿</vt:lpstr>
      <vt:lpstr>PowerPoint 演示文稿</vt:lpstr>
      <vt:lpstr>PowerPoint 演示文稿</vt:lpstr>
      <vt:lpstr>核心思想：物理诱发因果关系</vt:lpstr>
      <vt:lpstr>PicaCAN 框架总览</vt:lpstr>
      <vt:lpstr>SECG图生成</vt:lpstr>
      <vt:lpstr>SECG图生成</vt:lpstr>
      <vt:lpstr>RatioDSTE（比例双符号转移熵）计算</vt:lpstr>
      <vt:lpstr>RatioDSTE（比例双符号转移熵）计算</vt:lpstr>
      <vt:lpstr>TECG图生成</vt:lpstr>
      <vt:lpstr>匹配语义</vt:lpstr>
      <vt:lpstr>实验结果</vt:lpstr>
      <vt:lpstr>实验结果</vt:lpstr>
      <vt:lpstr>实验结果</vt:lpstr>
      <vt:lpstr>实验结果</vt:lpstr>
      <vt:lpstr>实验结果</vt:lpstr>
      <vt:lpstr>实验结果</vt:lpstr>
      <vt:lpstr>实验结果</vt:lpstr>
      <vt:lpstr>总结</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xiaoguozi</dc:creator>
  <cp:lastModifiedBy>东辰 任</cp:lastModifiedBy>
  <cp:revision>697</cp:revision>
  <dcterms:created xsi:type="dcterms:W3CDTF">2024-04-25T08:40:00Z</dcterms:created>
  <dcterms:modified xsi:type="dcterms:W3CDTF">2026-03-24T14:38:05Z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C9056D03F92C4479B005BEC483885459_13</vt:lpwstr>
  </property>
  <property fmtid="{D5CDD505-2E9C-101B-9397-08002B2CF9AE}" pid="3" name="KSOProductBuildVer">
    <vt:lpwstr>2052-12.1.0.22529</vt:lpwstr>
  </property>
</Properties>
</file>