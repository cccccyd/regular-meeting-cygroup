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76" r:id="rId6"/>
    <p:sldId id="334" r:id="rId7"/>
    <p:sldId id="277" r:id="rId8"/>
    <p:sldId id="272" r:id="rId9"/>
    <p:sldId id="293" r:id="rId10"/>
    <p:sldId id="278" r:id="rId11"/>
    <p:sldId id="349" r:id="rId12"/>
    <p:sldId id="335" r:id="rId13"/>
    <p:sldId id="279"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91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B41"/>
    <a:srgbClr val="F1F1F1"/>
    <a:srgbClr val="1B2F47"/>
    <a:srgbClr val="ED40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1" autoAdjust="0"/>
    <p:restoredTop sz="94660"/>
  </p:normalViewPr>
  <p:slideViewPr>
    <p:cSldViewPr snapToGrid="0" showGuides="1">
      <p:cViewPr varScale="1">
        <p:scale>
          <a:sx n="85" d="100"/>
          <a:sy n="85" d="100"/>
        </p:scale>
        <p:origin x="264" y="62"/>
      </p:cViewPr>
      <p:guideLst>
        <p:guide orient="horz" pos="2160"/>
        <p:guide pos="3913"/>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9EEDEB-74DD-4590-ADB0-3BDFBC7AA6C1}" type="datetimeFigureOut">
              <a:rPr lang="zh-CN" altLang="en-US" smtClean="0"/>
              <a:t>2026/4/7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5043DD-9C8A-432D-8FD9-15B0804A3EB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98485DF-3FAB-45E9-A642-7745AB3E3AFD}" type="datetimeFigureOut">
              <a:rPr lang="zh-CN" altLang="en-US" smtClean="0"/>
              <a:t>2026/4/7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0BAE56-5081-45C8-9882-C35F39B69EBE}"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8485DF-3FAB-45E9-A642-7745AB3E3AFD}" type="datetimeFigureOut">
              <a:rPr lang="zh-CN" altLang="en-US" smtClean="0"/>
              <a:t>2026/4/7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0BAE56-5081-45C8-9882-C35F39B69EBE}"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98485DF-3FAB-45E9-A642-7745AB3E3AFD}" type="datetimeFigureOut">
              <a:rPr lang="zh-CN" altLang="en-US" smtClean="0"/>
              <a:t>2026/4/7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0BAE56-5081-45C8-9882-C35F39B69EB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98485DF-3FAB-45E9-A642-7745AB3E3AFD}" type="datetimeFigureOut">
              <a:rPr lang="zh-CN" altLang="en-US" smtClean="0"/>
              <a:t>2026/4/7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C0BAE56-5081-45C8-9882-C35F39B69EB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8485DF-3FAB-45E9-A642-7745AB3E3AFD}" type="datetimeFigureOut">
              <a:rPr lang="zh-CN" altLang="en-US" smtClean="0"/>
              <a:t>2026/4/7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C0BAE56-5081-45C8-9882-C35F39B69EBE}"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8485DF-3FAB-45E9-A642-7745AB3E3AFD}" type="datetimeFigureOut">
              <a:rPr lang="zh-CN" altLang="en-US" smtClean="0"/>
              <a:t>2026/4/7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C0BAE56-5081-45C8-9882-C35F39B69EBE}"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8485DF-3FAB-45E9-A642-7745AB3E3AFD}" type="datetimeFigureOut">
              <a:rPr lang="zh-CN" altLang="en-US" smtClean="0"/>
              <a:t>2026/4/7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C0BAE56-5081-45C8-9882-C35F39B69EB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98485DF-3FAB-45E9-A642-7745AB3E3AFD}" type="datetimeFigureOut">
              <a:rPr lang="zh-CN" altLang="en-US" smtClean="0"/>
              <a:t>2026/4/7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C0BAE56-5081-45C8-9882-C35F39B69EBE}"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98485DF-3FAB-45E9-A642-7745AB3E3AFD}" type="datetimeFigureOut">
              <a:rPr lang="zh-CN" altLang="en-US" smtClean="0"/>
              <a:t>2026/4/7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C0BAE56-5081-45C8-9882-C35F39B69EBE}"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8485DF-3FAB-45E9-A642-7745AB3E3AFD}" type="datetimeFigureOut">
              <a:rPr lang="zh-CN" altLang="en-US" smtClean="0"/>
              <a:t>2026/4/7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0BAE56-5081-45C8-9882-C35F39B69EB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8485DF-3FAB-45E9-A642-7745AB3E3AFD}" type="datetimeFigureOut">
              <a:rPr lang="zh-CN" altLang="en-US" smtClean="0"/>
              <a:t>2026/4/7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0BAE56-5081-45C8-9882-C35F39B69EBE}"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8485DF-3FAB-45E9-A642-7745AB3E3AFD}" type="datetimeFigureOut">
              <a:rPr lang="zh-CN" altLang="en-US" smtClean="0"/>
              <a:t>2026/4/7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C0BAE56-5081-45C8-9882-C35F39B69EBE}" type="slidenum">
              <a:rPr lang="zh-CN" altLang="en-US" smtClean="0"/>
              <a:t>‹#›</a:t>
            </a:fld>
            <a:endParaRPr lang="zh-CN" altLang="en-US"/>
          </a:p>
        </p:txBody>
      </p:sp>
      <p:sp>
        <p:nvSpPr>
          <p:cNvPr id="7" name="矩形 6"/>
          <p:cNvSpPr/>
          <p:nvPr userDrawn="1"/>
        </p:nvSpPr>
        <p:spPr>
          <a:xfrm>
            <a:off x="8325228" y="6545425"/>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素材下载：</a:t>
            </a:r>
            <a:r>
              <a:rPr kumimoji="0" lang="en-US" altLang="zh-CN" sz="100" b="0" i="0" u="none" strike="noStrike" kern="0" cap="none" spc="0" normalizeH="0" baseline="0" noProof="0" dirty="0">
                <a:ln>
                  <a:noFill/>
                </a:ln>
                <a:solidFill>
                  <a:prstClr val="white"/>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图表下载：</a:t>
            </a:r>
            <a:r>
              <a:rPr kumimoji="0" lang="en-US" altLang="zh-CN" sz="100" b="0" i="0" u="none" strike="noStrike" kern="0" cap="none" spc="0" normalizeH="0" baseline="0" noProof="0" dirty="0">
                <a:ln>
                  <a:noFill/>
                </a:ln>
                <a:solidFill>
                  <a:prstClr val="white"/>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优秀</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Word</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www.1ppt.com/word/              Excel</a:t>
            </a:r>
            <a:r>
              <a:rPr kumimoji="0" lang="zh-CN" altLang="en-US" sz="100" b="0" i="0" u="none" strike="noStrike" kern="0" cap="none" spc="0" normalizeH="0" baseline="0" noProof="0" dirty="0">
                <a:ln>
                  <a:noFill/>
                </a:ln>
                <a:solidFill>
                  <a:prstClr val="white"/>
                </a:solidFill>
                <a:effectLst/>
                <a:uLnTx/>
                <a:uFillTx/>
              </a:rPr>
              <a:t>教程：</a:t>
            </a:r>
            <a:r>
              <a:rPr kumimoji="0" lang="en-US" altLang="zh-CN" sz="100" b="0" i="0" u="none" strike="noStrike" kern="0" cap="none" spc="0" normalizeH="0" baseline="0" noProof="0" dirty="0">
                <a:ln>
                  <a:noFill/>
                </a:ln>
                <a:solidFill>
                  <a:prstClr val="white"/>
                </a:solidFill>
                <a:effectLst/>
                <a:uLnTx/>
                <a:uFillTx/>
              </a:rPr>
              <a:t>www.1ppt.com/excel/  </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资料下载：</a:t>
            </a:r>
            <a:r>
              <a:rPr kumimoji="0" lang="en-US" altLang="zh-CN" sz="100" b="0" i="0" u="none" strike="noStrike" kern="0" cap="none" spc="0" normalizeH="0" baseline="0" noProof="0" dirty="0">
                <a:ln>
                  <a:noFill/>
                </a:ln>
                <a:solidFill>
                  <a:prstClr val="white"/>
                </a:solidFill>
                <a:effectLst/>
                <a:uLnTx/>
                <a:uFillTx/>
              </a:rPr>
              <a:t>www.1ppt.com/ziliao/                PPT</a:t>
            </a:r>
            <a:r>
              <a:rPr kumimoji="0" lang="zh-CN" altLang="en-US" sz="100" b="0" i="0" u="none" strike="noStrike" kern="0" cap="none" spc="0" normalizeH="0" baseline="0" noProof="0" dirty="0">
                <a:ln>
                  <a:noFill/>
                </a:ln>
                <a:solidFill>
                  <a:prstClr val="white"/>
                </a:solidFill>
                <a:effectLst/>
                <a:uLnTx/>
                <a:uFillTx/>
              </a:rPr>
              <a:t>课件下载：</a:t>
            </a:r>
            <a:r>
              <a:rPr kumimoji="0" lang="en-US" altLang="zh-CN" sz="100" b="0" i="0" u="none" strike="noStrike" kern="0" cap="none" spc="0" normalizeH="0" baseline="0" noProof="0" dirty="0">
                <a:ln>
                  <a:noFill/>
                </a:ln>
                <a:solidFill>
                  <a:prstClr val="white"/>
                </a:solidFill>
                <a:effectLst/>
                <a:uLnTx/>
                <a:uFillTx/>
              </a:rPr>
              <a:t>www.1ppt.com/kejian/ </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范文下载：</a:t>
            </a:r>
            <a:r>
              <a:rPr kumimoji="0" lang="en-US" altLang="zh-CN" sz="100" b="0" i="0" u="none" strike="noStrike" kern="0" cap="none" spc="0" normalizeH="0" baseline="0" noProof="0" dirty="0">
                <a:ln>
                  <a:noFill/>
                </a:ln>
                <a:solidFill>
                  <a:prstClr val="white"/>
                </a:solidFill>
                <a:effectLst/>
                <a:uLnTx/>
                <a:uFillTx/>
              </a:rPr>
              <a:t>www.1ppt.com/fanwen/             </a:t>
            </a:r>
            <a:r>
              <a:rPr kumimoji="0" lang="zh-CN" altLang="en-US" sz="100" b="0" i="0" u="none" strike="noStrike" kern="0" cap="none" spc="0" normalizeH="0" baseline="0" noProof="0" dirty="0">
                <a:ln>
                  <a:noFill/>
                </a:ln>
                <a:solidFill>
                  <a:prstClr val="white"/>
                </a:solidFill>
                <a:effectLst/>
                <a:uLnTx/>
                <a:uFillTx/>
              </a:rPr>
              <a:t>试卷下载：</a:t>
            </a:r>
            <a:r>
              <a:rPr kumimoji="0" lang="en-US" altLang="zh-CN" sz="100" b="0" i="0" u="none" strike="noStrike" kern="0" cap="none" spc="0" normalizeH="0" baseline="0" noProof="0" dirty="0">
                <a:ln>
                  <a:noFill/>
                </a:ln>
                <a:solidFill>
                  <a:prstClr val="white"/>
                </a:solidFill>
                <a:effectLst/>
                <a:uLnTx/>
                <a:uFillTx/>
              </a:rPr>
              <a:t>www.1ppt.com/shiti/  </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教案下载：</a:t>
            </a:r>
            <a:r>
              <a:rPr kumimoji="0" lang="en-US" altLang="zh-CN" sz="100" b="0" i="0" u="none" strike="noStrike" kern="0" cap="none" spc="0" normalizeH="0" baseline="0" noProof="0" dirty="0">
                <a:ln>
                  <a:noFill/>
                </a:ln>
                <a:solidFill>
                  <a:prstClr val="white"/>
                </a:solidFill>
                <a:effectLst/>
                <a:uLnTx/>
                <a:uFillTx/>
              </a:rPr>
              <a:t>www.1ppt.com/jiaoan/        </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 </a:t>
            </a:r>
            <a:endParaRPr kumimoji="0" lang="zh-CN" altLang="en-US" sz="100" b="0" i="0" u="none" strike="noStrike" kern="0" cap="none" spc="0" normalizeH="0" baseline="0" noProof="0" dirty="0">
              <a:ln>
                <a:noFill/>
              </a:ln>
              <a:solidFill>
                <a:prstClr val="white"/>
              </a:solidFill>
              <a:effectLst/>
              <a:uLnTx/>
              <a:uFillTx/>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8485DF-3FAB-45E9-A642-7745AB3E3AFD}" type="datetimeFigureOut">
              <a:rPr lang="zh-CN" altLang="en-US" smtClean="0"/>
              <a:t>2026/4/7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0BAE56-5081-45C8-9882-C35F39B69EB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1.png"/><Relationship Id="rId5" Type="http://schemas.openxmlformats.org/officeDocument/2006/relationships/tags" Target="../tags/tag5.xml"/><Relationship Id="rId10" Type="http://schemas.openxmlformats.org/officeDocument/2006/relationships/slideLayout" Target="../slideLayouts/slideLayout1.xml"/><Relationship Id="rId4" Type="http://schemas.openxmlformats.org/officeDocument/2006/relationships/tags" Target="../tags/tag4.xml"/><Relationship Id="rId9" Type="http://schemas.openxmlformats.org/officeDocument/2006/relationships/tags" Target="../tags/tag9.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tags" Target="../tags/tag24.xml"/><Relationship Id="rId3" Type="http://schemas.openxmlformats.org/officeDocument/2006/relationships/tags" Target="../tags/tag19.xml"/><Relationship Id="rId7" Type="http://schemas.openxmlformats.org/officeDocument/2006/relationships/tags" Target="../tags/tag2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image" Target="../media/image1.png"/><Relationship Id="rId5" Type="http://schemas.openxmlformats.org/officeDocument/2006/relationships/tags" Target="../tags/tag21.xml"/><Relationship Id="rId10" Type="http://schemas.openxmlformats.org/officeDocument/2006/relationships/slideLayout" Target="../slideLayouts/slideLayout1.xml"/><Relationship Id="rId4" Type="http://schemas.openxmlformats.org/officeDocument/2006/relationships/tags" Target="../tags/tag20.xml"/><Relationship Id="rId9"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5" name="文本框 4"/>
          <p:cNvSpPr txBox="1"/>
          <p:nvPr/>
        </p:nvSpPr>
        <p:spPr>
          <a:xfrm>
            <a:off x="294359" y="3102939"/>
            <a:ext cx="8717693" cy="1446550"/>
          </a:xfrm>
          <a:prstGeom prst="rect">
            <a:avLst/>
          </a:prstGeom>
          <a:noFill/>
        </p:spPr>
        <p:txBody>
          <a:bodyPr wrap="square" rtlCol="0">
            <a:spAutoFit/>
          </a:bodyPr>
          <a:lstStyle/>
          <a:p>
            <a:r>
              <a:rPr lang="en-US" altLang="zh-CN" sz="4400" b="1" dirty="0" err="1">
                <a:solidFill>
                  <a:srgbClr val="002B41"/>
                </a:solidFill>
                <a:latin typeface="微软雅黑" panose="020B0503020204020204" pitchFamily="34" charset="-122"/>
                <a:ea typeface="微软雅黑" panose="020B0503020204020204" pitchFamily="34" charset="-122"/>
              </a:rPr>
              <a:t>GeCos</a:t>
            </a:r>
            <a:r>
              <a:rPr lang="zh-CN" altLang="en-US" sz="4400" b="1" dirty="0">
                <a:solidFill>
                  <a:srgbClr val="002B41"/>
                </a:solidFill>
                <a:latin typeface="微软雅黑" panose="020B0503020204020204" pitchFamily="34" charset="-122"/>
                <a:ea typeface="微软雅黑" panose="020B0503020204020204" pitchFamily="34" charset="-122"/>
              </a:rPr>
              <a:t>替代专家：兼具高泛化与可解释性的工业</a:t>
            </a:r>
            <a:r>
              <a:rPr lang="zh-CN" altLang="en-US" sz="4400" b="1">
                <a:solidFill>
                  <a:srgbClr val="002B41"/>
                </a:solidFill>
                <a:latin typeface="微软雅黑" panose="020B0503020204020204" pitchFamily="34" charset="-122"/>
                <a:ea typeface="微软雅黑" panose="020B0503020204020204" pitchFamily="34" charset="-122"/>
              </a:rPr>
              <a:t>入侵检测</a:t>
            </a:r>
            <a:endParaRPr lang="zh-CN" altLang="en-US" sz="4400" b="1" dirty="0">
              <a:solidFill>
                <a:srgbClr val="002B41"/>
              </a:solidFill>
              <a:latin typeface="微软雅黑" panose="020B0503020204020204" pitchFamily="34" charset="-122"/>
              <a:ea typeface="微软雅黑" panose="020B0503020204020204" pitchFamily="34" charset="-122"/>
            </a:endParaRPr>
          </a:p>
        </p:txBody>
      </p:sp>
      <p:sp>
        <p:nvSpPr>
          <p:cNvPr id="8" name="PA_Line 15"/>
          <p:cNvSpPr>
            <a:spLocks noChangeShapeType="1"/>
          </p:cNvSpPr>
          <p:nvPr>
            <p:custDataLst>
              <p:tags r:id="rId1"/>
            </p:custDataLst>
          </p:nvPr>
        </p:nvSpPr>
        <p:spPr bwMode="auto">
          <a:xfrm flipV="1">
            <a:off x="3459637" y="0"/>
            <a:ext cx="7651028" cy="6860440"/>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9" name="PA_Line 16"/>
          <p:cNvSpPr>
            <a:spLocks noChangeShapeType="1"/>
          </p:cNvSpPr>
          <p:nvPr>
            <p:custDataLst>
              <p:tags r:id="rId2"/>
            </p:custDataLst>
          </p:nvPr>
        </p:nvSpPr>
        <p:spPr bwMode="auto">
          <a:xfrm>
            <a:off x="8045145" y="-179684"/>
            <a:ext cx="4011737" cy="7040124"/>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0" name="PA_Line 17"/>
          <p:cNvSpPr>
            <a:spLocks noChangeShapeType="1"/>
          </p:cNvSpPr>
          <p:nvPr>
            <p:custDataLst>
              <p:tags r:id="rId3"/>
            </p:custDataLst>
          </p:nvPr>
        </p:nvSpPr>
        <p:spPr bwMode="auto">
          <a:xfrm>
            <a:off x="1517715" y="-37707"/>
            <a:ext cx="10674284" cy="4949588"/>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1" name="PA_Line 18"/>
          <p:cNvSpPr>
            <a:spLocks noChangeShapeType="1"/>
          </p:cNvSpPr>
          <p:nvPr>
            <p:custDataLst>
              <p:tags r:id="rId4"/>
            </p:custDataLst>
          </p:nvPr>
        </p:nvSpPr>
        <p:spPr bwMode="auto">
          <a:xfrm flipV="1">
            <a:off x="9747262" y="-179684"/>
            <a:ext cx="1891058" cy="7033554"/>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2" name="PA_椭圆 19"/>
          <p:cNvSpPr>
            <a:spLocks noChangeArrowheads="1"/>
          </p:cNvSpPr>
          <p:nvPr>
            <p:custDataLst>
              <p:tags r:id="rId5"/>
            </p:custDataLst>
          </p:nvPr>
        </p:nvSpPr>
        <p:spPr bwMode="auto">
          <a:xfrm>
            <a:off x="9051554" y="1710670"/>
            <a:ext cx="100222" cy="100222"/>
          </a:xfrm>
          <a:prstGeom prst="ellipse">
            <a:avLst/>
          </a:prstGeom>
          <a:solidFill>
            <a:srgbClr val="002B41"/>
          </a:solidFill>
          <a:ln>
            <a:noFill/>
          </a:ln>
        </p:spPr>
        <p:txBody>
          <a:bodyPr vert="horz" wrap="square" lIns="91440" tIns="45720" rIns="91440" bIns="45720" numCol="1" anchor="t" anchorCtr="0" compatLnSpc="1"/>
          <a:lstStyle/>
          <a:p>
            <a:endParaRPr lang="zh-CN" altLang="en-US"/>
          </a:p>
        </p:txBody>
      </p:sp>
      <p:sp>
        <p:nvSpPr>
          <p:cNvPr id="13" name="PA_椭圆 20"/>
          <p:cNvSpPr>
            <a:spLocks noChangeArrowheads="1"/>
          </p:cNvSpPr>
          <p:nvPr>
            <p:custDataLst>
              <p:tags r:id="rId6"/>
            </p:custDataLst>
          </p:nvPr>
        </p:nvSpPr>
        <p:spPr bwMode="auto">
          <a:xfrm>
            <a:off x="10435706" y="4050757"/>
            <a:ext cx="100222" cy="100222"/>
          </a:xfrm>
          <a:prstGeom prst="ellipse">
            <a:avLst/>
          </a:prstGeom>
          <a:solidFill>
            <a:srgbClr val="002B41"/>
          </a:solidFill>
          <a:ln>
            <a:noFill/>
          </a:ln>
        </p:spPr>
        <p:txBody>
          <a:bodyPr vert="horz" wrap="square" lIns="91440" tIns="45720" rIns="91440" bIns="45720" numCol="1" anchor="t" anchorCtr="0" compatLnSpc="1"/>
          <a:lstStyle/>
          <a:p>
            <a:endParaRPr lang="zh-CN" altLang="en-US"/>
          </a:p>
        </p:txBody>
      </p:sp>
      <p:sp>
        <p:nvSpPr>
          <p:cNvPr id="14" name="PA_任意多边形 5"/>
          <p:cNvSpPr/>
          <p:nvPr>
            <p:custDataLst>
              <p:tags r:id="rId7"/>
            </p:custDataLst>
          </p:nvPr>
        </p:nvSpPr>
        <p:spPr bwMode="auto">
          <a:xfrm>
            <a:off x="9257122" y="0"/>
            <a:ext cx="2926691" cy="4911881"/>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rgbClr val="00183C"/>
              </a:solidFill>
              <a:latin typeface="Calibri" panose="020F0502020204030204" pitchFamily="34" charset="0"/>
              <a:ea typeface="宋体" panose="02010600030101010101" pitchFamily="2" charset="-122"/>
            </a:endParaRPr>
          </a:p>
        </p:txBody>
      </p:sp>
      <p:sp>
        <p:nvSpPr>
          <p:cNvPr id="15" name="PA_椭圆 19"/>
          <p:cNvSpPr>
            <a:spLocks noChangeArrowheads="1"/>
          </p:cNvSpPr>
          <p:nvPr>
            <p:custDataLst>
              <p:tags r:id="rId8"/>
            </p:custDataLst>
          </p:nvPr>
        </p:nvSpPr>
        <p:spPr bwMode="auto">
          <a:xfrm>
            <a:off x="7793840" y="2860740"/>
            <a:ext cx="100222" cy="100222"/>
          </a:xfrm>
          <a:prstGeom prst="ellipse">
            <a:avLst/>
          </a:prstGeom>
          <a:solidFill>
            <a:srgbClr val="002B41"/>
          </a:solidFill>
          <a:ln>
            <a:noFill/>
          </a:ln>
        </p:spPr>
        <p:txBody>
          <a:bodyPr vert="horz" wrap="square" lIns="91440" tIns="45720" rIns="91440" bIns="45720" numCol="1" anchor="t" anchorCtr="0" compatLnSpc="1"/>
          <a:lstStyle/>
          <a:p>
            <a:endParaRPr lang="zh-CN" altLang="en-US"/>
          </a:p>
        </p:txBody>
      </p:sp>
      <p:sp>
        <p:nvSpPr>
          <p:cNvPr id="16" name="文本框 15"/>
          <p:cNvSpPr txBox="1"/>
          <p:nvPr/>
        </p:nvSpPr>
        <p:spPr>
          <a:xfrm>
            <a:off x="314968" y="5791826"/>
            <a:ext cx="3278233" cy="417358"/>
          </a:xfrm>
          <a:prstGeom prst="rect">
            <a:avLst/>
          </a:prstGeom>
          <a:noFill/>
        </p:spPr>
        <p:txBody>
          <a:bodyPr wrap="square" rtlCol="0">
            <a:spAutoFit/>
          </a:bodyPr>
          <a:lstStyle/>
          <a:p>
            <a:pPr>
              <a:lnSpc>
                <a:spcPct val="130000"/>
              </a:lnSpc>
            </a:pPr>
            <a:r>
              <a:rPr lang="zh-CN" altLang="en-US" b="1" dirty="0">
                <a:solidFill>
                  <a:srgbClr val="002B41"/>
                </a:solidFill>
                <a:latin typeface="微软雅黑" panose="020B0503020204020204" pitchFamily="34" charset="-122"/>
                <a:ea typeface="微软雅黑" panose="020B0503020204020204" pitchFamily="34" charset="-122"/>
              </a:rPr>
              <a:t>报告人：安桂林</a:t>
            </a:r>
            <a:endParaRPr lang="en-US" altLang="zh-CN" b="1" dirty="0">
              <a:solidFill>
                <a:srgbClr val="002B4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custDataLst>
              <p:tags r:id="rId9"/>
            </p:custDataLst>
          </p:nvPr>
        </p:nvPicPr>
        <p:blipFill>
          <a:blip r:embed="rId11" cstate="print">
            <a:extLst>
              <a:ext uri="{28A0092B-C50C-407E-A947-70E740481C1C}">
                <a14:useLocalDpi xmlns:a14="http://schemas.microsoft.com/office/drawing/2010/main" val="0"/>
              </a:ext>
            </a:extLst>
          </a:blip>
          <a:stretch>
            <a:fillRect/>
          </a:stretch>
        </p:blipFill>
        <p:spPr>
          <a:xfrm>
            <a:off x="10039641" y="1700607"/>
            <a:ext cx="1891058" cy="1898239"/>
          </a:xfrm>
          <a:prstGeom prst="rect">
            <a:avLst/>
          </a:prstGeom>
        </p:spPr>
      </p:pic>
      <p:sp>
        <p:nvSpPr>
          <p:cNvPr id="2" name="文本框 1">
            <a:extLst>
              <a:ext uri="{FF2B5EF4-FFF2-40B4-BE49-F238E27FC236}">
                <a16:creationId xmlns:a16="http://schemas.microsoft.com/office/drawing/2014/main" id="{E512CF41-A96C-9DFC-CE27-3A406344E585}"/>
              </a:ext>
            </a:extLst>
          </p:cNvPr>
          <p:cNvSpPr txBox="1"/>
          <p:nvPr/>
        </p:nvSpPr>
        <p:spPr>
          <a:xfrm>
            <a:off x="135118" y="412823"/>
            <a:ext cx="10300589" cy="2123658"/>
          </a:xfrm>
          <a:prstGeom prst="rect">
            <a:avLst/>
          </a:prstGeom>
          <a:noFill/>
        </p:spPr>
        <p:txBody>
          <a:bodyPr wrap="square" rtlCol="0">
            <a:spAutoFit/>
          </a:bodyPr>
          <a:lstStyle/>
          <a:p>
            <a:r>
              <a:rPr lang="en-US" altLang="zh-CN" sz="4400" b="1" dirty="0" err="1">
                <a:solidFill>
                  <a:srgbClr val="002B41"/>
                </a:solidFill>
                <a:latin typeface="微软雅黑" panose="020B0503020204020204" pitchFamily="34" charset="-122"/>
                <a:ea typeface="微软雅黑" panose="020B0503020204020204" pitchFamily="34" charset="-122"/>
              </a:rPr>
              <a:t>GeCos</a:t>
            </a:r>
            <a:r>
              <a:rPr lang="en-US" altLang="zh-CN" sz="4400" b="1" dirty="0">
                <a:solidFill>
                  <a:srgbClr val="002B41"/>
                </a:solidFill>
                <a:latin typeface="微软雅黑" panose="020B0503020204020204" pitchFamily="34" charset="-122"/>
                <a:ea typeface="微软雅黑" panose="020B0503020204020204" pitchFamily="34" charset="-122"/>
              </a:rPr>
              <a:t> Replacing </a:t>
            </a:r>
            <a:r>
              <a:rPr lang="en-US" altLang="zh-CN" sz="4400" b="1" dirty="0" err="1">
                <a:solidFill>
                  <a:srgbClr val="002B41"/>
                </a:solidFill>
                <a:latin typeface="微软雅黑" panose="020B0503020204020204" pitchFamily="34" charset="-122"/>
                <a:ea typeface="微软雅黑" panose="020B0503020204020204" pitchFamily="34" charset="-122"/>
              </a:rPr>
              <a:t>Exper</a:t>
            </a:r>
            <a:r>
              <a:rPr lang="en-US" altLang="zh-CN" sz="4400" b="1" dirty="0">
                <a:solidFill>
                  <a:srgbClr val="002B41"/>
                </a:solidFill>
                <a:latin typeface="微软雅黑" panose="020B0503020204020204" pitchFamily="34" charset="-122"/>
                <a:ea typeface="微软雅黑" panose="020B0503020204020204" pitchFamily="34" charset="-122"/>
              </a:rPr>
              <a:t> </a:t>
            </a:r>
            <a:r>
              <a:rPr lang="zh-CN" altLang="en-US" sz="4400" b="1" dirty="0">
                <a:solidFill>
                  <a:srgbClr val="002B41"/>
                </a:solidFill>
                <a:latin typeface="微软雅黑" panose="020B0503020204020204" pitchFamily="34" charset="-122"/>
                <a:ea typeface="微软雅黑" panose="020B0503020204020204" pitchFamily="34" charset="-122"/>
              </a:rPr>
              <a:t>：</a:t>
            </a:r>
            <a:r>
              <a:rPr lang="en-US" altLang="zh-CN" sz="4400" b="1" dirty="0">
                <a:solidFill>
                  <a:srgbClr val="002B41"/>
                </a:solidFill>
                <a:latin typeface="微软雅黑" panose="020B0503020204020204" pitchFamily="34" charset="-122"/>
                <a:ea typeface="微软雅黑" panose="020B0503020204020204" pitchFamily="34" charset="-122"/>
              </a:rPr>
              <a:t>Generalizable and Comprehensible </a:t>
            </a:r>
            <a:r>
              <a:rPr lang="en-US" altLang="zh-CN" sz="4400" b="1" dirty="0" err="1">
                <a:solidFill>
                  <a:srgbClr val="002B41"/>
                </a:solidFill>
                <a:latin typeface="微软雅黑" panose="020B0503020204020204" pitchFamily="34" charset="-122"/>
                <a:ea typeface="微软雅黑" panose="020B0503020204020204" pitchFamily="34" charset="-122"/>
              </a:rPr>
              <a:t>INdustrial</a:t>
            </a:r>
            <a:r>
              <a:rPr lang="en-US" altLang="zh-CN" sz="4400" b="1" dirty="0">
                <a:solidFill>
                  <a:srgbClr val="002B41"/>
                </a:solidFill>
                <a:latin typeface="微软雅黑" panose="020B0503020204020204" pitchFamily="34" charset="-122"/>
                <a:ea typeface="微软雅黑" panose="020B0503020204020204" pitchFamily="34" charset="-122"/>
              </a:rPr>
              <a:t> Intrusion Detection</a:t>
            </a:r>
            <a:endParaRPr lang="zh-CN" altLang="en-US" sz="4400" b="1" dirty="0">
              <a:solidFill>
                <a:srgbClr val="002B41"/>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7175F8D5-171D-94A5-019B-D8F59832247D}"/>
              </a:ext>
            </a:extLst>
          </p:cNvPr>
          <p:cNvSpPr txBox="1"/>
          <p:nvPr/>
        </p:nvSpPr>
        <p:spPr>
          <a:xfrm>
            <a:off x="7947852" y="6361432"/>
            <a:ext cx="4485461" cy="417358"/>
          </a:xfrm>
          <a:prstGeom prst="rect">
            <a:avLst/>
          </a:prstGeom>
          <a:noFill/>
        </p:spPr>
        <p:txBody>
          <a:bodyPr wrap="square" rtlCol="0">
            <a:spAutoFit/>
          </a:bodyPr>
          <a:lstStyle/>
          <a:p>
            <a:pPr>
              <a:lnSpc>
                <a:spcPct val="130000"/>
              </a:lnSpc>
            </a:pPr>
            <a:r>
              <a:rPr lang="en-US" altLang="zh-CN" b="1" dirty="0">
                <a:solidFill>
                  <a:srgbClr val="002B41"/>
                </a:solidFill>
                <a:latin typeface="微软雅黑" panose="020B0503020204020204" pitchFamily="34" charset="-122"/>
                <a:ea typeface="微软雅黑" panose="020B0503020204020204" pitchFamily="34" charset="-122"/>
              </a:rPr>
              <a:t>34th USENIX Security Symposium </a:t>
            </a:r>
            <a:endParaRPr lang="zh-CN" altLang="en-US" b="1" dirty="0">
              <a:solidFill>
                <a:srgbClr val="002B4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4" name="组合 3"/>
          <p:cNvGrpSpPr/>
          <p:nvPr/>
        </p:nvGrpSpPr>
        <p:grpSpPr>
          <a:xfrm flipH="1">
            <a:off x="545493" y="-179684"/>
            <a:ext cx="3196202" cy="7130016"/>
            <a:chOff x="8442118" y="-179684"/>
            <a:chExt cx="3196202" cy="7130016"/>
          </a:xfrm>
        </p:grpSpPr>
        <p:sp>
          <p:nvSpPr>
            <p:cNvPr id="5" name="Line 16"/>
            <p:cNvSpPr>
              <a:spLocks noChangeShapeType="1"/>
            </p:cNvSpPr>
            <p:nvPr/>
          </p:nvSpPr>
          <p:spPr bwMode="auto">
            <a:xfrm>
              <a:off x="8442118" y="0"/>
              <a:ext cx="1966175" cy="6950332"/>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black"/>
                </a:solidFill>
              </a:endParaRPr>
            </a:p>
          </p:txBody>
        </p:sp>
        <p:sp>
          <p:nvSpPr>
            <p:cNvPr id="6" name="Line 18"/>
            <p:cNvSpPr>
              <a:spLocks noChangeShapeType="1"/>
            </p:cNvSpPr>
            <p:nvPr/>
          </p:nvSpPr>
          <p:spPr bwMode="auto">
            <a:xfrm flipV="1">
              <a:off x="8442118" y="-179684"/>
              <a:ext cx="3196202" cy="7037684"/>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black"/>
                </a:solidFill>
              </a:endParaRPr>
            </a:p>
          </p:txBody>
        </p:sp>
      </p:grpSp>
      <p:sp>
        <p:nvSpPr>
          <p:cNvPr id="7" name="Freeform 5"/>
          <p:cNvSpPr/>
          <p:nvPr/>
        </p:nvSpPr>
        <p:spPr bwMode="auto">
          <a:xfrm flipH="1" flipV="1">
            <a:off x="-2" y="254523"/>
            <a:ext cx="3054286" cy="6609201"/>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rgbClr val="00183C"/>
              </a:solidFill>
              <a:latin typeface="Calibri" panose="020F0502020204030204" pitchFamily="34" charset="0"/>
              <a:ea typeface="宋体" panose="02010600030101010101" pitchFamily="2" charset="-122"/>
            </a:endParaRPr>
          </a:p>
        </p:txBody>
      </p:sp>
      <p:sp>
        <p:nvSpPr>
          <p:cNvPr id="8" name="文本框 7"/>
          <p:cNvSpPr txBox="1"/>
          <p:nvPr/>
        </p:nvSpPr>
        <p:spPr>
          <a:xfrm>
            <a:off x="219307" y="2197894"/>
            <a:ext cx="1758399" cy="1231106"/>
          </a:xfrm>
          <a:prstGeom prst="rect">
            <a:avLst/>
          </a:prstGeom>
          <a:noFill/>
        </p:spPr>
        <p:txBody>
          <a:bodyPr wrap="square" rtlCol="0">
            <a:spAutoFit/>
          </a:bodyPr>
          <a:lstStyle/>
          <a:p>
            <a:pPr algn="ctr"/>
            <a:r>
              <a:rPr lang="zh-CN" altLang="en-US" sz="5400" b="1" dirty="0">
                <a:solidFill>
                  <a:schemeClr val="bg1"/>
                </a:solidFill>
                <a:latin typeface="微软雅黑" panose="020B0503020204020204" pitchFamily="34" charset="-122"/>
                <a:ea typeface="微软雅黑" panose="020B0503020204020204" pitchFamily="34" charset="-122"/>
              </a:rPr>
              <a:t>目录</a:t>
            </a:r>
            <a:endParaRPr lang="en-US" altLang="zh-CN" sz="5400" b="1" dirty="0">
              <a:solidFill>
                <a:schemeClr val="bg1"/>
              </a:solidFill>
              <a:latin typeface="微软雅黑" panose="020B0503020204020204" pitchFamily="34" charset="-122"/>
              <a:ea typeface="微软雅黑" panose="020B0503020204020204" pitchFamily="34" charset="-122"/>
            </a:endParaRPr>
          </a:p>
          <a:p>
            <a:pPr algn="ctr"/>
            <a:r>
              <a:rPr lang="en-US" altLang="zh-CN" sz="2000" b="1" dirty="0">
                <a:solidFill>
                  <a:schemeClr val="bg1"/>
                </a:solidFill>
                <a:latin typeface="微软雅黑" panose="020B0503020204020204" pitchFamily="34" charset="-122"/>
                <a:ea typeface="微软雅黑" panose="020B0503020204020204" pitchFamily="34" charset="-122"/>
              </a:rPr>
              <a:t>CONTENT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9" name="椭圆 1"/>
          <p:cNvSpPr>
            <a:spLocks noChangeArrowheads="1"/>
          </p:cNvSpPr>
          <p:nvPr/>
        </p:nvSpPr>
        <p:spPr bwMode="auto">
          <a:xfrm>
            <a:off x="6348911" y="1235494"/>
            <a:ext cx="727831" cy="727831"/>
          </a:xfrm>
          <a:prstGeom prst="roundRect">
            <a:avLst/>
          </a:prstGeom>
          <a:solidFill>
            <a:srgbClr val="002B41"/>
          </a:solidFill>
          <a:ln w="28575">
            <a:noFill/>
          </a:ln>
          <a:effectLst>
            <a:outerShdw blurRad="254000" dist="127000" dir="2700000" algn="tl" rotWithShape="0">
              <a:prstClr val="black">
                <a:alpha val="40000"/>
              </a:prstClr>
            </a:outerShdw>
          </a:effec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000">
              <a:solidFill>
                <a:schemeClr val="bg1">
                  <a:lumMod val="95000"/>
                </a:schemeClr>
              </a:solidFill>
            </a:endParaRPr>
          </a:p>
        </p:txBody>
      </p:sp>
      <p:sp>
        <p:nvSpPr>
          <p:cNvPr id="10" name="TextBox 32"/>
          <p:cNvSpPr txBox="1">
            <a:spLocks noChangeArrowheads="1"/>
          </p:cNvSpPr>
          <p:nvPr/>
        </p:nvSpPr>
        <p:spPr bwMode="auto">
          <a:xfrm>
            <a:off x="6412104" y="1307022"/>
            <a:ext cx="6014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dirty="0">
                <a:solidFill>
                  <a:schemeClr val="bg1"/>
                </a:solidFill>
                <a:ea typeface="微软雅黑" panose="020B0503020204020204" pitchFamily="34" charset="-122"/>
              </a:rPr>
              <a:t>01</a:t>
            </a:r>
            <a:endParaRPr lang="zh-CN" altLang="en-US" sz="3200" dirty="0">
              <a:solidFill>
                <a:schemeClr val="bg1"/>
              </a:solidFill>
              <a:ea typeface="微软雅黑" panose="020B0503020204020204" pitchFamily="34" charset="-122"/>
            </a:endParaRPr>
          </a:p>
        </p:txBody>
      </p:sp>
      <p:sp>
        <p:nvSpPr>
          <p:cNvPr id="12" name="TextBox 76"/>
          <p:cNvSpPr txBox="1"/>
          <p:nvPr/>
        </p:nvSpPr>
        <p:spPr>
          <a:xfrm>
            <a:off x="7256976" y="1337799"/>
            <a:ext cx="2897077" cy="521970"/>
          </a:xfrm>
          <a:prstGeom prst="rect">
            <a:avLst/>
          </a:prstGeom>
          <a:solidFill>
            <a:srgbClr val="F1F1F1"/>
          </a:solidFill>
        </p:spPr>
        <p:txBody>
          <a:bodyPr wrap="square" rtlCol="0">
            <a:spAutoFit/>
          </a:bodyPr>
          <a:lstStyle/>
          <a:p>
            <a:r>
              <a:rPr lang="zh-CN" altLang="en-US" sz="2800" dirty="0">
                <a:solidFill>
                  <a:srgbClr val="002B41"/>
                </a:solidFill>
                <a:latin typeface="微软雅黑" panose="020B0503020204020204" pitchFamily="34" charset="-122"/>
                <a:ea typeface="微软雅黑" panose="020B0503020204020204" pitchFamily="34" charset="-122"/>
              </a:rPr>
              <a:t>研究背景和意义</a:t>
            </a:r>
          </a:p>
        </p:txBody>
      </p:sp>
      <p:sp>
        <p:nvSpPr>
          <p:cNvPr id="13" name="椭圆 1"/>
          <p:cNvSpPr>
            <a:spLocks noChangeArrowheads="1"/>
          </p:cNvSpPr>
          <p:nvPr/>
        </p:nvSpPr>
        <p:spPr bwMode="auto">
          <a:xfrm>
            <a:off x="6348911" y="2339414"/>
            <a:ext cx="727831" cy="727831"/>
          </a:xfrm>
          <a:prstGeom prst="roundRect">
            <a:avLst/>
          </a:prstGeom>
          <a:solidFill>
            <a:srgbClr val="002B41"/>
          </a:solidFill>
          <a:ln w="28575">
            <a:noFill/>
          </a:ln>
          <a:effectLst>
            <a:outerShdw blurRad="254000" dist="127000" dir="2700000" algn="tl" rotWithShape="0">
              <a:prstClr val="black">
                <a:alpha val="40000"/>
              </a:prstClr>
            </a:outerShdw>
          </a:effec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000">
              <a:solidFill>
                <a:schemeClr val="bg1">
                  <a:lumMod val="95000"/>
                </a:schemeClr>
              </a:solidFill>
            </a:endParaRPr>
          </a:p>
        </p:txBody>
      </p:sp>
      <p:sp>
        <p:nvSpPr>
          <p:cNvPr id="14" name="TextBox 32"/>
          <p:cNvSpPr txBox="1">
            <a:spLocks noChangeArrowheads="1"/>
          </p:cNvSpPr>
          <p:nvPr/>
        </p:nvSpPr>
        <p:spPr bwMode="auto">
          <a:xfrm>
            <a:off x="6412104" y="2410942"/>
            <a:ext cx="6014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dirty="0">
                <a:solidFill>
                  <a:schemeClr val="bg1"/>
                </a:solidFill>
                <a:ea typeface="微软雅黑" panose="020B0503020204020204" pitchFamily="34" charset="-122"/>
              </a:rPr>
              <a:t>02</a:t>
            </a:r>
            <a:endParaRPr lang="zh-CN" altLang="en-US" sz="3200" dirty="0">
              <a:solidFill>
                <a:schemeClr val="bg1"/>
              </a:solidFill>
              <a:ea typeface="微软雅黑" panose="020B0503020204020204" pitchFamily="34" charset="-122"/>
            </a:endParaRPr>
          </a:p>
        </p:txBody>
      </p:sp>
      <p:sp>
        <p:nvSpPr>
          <p:cNvPr id="16" name="TextBox 76"/>
          <p:cNvSpPr txBox="1"/>
          <p:nvPr/>
        </p:nvSpPr>
        <p:spPr>
          <a:xfrm>
            <a:off x="7256976" y="2441719"/>
            <a:ext cx="2897077" cy="521970"/>
          </a:xfrm>
          <a:prstGeom prst="rect">
            <a:avLst/>
          </a:prstGeom>
          <a:solidFill>
            <a:srgbClr val="F1F1F1"/>
          </a:solidFill>
        </p:spPr>
        <p:txBody>
          <a:bodyPr wrap="square" rtlCol="0">
            <a:spAutoFit/>
          </a:bodyPr>
          <a:lstStyle/>
          <a:p>
            <a:r>
              <a:rPr lang="zh-CN" altLang="en-US" sz="2800" dirty="0">
                <a:solidFill>
                  <a:srgbClr val="002B41"/>
                </a:solidFill>
                <a:latin typeface="微软雅黑" panose="020B0503020204020204" pitchFamily="34" charset="-122"/>
                <a:ea typeface="微软雅黑" panose="020B0503020204020204" pitchFamily="34" charset="-122"/>
              </a:rPr>
              <a:t>核心思想</a:t>
            </a:r>
          </a:p>
        </p:txBody>
      </p:sp>
      <p:sp>
        <p:nvSpPr>
          <p:cNvPr id="17" name="椭圆 1"/>
          <p:cNvSpPr>
            <a:spLocks noChangeArrowheads="1"/>
          </p:cNvSpPr>
          <p:nvPr/>
        </p:nvSpPr>
        <p:spPr bwMode="auto">
          <a:xfrm>
            <a:off x="6348911" y="3495935"/>
            <a:ext cx="727831" cy="727831"/>
          </a:xfrm>
          <a:prstGeom prst="roundRect">
            <a:avLst/>
          </a:prstGeom>
          <a:solidFill>
            <a:srgbClr val="002B41"/>
          </a:solidFill>
          <a:ln w="28575">
            <a:noFill/>
          </a:ln>
          <a:effectLst>
            <a:outerShdw blurRad="254000" dist="127000" dir="2700000" algn="tl" rotWithShape="0">
              <a:prstClr val="black">
                <a:alpha val="40000"/>
              </a:prstClr>
            </a:outerShdw>
          </a:effec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000">
              <a:solidFill>
                <a:schemeClr val="bg1">
                  <a:lumMod val="95000"/>
                </a:schemeClr>
              </a:solidFill>
            </a:endParaRPr>
          </a:p>
        </p:txBody>
      </p:sp>
      <p:sp>
        <p:nvSpPr>
          <p:cNvPr id="18" name="TextBox 32"/>
          <p:cNvSpPr txBox="1">
            <a:spLocks noChangeArrowheads="1"/>
          </p:cNvSpPr>
          <p:nvPr/>
        </p:nvSpPr>
        <p:spPr bwMode="auto">
          <a:xfrm>
            <a:off x="6412104" y="3567463"/>
            <a:ext cx="6014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dirty="0">
                <a:solidFill>
                  <a:schemeClr val="bg1"/>
                </a:solidFill>
                <a:ea typeface="微软雅黑" panose="020B0503020204020204" pitchFamily="34" charset="-122"/>
              </a:rPr>
              <a:t>03</a:t>
            </a:r>
            <a:endParaRPr lang="zh-CN" altLang="en-US" sz="3200" dirty="0">
              <a:solidFill>
                <a:schemeClr val="bg1"/>
              </a:solidFill>
              <a:ea typeface="微软雅黑" panose="020B0503020204020204" pitchFamily="34" charset="-122"/>
            </a:endParaRPr>
          </a:p>
        </p:txBody>
      </p:sp>
      <p:sp>
        <p:nvSpPr>
          <p:cNvPr id="20" name="TextBox 76"/>
          <p:cNvSpPr txBox="1"/>
          <p:nvPr/>
        </p:nvSpPr>
        <p:spPr>
          <a:xfrm>
            <a:off x="7256976" y="3598240"/>
            <a:ext cx="2897077" cy="521970"/>
          </a:xfrm>
          <a:prstGeom prst="rect">
            <a:avLst/>
          </a:prstGeom>
          <a:solidFill>
            <a:srgbClr val="F1F1F1"/>
          </a:solidFill>
        </p:spPr>
        <p:txBody>
          <a:bodyPr wrap="square" rtlCol="0">
            <a:spAutoFit/>
          </a:bodyPr>
          <a:lstStyle/>
          <a:p>
            <a:r>
              <a:rPr lang="zh-CN" altLang="en-US" sz="2800" dirty="0">
                <a:solidFill>
                  <a:srgbClr val="002B41"/>
                </a:solidFill>
                <a:latin typeface="微软雅黑" panose="020B0503020204020204" pitchFamily="34" charset="-122"/>
                <a:ea typeface="微软雅黑" panose="020B0503020204020204" pitchFamily="34" charset="-122"/>
              </a:rPr>
              <a:t>主要研究内容</a:t>
            </a:r>
          </a:p>
        </p:txBody>
      </p:sp>
      <p:sp>
        <p:nvSpPr>
          <p:cNvPr id="21" name="椭圆 1"/>
          <p:cNvSpPr>
            <a:spLocks noChangeArrowheads="1"/>
          </p:cNvSpPr>
          <p:nvPr/>
        </p:nvSpPr>
        <p:spPr bwMode="auto">
          <a:xfrm>
            <a:off x="6348911" y="4648921"/>
            <a:ext cx="727831" cy="727831"/>
          </a:xfrm>
          <a:prstGeom prst="roundRect">
            <a:avLst/>
          </a:prstGeom>
          <a:solidFill>
            <a:srgbClr val="002B41"/>
          </a:solidFill>
          <a:ln w="28575">
            <a:noFill/>
          </a:ln>
          <a:effectLst>
            <a:outerShdw blurRad="254000" dist="127000" dir="2700000" algn="tl" rotWithShape="0">
              <a:prstClr val="black">
                <a:alpha val="40000"/>
              </a:prstClr>
            </a:outerShdw>
          </a:effec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000">
              <a:solidFill>
                <a:schemeClr val="bg1">
                  <a:lumMod val="95000"/>
                </a:schemeClr>
              </a:solidFill>
            </a:endParaRPr>
          </a:p>
        </p:txBody>
      </p:sp>
      <p:sp>
        <p:nvSpPr>
          <p:cNvPr id="22" name="TextBox 32"/>
          <p:cNvSpPr txBox="1">
            <a:spLocks noChangeArrowheads="1"/>
          </p:cNvSpPr>
          <p:nvPr/>
        </p:nvSpPr>
        <p:spPr bwMode="auto">
          <a:xfrm>
            <a:off x="6412104" y="4720449"/>
            <a:ext cx="6014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dirty="0">
                <a:solidFill>
                  <a:schemeClr val="bg1"/>
                </a:solidFill>
                <a:ea typeface="微软雅黑" panose="020B0503020204020204" pitchFamily="34" charset="-122"/>
              </a:rPr>
              <a:t>04</a:t>
            </a:r>
            <a:endParaRPr lang="zh-CN" altLang="en-US" sz="3200" dirty="0">
              <a:solidFill>
                <a:schemeClr val="bg1"/>
              </a:solidFill>
              <a:ea typeface="微软雅黑" panose="020B0503020204020204" pitchFamily="34" charset="-122"/>
            </a:endParaRPr>
          </a:p>
        </p:txBody>
      </p:sp>
      <p:sp>
        <p:nvSpPr>
          <p:cNvPr id="24" name="TextBox 76"/>
          <p:cNvSpPr txBox="1"/>
          <p:nvPr/>
        </p:nvSpPr>
        <p:spPr>
          <a:xfrm>
            <a:off x="7256976" y="4751226"/>
            <a:ext cx="2897077" cy="521970"/>
          </a:xfrm>
          <a:prstGeom prst="rect">
            <a:avLst/>
          </a:prstGeom>
          <a:solidFill>
            <a:srgbClr val="F1F1F1"/>
          </a:solidFill>
        </p:spPr>
        <p:txBody>
          <a:bodyPr wrap="square" rtlCol="0">
            <a:spAutoFit/>
          </a:bodyPr>
          <a:lstStyle/>
          <a:p>
            <a:r>
              <a:rPr lang="zh-CN" altLang="en-US" sz="2800" dirty="0">
                <a:solidFill>
                  <a:srgbClr val="002B41"/>
                </a:solidFill>
                <a:latin typeface="微软雅黑" panose="020B0503020204020204" pitchFamily="34" charset="-122"/>
                <a:ea typeface="微软雅黑" panose="020B0503020204020204" pitchFamily="34" charset="-122"/>
              </a:rPr>
              <a:t>实验结果</a:t>
            </a:r>
          </a:p>
        </p:txBody>
      </p:sp>
      <p:pic>
        <p:nvPicPr>
          <p:cNvPr id="27" name="图片 26"/>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1024937" y="21096"/>
            <a:ext cx="1167063" cy="11714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Line 16"/>
          <p:cNvSpPr>
            <a:spLocks noChangeShapeType="1"/>
          </p:cNvSpPr>
          <p:nvPr/>
        </p:nvSpPr>
        <p:spPr bwMode="auto">
          <a:xfrm flipH="1">
            <a:off x="3724539" y="-179684"/>
            <a:ext cx="4072921" cy="7040124"/>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95000"/>
                </a:schemeClr>
              </a:solidFill>
            </a:endParaRPr>
          </a:p>
        </p:txBody>
      </p:sp>
      <p:sp>
        <p:nvSpPr>
          <p:cNvPr id="3" name="Line 18"/>
          <p:cNvSpPr>
            <a:spLocks noChangeShapeType="1"/>
          </p:cNvSpPr>
          <p:nvPr/>
        </p:nvSpPr>
        <p:spPr bwMode="auto">
          <a:xfrm flipH="1" flipV="1">
            <a:off x="1904214" y="-1"/>
            <a:ext cx="6243498" cy="6890832"/>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95000"/>
                </a:schemeClr>
              </a:solidFill>
            </a:endParaRPr>
          </a:p>
        </p:txBody>
      </p:sp>
      <p:sp>
        <p:nvSpPr>
          <p:cNvPr id="4" name="Line 17"/>
          <p:cNvSpPr>
            <a:spLocks noChangeShapeType="1"/>
          </p:cNvSpPr>
          <p:nvPr/>
        </p:nvSpPr>
        <p:spPr bwMode="auto">
          <a:xfrm>
            <a:off x="0" y="2500664"/>
            <a:ext cx="12192000" cy="3271025"/>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95000"/>
                </a:schemeClr>
              </a:solidFill>
            </a:endParaRPr>
          </a:p>
        </p:txBody>
      </p:sp>
      <p:sp>
        <p:nvSpPr>
          <p:cNvPr id="5" name="Freeform 5"/>
          <p:cNvSpPr/>
          <p:nvPr/>
        </p:nvSpPr>
        <p:spPr bwMode="auto">
          <a:xfrm>
            <a:off x="2335428" y="0"/>
            <a:ext cx="7521143" cy="6890833"/>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 name="connsiteX0" fmla="*/ 4048 w 7779"/>
              <a:gd name="connsiteY0" fmla="*/ 0 h 10000"/>
              <a:gd name="connsiteX1" fmla="*/ 7779 w 7779"/>
              <a:gd name="connsiteY1" fmla="*/ 0 h 10000"/>
              <a:gd name="connsiteX2" fmla="*/ 7779 w 7779"/>
              <a:gd name="connsiteY2" fmla="*/ 10000 h 10000"/>
              <a:gd name="connsiteX3" fmla="*/ 0 w 7779"/>
              <a:gd name="connsiteY3" fmla="*/ 7610 h 10000"/>
              <a:gd name="connsiteX4" fmla="*/ 4048 w 7779"/>
              <a:gd name="connsiteY4" fmla="*/ 0 h 10000"/>
              <a:gd name="connsiteX0-1" fmla="*/ 5204 w 14475"/>
              <a:gd name="connsiteY0-2" fmla="*/ 0 h 9785"/>
              <a:gd name="connsiteX1-3" fmla="*/ 10000 w 14475"/>
              <a:gd name="connsiteY1-4" fmla="*/ 0 h 9785"/>
              <a:gd name="connsiteX2-5" fmla="*/ 14475 w 14475"/>
              <a:gd name="connsiteY2-6" fmla="*/ 9785 h 9785"/>
              <a:gd name="connsiteX3-7" fmla="*/ 0 w 14475"/>
              <a:gd name="connsiteY3-8" fmla="*/ 7610 h 9785"/>
              <a:gd name="connsiteX4-9" fmla="*/ 5204 w 14475"/>
              <a:gd name="connsiteY4-10" fmla="*/ 0 h 9785"/>
              <a:gd name="connsiteX0-11" fmla="*/ 5713 w 12118"/>
              <a:gd name="connsiteY0-12" fmla="*/ 0 h 10000"/>
              <a:gd name="connsiteX1-13" fmla="*/ 9026 w 12118"/>
              <a:gd name="connsiteY1-14" fmla="*/ 0 h 10000"/>
              <a:gd name="connsiteX2-15" fmla="*/ 12118 w 12118"/>
              <a:gd name="connsiteY2-16" fmla="*/ 10000 h 10000"/>
              <a:gd name="connsiteX3-17" fmla="*/ 0 w 12118"/>
              <a:gd name="connsiteY3-18" fmla="*/ 8114 h 10000"/>
              <a:gd name="connsiteX4-19" fmla="*/ 5713 w 12118"/>
              <a:gd name="connsiteY4-20" fmla="*/ 0 h 10000"/>
              <a:gd name="connsiteX0-21" fmla="*/ 6684 w 13089"/>
              <a:gd name="connsiteY0-22" fmla="*/ 0 h 10000"/>
              <a:gd name="connsiteX1-23" fmla="*/ 9997 w 13089"/>
              <a:gd name="connsiteY1-24" fmla="*/ 0 h 10000"/>
              <a:gd name="connsiteX2-25" fmla="*/ 13089 w 13089"/>
              <a:gd name="connsiteY2-26" fmla="*/ 10000 h 10000"/>
              <a:gd name="connsiteX3-27" fmla="*/ 0 w 13089"/>
              <a:gd name="connsiteY3-28" fmla="*/ 8173 h 10000"/>
              <a:gd name="connsiteX4-29" fmla="*/ 6684 w 13089"/>
              <a:gd name="connsiteY4-30" fmla="*/ 0 h 10000"/>
              <a:gd name="connsiteX0-31" fmla="*/ 2369 w 8774"/>
              <a:gd name="connsiteY0-32" fmla="*/ 0 h 10000"/>
              <a:gd name="connsiteX1-33" fmla="*/ 5682 w 8774"/>
              <a:gd name="connsiteY1-34" fmla="*/ 0 h 10000"/>
              <a:gd name="connsiteX2-35" fmla="*/ 8774 w 8774"/>
              <a:gd name="connsiteY2-36" fmla="*/ 10000 h 10000"/>
              <a:gd name="connsiteX3-37" fmla="*/ 0 w 8774"/>
              <a:gd name="connsiteY3-38" fmla="*/ 7222 h 10000"/>
              <a:gd name="connsiteX4-39" fmla="*/ 2369 w 8774"/>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74" h="10000">
                <a:moveTo>
                  <a:pt x="2369" y="0"/>
                </a:moveTo>
                <a:lnTo>
                  <a:pt x="5682" y="0"/>
                </a:lnTo>
                <a:lnTo>
                  <a:pt x="8774" y="10000"/>
                </a:lnTo>
                <a:lnTo>
                  <a:pt x="0" y="7222"/>
                </a:lnTo>
                <a:lnTo>
                  <a:pt x="2369"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sp>
        <p:nvSpPr>
          <p:cNvPr id="6" name="TextBox 76"/>
          <p:cNvSpPr txBox="1"/>
          <p:nvPr/>
        </p:nvSpPr>
        <p:spPr>
          <a:xfrm>
            <a:off x="4464784" y="1992830"/>
            <a:ext cx="3262432" cy="1015663"/>
          </a:xfrm>
          <a:prstGeom prst="rect">
            <a:avLst/>
          </a:prstGeom>
          <a:noFill/>
          <a:effectLst/>
        </p:spPr>
        <p:txBody>
          <a:bodyPr wrap="none" rtlCol="0">
            <a:spAutoFit/>
          </a:bodyPr>
          <a:lstStyle/>
          <a:p>
            <a:pPr algn="ctr"/>
            <a:r>
              <a:rPr lang="zh-CN" altLang="en-US" sz="6000" dirty="0">
                <a:solidFill>
                  <a:schemeClr val="bg1">
                    <a:lumMod val="95000"/>
                  </a:schemeClr>
                </a:solidFill>
                <a:latin typeface="微软雅黑" panose="020B0503020204020204" pitchFamily="34" charset="-122"/>
                <a:ea typeface="微软雅黑" panose="020B0503020204020204" pitchFamily="34" charset="-122"/>
              </a:rPr>
              <a:t>第一部分</a:t>
            </a:r>
          </a:p>
        </p:txBody>
      </p:sp>
      <p:sp>
        <p:nvSpPr>
          <p:cNvPr id="9" name="TextBox 76"/>
          <p:cNvSpPr txBox="1"/>
          <p:nvPr/>
        </p:nvSpPr>
        <p:spPr>
          <a:xfrm>
            <a:off x="4323048" y="3333989"/>
            <a:ext cx="3545903" cy="583565"/>
          </a:xfrm>
          <a:prstGeom prst="rect">
            <a:avLst/>
          </a:prstGeom>
          <a:noFill/>
          <a:effectLst/>
        </p:spPr>
        <p:txBody>
          <a:bodyPr wrap="square" rtlCol="0">
            <a:spAutoFit/>
          </a:bodyPr>
          <a:lstStyle/>
          <a:p>
            <a:pPr algn="ctr"/>
            <a:r>
              <a:rPr lang="zh-CN" altLang="en-US" sz="3200" dirty="0">
                <a:solidFill>
                  <a:schemeClr val="bg1">
                    <a:lumMod val="95000"/>
                  </a:schemeClr>
                </a:solidFill>
                <a:latin typeface="微软雅黑" panose="020B0503020204020204" pitchFamily="34" charset="-122"/>
                <a:ea typeface="微软雅黑" panose="020B0503020204020204" pitchFamily="34" charset="-122"/>
              </a:rPr>
              <a:t>研究背景和意义</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TextBox 76"/>
          <p:cNvSpPr txBox="1"/>
          <p:nvPr/>
        </p:nvSpPr>
        <p:spPr>
          <a:xfrm>
            <a:off x="443585" y="173615"/>
            <a:ext cx="2672080" cy="521970"/>
          </a:xfrm>
          <a:prstGeom prst="rect">
            <a:avLst/>
          </a:prstGeom>
          <a:noFill/>
        </p:spPr>
        <p:txBody>
          <a:bodyPr wrap="none" rtlCol="0">
            <a:spAutoFit/>
          </a:bodyPr>
          <a:lstStyle/>
          <a:p>
            <a:r>
              <a:rPr lang="zh-CN" altLang="en-US" sz="2800" dirty="0">
                <a:solidFill>
                  <a:srgbClr val="002B41"/>
                </a:solidFill>
                <a:latin typeface="微软雅黑" panose="020B0503020204020204" pitchFamily="34" charset="-122"/>
                <a:ea typeface="微软雅黑" panose="020B0503020204020204" pitchFamily="34" charset="-122"/>
              </a:rPr>
              <a:t>研究背景和意义</a:t>
            </a: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pic>
        <p:nvPicPr>
          <p:cNvPr id="14" name="图片 13"/>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1024937" y="0"/>
            <a:ext cx="1167063" cy="1171495"/>
          </a:xfrm>
          <a:prstGeom prst="rect">
            <a:avLst/>
          </a:prstGeom>
        </p:spPr>
      </p:pic>
      <p:sp>
        <p:nvSpPr>
          <p:cNvPr id="3" name="圆角矩形 4"/>
          <p:cNvSpPr/>
          <p:nvPr/>
        </p:nvSpPr>
        <p:spPr>
          <a:xfrm>
            <a:off x="1399316" y="1171495"/>
            <a:ext cx="9625621" cy="761998"/>
          </a:xfrm>
          <a:prstGeom prst="roundRect">
            <a:avLst/>
          </a:prstGeom>
          <a:noFill/>
          <a:ln w="19050" cmpd="sng">
            <a:solidFill>
              <a:srgbClr val="002B41"/>
            </a:solidFill>
            <a:prstDash val="solid"/>
            <a:round/>
            <a:headEnd type="none"/>
            <a:tailEnd type="none" w="med" len="med"/>
          </a:ln>
          <a:effectLst>
            <a:outerShdw blurRad="635000" dist="254000" dir="2700000" algn="ctr" rotWithShape="0">
              <a:srgbClr val="808080">
                <a:alpha val="20000"/>
              </a:srgbClr>
            </a:outerShdw>
          </a:effectLst>
          <a:extLst>
            <a:ext uri="{909E8E84-426E-40DD-AFC4-6F175D3DCCD1}">
              <a14:hiddenFill xmlns:a14="http://schemas.microsoft.com/office/drawing/2010/main">
                <a:solidFill>
                  <a:srgbClr val="FFFFFF"/>
                </a:solidFill>
              </a14:hiddenFill>
            </a:ext>
          </a:ex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400" i="0" u="none" strike="noStrike" kern="0" cap="none" spc="0" normalizeH="0" baseline="0" noProof="0">
              <a:ln>
                <a:noFill/>
              </a:ln>
              <a:solidFill>
                <a:schemeClr val="bg1">
                  <a:lumMod val="95000"/>
                </a:schemeClr>
              </a:solidFill>
              <a:effectLst/>
              <a:uLnTx/>
              <a:uFillTx/>
              <a:latin typeface="微软雅黑" panose="020B0503020204020204" pitchFamily="34" charset="-122"/>
              <a:ea typeface="微软雅黑" panose="020B0503020204020204" pitchFamily="34" charset="-122"/>
            </a:endParaRPr>
          </a:p>
        </p:txBody>
      </p:sp>
      <p:sp>
        <p:nvSpPr>
          <p:cNvPr id="5" name="圆角矩形 5"/>
          <p:cNvSpPr/>
          <p:nvPr/>
        </p:nvSpPr>
        <p:spPr>
          <a:xfrm>
            <a:off x="1063487" y="1220242"/>
            <a:ext cx="694044" cy="658939"/>
          </a:xfrm>
          <a:prstGeom prst="roundRect">
            <a:avLst/>
          </a:prstGeom>
          <a:solidFill>
            <a:srgbClr val="002B41"/>
          </a:solidFill>
          <a:ln w="28575">
            <a:noFill/>
          </a:ln>
          <a:effectLst>
            <a:outerShdw blurRad="254000" dist="127000" dir="2700000" algn="tl" rotWithShape="0">
              <a:prstClr val="black">
                <a:alpha val="40000"/>
              </a:prstClr>
            </a:outerShdw>
          </a:effectLst>
        </p:spPr>
        <p:txBody>
          <a:bodyPr anchor="ctr"/>
          <a:lstStyle/>
          <a:p>
            <a:pPr algn="ctr"/>
            <a:r>
              <a:rPr lang="en-US" altLang="zh-CN" sz="2800" dirty="0">
                <a:solidFill>
                  <a:schemeClr val="bg1">
                    <a:lumMod val="95000"/>
                  </a:schemeClr>
                </a:solidFill>
                <a:latin typeface="微软雅黑" panose="020B0503020204020204" pitchFamily="34" charset="-122"/>
                <a:ea typeface="微软雅黑" panose="020B0503020204020204" pitchFamily="34" charset="-122"/>
              </a:rPr>
              <a:t>01</a:t>
            </a:r>
            <a:endParaRPr lang="zh-CN" altLang="en-US" sz="28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4320988" y="1286882"/>
            <a:ext cx="2883463" cy="525657"/>
          </a:xfrm>
          <a:prstGeom prst="rect">
            <a:avLst/>
          </a:prstGeom>
          <a:noFill/>
        </p:spPr>
        <p:txBody>
          <a:bodyPr wrap="square" rtlCol="0">
            <a:spAutoFit/>
          </a:bodyPr>
          <a:lstStyle/>
          <a:p>
            <a:pPr algn="ctr">
              <a:lnSpc>
                <a:spcPct val="130000"/>
              </a:lnSpc>
            </a:pPr>
            <a:r>
              <a:rPr lang="zh-CN" altLang="en-US" sz="2400" dirty="0">
                <a:solidFill>
                  <a:srgbClr val="002B41"/>
                </a:solidFill>
                <a:latin typeface="微软雅黑" panose="020B0503020204020204" pitchFamily="34" charset="-122"/>
                <a:ea typeface="微软雅黑" panose="020B0503020204020204" pitchFamily="34" charset="-122"/>
              </a:rPr>
              <a:t>研究背景与意义</a:t>
            </a:r>
            <a:endParaRPr lang="en-US" altLang="zh-CN" sz="2400" dirty="0">
              <a:solidFill>
                <a:srgbClr val="002B4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063487" y="2120515"/>
            <a:ext cx="9961450" cy="4215706"/>
          </a:xfrm>
          <a:prstGeom prst="rect">
            <a:avLst/>
          </a:prstGeom>
          <a:noFill/>
        </p:spPr>
        <p:txBody>
          <a:bodyPr wrap="square" rtlCol="0">
            <a:spAutoFit/>
          </a:bodyPr>
          <a:lstStyle/>
          <a:p>
            <a:pPr indent="457200" latinLnBrk="1">
              <a:lnSpc>
                <a:spcPct val="125000"/>
              </a:lnSpc>
              <a:extLst>
                <a:ext uri="{35155182-B16C-46BC-9424-99874614C6A1}">
                  <wpsdc:indentchars xmlns="" xmlns:wpsdc="http://www.wps.cn/officeDocument/2017/drawingmlCustomData" val="200" checksum="59296752"/>
                </a:ext>
              </a:extLst>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）工业安全的最后防线： </a:t>
            </a:r>
            <a:endParaRPr lang="en-US" altLang="zh-CN" dirty="0">
              <a:latin typeface="微软雅黑" panose="020B0503020204020204" pitchFamily="34" charset="-122"/>
              <a:ea typeface="微软雅黑" panose="020B0503020204020204" pitchFamily="34" charset="-122"/>
            </a:endParaRPr>
          </a:p>
          <a:p>
            <a:pPr indent="457200" latinLnBrk="1">
              <a:lnSpc>
                <a:spcPct val="125000"/>
              </a:lnSpc>
              <a:extLst>
                <a:ext uri="{35155182-B16C-46BC-9424-99874614C6A1}">
                  <wpsdc:indentchars xmlns="" xmlns:wpsdc="http://www.wps.cn/officeDocument/2017/drawingmlCustomData" val="200" checksum="59296752"/>
                </a:ext>
              </a:extLst>
            </a:pPr>
            <a:r>
              <a:rPr lang="zh-CN" altLang="en-US" dirty="0">
                <a:latin typeface="微软雅黑" panose="020B0503020204020204" pitchFamily="34" charset="-122"/>
                <a:ea typeface="微软雅黑" panose="020B0503020204020204" pitchFamily="34" charset="-122"/>
              </a:rPr>
              <a:t>工业控制系统（</a:t>
            </a:r>
            <a:r>
              <a:rPr lang="en-US" altLang="zh-CN" dirty="0">
                <a:latin typeface="微软雅黑" panose="020B0503020204020204" pitchFamily="34" charset="-122"/>
                <a:ea typeface="微软雅黑" panose="020B0503020204020204" pitchFamily="34" charset="-122"/>
              </a:rPr>
              <a:t>ICS</a:t>
            </a:r>
            <a:r>
              <a:rPr lang="zh-CN" altLang="en-US" dirty="0">
                <a:latin typeface="微软雅黑" panose="020B0503020204020204" pitchFamily="34" charset="-122"/>
                <a:ea typeface="微软雅黑" panose="020B0503020204020204" pitchFamily="34" charset="-122"/>
              </a:rPr>
              <a:t>）正面临日益复杂的针对性物理攻击。虽然入侵检测系统（</a:t>
            </a:r>
            <a:r>
              <a:rPr lang="en-US" altLang="zh-CN" dirty="0">
                <a:latin typeface="微软雅黑" panose="020B0503020204020204" pitchFamily="34" charset="-122"/>
                <a:ea typeface="微软雅黑" panose="020B0503020204020204" pitchFamily="34" charset="-122"/>
              </a:rPr>
              <a:t>IIDS</a:t>
            </a:r>
            <a:r>
              <a:rPr lang="zh-CN" altLang="en-US" dirty="0">
                <a:latin typeface="微软雅黑" panose="020B0503020204020204" pitchFamily="34" charset="-122"/>
                <a:ea typeface="微软雅黑" panose="020B0503020204020204" pitchFamily="34" charset="-122"/>
              </a:rPr>
              <a:t>）是关键防线，但中小型工厂往往缺乏深厚的领域安全专家来手动配置和维护复杂的防御模型。</a:t>
            </a:r>
            <a:endParaRPr lang="en-US" altLang="zh-CN" dirty="0">
              <a:latin typeface="微软雅黑" panose="020B0503020204020204" pitchFamily="34" charset="-122"/>
              <a:ea typeface="微软雅黑" panose="020B0503020204020204" pitchFamily="34" charset="-122"/>
            </a:endParaRPr>
          </a:p>
          <a:p>
            <a:pPr indent="457200" latinLnBrk="1">
              <a:lnSpc>
                <a:spcPct val="125000"/>
              </a:lnSpc>
              <a:extLst>
                <a:ext uri="{35155182-B16C-46BC-9424-99874614C6A1}">
                  <wpsdc:indentchars xmlns="" xmlns:wpsdc="http://www.wps.cn/officeDocument/2017/drawingmlCustomData" val="200" checksum="59296752"/>
                </a:ext>
              </a:extLst>
            </a:pPr>
            <a:endParaRPr lang="en-US" altLang="zh-CN" dirty="0">
              <a:latin typeface="微软雅黑" panose="020B0503020204020204" pitchFamily="34" charset="-122"/>
              <a:ea typeface="微软雅黑" panose="020B0503020204020204" pitchFamily="34" charset="-122"/>
              <a:sym typeface="+mn-ea"/>
            </a:endParaRPr>
          </a:p>
          <a:p>
            <a:pPr indent="457200" latinLnBrk="1">
              <a:lnSpc>
                <a:spcPct val="125000"/>
              </a:lnSpc>
              <a:extLst>
                <a:ext uri="{35155182-B16C-46BC-9424-99874614C6A1}">
                  <wpsdc:indentchars xmlns="" xmlns:wpsdc="http://www.wps.cn/officeDocument/2017/drawingmlCustomData" val="200" checksum="59296752"/>
                </a:ext>
              </a:extLst>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）当前技术的两难困境：</a:t>
            </a:r>
            <a:endParaRPr lang="en-US" altLang="zh-CN" dirty="0">
              <a:latin typeface="微软雅黑" panose="020B0503020204020204" pitchFamily="34" charset="-122"/>
              <a:ea typeface="微软雅黑" panose="020B0503020204020204" pitchFamily="34" charset="-122"/>
            </a:endParaRPr>
          </a:p>
          <a:p>
            <a:pPr indent="457200" latinLnBrk="1">
              <a:lnSpc>
                <a:spcPct val="125000"/>
              </a:lnSpc>
              <a:extLst>
                <a:ext uri="{35155182-B16C-46BC-9424-99874614C6A1}">
                  <wpsdc:indentchars xmlns="" xmlns:wpsdc="http://www.wps.cn/officeDocument/2017/drawingmlCustomData" val="200" checksum="59296752"/>
                </a:ext>
              </a:extLst>
            </a:pPr>
            <a:r>
              <a:rPr lang="zh-CN" altLang="en-US" dirty="0">
                <a:latin typeface="微软雅黑" panose="020B0503020204020204" pitchFamily="34" charset="-122"/>
                <a:ea typeface="微软雅黑" panose="020B0503020204020204" pitchFamily="34" charset="-122"/>
              </a:rPr>
              <a:t>纯数据驱动范式（如机器学习）： 优势是高度自动化、泛化能力强 ；痛点是“黑盒运行”，阻碍了理解告警所需的透明度，难以进行故障定位 。</a:t>
            </a:r>
            <a:endParaRPr lang="en-US" altLang="zh-CN" dirty="0">
              <a:latin typeface="微软雅黑" panose="020B0503020204020204" pitchFamily="34" charset="-122"/>
              <a:ea typeface="微软雅黑" panose="020B0503020204020204" pitchFamily="34" charset="-122"/>
            </a:endParaRPr>
          </a:p>
          <a:p>
            <a:pPr indent="457200" latinLnBrk="1">
              <a:lnSpc>
                <a:spcPct val="125000"/>
              </a:lnSpc>
              <a:extLst>
                <a:ext uri="{35155182-B16C-46BC-9424-99874614C6A1}">
                  <wpsdc:indentchars xmlns="" xmlns:wpsdc="http://www.wps.cn/officeDocument/2017/drawingmlCustomData" val="200" checksum="59296752"/>
                </a:ext>
              </a:extLst>
            </a:pPr>
            <a:r>
              <a:rPr lang="zh-CN" altLang="en-US" dirty="0">
                <a:latin typeface="微软雅黑" panose="020B0503020204020204" pitchFamily="34" charset="-122"/>
                <a:ea typeface="微软雅黑" panose="020B0503020204020204" pitchFamily="34" charset="-122"/>
              </a:rPr>
              <a:t>专家知识范式（如物理公式）： 优势是逻辑清晰、好溯源 ；痛点是极其依赖领域专家的手工配置，耗时耗力，容易出现模型遗漏，且根本无法轻易移植到新的工厂环境 。</a:t>
            </a:r>
            <a:endParaRPr lang="en-US" altLang="zh-CN" dirty="0">
              <a:latin typeface="微软雅黑" panose="020B0503020204020204" pitchFamily="34" charset="-122"/>
              <a:ea typeface="微软雅黑" panose="020B0503020204020204" pitchFamily="34" charset="-122"/>
            </a:endParaRPr>
          </a:p>
          <a:p>
            <a:pPr indent="457200" latinLnBrk="1">
              <a:lnSpc>
                <a:spcPct val="125000"/>
              </a:lnSpc>
              <a:extLst>
                <a:ext uri="{35155182-B16C-46BC-9424-99874614C6A1}">
                  <wpsdc:indentchars xmlns="" xmlns:wpsdc="http://www.wps.cn/officeDocument/2017/drawingmlCustomData" val="200" checksum="59296752"/>
                </a:ext>
              </a:extLst>
            </a:pPr>
            <a:endParaRPr lang="en-US" altLang="zh-CN" dirty="0">
              <a:latin typeface="微软雅黑" panose="020B0503020204020204" pitchFamily="34" charset="-122"/>
              <a:ea typeface="微软雅黑" panose="020B0503020204020204" pitchFamily="34" charset="-122"/>
              <a:sym typeface="+mn-ea"/>
            </a:endParaRPr>
          </a:p>
          <a:p>
            <a:pPr indent="457200" latinLnBrk="1">
              <a:lnSpc>
                <a:spcPct val="125000"/>
              </a:lnSpc>
              <a:extLst>
                <a:ext uri="{35155182-B16C-46BC-9424-99874614C6A1}">
                  <wpsdc:indentchars xmlns="" xmlns:wpsdc="http://www.wps.cn/officeDocument/2017/drawingmlCustomData" val="200" checksum="59296752"/>
                </a:ext>
              </a:extLst>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GeCos</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的破局使命： </a:t>
            </a:r>
            <a:endParaRPr lang="en-US" altLang="zh-CN" dirty="0">
              <a:latin typeface="微软雅黑" panose="020B0503020204020204" pitchFamily="34" charset="-122"/>
              <a:ea typeface="微软雅黑" panose="020B0503020204020204" pitchFamily="34" charset="-122"/>
            </a:endParaRPr>
          </a:p>
          <a:p>
            <a:pPr indent="457200" latinLnBrk="1">
              <a:lnSpc>
                <a:spcPct val="125000"/>
              </a:lnSpc>
              <a:extLst>
                <a:ext uri="{35155182-B16C-46BC-9424-99874614C6A1}">
                  <wpsdc:indentchars xmlns="" xmlns:wpsdc="http://www.wps.cn/officeDocument/2017/drawingmlCustomData" val="200" checksum="59296752"/>
                </a:ext>
              </a:extLst>
            </a:pPr>
            <a:r>
              <a:rPr lang="zh-CN" altLang="en-US" dirty="0">
                <a:latin typeface="微软雅黑" panose="020B0503020204020204" pitchFamily="34" charset="-122"/>
                <a:ea typeface="微软雅黑" panose="020B0503020204020204" pitchFamily="34" charset="-122"/>
              </a:rPr>
              <a:t>能不能让机器自动去生成专家物理公式？这是 </a:t>
            </a:r>
            <a:r>
              <a:rPr lang="en-US" altLang="zh-CN" dirty="0" err="1">
                <a:latin typeface="微软雅黑" panose="020B0503020204020204" pitchFamily="34" charset="-122"/>
                <a:ea typeface="微软雅黑" panose="020B0503020204020204" pitchFamily="34" charset="-122"/>
              </a:rPr>
              <a:t>GeCos</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要解决的核心问题 。</a:t>
            </a:r>
            <a:endParaRPr lang="zh-CN" altLang="en-US"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Line 16"/>
          <p:cNvSpPr>
            <a:spLocks noChangeShapeType="1"/>
          </p:cNvSpPr>
          <p:nvPr/>
        </p:nvSpPr>
        <p:spPr bwMode="auto">
          <a:xfrm flipH="1">
            <a:off x="3724539" y="-179684"/>
            <a:ext cx="4072921" cy="7040124"/>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white">
                  <a:lumMod val="95000"/>
                </a:prstClr>
              </a:solidFill>
            </a:endParaRPr>
          </a:p>
        </p:txBody>
      </p:sp>
      <p:sp>
        <p:nvSpPr>
          <p:cNvPr id="3" name="Line 18"/>
          <p:cNvSpPr>
            <a:spLocks noChangeShapeType="1"/>
          </p:cNvSpPr>
          <p:nvPr/>
        </p:nvSpPr>
        <p:spPr bwMode="auto">
          <a:xfrm flipH="1" flipV="1">
            <a:off x="1904214" y="-1"/>
            <a:ext cx="6243498" cy="6890832"/>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white">
                  <a:lumMod val="95000"/>
                </a:prstClr>
              </a:solidFill>
            </a:endParaRPr>
          </a:p>
        </p:txBody>
      </p:sp>
      <p:sp>
        <p:nvSpPr>
          <p:cNvPr id="4" name="Line 17"/>
          <p:cNvSpPr>
            <a:spLocks noChangeShapeType="1"/>
          </p:cNvSpPr>
          <p:nvPr/>
        </p:nvSpPr>
        <p:spPr bwMode="auto">
          <a:xfrm>
            <a:off x="0" y="2500664"/>
            <a:ext cx="12192000" cy="3271025"/>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white">
                  <a:lumMod val="95000"/>
                </a:prstClr>
              </a:solidFill>
            </a:endParaRPr>
          </a:p>
        </p:txBody>
      </p:sp>
      <p:sp>
        <p:nvSpPr>
          <p:cNvPr id="5" name="Freeform 5"/>
          <p:cNvSpPr/>
          <p:nvPr/>
        </p:nvSpPr>
        <p:spPr bwMode="auto">
          <a:xfrm>
            <a:off x="2335428" y="0"/>
            <a:ext cx="7521143" cy="6890833"/>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 name="connsiteX0" fmla="*/ 4048 w 7779"/>
              <a:gd name="connsiteY0" fmla="*/ 0 h 10000"/>
              <a:gd name="connsiteX1" fmla="*/ 7779 w 7779"/>
              <a:gd name="connsiteY1" fmla="*/ 0 h 10000"/>
              <a:gd name="connsiteX2" fmla="*/ 7779 w 7779"/>
              <a:gd name="connsiteY2" fmla="*/ 10000 h 10000"/>
              <a:gd name="connsiteX3" fmla="*/ 0 w 7779"/>
              <a:gd name="connsiteY3" fmla="*/ 7610 h 10000"/>
              <a:gd name="connsiteX4" fmla="*/ 4048 w 7779"/>
              <a:gd name="connsiteY4" fmla="*/ 0 h 10000"/>
              <a:gd name="connsiteX0-1" fmla="*/ 5204 w 14475"/>
              <a:gd name="connsiteY0-2" fmla="*/ 0 h 9785"/>
              <a:gd name="connsiteX1-3" fmla="*/ 10000 w 14475"/>
              <a:gd name="connsiteY1-4" fmla="*/ 0 h 9785"/>
              <a:gd name="connsiteX2-5" fmla="*/ 14475 w 14475"/>
              <a:gd name="connsiteY2-6" fmla="*/ 9785 h 9785"/>
              <a:gd name="connsiteX3-7" fmla="*/ 0 w 14475"/>
              <a:gd name="connsiteY3-8" fmla="*/ 7610 h 9785"/>
              <a:gd name="connsiteX4-9" fmla="*/ 5204 w 14475"/>
              <a:gd name="connsiteY4-10" fmla="*/ 0 h 9785"/>
              <a:gd name="connsiteX0-11" fmla="*/ 5713 w 12118"/>
              <a:gd name="connsiteY0-12" fmla="*/ 0 h 10000"/>
              <a:gd name="connsiteX1-13" fmla="*/ 9026 w 12118"/>
              <a:gd name="connsiteY1-14" fmla="*/ 0 h 10000"/>
              <a:gd name="connsiteX2-15" fmla="*/ 12118 w 12118"/>
              <a:gd name="connsiteY2-16" fmla="*/ 10000 h 10000"/>
              <a:gd name="connsiteX3-17" fmla="*/ 0 w 12118"/>
              <a:gd name="connsiteY3-18" fmla="*/ 8114 h 10000"/>
              <a:gd name="connsiteX4-19" fmla="*/ 5713 w 12118"/>
              <a:gd name="connsiteY4-20" fmla="*/ 0 h 10000"/>
              <a:gd name="connsiteX0-21" fmla="*/ 6684 w 13089"/>
              <a:gd name="connsiteY0-22" fmla="*/ 0 h 10000"/>
              <a:gd name="connsiteX1-23" fmla="*/ 9997 w 13089"/>
              <a:gd name="connsiteY1-24" fmla="*/ 0 h 10000"/>
              <a:gd name="connsiteX2-25" fmla="*/ 13089 w 13089"/>
              <a:gd name="connsiteY2-26" fmla="*/ 10000 h 10000"/>
              <a:gd name="connsiteX3-27" fmla="*/ 0 w 13089"/>
              <a:gd name="connsiteY3-28" fmla="*/ 8173 h 10000"/>
              <a:gd name="connsiteX4-29" fmla="*/ 6684 w 13089"/>
              <a:gd name="connsiteY4-30" fmla="*/ 0 h 10000"/>
              <a:gd name="connsiteX0-31" fmla="*/ 2369 w 8774"/>
              <a:gd name="connsiteY0-32" fmla="*/ 0 h 10000"/>
              <a:gd name="connsiteX1-33" fmla="*/ 5682 w 8774"/>
              <a:gd name="connsiteY1-34" fmla="*/ 0 h 10000"/>
              <a:gd name="connsiteX2-35" fmla="*/ 8774 w 8774"/>
              <a:gd name="connsiteY2-36" fmla="*/ 10000 h 10000"/>
              <a:gd name="connsiteX3-37" fmla="*/ 0 w 8774"/>
              <a:gd name="connsiteY3-38" fmla="*/ 7222 h 10000"/>
              <a:gd name="connsiteX4-39" fmla="*/ 2369 w 8774"/>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74" h="10000">
                <a:moveTo>
                  <a:pt x="2369" y="0"/>
                </a:moveTo>
                <a:lnTo>
                  <a:pt x="5682" y="0"/>
                </a:lnTo>
                <a:lnTo>
                  <a:pt x="8774" y="10000"/>
                </a:lnTo>
                <a:lnTo>
                  <a:pt x="0" y="7222"/>
                </a:lnTo>
                <a:lnTo>
                  <a:pt x="2369"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prstClr val="white">
                  <a:lumMod val="95000"/>
                </a:prstClr>
              </a:solidFill>
            </a:endParaRPr>
          </a:p>
        </p:txBody>
      </p:sp>
      <p:sp>
        <p:nvSpPr>
          <p:cNvPr id="6" name="TextBox 76"/>
          <p:cNvSpPr txBox="1"/>
          <p:nvPr/>
        </p:nvSpPr>
        <p:spPr>
          <a:xfrm>
            <a:off x="4464784" y="1992830"/>
            <a:ext cx="3262432" cy="1015663"/>
          </a:xfrm>
          <a:prstGeom prst="rect">
            <a:avLst/>
          </a:prstGeom>
          <a:noFill/>
          <a:effectLst/>
        </p:spPr>
        <p:txBody>
          <a:bodyPr wrap="none" rtlCol="0">
            <a:spAutoFit/>
          </a:bodyPr>
          <a:lstStyle/>
          <a:p>
            <a:pPr algn="ctr"/>
            <a:r>
              <a:rPr lang="zh-CN" altLang="en-US" sz="6000" dirty="0">
                <a:solidFill>
                  <a:prstClr val="white">
                    <a:lumMod val="95000"/>
                  </a:prstClr>
                </a:solidFill>
                <a:latin typeface="微软雅黑" panose="020B0503020204020204" pitchFamily="34" charset="-122"/>
                <a:ea typeface="微软雅黑" panose="020B0503020204020204" pitchFamily="34" charset="-122"/>
              </a:rPr>
              <a:t>第二部分</a:t>
            </a:r>
          </a:p>
        </p:txBody>
      </p:sp>
      <p:sp>
        <p:nvSpPr>
          <p:cNvPr id="9" name="TextBox 76"/>
          <p:cNvSpPr txBox="1"/>
          <p:nvPr/>
        </p:nvSpPr>
        <p:spPr>
          <a:xfrm>
            <a:off x="4323048" y="3333989"/>
            <a:ext cx="3545903" cy="583565"/>
          </a:xfrm>
          <a:prstGeom prst="rect">
            <a:avLst/>
          </a:prstGeom>
          <a:noFill/>
          <a:effectLst/>
        </p:spPr>
        <p:txBody>
          <a:bodyPr wrap="square" rtlCol="0">
            <a:spAutoFit/>
          </a:bodyPr>
          <a:lstStyle/>
          <a:p>
            <a:pPr algn="ctr"/>
            <a:r>
              <a:rPr lang="zh-CN" altLang="en-US" sz="3200" dirty="0">
                <a:solidFill>
                  <a:prstClr val="white">
                    <a:lumMod val="95000"/>
                  </a:prstClr>
                </a:solidFill>
                <a:latin typeface="微软雅黑" panose="020B0503020204020204" pitchFamily="34" charset="-122"/>
                <a:ea typeface="微软雅黑" panose="020B0503020204020204" pitchFamily="34" charset="-122"/>
              </a:rPr>
              <a:t>核心思想</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TextBox 76"/>
          <p:cNvSpPr txBox="1"/>
          <p:nvPr/>
        </p:nvSpPr>
        <p:spPr>
          <a:xfrm>
            <a:off x="443585" y="173615"/>
            <a:ext cx="1620957" cy="523220"/>
          </a:xfrm>
          <a:prstGeom prst="rect">
            <a:avLst/>
          </a:prstGeom>
          <a:noFill/>
        </p:spPr>
        <p:txBody>
          <a:bodyPr wrap="none" rtlCol="0">
            <a:spAutoFit/>
          </a:bodyPr>
          <a:lstStyle/>
          <a:p>
            <a:r>
              <a:rPr lang="zh-CN" altLang="en-US" sz="2800" dirty="0">
                <a:solidFill>
                  <a:srgbClr val="002B41"/>
                </a:solidFill>
                <a:latin typeface="微软雅黑" panose="020B0503020204020204" pitchFamily="34" charset="-122"/>
                <a:ea typeface="微软雅黑" panose="020B0503020204020204" pitchFamily="34" charset="-122"/>
              </a:rPr>
              <a:t>核心思想</a:t>
            </a: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pic>
        <p:nvPicPr>
          <p:cNvPr id="15" name="图片 14"/>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1024937" y="0"/>
            <a:ext cx="1167063" cy="1171495"/>
          </a:xfrm>
          <a:prstGeom prst="rect">
            <a:avLst/>
          </a:prstGeom>
        </p:spPr>
      </p:pic>
      <p:sp>
        <p:nvSpPr>
          <p:cNvPr id="23" name="文本框 22"/>
          <p:cNvSpPr txBox="1"/>
          <p:nvPr/>
        </p:nvSpPr>
        <p:spPr>
          <a:xfrm>
            <a:off x="850750" y="1171323"/>
            <a:ext cx="8275320" cy="5210810"/>
          </a:xfrm>
          <a:prstGeom prst="rect">
            <a:avLst/>
          </a:prstGeom>
          <a:noFill/>
        </p:spPr>
        <p:txBody>
          <a:bodyPr wrap="square" rtlCol="0">
            <a:spAutoFit/>
          </a:bodyPr>
          <a:lstStyle/>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30000"/>
              </a:lnSpc>
            </a:pPr>
            <a:endParaRPr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1063487" y="2048880"/>
            <a:ext cx="9825318" cy="4247317"/>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核心逻辑： </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任何工业系统都遵循物理定律。将每个组件的良性行为表示为相关测点的数学组合，就能通过预测值与真实值的偏差来抓取异常。</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err="1">
                <a:latin typeface="微软雅黑" panose="020B0503020204020204" pitchFamily="34" charset="-122"/>
                <a:ea typeface="微软雅黑" panose="020B0503020204020204" pitchFamily="34" charset="-122"/>
              </a:rPr>
              <a:t>GeCos</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的运作三步曲：</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）机器自动建模： 机器自己翻阅历史数据，找出传感器与执行器之间的物理关联公式。</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）实时物理预测： 运行过程中，根据刚才的公式，预测下一秒物理世界应该发生什么。</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）误差追踪告警： 对比“预测值”和“真实值”，误差一旦超出合理范围，立刻告警。</a:t>
            </a:r>
          </a:p>
        </p:txBody>
      </p:sp>
      <p:sp>
        <p:nvSpPr>
          <p:cNvPr id="7" name="圆角矩形 4"/>
          <p:cNvSpPr/>
          <p:nvPr/>
        </p:nvSpPr>
        <p:spPr>
          <a:xfrm>
            <a:off x="1399316" y="1171495"/>
            <a:ext cx="9625621" cy="761998"/>
          </a:xfrm>
          <a:prstGeom prst="roundRect">
            <a:avLst/>
          </a:prstGeom>
          <a:noFill/>
          <a:ln w="19050" cmpd="sng">
            <a:solidFill>
              <a:srgbClr val="002B41"/>
            </a:solidFill>
            <a:prstDash val="solid"/>
            <a:round/>
            <a:headEnd type="none"/>
            <a:tailEnd type="none" w="med" len="med"/>
          </a:ln>
          <a:effectLst>
            <a:outerShdw blurRad="635000" dist="254000" dir="2700000" algn="ctr" rotWithShape="0">
              <a:srgbClr val="808080">
                <a:alpha val="20000"/>
              </a:srgbClr>
            </a:outerShdw>
          </a:effectLst>
          <a:extLst>
            <a:ext uri="{909E8E84-426E-40DD-AFC4-6F175D3DCCD1}">
              <a14:hiddenFill xmlns:a14="http://schemas.microsoft.com/office/drawing/2010/main">
                <a:solidFill>
                  <a:srgbClr val="FFFFFF"/>
                </a:solidFill>
              </a14:hiddenFill>
            </a:ext>
          </a:ex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400" i="0" u="none" strike="noStrike" kern="0" cap="none" spc="0" normalizeH="0" baseline="0" noProof="0">
              <a:ln>
                <a:noFill/>
              </a:ln>
              <a:solidFill>
                <a:schemeClr val="bg1">
                  <a:lumMod val="95000"/>
                </a:schemeClr>
              </a:solidFill>
              <a:effectLst/>
              <a:uLnTx/>
              <a:uFillTx/>
              <a:latin typeface="微软雅黑" panose="020B0503020204020204" pitchFamily="34" charset="-122"/>
              <a:ea typeface="微软雅黑" panose="020B0503020204020204" pitchFamily="34" charset="-122"/>
            </a:endParaRPr>
          </a:p>
        </p:txBody>
      </p:sp>
      <p:sp>
        <p:nvSpPr>
          <p:cNvPr id="8" name="圆角矩形 5"/>
          <p:cNvSpPr/>
          <p:nvPr/>
        </p:nvSpPr>
        <p:spPr>
          <a:xfrm>
            <a:off x="1063487" y="1220242"/>
            <a:ext cx="694044" cy="658939"/>
          </a:xfrm>
          <a:prstGeom prst="roundRect">
            <a:avLst/>
          </a:prstGeom>
          <a:solidFill>
            <a:srgbClr val="002B41"/>
          </a:solidFill>
          <a:ln w="28575">
            <a:noFill/>
          </a:ln>
          <a:effectLst>
            <a:outerShdw blurRad="254000" dist="127000" dir="2700000" algn="tl" rotWithShape="0">
              <a:prstClr val="black">
                <a:alpha val="40000"/>
              </a:prstClr>
            </a:outerShdw>
          </a:effectLst>
        </p:spPr>
        <p:txBody>
          <a:bodyPr anchor="ctr"/>
          <a:lstStyle/>
          <a:p>
            <a:pPr algn="ctr"/>
            <a:r>
              <a:rPr lang="en-US" altLang="zh-CN" sz="2800" dirty="0">
                <a:solidFill>
                  <a:schemeClr val="bg1">
                    <a:lumMod val="95000"/>
                  </a:schemeClr>
                </a:solidFill>
                <a:latin typeface="微软雅黑" panose="020B0503020204020204" pitchFamily="34" charset="-122"/>
                <a:ea typeface="微软雅黑" panose="020B0503020204020204" pitchFamily="34" charset="-122"/>
              </a:rPr>
              <a:t>01</a:t>
            </a:r>
            <a:endParaRPr lang="zh-CN" altLang="en-US" sz="28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4320988" y="1286882"/>
            <a:ext cx="2883463" cy="525657"/>
          </a:xfrm>
          <a:prstGeom prst="rect">
            <a:avLst/>
          </a:prstGeom>
          <a:noFill/>
        </p:spPr>
        <p:txBody>
          <a:bodyPr wrap="square" rtlCol="0">
            <a:spAutoFit/>
          </a:bodyPr>
          <a:lstStyle/>
          <a:p>
            <a:pPr algn="ctr">
              <a:lnSpc>
                <a:spcPct val="130000"/>
              </a:lnSpc>
            </a:pPr>
            <a:r>
              <a:rPr lang="zh-CN" altLang="en-US" sz="2400" dirty="0">
                <a:solidFill>
                  <a:srgbClr val="002B41"/>
                </a:solidFill>
                <a:latin typeface="微软雅黑" panose="020B0503020204020204" pitchFamily="34" charset="-122"/>
                <a:ea typeface="微软雅黑" panose="020B0503020204020204" pitchFamily="34" charset="-122"/>
              </a:rPr>
              <a:t>核心思想</a:t>
            </a:r>
            <a:endParaRPr lang="en-US" altLang="zh-CN" sz="2400" dirty="0">
              <a:solidFill>
                <a:srgbClr val="002B4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4"/>
          <a:stretch>
            <a:fillRect/>
          </a:stretch>
        </p:blipFill>
        <p:spPr>
          <a:xfrm>
            <a:off x="1153795" y="2964180"/>
            <a:ext cx="5745480" cy="20288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Line 16"/>
          <p:cNvSpPr>
            <a:spLocks noChangeShapeType="1"/>
          </p:cNvSpPr>
          <p:nvPr/>
        </p:nvSpPr>
        <p:spPr bwMode="auto">
          <a:xfrm flipH="1">
            <a:off x="3724539" y="-179684"/>
            <a:ext cx="4072921" cy="7040124"/>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white">
                  <a:lumMod val="95000"/>
                </a:prstClr>
              </a:solidFill>
            </a:endParaRPr>
          </a:p>
        </p:txBody>
      </p:sp>
      <p:sp>
        <p:nvSpPr>
          <p:cNvPr id="3" name="Line 18"/>
          <p:cNvSpPr>
            <a:spLocks noChangeShapeType="1"/>
          </p:cNvSpPr>
          <p:nvPr/>
        </p:nvSpPr>
        <p:spPr bwMode="auto">
          <a:xfrm flipH="1" flipV="1">
            <a:off x="1904214" y="-1"/>
            <a:ext cx="6243498" cy="6890832"/>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white">
                  <a:lumMod val="95000"/>
                </a:prstClr>
              </a:solidFill>
            </a:endParaRPr>
          </a:p>
        </p:txBody>
      </p:sp>
      <p:sp>
        <p:nvSpPr>
          <p:cNvPr id="4" name="Line 17"/>
          <p:cNvSpPr>
            <a:spLocks noChangeShapeType="1"/>
          </p:cNvSpPr>
          <p:nvPr/>
        </p:nvSpPr>
        <p:spPr bwMode="auto">
          <a:xfrm>
            <a:off x="0" y="2500664"/>
            <a:ext cx="12192000" cy="3271025"/>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white">
                  <a:lumMod val="95000"/>
                </a:prstClr>
              </a:solidFill>
            </a:endParaRPr>
          </a:p>
        </p:txBody>
      </p:sp>
      <p:sp>
        <p:nvSpPr>
          <p:cNvPr id="5" name="Freeform 5"/>
          <p:cNvSpPr/>
          <p:nvPr/>
        </p:nvSpPr>
        <p:spPr bwMode="auto">
          <a:xfrm>
            <a:off x="2335428" y="0"/>
            <a:ext cx="7521143" cy="6890833"/>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 name="connsiteX0" fmla="*/ 4048 w 7779"/>
              <a:gd name="connsiteY0" fmla="*/ 0 h 10000"/>
              <a:gd name="connsiteX1" fmla="*/ 7779 w 7779"/>
              <a:gd name="connsiteY1" fmla="*/ 0 h 10000"/>
              <a:gd name="connsiteX2" fmla="*/ 7779 w 7779"/>
              <a:gd name="connsiteY2" fmla="*/ 10000 h 10000"/>
              <a:gd name="connsiteX3" fmla="*/ 0 w 7779"/>
              <a:gd name="connsiteY3" fmla="*/ 7610 h 10000"/>
              <a:gd name="connsiteX4" fmla="*/ 4048 w 7779"/>
              <a:gd name="connsiteY4" fmla="*/ 0 h 10000"/>
              <a:gd name="connsiteX0-1" fmla="*/ 5204 w 14475"/>
              <a:gd name="connsiteY0-2" fmla="*/ 0 h 9785"/>
              <a:gd name="connsiteX1-3" fmla="*/ 10000 w 14475"/>
              <a:gd name="connsiteY1-4" fmla="*/ 0 h 9785"/>
              <a:gd name="connsiteX2-5" fmla="*/ 14475 w 14475"/>
              <a:gd name="connsiteY2-6" fmla="*/ 9785 h 9785"/>
              <a:gd name="connsiteX3-7" fmla="*/ 0 w 14475"/>
              <a:gd name="connsiteY3-8" fmla="*/ 7610 h 9785"/>
              <a:gd name="connsiteX4-9" fmla="*/ 5204 w 14475"/>
              <a:gd name="connsiteY4-10" fmla="*/ 0 h 9785"/>
              <a:gd name="connsiteX0-11" fmla="*/ 5713 w 12118"/>
              <a:gd name="connsiteY0-12" fmla="*/ 0 h 10000"/>
              <a:gd name="connsiteX1-13" fmla="*/ 9026 w 12118"/>
              <a:gd name="connsiteY1-14" fmla="*/ 0 h 10000"/>
              <a:gd name="connsiteX2-15" fmla="*/ 12118 w 12118"/>
              <a:gd name="connsiteY2-16" fmla="*/ 10000 h 10000"/>
              <a:gd name="connsiteX3-17" fmla="*/ 0 w 12118"/>
              <a:gd name="connsiteY3-18" fmla="*/ 8114 h 10000"/>
              <a:gd name="connsiteX4-19" fmla="*/ 5713 w 12118"/>
              <a:gd name="connsiteY4-20" fmla="*/ 0 h 10000"/>
              <a:gd name="connsiteX0-21" fmla="*/ 6684 w 13089"/>
              <a:gd name="connsiteY0-22" fmla="*/ 0 h 10000"/>
              <a:gd name="connsiteX1-23" fmla="*/ 9997 w 13089"/>
              <a:gd name="connsiteY1-24" fmla="*/ 0 h 10000"/>
              <a:gd name="connsiteX2-25" fmla="*/ 13089 w 13089"/>
              <a:gd name="connsiteY2-26" fmla="*/ 10000 h 10000"/>
              <a:gd name="connsiteX3-27" fmla="*/ 0 w 13089"/>
              <a:gd name="connsiteY3-28" fmla="*/ 8173 h 10000"/>
              <a:gd name="connsiteX4-29" fmla="*/ 6684 w 13089"/>
              <a:gd name="connsiteY4-30" fmla="*/ 0 h 10000"/>
              <a:gd name="connsiteX0-31" fmla="*/ 2369 w 8774"/>
              <a:gd name="connsiteY0-32" fmla="*/ 0 h 10000"/>
              <a:gd name="connsiteX1-33" fmla="*/ 5682 w 8774"/>
              <a:gd name="connsiteY1-34" fmla="*/ 0 h 10000"/>
              <a:gd name="connsiteX2-35" fmla="*/ 8774 w 8774"/>
              <a:gd name="connsiteY2-36" fmla="*/ 10000 h 10000"/>
              <a:gd name="connsiteX3-37" fmla="*/ 0 w 8774"/>
              <a:gd name="connsiteY3-38" fmla="*/ 7222 h 10000"/>
              <a:gd name="connsiteX4-39" fmla="*/ 2369 w 8774"/>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74" h="10000">
                <a:moveTo>
                  <a:pt x="2369" y="0"/>
                </a:moveTo>
                <a:lnTo>
                  <a:pt x="5682" y="0"/>
                </a:lnTo>
                <a:lnTo>
                  <a:pt x="8774" y="10000"/>
                </a:lnTo>
                <a:lnTo>
                  <a:pt x="0" y="7222"/>
                </a:lnTo>
                <a:lnTo>
                  <a:pt x="2369"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prstClr val="white">
                  <a:lumMod val="95000"/>
                </a:prstClr>
              </a:solidFill>
            </a:endParaRPr>
          </a:p>
        </p:txBody>
      </p:sp>
      <p:sp>
        <p:nvSpPr>
          <p:cNvPr id="6" name="TextBox 76"/>
          <p:cNvSpPr txBox="1"/>
          <p:nvPr/>
        </p:nvSpPr>
        <p:spPr>
          <a:xfrm>
            <a:off x="4464784" y="1992830"/>
            <a:ext cx="3262432" cy="1015663"/>
          </a:xfrm>
          <a:prstGeom prst="rect">
            <a:avLst/>
          </a:prstGeom>
          <a:noFill/>
          <a:effectLst/>
        </p:spPr>
        <p:txBody>
          <a:bodyPr wrap="none" rtlCol="0">
            <a:spAutoFit/>
          </a:bodyPr>
          <a:lstStyle/>
          <a:p>
            <a:pPr algn="ctr"/>
            <a:r>
              <a:rPr lang="zh-CN" altLang="en-US" sz="6000" dirty="0">
                <a:solidFill>
                  <a:prstClr val="white">
                    <a:lumMod val="95000"/>
                  </a:prstClr>
                </a:solidFill>
                <a:latin typeface="微软雅黑" panose="020B0503020204020204" pitchFamily="34" charset="-122"/>
                <a:ea typeface="微软雅黑" panose="020B0503020204020204" pitchFamily="34" charset="-122"/>
              </a:rPr>
              <a:t>第三部分</a:t>
            </a:r>
          </a:p>
        </p:txBody>
      </p:sp>
      <p:sp>
        <p:nvSpPr>
          <p:cNvPr id="9" name="TextBox 76"/>
          <p:cNvSpPr txBox="1"/>
          <p:nvPr/>
        </p:nvSpPr>
        <p:spPr>
          <a:xfrm>
            <a:off x="4323048" y="3333989"/>
            <a:ext cx="3545903" cy="583565"/>
          </a:xfrm>
          <a:prstGeom prst="rect">
            <a:avLst/>
          </a:prstGeom>
          <a:noFill/>
          <a:effectLst/>
        </p:spPr>
        <p:txBody>
          <a:bodyPr wrap="square" rtlCol="0">
            <a:spAutoFit/>
          </a:bodyPr>
          <a:lstStyle/>
          <a:p>
            <a:pPr algn="ctr"/>
            <a:r>
              <a:rPr lang="zh-CN" altLang="en-US" sz="3200" dirty="0">
                <a:solidFill>
                  <a:prstClr val="white">
                    <a:lumMod val="95000"/>
                  </a:prstClr>
                </a:solidFill>
                <a:latin typeface="微软雅黑" panose="020B0503020204020204" pitchFamily="34" charset="-122"/>
                <a:ea typeface="微软雅黑" panose="020B0503020204020204" pitchFamily="34" charset="-122"/>
              </a:rPr>
              <a:t>实现原理</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TextBox 76"/>
          <p:cNvSpPr txBox="1"/>
          <p:nvPr/>
        </p:nvSpPr>
        <p:spPr>
          <a:xfrm>
            <a:off x="443585" y="173615"/>
            <a:ext cx="1620957" cy="523220"/>
          </a:xfrm>
          <a:prstGeom prst="rect">
            <a:avLst/>
          </a:prstGeom>
          <a:noFill/>
        </p:spPr>
        <p:txBody>
          <a:bodyPr wrap="none" rtlCol="0">
            <a:spAutoFit/>
          </a:bodyPr>
          <a:lstStyle/>
          <a:p>
            <a:r>
              <a:rPr lang="zh-CN" altLang="en-US" sz="2800" dirty="0">
                <a:solidFill>
                  <a:srgbClr val="002B41"/>
                </a:solidFill>
                <a:latin typeface="微软雅黑" panose="020B0503020204020204" pitchFamily="34" charset="-122"/>
                <a:ea typeface="微软雅黑" panose="020B0503020204020204" pitchFamily="34" charset="-122"/>
              </a:rPr>
              <a:t>实现原理</a:t>
            </a: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pic>
        <p:nvPicPr>
          <p:cNvPr id="37" name="图片 36"/>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1024937" y="0"/>
            <a:ext cx="1167063" cy="1171495"/>
          </a:xfrm>
          <a:prstGeom prst="rect">
            <a:avLst/>
          </a:prstGeom>
        </p:spPr>
      </p:pic>
      <p:sp>
        <p:nvSpPr>
          <p:cNvPr id="47" name="矩形: 圆角 5"/>
          <p:cNvSpPr/>
          <p:nvPr/>
        </p:nvSpPr>
        <p:spPr>
          <a:xfrm>
            <a:off x="639211" y="1267640"/>
            <a:ext cx="510728" cy="540220"/>
          </a:xfrm>
          <a:prstGeom prst="roundRect">
            <a:avLst/>
          </a:prstGeom>
          <a:solidFill>
            <a:srgbClr val="002B4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1</a:t>
            </a:r>
          </a:p>
        </p:txBody>
      </p:sp>
      <p:sp>
        <p:nvSpPr>
          <p:cNvPr id="48" name="矩形: 圆角 5"/>
          <p:cNvSpPr/>
          <p:nvPr/>
        </p:nvSpPr>
        <p:spPr>
          <a:xfrm>
            <a:off x="1489075" y="1276425"/>
            <a:ext cx="8031443" cy="540385"/>
          </a:xfrm>
          <a:prstGeom prst="roundRect">
            <a:avLst/>
          </a:prstGeom>
          <a:solidFill>
            <a:srgbClr val="002B41"/>
          </a:solidFill>
          <a:ln w="12700" cap="flat" cmpd="sng" algn="ctr">
            <a:noFill/>
            <a:prstDash val="solid"/>
            <a:miter lim="800000"/>
          </a:ln>
          <a:effectLst/>
        </p:spPr>
        <p:txBody>
          <a:bodyPr rtlCol="0" anchor="ctr"/>
          <a:lstStyle/>
          <a:p>
            <a:pPr algn="ctr">
              <a:defRPr/>
            </a:pPr>
            <a:endParaRPr lang="en-US" altLang="zh-CN" sz="2400" b="1" kern="0" dirty="0">
              <a:solidFill>
                <a:prstClr val="white"/>
              </a:solidFill>
              <a:latin typeface="宋体" panose="02010600030101010101" pitchFamily="2" charset="-122"/>
              <a:ea typeface="微软雅黑" panose="020B0503020204020204" pitchFamily="34" charset="-122"/>
            </a:endParaRPr>
          </a:p>
          <a:p>
            <a:pPr>
              <a:defRPr/>
            </a:pPr>
            <a:r>
              <a:rPr lang="zh-CN" altLang="en-US" sz="2400" b="1" kern="0" dirty="0">
                <a:solidFill>
                  <a:prstClr val="white"/>
                </a:solidFill>
                <a:latin typeface="宋体" panose="02010600030101010101" pitchFamily="2" charset="-122"/>
                <a:ea typeface="微软雅黑" panose="020B0503020204020204" pitchFamily="34" charset="-122"/>
              </a:rPr>
              <a:t>     实现原理一 </a:t>
            </a:r>
            <a:r>
              <a:rPr lang="en-US" altLang="zh-CN" sz="2400" b="1" kern="0" dirty="0">
                <a:solidFill>
                  <a:prstClr val="white"/>
                </a:solidFill>
                <a:latin typeface="宋体" panose="02010600030101010101" pitchFamily="2" charset="-122"/>
                <a:ea typeface="微软雅黑" panose="020B0503020204020204" pitchFamily="34" charset="-122"/>
              </a:rPr>
              <a:t>—— </a:t>
            </a:r>
            <a:r>
              <a:rPr lang="zh-CN" altLang="en-US" sz="2400" b="1" kern="0" dirty="0">
                <a:solidFill>
                  <a:prstClr val="white"/>
                </a:solidFill>
                <a:latin typeface="宋体" panose="02010600030101010101" pitchFamily="2" charset="-122"/>
                <a:ea typeface="微软雅黑" panose="020B0503020204020204" pitchFamily="34" charset="-122"/>
              </a:rPr>
              <a:t>自动建立专家级物理模型</a:t>
            </a:r>
          </a:p>
          <a:p>
            <a:pPr marL="0" marR="0" lvl="0" indent="0" algn="ctr" defTabSz="914400" eaLnBrk="1" fontAlgn="auto" latinLnBrk="0" hangingPunct="1">
              <a:lnSpc>
                <a:spcPct val="100000"/>
              </a:lnSpc>
              <a:spcBef>
                <a:spcPts val="0"/>
              </a:spcBef>
              <a:spcAft>
                <a:spcPts val="0"/>
              </a:spcAft>
              <a:buClrTx/>
              <a:buSzTx/>
              <a:buFontTx/>
              <a:buNone/>
              <a:defRPr/>
            </a:pPr>
            <a:endParaRPr lang="zh-CN" altLang="en-US" sz="2400" b="1" kern="0" dirty="0">
              <a:solidFill>
                <a:prstClr val="white"/>
              </a:solidFill>
              <a:latin typeface="宋体" panose="02010600030101010101" pitchFamily="2" charset="-122"/>
              <a:ea typeface="微软雅黑" panose="020B0503020204020204" pitchFamily="34" charset="-122"/>
              <a:sym typeface="+mn-ea"/>
            </a:endParaRPr>
          </a:p>
        </p:txBody>
      </p:sp>
      <mc:AlternateContent xmlns:mc="http://schemas.openxmlformats.org/markup-compatibility/2006" xmlns:a14="http://schemas.microsoft.com/office/drawing/2010/main">
        <mc:Choice Requires="a14">
          <p:sp>
            <p:nvSpPr>
              <p:cNvPr id="49" name="文本框 48"/>
              <p:cNvSpPr txBox="1"/>
              <p:nvPr/>
            </p:nvSpPr>
            <p:spPr>
              <a:xfrm>
                <a:off x="639211" y="2127809"/>
                <a:ext cx="10325272" cy="2760628"/>
              </a:xfrm>
              <a:prstGeom prst="rect">
                <a:avLst/>
              </a:prstGeom>
              <a:noFill/>
            </p:spPr>
            <p:txBody>
              <a:bodyPr wrap="square" rtlCol="0">
                <a:spAutoFit/>
              </a:bodyPr>
              <a:lstStyle/>
              <a:p>
                <a:pPr algn="just"/>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dirty="0" err="1">
                    <a:latin typeface="Times New Roman" panose="02020603050405020304" pitchFamily="18" charset="0"/>
                    <a:ea typeface="微软雅黑" panose="020B0503020204020204" pitchFamily="34" charset="-122"/>
                    <a:cs typeface="Times New Roman" panose="02020603050405020304" pitchFamily="18" charset="0"/>
                  </a:rPr>
                  <a:t>构建核心框架</a:t>
                </a:r>
                <a:r>
                  <a:rPr dirty="0">
                    <a:latin typeface="Times New Roman" panose="02020603050405020304" pitchFamily="18" charset="0"/>
                    <a:ea typeface="微软雅黑" panose="020B0503020204020204" pitchFamily="34" charset="-122"/>
                    <a:cs typeface="Times New Roman" panose="02020603050405020304" pitchFamily="18" charset="0"/>
                  </a:rPr>
                  <a:t>： </a:t>
                </a:r>
                <a:r>
                  <a:rPr dirty="0" err="1">
                    <a:latin typeface="Times New Roman" panose="02020603050405020304" pitchFamily="18" charset="0"/>
                    <a:ea typeface="微软雅黑" panose="020B0503020204020204" pitchFamily="34" charset="-122"/>
                    <a:cs typeface="Times New Roman" panose="02020603050405020304" pitchFamily="18" charset="0"/>
                  </a:rPr>
                  <a:t>确立经典控制论方程</a:t>
                </a:r>
                <a:r>
                  <a:rPr dirty="0">
                    <a:latin typeface="Times New Roman" panose="02020603050405020304" pitchFamily="18" charset="0"/>
                    <a:ea typeface="微软雅黑" panose="020B0503020204020204" pitchFamily="34" charset="-122"/>
                    <a:cs typeface="Times New Roman" panose="02020603050405020304" pitchFamily="18" charset="0"/>
                    <a:sym typeface="+mn-ea"/>
                  </a:rPr>
                  <a:t> </a:t>
                </a:r>
                <a14:m>
                  <m:oMath xmlns:m="http://schemas.openxmlformats.org/officeDocument/2006/math">
                    <m:sSub>
                      <m:sSubPr>
                        <m:ctrlPr>
                          <a:rPr lang="zh-CN" altLang="en-US" i="1" dirty="0" smtClean="0">
                            <a:latin typeface="Cambria Math" panose="02040503050406030204" pitchFamily="18" charset="0"/>
                            <a:sym typeface="+mn-ea"/>
                          </a:rPr>
                        </m:ctrlPr>
                      </m:sSubPr>
                      <m:e>
                        <m:r>
                          <a:rPr lang="zh-CN" altLang="en-US" i="1" dirty="0">
                            <a:latin typeface="Cambria Math" panose="02040503050406030204" pitchFamily="18" charset="0"/>
                            <a:sym typeface="+mn-ea"/>
                          </a:rPr>
                          <m:t>𝑥</m:t>
                        </m:r>
                      </m:e>
                      <m:sub>
                        <m:r>
                          <a:rPr lang="zh-CN" altLang="en-US" i="1" dirty="0">
                            <a:latin typeface="Cambria Math" panose="02040503050406030204" pitchFamily="18" charset="0"/>
                            <a:sym typeface="+mn-ea"/>
                          </a:rPr>
                          <m:t>𝑡</m:t>
                        </m:r>
                      </m:sub>
                    </m:sSub>
                    <m:r>
                      <a:rPr lang="zh-CN" altLang="en-US" i="0" dirty="0">
                        <a:latin typeface="Cambria Math" panose="02040503050406030204" pitchFamily="18" charset="0"/>
                        <a:sym typeface="+mn-ea"/>
                      </a:rPr>
                      <m:t>=</m:t>
                    </m:r>
                    <m:r>
                      <a:rPr lang="zh-CN" altLang="en-US" i="1" dirty="0">
                        <a:latin typeface="Cambria Math" panose="02040503050406030204" pitchFamily="18" charset="0"/>
                        <a:sym typeface="+mn-ea"/>
                      </a:rPr>
                      <m:t>𝐴</m:t>
                    </m:r>
                    <m:sSub>
                      <m:sSubPr>
                        <m:ctrlPr>
                          <a:rPr lang="zh-CN" altLang="en-US" i="1" dirty="0">
                            <a:latin typeface="Cambria Math" panose="02040503050406030204" pitchFamily="18" charset="0"/>
                            <a:sym typeface="+mn-ea"/>
                          </a:rPr>
                        </m:ctrlPr>
                      </m:sSubPr>
                      <m:e>
                        <m:r>
                          <a:rPr lang="zh-CN" altLang="en-US" i="1" dirty="0">
                            <a:latin typeface="Cambria Math" panose="02040503050406030204" pitchFamily="18" charset="0"/>
                            <a:sym typeface="+mn-ea"/>
                          </a:rPr>
                          <m:t>𝑥</m:t>
                        </m:r>
                      </m:e>
                      <m:sub>
                        <m:r>
                          <a:rPr lang="zh-CN" altLang="en-US" i="1" dirty="0">
                            <a:latin typeface="Cambria Math" panose="02040503050406030204" pitchFamily="18" charset="0"/>
                            <a:sym typeface="+mn-ea"/>
                          </a:rPr>
                          <m:t>𝑡</m:t>
                        </m:r>
                        <m:r>
                          <a:rPr lang="zh-CN" altLang="en-US" i="0" dirty="0">
                            <a:latin typeface="Cambria Math" panose="02040503050406030204" pitchFamily="18" charset="0"/>
                            <a:sym typeface="+mn-ea"/>
                          </a:rPr>
                          <m:t>−1</m:t>
                        </m:r>
                      </m:sub>
                    </m:sSub>
                    <m:r>
                      <a:rPr lang="zh-CN" altLang="en-US" i="0" dirty="0">
                        <a:latin typeface="Cambria Math" panose="02040503050406030204" pitchFamily="18" charset="0"/>
                        <a:sym typeface="+mn-ea"/>
                      </a:rPr>
                      <m:t>+</m:t>
                    </m:r>
                    <m:r>
                      <a:rPr lang="zh-CN" altLang="en-US" i="1" dirty="0">
                        <a:latin typeface="Cambria Math" panose="02040503050406030204" pitchFamily="18" charset="0"/>
                        <a:sym typeface="+mn-ea"/>
                      </a:rPr>
                      <m:t>𝐵</m:t>
                    </m:r>
                    <m:sSub>
                      <m:sSubPr>
                        <m:ctrlPr>
                          <a:rPr lang="zh-CN" altLang="en-US" i="1" dirty="0">
                            <a:latin typeface="Cambria Math" panose="02040503050406030204" pitchFamily="18" charset="0"/>
                            <a:sym typeface="+mn-ea"/>
                          </a:rPr>
                        </m:ctrlPr>
                      </m:sSubPr>
                      <m:e>
                        <m:r>
                          <a:rPr lang="zh-CN" altLang="en-US" i="1" dirty="0">
                            <a:latin typeface="Cambria Math" panose="02040503050406030204" pitchFamily="18" charset="0"/>
                            <a:sym typeface="+mn-ea"/>
                          </a:rPr>
                          <m:t>𝑢</m:t>
                        </m:r>
                      </m:e>
                      <m:sub>
                        <m:r>
                          <a:rPr lang="zh-CN" altLang="en-US" i="1" dirty="0">
                            <a:latin typeface="Cambria Math" panose="02040503050406030204" pitchFamily="18" charset="0"/>
                            <a:sym typeface="+mn-ea"/>
                          </a:rPr>
                          <m:t>𝑡</m:t>
                        </m:r>
                        <m:r>
                          <a:rPr lang="zh-CN" altLang="en-US" i="0" dirty="0">
                            <a:latin typeface="Cambria Math" panose="02040503050406030204" pitchFamily="18" charset="0"/>
                            <a:sym typeface="+mn-ea"/>
                          </a:rPr>
                          <m:t>−1</m:t>
                        </m:r>
                      </m:sub>
                    </m:sSub>
                  </m:oMath>
                </a14:m>
                <a:r>
                  <a:rPr dirty="0">
                    <a:latin typeface="Times New Roman" panose="02020603050405020304" pitchFamily="18" charset="0"/>
                    <a:ea typeface="微软雅黑" panose="020B0503020204020204" pitchFamily="34" charset="-122"/>
                    <a:cs typeface="Times New Roman" panose="02020603050405020304" pitchFamily="18" charset="0"/>
                  </a:rPr>
                  <a:t>。</a:t>
                </a:r>
              </a:p>
              <a:p>
                <a:pPr algn="just">
                  <a:lnSpc>
                    <a:spcPct val="125000"/>
                  </a:lnSpc>
                </a:pPr>
                <a14:m>
                  <m:oMath xmlns:m="http://schemas.openxmlformats.org/officeDocument/2006/math">
                    <m:r>
                      <a:rPr lang="zh-CN" altLang="en-US" i="1" smtClean="0">
                        <a:latin typeface="Cambria Math" panose="02040503050406030204" pitchFamily="18" charset="0"/>
                        <a:ea typeface="微软雅黑" panose="020B0503020204020204" pitchFamily="34" charset="-122"/>
                        <a:cs typeface="Times New Roman" panose="02020603050405020304" pitchFamily="18" charset="0"/>
                      </a:rPr>
                      <m:t>𝐴</m:t>
                    </m:r>
                  </m:oMath>
                </a14:m>
                <a:r>
                  <a:rPr dirty="0">
                    <a:latin typeface="Times New Roman" panose="02020603050405020304" pitchFamily="18" charset="0"/>
                    <a:ea typeface="微软雅黑" panose="020B0503020204020204" pitchFamily="34" charset="-122"/>
                    <a:cs typeface="Times New Roman" panose="02020603050405020304" pitchFamily="18" charset="0"/>
                  </a:rPr>
                  <a:t>矩阵（惯性法则）： </a:t>
                </a:r>
                <a:r>
                  <a:rPr dirty="0" err="1">
                    <a:latin typeface="Times New Roman" panose="02020603050405020304" pitchFamily="18" charset="0"/>
                    <a:ea typeface="微软雅黑" panose="020B0503020204020204" pitchFamily="34" charset="-122"/>
                    <a:cs typeface="Times New Roman" panose="02020603050405020304" pitchFamily="18" charset="0"/>
                  </a:rPr>
                  <a:t>机器自动捕捉无干扰时的自然演变规律</a:t>
                </a:r>
                <a:r>
                  <a:rPr dirty="0">
                    <a:latin typeface="Times New Roman" panose="02020603050405020304" pitchFamily="18" charset="0"/>
                    <a:ea typeface="微软雅黑" panose="020B0503020204020204" pitchFamily="34" charset="-122"/>
                    <a:cs typeface="Times New Roman" panose="02020603050405020304" pitchFamily="18" charset="0"/>
                  </a:rPr>
                  <a:t> 。</a:t>
                </a:r>
                <a:endParaRPr lang="en-US"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25000"/>
                  </a:lnSpc>
                </a:pPr>
                <a14:m>
                  <m:oMath xmlns:m="http://schemas.openxmlformats.org/officeDocument/2006/math">
                    <m:r>
                      <a:rPr lang="zh-CN" altLang="en-US" i="1" smtClean="0">
                        <a:latin typeface="Cambria Math" panose="02040503050406030204" pitchFamily="18" charset="0"/>
                        <a:ea typeface="微软雅黑" panose="020B0503020204020204" pitchFamily="34" charset="-122"/>
                        <a:cs typeface="Times New Roman" panose="02020603050405020304" pitchFamily="18" charset="0"/>
                      </a:rPr>
                      <m:t>𝐵</m:t>
                    </m:r>
                  </m:oMath>
                </a14:m>
                <a:r>
                  <a:rPr dirty="0">
                    <a:latin typeface="Times New Roman" panose="02020603050405020304" pitchFamily="18" charset="0"/>
                    <a:ea typeface="微软雅黑" panose="020B0503020204020204" pitchFamily="34" charset="-122"/>
                    <a:cs typeface="Times New Roman" panose="02020603050405020304" pitchFamily="18" charset="0"/>
                  </a:rPr>
                  <a:t>矩阵（控制法则）： </a:t>
                </a:r>
                <a:r>
                  <a:rPr dirty="0" err="1">
                    <a:latin typeface="Times New Roman" panose="02020603050405020304" pitchFamily="18" charset="0"/>
                    <a:ea typeface="微软雅黑" panose="020B0503020204020204" pitchFamily="34" charset="-122"/>
                    <a:cs typeface="Times New Roman" panose="02020603050405020304" pitchFamily="18" charset="0"/>
                  </a:rPr>
                  <a:t>机器自动捕捉执行器（如水泵开关）对系统的驱动影响</a:t>
                </a:r>
                <a:r>
                  <a:rPr dirty="0">
                    <a:latin typeface="Times New Roman" panose="02020603050405020304" pitchFamily="18" charset="0"/>
                    <a:ea typeface="微软雅黑" panose="020B0503020204020204" pitchFamily="34" charset="-122"/>
                    <a:cs typeface="Times New Roman" panose="02020603050405020304" pitchFamily="18" charset="0"/>
                  </a:rPr>
                  <a:t> 。</a:t>
                </a:r>
                <a:endParaRPr lang="en-US"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）提供基础“积木”系统预置了包含加法和乘法的通用数学函数模板库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）暴力穷举与优胜劣汰：不需专家指导，</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GeCos</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利用最小二乘法优化算法（</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SciPy </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curve_fit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），在海量历史数据中自动配对、试错 。系统会自动选出拟合误差（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MSE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）最小的那套公式，作为该测点的专属物理定律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25000"/>
                  </a:lnSpc>
                </a:pP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49" name="文本框 48"/>
              <p:cNvSpPr txBox="1">
                <a:spLocks noRot="1" noChangeAspect="1" noMove="1" noResize="1" noEditPoints="1" noAdjustHandles="1" noChangeArrowheads="1" noChangeShapeType="1" noTextEdit="1"/>
              </p:cNvSpPr>
              <p:nvPr/>
            </p:nvSpPr>
            <p:spPr>
              <a:xfrm>
                <a:off x="639211" y="2127809"/>
                <a:ext cx="10325272" cy="2760628"/>
              </a:xfrm>
              <a:prstGeom prst="rect">
                <a:avLst/>
              </a:prstGeom>
              <a:blipFill>
                <a:blip r:embed="rId4"/>
                <a:stretch>
                  <a:fillRect l="-531" t="-1104" r="-472"/>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70CC3162-CFEC-5236-3607-E165F919D453}"/>
              </a:ext>
            </a:extLst>
          </p:cNvPr>
          <p:cNvPicPr>
            <a:picLocks noChangeAspect="1"/>
          </p:cNvPicPr>
          <p:nvPr/>
        </p:nvPicPr>
        <p:blipFill>
          <a:blip r:embed="rId5"/>
          <a:stretch>
            <a:fillRect/>
          </a:stretch>
        </p:blipFill>
        <p:spPr>
          <a:xfrm>
            <a:off x="4689110" y="4732373"/>
            <a:ext cx="5201376" cy="676369"/>
          </a:xfrm>
          <a:prstGeom prst="rect">
            <a:avLst/>
          </a:prstGeom>
        </p:spPr>
      </p:pic>
      <p:pic>
        <p:nvPicPr>
          <p:cNvPr id="7" name="图片 6">
            <a:extLst>
              <a:ext uri="{FF2B5EF4-FFF2-40B4-BE49-F238E27FC236}">
                <a16:creationId xmlns:a16="http://schemas.microsoft.com/office/drawing/2014/main" id="{7B89BC0B-69B3-2A65-99F5-027E4593D198}"/>
              </a:ext>
            </a:extLst>
          </p:cNvPr>
          <p:cNvPicPr>
            <a:picLocks noChangeAspect="1"/>
          </p:cNvPicPr>
          <p:nvPr/>
        </p:nvPicPr>
        <p:blipFill>
          <a:blip r:embed="rId6"/>
          <a:stretch>
            <a:fillRect/>
          </a:stretch>
        </p:blipFill>
        <p:spPr>
          <a:xfrm>
            <a:off x="4689110" y="5637659"/>
            <a:ext cx="5239481" cy="971686"/>
          </a:xfrm>
          <a:prstGeom prst="rect">
            <a:avLst/>
          </a:prstGeom>
        </p:spPr>
      </p:pic>
      <p:sp>
        <p:nvSpPr>
          <p:cNvPr id="8" name="文本框 7">
            <a:extLst>
              <a:ext uri="{FF2B5EF4-FFF2-40B4-BE49-F238E27FC236}">
                <a16:creationId xmlns:a16="http://schemas.microsoft.com/office/drawing/2014/main" id="{F986C492-2F86-AA79-295E-6FB79DF723C5}"/>
              </a:ext>
            </a:extLst>
          </p:cNvPr>
          <p:cNvSpPr txBox="1"/>
          <p:nvPr/>
        </p:nvSpPr>
        <p:spPr>
          <a:xfrm>
            <a:off x="543326" y="4772323"/>
            <a:ext cx="3876703" cy="646331"/>
          </a:xfrm>
          <a:prstGeom prst="rect">
            <a:avLst/>
          </a:prstGeom>
          <a:noFill/>
        </p:spPr>
        <p:txBody>
          <a:bodyPr wrap="none" rtlCol="0">
            <a:spAutoFit/>
          </a:bodyPr>
          <a:lstStyle/>
          <a:p>
            <a:pPr algn="ctr"/>
            <a:r>
              <a:rPr lang="en-US" altLang="zh-CN" dirty="0" err="1"/>
              <a:t>SWaT</a:t>
            </a:r>
            <a:r>
              <a:rPr lang="zh-CN" altLang="en-US" dirty="0"/>
              <a:t>数据集水箱液位（</a:t>
            </a:r>
            <a:r>
              <a:rPr lang="en-US" altLang="zh-CN" dirty="0"/>
              <a:t>LIT101</a:t>
            </a:r>
            <a:r>
              <a:rPr lang="zh-CN" altLang="en-US" dirty="0"/>
              <a:t>）变化</a:t>
            </a:r>
            <a:endParaRPr lang="en-US" altLang="zh-CN" dirty="0"/>
          </a:p>
          <a:p>
            <a:pPr algn="ctr"/>
            <a:r>
              <a:rPr lang="zh-CN" altLang="en-US" dirty="0"/>
              <a:t>（简单的“线性加减”）</a:t>
            </a:r>
          </a:p>
        </p:txBody>
      </p:sp>
      <p:sp>
        <p:nvSpPr>
          <p:cNvPr id="9" name="文本框 8">
            <a:extLst>
              <a:ext uri="{FF2B5EF4-FFF2-40B4-BE49-F238E27FC236}">
                <a16:creationId xmlns:a16="http://schemas.microsoft.com/office/drawing/2014/main" id="{B7E545AB-3943-E4A5-8A75-C24756353D6C}"/>
              </a:ext>
            </a:extLst>
          </p:cNvPr>
          <p:cNvSpPr txBox="1"/>
          <p:nvPr/>
        </p:nvSpPr>
        <p:spPr>
          <a:xfrm>
            <a:off x="543326" y="5744252"/>
            <a:ext cx="3780202" cy="646331"/>
          </a:xfrm>
          <a:prstGeom prst="rect">
            <a:avLst/>
          </a:prstGeom>
          <a:noFill/>
        </p:spPr>
        <p:txBody>
          <a:bodyPr wrap="none" rtlCol="0">
            <a:spAutoFit/>
          </a:bodyPr>
          <a:lstStyle/>
          <a:p>
            <a:pPr algn="ctr"/>
            <a:r>
              <a:rPr lang="en-US" altLang="zh-CN" dirty="0"/>
              <a:t>HAI</a:t>
            </a:r>
            <a:r>
              <a:rPr lang="zh-CN" altLang="en-US" dirty="0"/>
              <a:t>数据集水槽温度（</a:t>
            </a:r>
            <a:r>
              <a:rPr lang="en-US" altLang="zh-CN" dirty="0"/>
              <a:t>TWIT04</a:t>
            </a:r>
            <a:r>
              <a:rPr lang="zh-CN" altLang="en-US" dirty="0"/>
              <a:t>）变化</a:t>
            </a:r>
            <a:endParaRPr lang="en-US" altLang="zh-CN" dirty="0"/>
          </a:p>
          <a:p>
            <a:pPr algn="ctr"/>
            <a:r>
              <a:rPr lang="zh-CN" altLang="en-US" dirty="0"/>
              <a:t>（复杂的“非线性物理现象”）</a:t>
            </a:r>
          </a:p>
        </p:txBody>
      </p:sp>
      <p:sp>
        <p:nvSpPr>
          <p:cNvPr id="10" name="文本框 9">
            <a:extLst>
              <a:ext uri="{FF2B5EF4-FFF2-40B4-BE49-F238E27FC236}">
                <a16:creationId xmlns:a16="http://schemas.microsoft.com/office/drawing/2014/main" id="{3CC37C1A-F14C-06D4-E752-9C081FA2453A}"/>
              </a:ext>
            </a:extLst>
          </p:cNvPr>
          <p:cNvSpPr txBox="1"/>
          <p:nvPr/>
        </p:nvSpPr>
        <p:spPr>
          <a:xfrm>
            <a:off x="10044023" y="4729633"/>
            <a:ext cx="2212465" cy="646331"/>
          </a:xfrm>
          <a:prstGeom prst="rect">
            <a:avLst/>
          </a:prstGeom>
          <a:noFill/>
        </p:spPr>
        <p:txBody>
          <a:bodyPr wrap="none" rtlCol="0">
            <a:spAutoFit/>
          </a:bodyPr>
          <a:lstStyle/>
          <a:p>
            <a:r>
              <a:rPr lang="zh-CN" altLang="en-US" dirty="0"/>
              <a:t>进水流量计 </a:t>
            </a:r>
            <a:r>
              <a:rPr lang="en-US" altLang="zh-CN" dirty="0"/>
              <a:t>(FIT101) </a:t>
            </a:r>
          </a:p>
          <a:p>
            <a:r>
              <a:rPr lang="zh-CN" altLang="en-US" dirty="0"/>
              <a:t>出水流量计 </a:t>
            </a:r>
            <a:r>
              <a:rPr lang="en-US" altLang="zh-CN" dirty="0"/>
              <a:t>(FIT201)</a:t>
            </a:r>
            <a:endParaRPr lang="zh-CN" altLang="en-US" dirty="0"/>
          </a:p>
        </p:txBody>
      </p:sp>
      <p:sp>
        <p:nvSpPr>
          <p:cNvPr id="11" name="文本框 10">
            <a:extLst>
              <a:ext uri="{FF2B5EF4-FFF2-40B4-BE49-F238E27FC236}">
                <a16:creationId xmlns:a16="http://schemas.microsoft.com/office/drawing/2014/main" id="{F1BCF274-47EE-D9DF-DB21-1AD4205AC5C2}"/>
              </a:ext>
            </a:extLst>
          </p:cNvPr>
          <p:cNvSpPr txBox="1"/>
          <p:nvPr/>
        </p:nvSpPr>
        <p:spPr>
          <a:xfrm>
            <a:off x="10044023" y="5693701"/>
            <a:ext cx="2318263" cy="923330"/>
          </a:xfrm>
          <a:prstGeom prst="rect">
            <a:avLst/>
          </a:prstGeom>
          <a:noFill/>
        </p:spPr>
        <p:txBody>
          <a:bodyPr wrap="none" rtlCol="0">
            <a:spAutoFit/>
          </a:bodyPr>
          <a:lstStyle/>
          <a:p>
            <a:r>
              <a:rPr lang="zh-CN" altLang="en-US" dirty="0"/>
              <a:t>进水流量 </a:t>
            </a:r>
            <a:r>
              <a:rPr lang="en-US" altLang="zh-CN" dirty="0"/>
              <a:t>(FT012)</a:t>
            </a:r>
          </a:p>
          <a:p>
            <a:r>
              <a:rPr lang="zh-CN" altLang="en-US" dirty="0"/>
              <a:t>进水温度 </a:t>
            </a:r>
            <a:r>
              <a:rPr lang="en-US" altLang="zh-CN" dirty="0"/>
              <a:t>(TIT01) </a:t>
            </a:r>
          </a:p>
          <a:p>
            <a:r>
              <a:rPr lang="zh-CN" altLang="en-US" dirty="0"/>
              <a:t>水箱当前液位 </a:t>
            </a:r>
            <a:r>
              <a:rPr lang="en-US" altLang="zh-CN" dirty="0"/>
              <a:t>(LIT01) </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TextBox 76"/>
          <p:cNvSpPr txBox="1"/>
          <p:nvPr/>
        </p:nvSpPr>
        <p:spPr>
          <a:xfrm>
            <a:off x="443585" y="173615"/>
            <a:ext cx="1620957" cy="523220"/>
          </a:xfrm>
          <a:prstGeom prst="rect">
            <a:avLst/>
          </a:prstGeom>
          <a:noFill/>
        </p:spPr>
        <p:txBody>
          <a:bodyPr wrap="none" rtlCol="0">
            <a:spAutoFit/>
          </a:bodyPr>
          <a:lstStyle/>
          <a:p>
            <a:r>
              <a:rPr lang="zh-CN" altLang="en-US" sz="2800" dirty="0">
                <a:solidFill>
                  <a:srgbClr val="002B41"/>
                </a:solidFill>
                <a:latin typeface="微软雅黑" panose="020B0503020204020204" pitchFamily="34" charset="-122"/>
                <a:ea typeface="微软雅黑" panose="020B0503020204020204" pitchFamily="34" charset="-122"/>
              </a:rPr>
              <a:t>实现原理</a:t>
            </a: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pic>
        <p:nvPicPr>
          <p:cNvPr id="37" name="图片 36"/>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1024937" y="0"/>
            <a:ext cx="1167063" cy="1171495"/>
          </a:xfrm>
          <a:prstGeom prst="rect">
            <a:avLst/>
          </a:prstGeom>
        </p:spPr>
      </p:pic>
      <p:sp>
        <p:nvSpPr>
          <p:cNvPr id="88" name="矩形: 圆角 5"/>
          <p:cNvSpPr/>
          <p:nvPr/>
        </p:nvSpPr>
        <p:spPr>
          <a:xfrm>
            <a:off x="963930" y="949325"/>
            <a:ext cx="601345" cy="540385"/>
          </a:xfrm>
          <a:prstGeom prst="roundRect">
            <a:avLst/>
          </a:prstGeom>
          <a:solidFill>
            <a:srgbClr val="002B4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2400" b="1" kern="0" dirty="0">
                <a:solidFill>
                  <a:prstClr val="white"/>
                </a:solidFill>
                <a:latin typeface="Arial" panose="020B0604020202020204"/>
                <a:ea typeface="微软雅黑" panose="020B0503020204020204" pitchFamily="34" charset="-122"/>
              </a:rPr>
              <a:t>2</a:t>
            </a:r>
            <a:endParaRPr kumimoji="0" lang="en-US" altLang="zh-CN" sz="2400" b="1"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89" name="矩形: 圆角 5"/>
          <p:cNvSpPr/>
          <p:nvPr/>
        </p:nvSpPr>
        <p:spPr>
          <a:xfrm>
            <a:off x="1730375" y="949325"/>
            <a:ext cx="7834966" cy="540385"/>
          </a:xfrm>
          <a:prstGeom prst="roundRect">
            <a:avLst/>
          </a:prstGeom>
          <a:solidFill>
            <a:srgbClr val="002B41"/>
          </a:solidFill>
          <a:ln w="12700" cap="flat" cmpd="sng" algn="ctr">
            <a:noFill/>
            <a:prstDash val="solid"/>
            <a:miter lim="800000"/>
          </a:ln>
          <a:effectLst/>
        </p:spPr>
        <p:txBody>
          <a:bodyPr rtlCol="0" anchor="ctr"/>
          <a:lstStyle/>
          <a:p>
            <a:pPr>
              <a:defRPr/>
            </a:pPr>
            <a:r>
              <a:rPr lang="zh-CN" altLang="en-US" sz="2400" b="1" kern="0" dirty="0">
                <a:solidFill>
                  <a:prstClr val="white"/>
                </a:solidFill>
                <a:latin typeface="宋体" panose="02010600030101010101" pitchFamily="2" charset="-122"/>
                <a:ea typeface="微软雅黑" panose="020B0503020204020204" pitchFamily="34" charset="-122"/>
              </a:rPr>
              <a:t>   实现原理二 </a:t>
            </a:r>
            <a:r>
              <a:rPr lang="en-US" altLang="zh-CN" sz="2400" b="1" kern="0" dirty="0">
                <a:solidFill>
                  <a:prstClr val="white"/>
                </a:solidFill>
                <a:latin typeface="宋体" panose="02010600030101010101" pitchFamily="2" charset="-122"/>
                <a:ea typeface="微软雅黑" panose="020B0503020204020204" pitchFamily="34" charset="-122"/>
              </a:rPr>
              <a:t>—— </a:t>
            </a:r>
            <a:r>
              <a:rPr lang="zh-CN" altLang="en-US" sz="2400" b="1" kern="0" dirty="0">
                <a:solidFill>
                  <a:prstClr val="white"/>
                </a:solidFill>
                <a:latin typeface="宋体" panose="02010600030101010101" pitchFamily="2" charset="-122"/>
                <a:ea typeface="微软雅黑" panose="020B0503020204020204" pitchFamily="34" charset="-122"/>
              </a:rPr>
              <a:t>聪明地包容误差与果断告警</a:t>
            </a:r>
          </a:p>
        </p:txBody>
      </p:sp>
      <mc:AlternateContent xmlns:mc="http://schemas.openxmlformats.org/markup-compatibility/2006" xmlns:a14="http://schemas.microsoft.com/office/drawing/2010/main">
        <mc:Choice Requires="a14">
          <p:sp>
            <p:nvSpPr>
              <p:cNvPr id="98" name="文本框 97"/>
              <p:cNvSpPr txBox="1"/>
              <p:nvPr/>
            </p:nvSpPr>
            <p:spPr>
              <a:xfrm>
                <a:off x="949642" y="1614170"/>
                <a:ext cx="10292715" cy="4561120"/>
              </a:xfrm>
              <a:prstGeom prst="rect">
                <a:avLst/>
              </a:prstGeom>
              <a:noFill/>
            </p:spPr>
            <p:txBody>
              <a:bodyPr wrap="square" rtlCol="0">
                <a:spAutoFit/>
              </a:bodyPr>
              <a:lstStyle/>
              <a:p>
                <a:pPr algn="just">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）生成残差：</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系统每时每刻都在计算真实观测值 </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𝑥</m:t>
                        </m:r>
                      </m:e>
                      <m:sub>
                        <m:r>
                          <a:rPr lang="zh-CN" altLang="en-US">
                            <a:latin typeface="Cambria Math" panose="02040503050406030204" pitchFamily="18" charset="0"/>
                          </a:rPr>
                          <m:t>𝑡</m:t>
                        </m:r>
                      </m:sub>
                    </m:sSub>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与专家模型预测值</a:t>
                </a:r>
                <a14:m>
                  <m:oMath xmlns:m="http://schemas.openxmlformats.org/officeDocument/2006/math">
                    <m:acc>
                      <m:accPr>
                        <m:chr m:val="̂"/>
                        <m:ctrlPr>
                          <a:rPr lang="zh-CN" altLang="en-US" i="1">
                            <a:latin typeface="Cambria Math" panose="02040503050406030204" pitchFamily="18" charset="0"/>
                          </a:rPr>
                        </m:ctrlPr>
                      </m:accPr>
                      <m:e>
                        <m:sSub>
                          <m:sSubPr>
                            <m:ctrlPr>
                              <a:rPr lang="zh-CN" altLang="en-US" i="1">
                                <a:latin typeface="Cambria Math" panose="02040503050406030204" pitchFamily="18" charset="0"/>
                              </a:rPr>
                            </m:ctrlPr>
                          </m:sSubPr>
                          <m:e>
                            <m:r>
                              <a:rPr lang="zh-CN" altLang="en-US">
                                <a:latin typeface="Cambria Math" panose="02040503050406030204" pitchFamily="18" charset="0"/>
                              </a:rPr>
                              <m:t>𝑥</m:t>
                            </m:r>
                          </m:e>
                          <m:sub>
                            <m:r>
                              <a:rPr lang="zh-CN" altLang="en-US">
                                <a:latin typeface="Cambria Math" panose="02040503050406030204" pitchFamily="18" charset="0"/>
                              </a:rPr>
                              <m:t>𝑡</m:t>
                            </m:r>
                          </m:sub>
                        </m:sSub>
                      </m:e>
                    </m:acc>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的绝对偏差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）引入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CUSUM</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（累积和）算法：</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为了防止系统把正常的测量噪声和微小不准确性当成攻击，</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GeCos</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采用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CUSUM</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算法来跟踪随时间变化的累积距离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25000"/>
                  </a:lnSpc>
                </a:pP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25000"/>
                  </a:lnSpc>
                </a:pP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）两个关键参数的自动设定</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漂移因子</a:t>
                </a:r>
                <a14:m>
                  <m:oMath xmlns:m="http://schemas.openxmlformats.org/officeDocument/2006/math">
                    <m:r>
                      <a:rPr lang="zh-CN" altLang="en-US">
                        <a:latin typeface="Cambria Math" panose="02040503050406030204" pitchFamily="18" charset="0"/>
                      </a:rPr>
                      <m:t>𝛿</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（过滤正常波动）：每次累积时自动减去一个漂移量（训练时的平均误差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标准差），相当于把正常的系统抖动“消化”掉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报警阈值</a:t>
                </a:r>
                <a14:m>
                  <m:oMath xmlns:m="http://schemas.openxmlformats.org/officeDocument/2006/math">
                    <m:r>
                      <a:rPr lang="zh-CN" altLang="en-US">
                        <a:latin typeface="Cambria Math" panose="02040503050406030204" pitchFamily="18" charset="0"/>
                      </a:rPr>
                      <m:t>𝑇</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（划定红线）： 当误差越积越多，突破了历史见过的最大累积上限（乘以安全系数</a:t>
                </a:r>
                <a14:m>
                  <m:oMath xmlns:m="http://schemas.openxmlformats.org/officeDocument/2006/math">
                    <m:r>
                      <a:rPr lang="zh-CN" altLang="en-US">
                        <a:latin typeface="Cambria Math" panose="02040503050406030204" pitchFamily="18" charset="0"/>
                      </a:rPr>
                      <m:t>𝑆</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）时，系统判定物理规律被打破，正式拉响警报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25000"/>
                  </a:lnSpc>
                </a:pPr>
                <a:endParaRPr lang="zh-CN"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98" name="文本框 97"/>
              <p:cNvSpPr txBox="1">
                <a:spLocks noRot="1" noChangeAspect="1" noMove="1" noResize="1" noEditPoints="1" noAdjustHandles="1" noChangeArrowheads="1" noChangeShapeType="1" noTextEdit="1"/>
              </p:cNvSpPr>
              <p:nvPr/>
            </p:nvSpPr>
            <p:spPr>
              <a:xfrm>
                <a:off x="949642" y="1614170"/>
                <a:ext cx="10292715" cy="4561120"/>
              </a:xfrm>
              <a:prstGeom prst="rect">
                <a:avLst/>
              </a:prstGeom>
              <a:blipFill>
                <a:blip r:embed="rId4"/>
                <a:stretch>
                  <a:fillRect l="-533" r="-27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3712560-6E7D-D216-CB6D-F71EDEC0076F}"/>
                  </a:ext>
                </a:extLst>
              </p:cNvPr>
              <p:cNvSpPr txBox="1"/>
              <p:nvPr/>
            </p:nvSpPr>
            <p:spPr>
              <a:xfrm>
                <a:off x="1264602" y="3429000"/>
                <a:ext cx="6180666" cy="5852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𝐶𝑈𝑆𝑈</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𝑀</m:t>
                          </m:r>
                        </m:e>
                        <m:sub>
                          <m:r>
                            <a:rPr lang="zh-CN" altLang="en-US" i="1">
                              <a:latin typeface="Cambria Math" panose="02040503050406030204" pitchFamily="18" charset="0"/>
                            </a:rPr>
                            <m:t>𝑡</m:t>
                          </m:r>
                        </m:sub>
                        <m:sup>
                          <m:r>
                            <a:rPr lang="zh-CN" altLang="en-US" i="1">
                              <a:latin typeface="Cambria Math" panose="02040503050406030204" pitchFamily="18" charset="0"/>
                            </a:rPr>
                            <m:t>𝑖</m:t>
                          </m:r>
                        </m:sup>
                      </m:sSubSup>
                      <m:r>
                        <a:rPr lang="zh-CN" altLang="en-US" i="1">
                          <a:latin typeface="Cambria Math" panose="02040503050406030204" pitchFamily="18" charset="0"/>
                        </a:rPr>
                        <m:t>≔</m:t>
                      </m:r>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max</m:t>
                          </m:r>
                        </m:fName>
                        <m:e>
                          <m:d>
                            <m:dPr>
                              <m:ctrlPr>
                                <a:rPr lang="zh-CN" altLang="en-US" i="1">
                                  <a:latin typeface="Cambria Math" panose="02040503050406030204" pitchFamily="18" charset="0"/>
                                </a:rPr>
                              </m:ctrlPr>
                            </m:dPr>
                            <m:e>
                              <m:r>
                                <a:rPr lang="zh-CN" altLang="en-US" i="1">
                                  <a:latin typeface="Cambria Math" panose="02040503050406030204" pitchFamily="18" charset="0"/>
                                </a:rPr>
                                <m:t>0,</m:t>
                              </m:r>
                              <m:r>
                                <a:rPr lang="zh-CN" altLang="en-US" i="1">
                                  <a:latin typeface="Cambria Math" panose="02040503050406030204" pitchFamily="18" charset="0"/>
                                </a:rPr>
                                <m:t>𝐶𝑈𝑆𝑈</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𝑀</m:t>
                                  </m:r>
                                </m:e>
                                <m:sub>
                                  <m:r>
                                    <a:rPr lang="zh-CN" altLang="en-US" i="1">
                                      <a:latin typeface="Cambria Math" panose="02040503050406030204" pitchFamily="18" charset="0"/>
                                    </a:rPr>
                                    <m:t>𝑡</m:t>
                                  </m:r>
                                  <m:r>
                                    <a:rPr lang="zh-CN" altLang="en-US" i="1">
                                      <a:latin typeface="Cambria Math" panose="02040503050406030204" pitchFamily="18" charset="0"/>
                                    </a:rPr>
                                    <m:t>−1</m:t>
                                  </m:r>
                                </m:sub>
                                <m:sup>
                                  <m:r>
                                    <a:rPr lang="zh-CN" altLang="en-US" i="1">
                                      <a:latin typeface="Cambria Math" panose="02040503050406030204" pitchFamily="18" charset="0"/>
                                    </a:rPr>
                                    <m:t>𝑖</m:t>
                                  </m:r>
                                </m:sup>
                              </m:sSubSup>
                              <m:r>
                                <a:rPr lang="zh-CN" altLang="en-US" i="1">
                                  <a:latin typeface="Cambria Math" panose="02040503050406030204" pitchFamily="18" charset="0"/>
                                </a:rPr>
                                <m:t>+</m:t>
                              </m:r>
                              <m:d>
                                <m:dPr>
                                  <m:begChr m:val="|"/>
                                  <m:endChr m:val="|"/>
                                  <m:ctrlPr>
                                    <a:rPr lang="zh-CN" altLang="en-US" i="1">
                                      <a:latin typeface="Cambria Math" panose="02040503050406030204" pitchFamily="18" charset="0"/>
                                    </a:rPr>
                                  </m:ctrlPr>
                                </m:dPr>
                                <m:e>
                                  <m:d>
                                    <m:dPr>
                                      <m:begChr m:val="|"/>
                                      <m:endChr m:val="|"/>
                                      <m:ctrlPr>
                                        <a:rPr lang="zh-CN" altLang="en-US" i="1">
                                          <a:latin typeface="Cambria Math" panose="02040503050406030204" pitchFamily="18" charset="0"/>
                                        </a:rPr>
                                      </m:ctrlPr>
                                    </m:dPr>
                                    <m:e>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𝑥</m:t>
                                          </m:r>
                                        </m:e>
                                        <m:sub>
                                          <m:r>
                                            <a:rPr lang="zh-CN" altLang="en-US" i="1">
                                              <a:latin typeface="Cambria Math" panose="02040503050406030204" pitchFamily="18" charset="0"/>
                                            </a:rPr>
                                            <m:t>𝑡</m:t>
                                          </m:r>
                                        </m:sub>
                                        <m:sup>
                                          <m:r>
                                            <a:rPr lang="zh-CN" altLang="en-US" i="1">
                                              <a:latin typeface="Cambria Math" panose="02040503050406030204" pitchFamily="18" charset="0"/>
                                            </a:rPr>
                                            <m:t>𝑖</m:t>
                                          </m:r>
                                        </m:sup>
                                      </m:sSubSup>
                                      <m:r>
                                        <a:rPr lang="zh-CN" altLang="en-US" i="1">
                                          <a:latin typeface="Cambria Math" panose="02040503050406030204" pitchFamily="18" charset="0"/>
                                        </a:rPr>
                                        <m:t>−</m:t>
                                      </m:r>
                                      <m:acc>
                                        <m:accPr>
                                          <m:chr m:val="̂"/>
                                          <m:ctrlPr>
                                            <a:rPr lang="zh-CN" altLang="en-US" i="1">
                                              <a:latin typeface="Cambria Math" panose="02040503050406030204" pitchFamily="18" charset="0"/>
                                            </a:rPr>
                                          </m:ctrlPr>
                                        </m:accPr>
                                        <m:e>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𝑥</m:t>
                                              </m:r>
                                            </m:e>
                                            <m:sub>
                                              <m:r>
                                                <a:rPr lang="zh-CN" altLang="en-US" i="1">
                                                  <a:latin typeface="Cambria Math" panose="02040503050406030204" pitchFamily="18" charset="0"/>
                                                </a:rPr>
                                                <m:t>𝑡</m:t>
                                              </m:r>
                                            </m:sub>
                                            <m:sup>
                                              <m:r>
                                                <a:rPr lang="zh-CN" altLang="en-US" i="1">
                                                  <a:latin typeface="Cambria Math" panose="02040503050406030204" pitchFamily="18" charset="0"/>
                                                </a:rPr>
                                                <m:t>𝑖</m:t>
                                              </m:r>
                                            </m:sup>
                                          </m:sSubSup>
                                        </m:e>
                                      </m:acc>
                                    </m:e>
                                  </m:d>
                                </m:e>
                              </m:d>
                              <m:r>
                                <a:rPr lang="zh-CN" altLang="en-US" i="1">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𝛿</m:t>
                                  </m:r>
                                </m:e>
                                <m:sup>
                                  <m:r>
                                    <a:rPr lang="zh-CN" altLang="en-US" i="1">
                                      <a:latin typeface="Cambria Math" panose="02040503050406030204" pitchFamily="18" charset="0"/>
                                    </a:rPr>
                                    <m:t>𝑖</m:t>
                                  </m:r>
                                </m:sup>
                              </m:sSup>
                            </m:e>
                          </m:d>
                        </m:e>
                      </m:func>
                    </m:oMath>
                  </m:oMathPara>
                </a14:m>
                <a:endParaRPr lang="zh-CN" altLang="en-US" dirty="0"/>
              </a:p>
            </p:txBody>
          </p:sp>
        </mc:Choice>
        <mc:Fallback xmlns="">
          <p:sp>
            <p:nvSpPr>
              <p:cNvPr id="5" name="文本框 4">
                <a:extLst>
                  <a:ext uri="{FF2B5EF4-FFF2-40B4-BE49-F238E27FC236}">
                    <a16:creationId xmlns:a16="http://schemas.microsoft.com/office/drawing/2014/main" id="{83712560-6E7D-D216-CB6D-F71EDEC0076F}"/>
                  </a:ext>
                </a:extLst>
              </p:cNvPr>
              <p:cNvSpPr txBox="1">
                <a:spLocks noRot="1" noChangeAspect="1" noMove="1" noResize="1" noEditPoints="1" noAdjustHandles="1" noChangeArrowheads="1" noChangeShapeType="1" noTextEdit="1"/>
              </p:cNvSpPr>
              <p:nvPr/>
            </p:nvSpPr>
            <p:spPr>
              <a:xfrm>
                <a:off x="1264602" y="3429000"/>
                <a:ext cx="6180666" cy="58528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0ED403C-4B6E-2D70-F52A-2D8BB29DD790}"/>
                  </a:ext>
                </a:extLst>
              </p:cNvPr>
              <p:cNvSpPr txBox="1"/>
              <p:nvPr/>
            </p:nvSpPr>
            <p:spPr>
              <a:xfrm>
                <a:off x="1565275" y="5829118"/>
                <a:ext cx="6180666" cy="4104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i="1" smtClean="0">
                              <a:latin typeface="Cambria Math" panose="02040503050406030204" pitchFamily="18" charset="0"/>
                            </a:rPr>
                          </m:ctrlPr>
                        </m:sSupPr>
                        <m:e>
                          <m:r>
                            <a:rPr lang="zh-CN" altLang="en-US" i="1">
                              <a:latin typeface="Cambria Math" panose="02040503050406030204" pitchFamily="18" charset="0"/>
                            </a:rPr>
                            <m:t>𝑇</m:t>
                          </m:r>
                        </m:e>
                        <m:sup>
                          <m:r>
                            <a:rPr lang="zh-CN" altLang="en-US" i="1">
                              <a:latin typeface="Cambria Math" panose="02040503050406030204" pitchFamily="18" charset="0"/>
                            </a:rPr>
                            <m:t>𝑖</m:t>
                          </m:r>
                        </m:sup>
                      </m:sSup>
                      <m:r>
                        <a:rPr lang="zh-CN" altLang="en-US" i="1">
                          <a:latin typeface="Cambria Math" panose="02040503050406030204" pitchFamily="18" charset="0"/>
                        </a:rPr>
                        <m:t>=</m:t>
                      </m:r>
                      <m:r>
                        <a:rPr lang="zh-CN" altLang="en-US" i="1">
                          <a:latin typeface="Cambria Math" panose="02040503050406030204" pitchFamily="18" charset="0"/>
                        </a:rPr>
                        <m:t>𝑆</m:t>
                      </m:r>
                      <m:r>
                        <a:rPr lang="zh-CN" altLang="en-US" i="1">
                          <a:latin typeface="Cambria Math" panose="02040503050406030204" pitchFamily="18" charset="0"/>
                        </a:rPr>
                        <m:t>⋅</m:t>
                      </m:r>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max</m:t>
                          </m:r>
                        </m:fName>
                        <m:e>
                          <m:d>
                            <m:dPr>
                              <m:ctrlPr>
                                <a:rPr lang="zh-CN" altLang="en-US" i="1">
                                  <a:latin typeface="Cambria Math" panose="02040503050406030204" pitchFamily="18" charset="0"/>
                                </a:rPr>
                              </m:ctrlPr>
                            </m:dPr>
                            <m:e>
                              <m:r>
                                <a:rPr lang="zh-CN" altLang="en-US" i="1">
                                  <a:latin typeface="Cambria Math" panose="02040503050406030204" pitchFamily="18" charset="0"/>
                                </a:rPr>
                                <m:t>𝐶𝑈𝑆𝑈</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𝑀</m:t>
                                  </m:r>
                                </m:e>
                                <m:sub>
                                  <m:r>
                                    <a:rPr lang="zh-CN" altLang="en-US" i="1">
                                      <a:latin typeface="Cambria Math" panose="02040503050406030204" pitchFamily="18" charset="0"/>
                                    </a:rPr>
                                    <m:t>𝑡𝑟𝑎𝑖𝑛</m:t>
                                  </m:r>
                                </m:sub>
                                <m:sup>
                                  <m:r>
                                    <a:rPr lang="zh-CN" altLang="en-US" i="1">
                                      <a:latin typeface="Cambria Math" panose="02040503050406030204" pitchFamily="18" charset="0"/>
                                    </a:rPr>
                                    <m:t>𝑖</m:t>
                                  </m:r>
                                </m:sup>
                              </m:sSubSup>
                            </m:e>
                          </m:d>
                        </m:e>
                      </m:func>
                    </m:oMath>
                  </m:oMathPara>
                </a14:m>
                <a:endParaRPr lang="zh-CN" altLang="en-US" dirty="0"/>
              </a:p>
            </p:txBody>
          </p:sp>
        </mc:Choice>
        <mc:Fallback xmlns="">
          <p:sp>
            <p:nvSpPr>
              <p:cNvPr id="7" name="文本框 6">
                <a:extLst>
                  <a:ext uri="{FF2B5EF4-FFF2-40B4-BE49-F238E27FC236}">
                    <a16:creationId xmlns:a16="http://schemas.microsoft.com/office/drawing/2014/main" id="{20ED403C-4B6E-2D70-F52A-2D8BB29DD790}"/>
                  </a:ext>
                </a:extLst>
              </p:cNvPr>
              <p:cNvSpPr txBox="1">
                <a:spLocks noRot="1" noChangeAspect="1" noMove="1" noResize="1" noEditPoints="1" noAdjustHandles="1" noChangeArrowheads="1" noChangeShapeType="1" noTextEdit="1"/>
              </p:cNvSpPr>
              <p:nvPr/>
            </p:nvSpPr>
            <p:spPr>
              <a:xfrm>
                <a:off x="1565275" y="5829118"/>
                <a:ext cx="6180666" cy="410497"/>
              </a:xfrm>
              <a:prstGeom prst="rect">
                <a:avLst/>
              </a:prstGeom>
              <a:blipFill>
                <a:blip r:embed="rId6"/>
                <a:stretch>
                  <a:fillRect/>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Line 16"/>
          <p:cNvSpPr>
            <a:spLocks noChangeShapeType="1"/>
          </p:cNvSpPr>
          <p:nvPr/>
        </p:nvSpPr>
        <p:spPr bwMode="auto">
          <a:xfrm flipH="1">
            <a:off x="3724539" y="-179684"/>
            <a:ext cx="4072921" cy="7040124"/>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white">
                  <a:lumMod val="95000"/>
                </a:prstClr>
              </a:solidFill>
            </a:endParaRPr>
          </a:p>
        </p:txBody>
      </p:sp>
      <p:sp>
        <p:nvSpPr>
          <p:cNvPr id="3" name="Line 18"/>
          <p:cNvSpPr>
            <a:spLocks noChangeShapeType="1"/>
          </p:cNvSpPr>
          <p:nvPr/>
        </p:nvSpPr>
        <p:spPr bwMode="auto">
          <a:xfrm flipH="1" flipV="1">
            <a:off x="1904214" y="-1"/>
            <a:ext cx="6243498" cy="6890832"/>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white">
                  <a:lumMod val="95000"/>
                </a:prstClr>
              </a:solidFill>
            </a:endParaRPr>
          </a:p>
        </p:txBody>
      </p:sp>
      <p:sp>
        <p:nvSpPr>
          <p:cNvPr id="4" name="Line 17"/>
          <p:cNvSpPr>
            <a:spLocks noChangeShapeType="1"/>
          </p:cNvSpPr>
          <p:nvPr/>
        </p:nvSpPr>
        <p:spPr bwMode="auto">
          <a:xfrm>
            <a:off x="0" y="2500664"/>
            <a:ext cx="12192000" cy="3271025"/>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white">
                  <a:lumMod val="95000"/>
                </a:prstClr>
              </a:solidFill>
            </a:endParaRPr>
          </a:p>
        </p:txBody>
      </p:sp>
      <p:sp>
        <p:nvSpPr>
          <p:cNvPr id="5" name="Freeform 5"/>
          <p:cNvSpPr/>
          <p:nvPr/>
        </p:nvSpPr>
        <p:spPr bwMode="auto">
          <a:xfrm>
            <a:off x="2335428" y="0"/>
            <a:ext cx="7521143" cy="6890833"/>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 name="connsiteX0" fmla="*/ 4048 w 7779"/>
              <a:gd name="connsiteY0" fmla="*/ 0 h 10000"/>
              <a:gd name="connsiteX1" fmla="*/ 7779 w 7779"/>
              <a:gd name="connsiteY1" fmla="*/ 0 h 10000"/>
              <a:gd name="connsiteX2" fmla="*/ 7779 w 7779"/>
              <a:gd name="connsiteY2" fmla="*/ 10000 h 10000"/>
              <a:gd name="connsiteX3" fmla="*/ 0 w 7779"/>
              <a:gd name="connsiteY3" fmla="*/ 7610 h 10000"/>
              <a:gd name="connsiteX4" fmla="*/ 4048 w 7779"/>
              <a:gd name="connsiteY4" fmla="*/ 0 h 10000"/>
              <a:gd name="connsiteX0-1" fmla="*/ 5204 w 14475"/>
              <a:gd name="connsiteY0-2" fmla="*/ 0 h 9785"/>
              <a:gd name="connsiteX1-3" fmla="*/ 10000 w 14475"/>
              <a:gd name="connsiteY1-4" fmla="*/ 0 h 9785"/>
              <a:gd name="connsiteX2-5" fmla="*/ 14475 w 14475"/>
              <a:gd name="connsiteY2-6" fmla="*/ 9785 h 9785"/>
              <a:gd name="connsiteX3-7" fmla="*/ 0 w 14475"/>
              <a:gd name="connsiteY3-8" fmla="*/ 7610 h 9785"/>
              <a:gd name="connsiteX4-9" fmla="*/ 5204 w 14475"/>
              <a:gd name="connsiteY4-10" fmla="*/ 0 h 9785"/>
              <a:gd name="connsiteX0-11" fmla="*/ 5713 w 12118"/>
              <a:gd name="connsiteY0-12" fmla="*/ 0 h 10000"/>
              <a:gd name="connsiteX1-13" fmla="*/ 9026 w 12118"/>
              <a:gd name="connsiteY1-14" fmla="*/ 0 h 10000"/>
              <a:gd name="connsiteX2-15" fmla="*/ 12118 w 12118"/>
              <a:gd name="connsiteY2-16" fmla="*/ 10000 h 10000"/>
              <a:gd name="connsiteX3-17" fmla="*/ 0 w 12118"/>
              <a:gd name="connsiteY3-18" fmla="*/ 8114 h 10000"/>
              <a:gd name="connsiteX4-19" fmla="*/ 5713 w 12118"/>
              <a:gd name="connsiteY4-20" fmla="*/ 0 h 10000"/>
              <a:gd name="connsiteX0-21" fmla="*/ 6684 w 13089"/>
              <a:gd name="connsiteY0-22" fmla="*/ 0 h 10000"/>
              <a:gd name="connsiteX1-23" fmla="*/ 9997 w 13089"/>
              <a:gd name="connsiteY1-24" fmla="*/ 0 h 10000"/>
              <a:gd name="connsiteX2-25" fmla="*/ 13089 w 13089"/>
              <a:gd name="connsiteY2-26" fmla="*/ 10000 h 10000"/>
              <a:gd name="connsiteX3-27" fmla="*/ 0 w 13089"/>
              <a:gd name="connsiteY3-28" fmla="*/ 8173 h 10000"/>
              <a:gd name="connsiteX4-29" fmla="*/ 6684 w 13089"/>
              <a:gd name="connsiteY4-30" fmla="*/ 0 h 10000"/>
              <a:gd name="connsiteX0-31" fmla="*/ 2369 w 8774"/>
              <a:gd name="connsiteY0-32" fmla="*/ 0 h 10000"/>
              <a:gd name="connsiteX1-33" fmla="*/ 5682 w 8774"/>
              <a:gd name="connsiteY1-34" fmla="*/ 0 h 10000"/>
              <a:gd name="connsiteX2-35" fmla="*/ 8774 w 8774"/>
              <a:gd name="connsiteY2-36" fmla="*/ 10000 h 10000"/>
              <a:gd name="connsiteX3-37" fmla="*/ 0 w 8774"/>
              <a:gd name="connsiteY3-38" fmla="*/ 7222 h 10000"/>
              <a:gd name="connsiteX4-39" fmla="*/ 2369 w 8774"/>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74" h="10000">
                <a:moveTo>
                  <a:pt x="2369" y="0"/>
                </a:moveTo>
                <a:lnTo>
                  <a:pt x="5682" y="0"/>
                </a:lnTo>
                <a:lnTo>
                  <a:pt x="8774" y="10000"/>
                </a:lnTo>
                <a:lnTo>
                  <a:pt x="0" y="7222"/>
                </a:lnTo>
                <a:lnTo>
                  <a:pt x="2369"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prstClr val="white">
                  <a:lumMod val="95000"/>
                </a:prstClr>
              </a:solidFill>
            </a:endParaRPr>
          </a:p>
        </p:txBody>
      </p:sp>
      <p:sp>
        <p:nvSpPr>
          <p:cNvPr id="6" name="TextBox 76"/>
          <p:cNvSpPr txBox="1"/>
          <p:nvPr/>
        </p:nvSpPr>
        <p:spPr>
          <a:xfrm>
            <a:off x="4464784" y="1992830"/>
            <a:ext cx="3262432" cy="1015663"/>
          </a:xfrm>
          <a:prstGeom prst="rect">
            <a:avLst/>
          </a:prstGeom>
          <a:noFill/>
          <a:effectLst/>
        </p:spPr>
        <p:txBody>
          <a:bodyPr wrap="none" rtlCol="0">
            <a:spAutoFit/>
          </a:bodyPr>
          <a:lstStyle/>
          <a:p>
            <a:pPr algn="ctr"/>
            <a:r>
              <a:rPr lang="zh-CN" altLang="en-US" sz="6000" dirty="0">
                <a:solidFill>
                  <a:prstClr val="white">
                    <a:lumMod val="95000"/>
                  </a:prstClr>
                </a:solidFill>
                <a:latin typeface="微软雅黑" panose="020B0503020204020204" pitchFamily="34" charset="-122"/>
                <a:ea typeface="微软雅黑" panose="020B0503020204020204" pitchFamily="34" charset="-122"/>
              </a:rPr>
              <a:t>第四部分</a:t>
            </a:r>
          </a:p>
        </p:txBody>
      </p:sp>
      <p:sp>
        <p:nvSpPr>
          <p:cNvPr id="9" name="TextBox 76"/>
          <p:cNvSpPr txBox="1"/>
          <p:nvPr/>
        </p:nvSpPr>
        <p:spPr>
          <a:xfrm>
            <a:off x="4323048" y="3333989"/>
            <a:ext cx="3545903" cy="583565"/>
          </a:xfrm>
          <a:prstGeom prst="rect">
            <a:avLst/>
          </a:prstGeom>
          <a:noFill/>
          <a:effectLst/>
        </p:spPr>
        <p:txBody>
          <a:bodyPr wrap="square" rtlCol="0">
            <a:spAutoFit/>
          </a:bodyPr>
          <a:lstStyle/>
          <a:p>
            <a:pPr algn="ctr"/>
            <a:r>
              <a:rPr lang="zh-CN" altLang="en-US" sz="3200" dirty="0">
                <a:solidFill>
                  <a:prstClr val="white">
                    <a:lumMod val="95000"/>
                  </a:prstClr>
                </a:solidFill>
                <a:latin typeface="微软雅黑" panose="020B0503020204020204" pitchFamily="34" charset="-122"/>
                <a:ea typeface="微软雅黑" panose="020B0503020204020204" pitchFamily="34" charset="-122"/>
              </a:rPr>
              <a:t>实验结果</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6"/>
          <p:cNvSpPr txBox="1"/>
          <p:nvPr/>
        </p:nvSpPr>
        <p:spPr>
          <a:xfrm>
            <a:off x="461365" y="141230"/>
            <a:ext cx="8174355" cy="521970"/>
          </a:xfrm>
          <a:prstGeom prst="rect">
            <a:avLst/>
          </a:prstGeom>
          <a:noFill/>
        </p:spPr>
        <p:txBody>
          <a:bodyPr wrap="none" rtlCol="0">
            <a:spAutoFit/>
          </a:bodyPr>
          <a:lstStyle/>
          <a:p>
            <a:pPr algn="l"/>
            <a:r>
              <a:rPr lang="zh-CN" altLang="en-US" sz="2800" dirty="0">
                <a:solidFill>
                  <a:srgbClr val="002B41"/>
                </a:solidFill>
                <a:latin typeface="Times New Roman" panose="02020603050405020304" pitchFamily="18" charset="0"/>
                <a:ea typeface="微软雅黑" panose="020B0503020204020204" pitchFamily="34" charset="-122"/>
                <a:cs typeface="Times New Roman" panose="02020603050405020304" pitchFamily="18" charset="0"/>
              </a:rPr>
              <a:t>GeCos 的核心优势 —— 基于物理依赖图的告警溯源</a:t>
            </a: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7" name="图片 36"/>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0929052" y="140970"/>
            <a:ext cx="1167063" cy="1171495"/>
          </a:xfrm>
          <a:prstGeom prst="rect">
            <a:avLst/>
          </a:prstGeom>
        </p:spPr>
      </p:pic>
      <p:pic>
        <p:nvPicPr>
          <p:cNvPr id="3" name="图片 2"/>
          <p:cNvPicPr>
            <a:picLocks noChangeAspect="1"/>
          </p:cNvPicPr>
          <p:nvPr/>
        </p:nvPicPr>
        <p:blipFill>
          <a:blip r:embed="rId4"/>
          <a:srcRect l="6166" t="9279" r="3078"/>
          <a:stretch>
            <a:fillRect/>
          </a:stretch>
        </p:blipFill>
        <p:spPr>
          <a:xfrm>
            <a:off x="5116830" y="1336675"/>
            <a:ext cx="6218555" cy="5059680"/>
          </a:xfrm>
          <a:prstGeom prst="rect">
            <a:avLst/>
          </a:prstGeom>
        </p:spPr>
      </p:pic>
      <p:sp>
        <p:nvSpPr>
          <p:cNvPr id="5" name="文本框 4"/>
          <p:cNvSpPr txBox="1"/>
          <p:nvPr/>
        </p:nvSpPr>
        <p:spPr>
          <a:xfrm>
            <a:off x="225425" y="1336675"/>
            <a:ext cx="4763770" cy="1198880"/>
          </a:xfrm>
          <a:prstGeom prst="rect">
            <a:avLst/>
          </a:prstGeom>
          <a:noFill/>
        </p:spPr>
        <p:txBody>
          <a:bodyPr wrap="square" rtlCol="0" anchor="t">
            <a:spAutoFit/>
          </a:bodyPr>
          <a:lstStyle/>
          <a:p>
            <a:pPr algn="l"/>
            <a:r>
              <a:rPr lang="zh-CN" altLang="en-US"/>
              <a:t>拓扑结构提取：图中的节点代表工业系统中的各个传感器与执行器（如水压计、液位计等），连线则代表 GeCos 从历史数据中自动学习到的物理依赖关系 。</a:t>
            </a:r>
          </a:p>
        </p:txBody>
      </p:sp>
      <p:sp>
        <p:nvSpPr>
          <p:cNvPr id="6" name="文本框 5"/>
          <p:cNvSpPr txBox="1"/>
          <p:nvPr/>
        </p:nvSpPr>
        <p:spPr>
          <a:xfrm>
            <a:off x="225425" y="2870200"/>
            <a:ext cx="4763135" cy="1476375"/>
          </a:xfrm>
          <a:prstGeom prst="rect">
            <a:avLst/>
          </a:prstGeom>
          <a:noFill/>
        </p:spPr>
        <p:txBody>
          <a:bodyPr wrap="square" rtlCol="0" anchor="t">
            <a:spAutoFit/>
          </a:bodyPr>
          <a:lstStyle/>
          <a:p>
            <a:pPr algn="l"/>
            <a:r>
              <a:rPr lang="zh-CN" altLang="en-US"/>
              <a:t>直观的故障定位：红圈节点 (Attacked)：代表真实遭受黑客物理攻击的测点（如图中的 DPIT301 被恶意篡改） 。蓝底节点 (Alert)：代表 GeCos 因捕捉到预测残差异常而触发告警的节点（如图中的 LIT401） 。</a:t>
            </a:r>
          </a:p>
        </p:txBody>
      </p:sp>
      <p:sp>
        <p:nvSpPr>
          <p:cNvPr id="7" name="文本框 6"/>
          <p:cNvSpPr txBox="1"/>
          <p:nvPr/>
        </p:nvSpPr>
        <p:spPr>
          <a:xfrm>
            <a:off x="225425" y="4657090"/>
            <a:ext cx="4446905" cy="1476375"/>
          </a:xfrm>
          <a:prstGeom prst="rect">
            <a:avLst/>
          </a:prstGeom>
          <a:noFill/>
        </p:spPr>
        <p:txBody>
          <a:bodyPr wrap="square" rtlCol="0" anchor="t">
            <a:spAutoFit/>
          </a:bodyPr>
          <a:lstStyle/>
          <a:p>
            <a:pPr algn="l"/>
            <a:r>
              <a:rPr lang="zh-CN" altLang="en-US"/>
              <a:t>白盒可解释性：GeCos 打破了传统深度学习的“黑盒”告警模式。告警节点（蓝圈）往往紧挨着真实的受攻击节点（红圈），平均拓扑距离仅为 0.5 跳，帮助现场工程师瞬间锁定物理故障源头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6"/>
          <p:cNvSpPr txBox="1"/>
          <p:nvPr/>
        </p:nvSpPr>
        <p:spPr>
          <a:xfrm>
            <a:off x="461365" y="141230"/>
            <a:ext cx="1620957" cy="523220"/>
          </a:xfrm>
          <a:prstGeom prst="rect">
            <a:avLst/>
          </a:prstGeom>
          <a:noFill/>
        </p:spPr>
        <p:txBody>
          <a:bodyPr wrap="none" rtlCol="0">
            <a:spAutoFit/>
          </a:bodyPr>
          <a:lstStyle/>
          <a:p>
            <a:r>
              <a:rPr lang="zh-CN" altLang="en-US" sz="2800" dirty="0">
                <a:solidFill>
                  <a:srgbClr val="002B41"/>
                </a:solidFill>
                <a:latin typeface="Times New Roman" panose="02020603050405020304" pitchFamily="18" charset="0"/>
                <a:ea typeface="微软雅黑" panose="020B0503020204020204" pitchFamily="34" charset="-122"/>
                <a:cs typeface="Times New Roman" panose="02020603050405020304" pitchFamily="18" charset="0"/>
              </a:rPr>
              <a:t>实验结果</a:t>
            </a: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7" name="图片 36"/>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1024937" y="0"/>
            <a:ext cx="1167063" cy="1171495"/>
          </a:xfrm>
          <a:prstGeom prst="rect">
            <a:avLst/>
          </a:prstGeom>
        </p:spPr>
      </p:pic>
      <p:pic>
        <p:nvPicPr>
          <p:cNvPr id="9" name="图片 8"/>
          <p:cNvPicPr>
            <a:picLocks noChangeAspect="1"/>
          </p:cNvPicPr>
          <p:nvPr/>
        </p:nvPicPr>
        <p:blipFill>
          <a:blip r:embed="rId4"/>
          <a:stretch>
            <a:fillRect/>
          </a:stretch>
        </p:blipFill>
        <p:spPr>
          <a:xfrm>
            <a:off x="624884" y="1171495"/>
            <a:ext cx="9988262" cy="511593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8" name="PA_Line 15"/>
          <p:cNvSpPr>
            <a:spLocks noChangeShapeType="1"/>
          </p:cNvSpPr>
          <p:nvPr>
            <p:custDataLst>
              <p:tags r:id="rId1"/>
            </p:custDataLst>
          </p:nvPr>
        </p:nvSpPr>
        <p:spPr bwMode="auto">
          <a:xfrm flipV="1">
            <a:off x="3459637" y="0"/>
            <a:ext cx="7651028" cy="6860440"/>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black"/>
              </a:solidFill>
            </a:endParaRPr>
          </a:p>
        </p:txBody>
      </p:sp>
      <p:sp>
        <p:nvSpPr>
          <p:cNvPr id="9" name="PA_Line 16"/>
          <p:cNvSpPr>
            <a:spLocks noChangeShapeType="1"/>
          </p:cNvSpPr>
          <p:nvPr>
            <p:custDataLst>
              <p:tags r:id="rId2"/>
            </p:custDataLst>
          </p:nvPr>
        </p:nvSpPr>
        <p:spPr bwMode="auto">
          <a:xfrm>
            <a:off x="8045145" y="-179684"/>
            <a:ext cx="4011737" cy="7040124"/>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black"/>
              </a:solidFill>
            </a:endParaRPr>
          </a:p>
        </p:txBody>
      </p:sp>
      <p:sp>
        <p:nvSpPr>
          <p:cNvPr id="10" name="PA_Line 17"/>
          <p:cNvSpPr>
            <a:spLocks noChangeShapeType="1"/>
          </p:cNvSpPr>
          <p:nvPr>
            <p:custDataLst>
              <p:tags r:id="rId3"/>
            </p:custDataLst>
          </p:nvPr>
        </p:nvSpPr>
        <p:spPr bwMode="auto">
          <a:xfrm>
            <a:off x="1517715" y="-37707"/>
            <a:ext cx="10674284" cy="4949588"/>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black"/>
              </a:solidFill>
            </a:endParaRPr>
          </a:p>
        </p:txBody>
      </p:sp>
      <p:sp>
        <p:nvSpPr>
          <p:cNvPr id="11" name="PA_Line 18"/>
          <p:cNvSpPr>
            <a:spLocks noChangeShapeType="1"/>
          </p:cNvSpPr>
          <p:nvPr>
            <p:custDataLst>
              <p:tags r:id="rId4"/>
            </p:custDataLst>
          </p:nvPr>
        </p:nvSpPr>
        <p:spPr bwMode="auto">
          <a:xfrm flipV="1">
            <a:off x="9747262" y="-179684"/>
            <a:ext cx="1891058" cy="7033554"/>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black"/>
              </a:solidFill>
            </a:endParaRPr>
          </a:p>
        </p:txBody>
      </p:sp>
      <p:sp>
        <p:nvSpPr>
          <p:cNvPr id="12" name="PA_椭圆 19"/>
          <p:cNvSpPr>
            <a:spLocks noChangeArrowheads="1"/>
          </p:cNvSpPr>
          <p:nvPr>
            <p:custDataLst>
              <p:tags r:id="rId5"/>
            </p:custDataLst>
          </p:nvPr>
        </p:nvSpPr>
        <p:spPr bwMode="auto">
          <a:xfrm>
            <a:off x="9105344" y="1710670"/>
            <a:ext cx="100222" cy="100222"/>
          </a:xfrm>
          <a:prstGeom prst="ellipse">
            <a:avLst/>
          </a:prstGeom>
          <a:solidFill>
            <a:srgbClr val="002B41"/>
          </a:solidFill>
          <a:ln>
            <a:noFill/>
          </a:ln>
        </p:spPr>
        <p:txBody>
          <a:bodyPr vert="horz" wrap="square" lIns="91440" tIns="45720" rIns="91440" bIns="45720" numCol="1" anchor="t" anchorCtr="0" compatLnSpc="1"/>
          <a:lstStyle/>
          <a:p>
            <a:endParaRPr lang="zh-CN" altLang="en-US">
              <a:solidFill>
                <a:prstClr val="black"/>
              </a:solidFill>
            </a:endParaRPr>
          </a:p>
        </p:txBody>
      </p:sp>
      <p:sp>
        <p:nvSpPr>
          <p:cNvPr id="13" name="PA_椭圆 20"/>
          <p:cNvSpPr>
            <a:spLocks noChangeArrowheads="1"/>
          </p:cNvSpPr>
          <p:nvPr>
            <p:custDataLst>
              <p:tags r:id="rId6"/>
            </p:custDataLst>
          </p:nvPr>
        </p:nvSpPr>
        <p:spPr bwMode="auto">
          <a:xfrm>
            <a:off x="10435706" y="4050757"/>
            <a:ext cx="100222" cy="100222"/>
          </a:xfrm>
          <a:prstGeom prst="ellipse">
            <a:avLst/>
          </a:prstGeom>
          <a:solidFill>
            <a:srgbClr val="002B41"/>
          </a:solidFill>
          <a:ln>
            <a:noFill/>
          </a:ln>
        </p:spPr>
        <p:txBody>
          <a:bodyPr vert="horz" wrap="square" lIns="91440" tIns="45720" rIns="91440" bIns="45720" numCol="1" anchor="t" anchorCtr="0" compatLnSpc="1"/>
          <a:lstStyle/>
          <a:p>
            <a:endParaRPr lang="zh-CN" altLang="en-US">
              <a:solidFill>
                <a:prstClr val="black"/>
              </a:solidFill>
            </a:endParaRPr>
          </a:p>
        </p:txBody>
      </p:sp>
      <p:sp>
        <p:nvSpPr>
          <p:cNvPr id="14" name="PA_任意多边形 5"/>
          <p:cNvSpPr/>
          <p:nvPr>
            <p:custDataLst>
              <p:tags r:id="rId7"/>
            </p:custDataLst>
          </p:nvPr>
        </p:nvSpPr>
        <p:spPr bwMode="auto">
          <a:xfrm>
            <a:off x="9257122" y="0"/>
            <a:ext cx="2926691" cy="4911881"/>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rgbClr val="00183C"/>
              </a:solidFill>
            </a:endParaRPr>
          </a:p>
        </p:txBody>
      </p:sp>
      <p:sp>
        <p:nvSpPr>
          <p:cNvPr id="15" name="PA_椭圆 19"/>
          <p:cNvSpPr>
            <a:spLocks noChangeArrowheads="1"/>
          </p:cNvSpPr>
          <p:nvPr>
            <p:custDataLst>
              <p:tags r:id="rId8"/>
            </p:custDataLst>
          </p:nvPr>
        </p:nvSpPr>
        <p:spPr bwMode="auto">
          <a:xfrm>
            <a:off x="7847630" y="2860740"/>
            <a:ext cx="100222" cy="100222"/>
          </a:xfrm>
          <a:prstGeom prst="ellipse">
            <a:avLst/>
          </a:prstGeom>
          <a:solidFill>
            <a:srgbClr val="002B41"/>
          </a:solidFill>
          <a:ln>
            <a:noFill/>
          </a:ln>
        </p:spPr>
        <p:txBody>
          <a:bodyPr vert="horz" wrap="square" lIns="91440" tIns="45720" rIns="91440" bIns="45720" numCol="1" anchor="t" anchorCtr="0" compatLnSpc="1"/>
          <a:lstStyle/>
          <a:p>
            <a:endParaRPr lang="zh-CN" altLang="en-US">
              <a:solidFill>
                <a:prstClr val="black"/>
              </a:solidFill>
            </a:endParaRPr>
          </a:p>
        </p:txBody>
      </p:sp>
      <p:sp>
        <p:nvSpPr>
          <p:cNvPr id="16" name="TextBox 76"/>
          <p:cNvSpPr txBox="1"/>
          <p:nvPr/>
        </p:nvSpPr>
        <p:spPr>
          <a:xfrm>
            <a:off x="1468699" y="2879705"/>
            <a:ext cx="6576693" cy="922020"/>
          </a:xfrm>
          <a:prstGeom prst="rect">
            <a:avLst/>
          </a:prstGeom>
          <a:noFill/>
        </p:spPr>
        <p:txBody>
          <a:bodyPr wrap="square" rtlCol="0">
            <a:spAutoFit/>
          </a:bodyPr>
          <a:lstStyle/>
          <a:p>
            <a:r>
              <a:rPr lang="zh-CN" altLang="en-US" sz="5400" dirty="0">
                <a:solidFill>
                  <a:srgbClr val="002B41"/>
                </a:solidFill>
                <a:latin typeface="微软雅黑" panose="020B0503020204020204" pitchFamily="34" charset="-122"/>
                <a:ea typeface="微软雅黑" panose="020B0503020204020204" pitchFamily="34" charset="-122"/>
              </a:rPr>
              <a:t>感谢聆听！</a:t>
            </a:r>
          </a:p>
        </p:txBody>
      </p:sp>
      <p:pic>
        <p:nvPicPr>
          <p:cNvPr id="2" name="图片 1"/>
          <p:cNvPicPr>
            <a:picLocks noChangeAspect="1"/>
          </p:cNvPicPr>
          <p:nvPr>
            <p:custDataLst>
              <p:tags r:id="rId9"/>
            </p:custDataLst>
          </p:nvPr>
        </p:nvPicPr>
        <p:blipFill>
          <a:blip r:embed="rId11" cstate="print">
            <a:extLst>
              <a:ext uri="{28A0092B-C50C-407E-A947-70E740481C1C}">
                <a14:useLocalDpi xmlns:a14="http://schemas.microsoft.com/office/drawing/2010/main" val="0"/>
              </a:ext>
            </a:extLst>
          </a:blip>
          <a:stretch>
            <a:fillRect/>
          </a:stretch>
        </p:blipFill>
        <p:spPr>
          <a:xfrm>
            <a:off x="10039641" y="1700607"/>
            <a:ext cx="1891058" cy="1898239"/>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3.0.1"/>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ags/tag5.xml><?xml version="1.0" encoding="utf-8"?>
<p:tagLst xmlns:a="http://schemas.openxmlformats.org/drawingml/2006/main" xmlns:r="http://schemas.openxmlformats.org/officeDocument/2006/relationships" xmlns:p="http://schemas.openxmlformats.org/presentationml/2006/main">
  <p:tag name="PA" val="v3.0.1"/>
</p:tagLst>
</file>

<file path=ppt/tags/tag6.xml><?xml version="1.0" encoding="utf-8"?>
<p:tagLst xmlns:a="http://schemas.openxmlformats.org/drawingml/2006/main" xmlns:r="http://schemas.openxmlformats.org/officeDocument/2006/relationships" xmlns:p="http://schemas.openxmlformats.org/presentationml/2006/main">
  <p:tag name="PA" val="v3.0.1"/>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PA" val="v3.0.1"/>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PA" val="v3.0.1"/>
</p:tagLst>
</file>

<file path=ppt/tags/tag18.xml><?xml version="1.0" encoding="utf-8"?>
<p:tagLst xmlns:a="http://schemas.openxmlformats.org/drawingml/2006/main" xmlns:r="http://schemas.openxmlformats.org/officeDocument/2006/relationships" xmlns:p="http://schemas.openxmlformats.org/presentationml/2006/main">
  <p:tag name="PA" val="v3.0.1"/>
</p:tagLst>
</file>

<file path=ppt/tags/tag19.xml><?xml version="1.0" encoding="utf-8"?>
<p:tagLst xmlns:a="http://schemas.openxmlformats.org/drawingml/2006/main" xmlns:r="http://schemas.openxmlformats.org/officeDocument/2006/relationships" xmlns:p="http://schemas.openxmlformats.org/presentationml/2006/main">
  <p:tag name="PA" val="v3.0.1"/>
</p:tagLst>
</file>

<file path=ppt/tags/tag20.xml><?xml version="1.0" encoding="utf-8"?>
<p:tagLst xmlns:a="http://schemas.openxmlformats.org/drawingml/2006/main" xmlns:r="http://schemas.openxmlformats.org/officeDocument/2006/relationships" xmlns:p="http://schemas.openxmlformats.org/presentationml/2006/main">
  <p:tag name="PA" val="v3.0.1"/>
</p:tagLst>
</file>

<file path=ppt/tags/tag21.xml><?xml version="1.0" encoding="utf-8"?>
<p:tagLst xmlns:a="http://schemas.openxmlformats.org/drawingml/2006/main" xmlns:r="http://schemas.openxmlformats.org/officeDocument/2006/relationships" xmlns:p="http://schemas.openxmlformats.org/presentationml/2006/main">
  <p:tag name="PA" val="v3.0.1"/>
</p:tagLst>
</file>

<file path=ppt/tags/tag22.xml><?xml version="1.0" encoding="utf-8"?>
<p:tagLst xmlns:a="http://schemas.openxmlformats.org/drawingml/2006/main" xmlns:r="http://schemas.openxmlformats.org/officeDocument/2006/relationships" xmlns:p="http://schemas.openxmlformats.org/presentationml/2006/main">
  <p:tag name="PA" val="v3.0.1"/>
</p:tagLst>
</file>

<file path=ppt/tags/tag23.xml><?xml version="1.0" encoding="utf-8"?>
<p:tagLst xmlns:a="http://schemas.openxmlformats.org/drawingml/2006/main" xmlns:r="http://schemas.openxmlformats.org/officeDocument/2006/relationships" xmlns:p="http://schemas.openxmlformats.org/presentationml/2006/main">
  <p:tag name="PA" val="v3.0.1"/>
</p:tagLst>
</file>

<file path=ppt/tags/tag24.xml><?xml version="1.0" encoding="utf-8"?>
<p:tagLst xmlns:a="http://schemas.openxmlformats.org/drawingml/2006/main" xmlns:r="http://schemas.openxmlformats.org/officeDocument/2006/relationships" xmlns:p="http://schemas.openxmlformats.org/presentationml/2006/main">
  <p:tag name="PA" val="v3.0.1"/>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912</Words>
  <Application>Microsoft Office PowerPoint</Application>
  <PresentationFormat>宽屏</PresentationFormat>
  <Paragraphs>103</Paragraphs>
  <Slides>13</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宋体</vt:lpstr>
      <vt:lpstr>微软雅黑</vt:lpstr>
      <vt:lpstr>Arial</vt:lpstr>
      <vt:lpstr>Calibri</vt:lpstr>
      <vt:lpstr>Calibri Light</vt:lpstr>
      <vt:lpstr>Cambria Math</vt:lpstr>
      <vt:lpstr>Times New Roman</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简洁几何</dc:title>
  <dc:creator>第一PPT</dc:creator>
  <cp:keywords>www.1ppt.com</cp:keywords>
  <dc:description>http://www.ypppt.com/</dc:description>
  <cp:lastModifiedBy>8618737192375</cp:lastModifiedBy>
  <cp:revision>314</cp:revision>
  <dcterms:created xsi:type="dcterms:W3CDTF">2016-12-09T01:44:00Z</dcterms:created>
  <dcterms:modified xsi:type="dcterms:W3CDTF">2026-04-07T03:08:29Z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ies>
</file>