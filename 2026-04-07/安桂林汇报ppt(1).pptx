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336" r:id="rId4"/>
    <p:sldId id="337" r:id="rId5"/>
    <p:sldId id="333" r:id="rId6"/>
    <p:sldId id="27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9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B41"/>
    <a:srgbClr val="F1F1F1"/>
    <a:srgbClr val="1B2F47"/>
    <a:srgbClr val="ED4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264" y="72"/>
      </p:cViewPr>
      <p:guideLst>
        <p:guide orient="horz" pos="2160"/>
        <p:guide pos="39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EEDEB-74DD-4590-ADB0-3BDFBC7AA6C1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043DD-9C8A-432D-8FD9-15B0804A3E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36557-F262-0F53-CECD-C433AB4CF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C68DF9-EB6C-DCAA-75AF-4C9B5BDEAB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BA2D7-68D1-0CA8-2823-4A7996F5D81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27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A7A5E-4949-9F4D-FBCF-2A5E7684B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2E72C7-83BF-4A5D-7E2E-DB3DF7090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8D8439-266C-4622-6BCC-DC8FD4A0848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279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8325228" y="654542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485DF-3FAB-45E9-A642-7745AB3E3AF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BAE56-5081-45C8-9882-C35F39B69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2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1.png"/><Relationship Id="rId5" Type="http://schemas.openxmlformats.org/officeDocument/2006/relationships/tags" Target="../tags/tag23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1535" y="2659559"/>
            <a:ext cx="32675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工作进展</a:t>
            </a:r>
          </a:p>
        </p:txBody>
      </p:sp>
      <p:sp>
        <p:nvSpPr>
          <p:cNvPr id="8" name="PA_Line 15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3459637" y="0"/>
            <a:ext cx="7651028" cy="6860440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PA_Line 1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8045145" y="-179684"/>
            <a:ext cx="4011737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PA_Line 1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517715" y="-37707"/>
            <a:ext cx="10674284" cy="4949588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PA_Line 18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9747262" y="-179684"/>
            <a:ext cx="1891058" cy="703355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PA_椭圆 1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05344" y="1710670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PA_椭圆 2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0435706" y="4050757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PA_任意多边形 5"/>
          <p:cNvSpPr/>
          <p:nvPr>
            <p:custDataLst>
              <p:tags r:id="rId7"/>
            </p:custDataLst>
          </p:nvPr>
        </p:nvSpPr>
        <p:spPr bwMode="auto">
          <a:xfrm>
            <a:off x="9257122" y="0"/>
            <a:ext cx="2926691" cy="4911881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rgbClr val="00183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PA_椭圆 1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847630" y="2860740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69754" y="5881473"/>
            <a:ext cx="3278233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报告人：安桂林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641" y="1700607"/>
            <a:ext cx="1891058" cy="1898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工作进展</a:t>
            </a: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4937" y="0"/>
            <a:ext cx="1167063" cy="1171495"/>
          </a:xfrm>
          <a:prstGeom prst="rect">
            <a:avLst/>
          </a:prstGeom>
        </p:spPr>
      </p:pic>
      <p:sp>
        <p:nvSpPr>
          <p:cNvPr id="3" name="圆角矩形 4"/>
          <p:cNvSpPr/>
          <p:nvPr/>
        </p:nvSpPr>
        <p:spPr>
          <a:xfrm>
            <a:off x="1399316" y="1171495"/>
            <a:ext cx="9625621" cy="761998"/>
          </a:xfrm>
          <a:prstGeom prst="roundRect">
            <a:avLst/>
          </a:prstGeom>
          <a:noFill/>
          <a:ln w="19050" cmpd="sng">
            <a:solidFill>
              <a:srgbClr val="002B41"/>
            </a:solidFill>
            <a:prstDash val="solid"/>
            <a:round/>
            <a:headEnd type="none"/>
            <a:tailEnd type="none" w="med" len="med"/>
          </a:ln>
          <a:effectLst>
            <a:outerShdw blurRad="635000" dist="254000" dir="2700000" algn="ctr" rotWithShape="0">
              <a:srgbClr val="808080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5"/>
          <p:cNvSpPr/>
          <p:nvPr/>
        </p:nvSpPr>
        <p:spPr>
          <a:xfrm>
            <a:off x="1063487" y="1220242"/>
            <a:ext cx="694044" cy="658939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87549" y="1286882"/>
            <a:ext cx="2216902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实验进度</a:t>
            </a:r>
            <a:endParaRPr lang="en-US" altLang="zh-CN" sz="2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63487" y="2140736"/>
            <a:ext cx="9961450" cy="3176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预跑数据集：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BATADAL,SWaT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目前进度：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(1)BATADAL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C9A9F6C-AB7A-0CE5-1F7C-6FED9259F81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64216168"/>
              </p:ext>
            </p:extLst>
          </p:nvPr>
        </p:nvGraphicFramePr>
        <p:xfrm>
          <a:off x="1580407" y="3665253"/>
          <a:ext cx="8520856" cy="1193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6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6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2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07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86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00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50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29536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Dataset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IDS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Prec.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Rec.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F1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eTaP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eTaR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eTaF1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FPA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 dirty="0" err="1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Scen</a:t>
                      </a:r>
                      <a:r>
                        <a:rPr lang="en-US" sz="1200" b="0" spc="120" dirty="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244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BATADAL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Geco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93.8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73.4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82.3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97.0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88.1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92.4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FBB9B2B-96A4-D7D8-1CBC-24E6DF66DE5A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848945629"/>
              </p:ext>
            </p:extLst>
          </p:nvPr>
        </p:nvGraphicFramePr>
        <p:xfrm>
          <a:off x="1580407" y="5187230"/>
          <a:ext cx="8520856" cy="1193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6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6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2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07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86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00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50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12104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 dirty="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Dataset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IDS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Prec.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Rec.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F1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eTaP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eTaR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eTaF1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FPA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 dirty="0" err="1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Scen</a:t>
                      </a:r>
                      <a:r>
                        <a:rPr lang="en-US" sz="1200" b="0" spc="120" dirty="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676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BATADAL 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86.8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93.1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89.8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88.7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96.1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92.3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36BAB-F513-C68D-85FE-BD9BC2E6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>
            <a:extLst>
              <a:ext uri="{FF2B5EF4-FFF2-40B4-BE49-F238E27FC236}">
                <a16:creationId xmlns:a16="http://schemas.microsoft.com/office/drawing/2014/main" id="{10294CCA-AF58-FBD2-11B9-A8241A05B3B8}"/>
              </a:ext>
            </a:extLst>
          </p:cNvPr>
          <p:cNvSpPr txBox="1"/>
          <p:nvPr/>
        </p:nvSpPr>
        <p:spPr>
          <a:xfrm>
            <a:off x="443585" y="17361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工作进展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90B90770-2769-862A-3020-DF6F8AAD4AA4}"/>
              </a:ext>
            </a:extLst>
          </p:cNvPr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5204E9D-8F3B-0B9C-A000-C013F28A455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4937" y="0"/>
            <a:ext cx="1167063" cy="1171495"/>
          </a:xfrm>
          <a:prstGeom prst="rect">
            <a:avLst/>
          </a:prstGeom>
        </p:spPr>
      </p:pic>
      <p:sp>
        <p:nvSpPr>
          <p:cNvPr id="3" name="圆角矩形 4">
            <a:extLst>
              <a:ext uri="{FF2B5EF4-FFF2-40B4-BE49-F238E27FC236}">
                <a16:creationId xmlns:a16="http://schemas.microsoft.com/office/drawing/2014/main" id="{8EB29DFC-EE4B-2BC9-0F29-D5A3DB3EF9B9}"/>
              </a:ext>
            </a:extLst>
          </p:cNvPr>
          <p:cNvSpPr/>
          <p:nvPr/>
        </p:nvSpPr>
        <p:spPr>
          <a:xfrm>
            <a:off x="1399316" y="1171495"/>
            <a:ext cx="9625621" cy="761998"/>
          </a:xfrm>
          <a:prstGeom prst="roundRect">
            <a:avLst/>
          </a:prstGeom>
          <a:noFill/>
          <a:ln w="19050" cmpd="sng">
            <a:solidFill>
              <a:srgbClr val="002B41"/>
            </a:solidFill>
            <a:prstDash val="solid"/>
            <a:round/>
            <a:headEnd type="none"/>
            <a:tailEnd type="none" w="med" len="med"/>
          </a:ln>
          <a:effectLst>
            <a:outerShdw blurRad="635000" dist="254000" dir="2700000" algn="ctr" rotWithShape="0">
              <a:srgbClr val="808080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5">
            <a:extLst>
              <a:ext uri="{FF2B5EF4-FFF2-40B4-BE49-F238E27FC236}">
                <a16:creationId xmlns:a16="http://schemas.microsoft.com/office/drawing/2014/main" id="{38BBA664-14F7-52E7-2D30-544593109C71}"/>
              </a:ext>
            </a:extLst>
          </p:cNvPr>
          <p:cNvSpPr/>
          <p:nvPr/>
        </p:nvSpPr>
        <p:spPr>
          <a:xfrm>
            <a:off x="1063487" y="1220242"/>
            <a:ext cx="694044" cy="658939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DE5844-3021-118B-6DCF-75E7B9D52183}"/>
              </a:ext>
            </a:extLst>
          </p:cNvPr>
          <p:cNvSpPr txBox="1"/>
          <p:nvPr/>
        </p:nvSpPr>
        <p:spPr>
          <a:xfrm>
            <a:off x="4987549" y="1286882"/>
            <a:ext cx="2216902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实验进度</a:t>
            </a:r>
            <a:endParaRPr lang="en-US" altLang="zh-CN" sz="2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09623A-E77D-EB46-00F4-446E09C8C903}"/>
              </a:ext>
            </a:extLst>
          </p:cNvPr>
          <p:cNvSpPr txBox="1"/>
          <p:nvPr/>
        </p:nvSpPr>
        <p:spPr>
          <a:xfrm>
            <a:off x="1063487" y="2013644"/>
            <a:ext cx="9961450" cy="2484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(2)HAI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在上次汇报后，针对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复杂热力学特性，将底层物理防线的漂移容限拓展至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倍标准差（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3-Sigma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准则）；且为防止漏报高级协同攻击，我将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ST-Transformer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的预测残差乘数下调至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；引入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anomaly_counter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&gt;= 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的严格防抖机制。要求残差拓扑断裂必须在时域上连续维持数个采样周期（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秒）才触发最终告警。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DECF12A-3370-4ECE-0E01-2937480CF0F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93256276"/>
              </p:ext>
            </p:extLst>
          </p:nvPr>
        </p:nvGraphicFramePr>
        <p:xfrm>
          <a:off x="1367645" y="4047940"/>
          <a:ext cx="7600950" cy="6955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12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 dirty="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Dataset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IDS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Prec.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Rec.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F1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eTaP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eTaR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eTaF1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FPA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Scen.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HAI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Geco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75.4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55.5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63.9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73.8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65.4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69.4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90.0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68443B5-64AC-88BF-0495-A7C5229E1CDF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947212062"/>
              </p:ext>
            </p:extLst>
          </p:nvPr>
        </p:nvGraphicFramePr>
        <p:xfrm>
          <a:off x="1381933" y="5009974"/>
          <a:ext cx="7600950" cy="6955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12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73092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 dirty="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Dataset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IDS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Prec.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Rec.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F1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eTaP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eTaR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eTaF1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FPA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Scen.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HAI 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第一次调整</a:t>
                      </a:r>
                      <a:endParaRPr lang="en-US" sz="1000" b="1" spc="6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77.0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57.1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65.6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73.0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69.5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71.2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94.0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FAB93D7-C976-D9A8-B673-7EFA00D6196D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957034513"/>
              </p:ext>
            </p:extLst>
          </p:nvPr>
        </p:nvGraphicFramePr>
        <p:xfrm>
          <a:off x="1385028" y="5942798"/>
          <a:ext cx="7600950" cy="6955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12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 dirty="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Dataset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IDS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Prec.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Rec.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F1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eTaP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eTaR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eTaF1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FPA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120">
                          <a:solidFill>
                            <a:srgbClr val="84858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Scen.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HAI </a:t>
                      </a:r>
                    </a:p>
                  </a:txBody>
                  <a:tcPr marL="107950" marR="107950" marT="63500" marB="6350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第二次调整</a:t>
                      </a:r>
                      <a:endParaRPr lang="en-US" sz="1000" b="1" spc="6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77.7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72.8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75.1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73.0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81.4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76.9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spc="6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107950" marR="107950" marT="63500" marB="63500" anchor="ctr">
                    <a:lnL w="9525" cap="flat" cmpd="sng" algn="ctr">
                      <a:solidFill>
                        <a:srgbClr val="84858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 cap="flat" cmpd="sng" algn="ctr">
                      <a:solidFill>
                        <a:srgbClr val="848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69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61514-614F-BC63-864B-B034F990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>
            <a:extLst>
              <a:ext uri="{FF2B5EF4-FFF2-40B4-BE49-F238E27FC236}">
                <a16:creationId xmlns:a16="http://schemas.microsoft.com/office/drawing/2014/main" id="{B8D338AB-D9CA-5C6A-8BA0-80A62765CA6D}"/>
              </a:ext>
            </a:extLst>
          </p:cNvPr>
          <p:cNvSpPr txBox="1"/>
          <p:nvPr/>
        </p:nvSpPr>
        <p:spPr>
          <a:xfrm>
            <a:off x="443585" y="17361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工作进展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3D56B634-34E3-C2D8-EBBD-9A228E9469B4}"/>
              </a:ext>
            </a:extLst>
          </p:cNvPr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5C0E757-2141-226C-9CE6-CAD8543982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4937" y="0"/>
            <a:ext cx="1167063" cy="1171495"/>
          </a:xfrm>
          <a:prstGeom prst="rect">
            <a:avLst/>
          </a:prstGeom>
        </p:spPr>
      </p:pic>
      <p:sp>
        <p:nvSpPr>
          <p:cNvPr id="3" name="圆角矩形 4">
            <a:extLst>
              <a:ext uri="{FF2B5EF4-FFF2-40B4-BE49-F238E27FC236}">
                <a16:creationId xmlns:a16="http://schemas.microsoft.com/office/drawing/2014/main" id="{77B3D357-D27C-20BD-9B61-11A310270129}"/>
              </a:ext>
            </a:extLst>
          </p:cNvPr>
          <p:cNvSpPr/>
          <p:nvPr/>
        </p:nvSpPr>
        <p:spPr>
          <a:xfrm>
            <a:off x="1399316" y="1171495"/>
            <a:ext cx="9625621" cy="761998"/>
          </a:xfrm>
          <a:prstGeom prst="roundRect">
            <a:avLst/>
          </a:prstGeom>
          <a:noFill/>
          <a:ln w="19050" cmpd="sng">
            <a:solidFill>
              <a:srgbClr val="002B41"/>
            </a:solidFill>
            <a:prstDash val="solid"/>
            <a:round/>
            <a:headEnd type="none"/>
            <a:tailEnd type="none" w="med" len="med"/>
          </a:ln>
          <a:effectLst>
            <a:outerShdw blurRad="635000" dist="254000" dir="2700000" algn="ctr" rotWithShape="0">
              <a:srgbClr val="808080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5">
            <a:extLst>
              <a:ext uri="{FF2B5EF4-FFF2-40B4-BE49-F238E27FC236}">
                <a16:creationId xmlns:a16="http://schemas.microsoft.com/office/drawing/2014/main" id="{FACC37B9-EC46-DE1D-12F7-06F78E824BEE}"/>
              </a:ext>
            </a:extLst>
          </p:cNvPr>
          <p:cNvSpPr/>
          <p:nvPr/>
        </p:nvSpPr>
        <p:spPr>
          <a:xfrm>
            <a:off x="1063487" y="1220242"/>
            <a:ext cx="694044" cy="658939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DAC389-8EB0-39B9-9C38-F301FAA5E022}"/>
              </a:ext>
            </a:extLst>
          </p:cNvPr>
          <p:cNvSpPr txBox="1"/>
          <p:nvPr/>
        </p:nvSpPr>
        <p:spPr>
          <a:xfrm>
            <a:off x="4987549" y="1286882"/>
            <a:ext cx="2216902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实验进度</a:t>
            </a:r>
            <a:endParaRPr lang="en-US" altLang="zh-CN" sz="2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B999DA5-F185-54E3-B7E9-A97F409D3155}"/>
              </a:ext>
            </a:extLst>
          </p:cNvPr>
          <p:cNvSpPr txBox="1"/>
          <p:nvPr/>
        </p:nvSpPr>
        <p:spPr>
          <a:xfrm>
            <a:off x="1063487" y="2140736"/>
            <a:ext cx="9961450" cy="4908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SWaT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SWaT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的核心特点是：强瞬态跳变。在水处理厂中，当一个大功率水泵突然开启，或者阀门瞬间关闭时，水压和流量在几秒钟内会产生剧烈的尖峰突变，然后再恢复平稳。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目前实验结果主要问题：误报率过高，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“Precision”: 0.40326698992789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参数调整：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std_factor: 1.0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 :</a:t>
            </a: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将标准差调整为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倍来包容水泵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阀门正常开闭时产生的强物理扰动。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dl_multiplier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1.4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1.5 :</a:t>
            </a: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SWaT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的正常状态转换极其生硬，稍微调高一点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的重构误差乘数门槛，防止它对合法的水流拓扑瞬变过度反应。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debounce: 2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5</a:t>
            </a: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水泵开启后的物理震荡通常需要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3~5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秒才能平息进入稳态，将防抖窗口拉长到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="" xmlns:wpsdc="http://www.wps.cn/officeDocument/2017/drawingmlCustomData" val="200" checksum="59296752"/>
                </a:ext>
              </a:extLs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7733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工作进展</a:t>
            </a: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4937" y="0"/>
            <a:ext cx="1167063" cy="1171495"/>
          </a:xfrm>
          <a:prstGeom prst="rect">
            <a:avLst/>
          </a:prstGeom>
        </p:spPr>
      </p:pic>
      <p:sp>
        <p:nvSpPr>
          <p:cNvPr id="3" name="圆角矩形 4"/>
          <p:cNvSpPr/>
          <p:nvPr/>
        </p:nvSpPr>
        <p:spPr>
          <a:xfrm>
            <a:off x="1399316" y="1171495"/>
            <a:ext cx="9625621" cy="761998"/>
          </a:xfrm>
          <a:prstGeom prst="roundRect">
            <a:avLst/>
          </a:prstGeom>
          <a:noFill/>
          <a:ln w="19050" cmpd="sng">
            <a:solidFill>
              <a:srgbClr val="002B41"/>
            </a:solidFill>
            <a:prstDash val="solid"/>
            <a:round/>
            <a:headEnd type="none"/>
            <a:tailEnd type="none" w="med" len="med"/>
          </a:ln>
          <a:effectLst>
            <a:outerShdw blurRad="635000" dist="254000" dir="2700000" algn="ctr" rotWithShape="0">
              <a:srgbClr val="808080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5"/>
          <p:cNvSpPr/>
          <p:nvPr/>
        </p:nvSpPr>
        <p:spPr>
          <a:xfrm>
            <a:off x="1063487" y="1220242"/>
            <a:ext cx="694044" cy="658939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988184" y="1308472"/>
            <a:ext cx="2216902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论文进度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15557" y="2364804"/>
            <a:ext cx="9961450" cy="753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 latinLnBrk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xmlns="" val="200" checksum="59296752"/>
                </a:ext>
              </a:extLst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目前论文初稿文本内容，参考文献已写完，插图还需要添加且核心框架图根据代码需要微调，表格方面需要等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SWaT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数据集跑完之后，需要再完成消融实验和计算开销实验，填充到对应表格中。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6C4B02-DB95-AC66-2F79-EC68E18CBB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7127" y="4445612"/>
            <a:ext cx="4416359" cy="2412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215957F-0676-7D6C-C1B8-BB3495C2EC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542" y="4445612"/>
            <a:ext cx="4587499" cy="239300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5820985-8E25-A1FA-E580-4BBE0428F1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716" y="3161910"/>
            <a:ext cx="6107154" cy="110434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65B663F-CA21-B9F6-2502-75E7CA4951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6586" y="3161910"/>
            <a:ext cx="4913413" cy="1104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_Line 15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3459637" y="0"/>
            <a:ext cx="7651028" cy="6860440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PA_Line 1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8045145" y="-179684"/>
            <a:ext cx="4011737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" name="PA_Line 1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517715" y="-37707"/>
            <a:ext cx="10674284" cy="4949588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1" name="PA_Line 18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9747262" y="-179684"/>
            <a:ext cx="1891058" cy="703355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2" name="PA_椭圆 1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05344" y="1710670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3" name="PA_椭圆 2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0435706" y="4050757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4" name="PA_任意多边形 5"/>
          <p:cNvSpPr/>
          <p:nvPr>
            <p:custDataLst>
              <p:tags r:id="rId7"/>
            </p:custDataLst>
          </p:nvPr>
        </p:nvSpPr>
        <p:spPr bwMode="auto">
          <a:xfrm>
            <a:off x="9257122" y="0"/>
            <a:ext cx="2926691" cy="4911881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rgbClr val="00183C"/>
              </a:solidFill>
            </a:endParaRPr>
          </a:p>
        </p:txBody>
      </p:sp>
      <p:sp>
        <p:nvSpPr>
          <p:cNvPr id="15" name="PA_椭圆 1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847630" y="2860740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6" name="TextBox 76"/>
          <p:cNvSpPr txBox="1"/>
          <p:nvPr/>
        </p:nvSpPr>
        <p:spPr>
          <a:xfrm>
            <a:off x="1468699" y="2879705"/>
            <a:ext cx="657669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请老师批评指正！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641" y="1700607"/>
            <a:ext cx="1891058" cy="189823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a7de1fd-1be2-4a44-8296-15e069097241}"/>
  <p:tag name="TABLE_RECT" val="240.567*51.3*598.5*437.4"/>
  <p:tag name="TABLE_EMPHASIZE_COLOR" val="8684935"/>
  <p:tag name="TABLE_ONEKEY_SKIN_IDX" val="0"/>
  <p:tag name="TABLE_SKINIDX" val="-1"/>
  <p:tag name="TABLE_COLORIDX" val="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a7de1fd-1be2-4a44-8296-15e069097241}"/>
  <p:tag name="TABLE_RECT" val="240.567*51.3*598.5*437.4"/>
  <p:tag name="TABLE_EMPHASIZE_COLOR" val="8684935"/>
  <p:tag name="TABLE_ONEKEY_SKIN_IDX" val="0"/>
  <p:tag name="TABLE_SKINIDX" val="-1"/>
  <p:tag name="TABLE_COLORIDX" val="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a7de1fd-1be2-4a44-8296-15e069097241}"/>
  <p:tag name="TABLE_RECT" val="240.567*51.3*598.5*437.4"/>
  <p:tag name="TABLE_EMPHASIZE_COLOR" val="8684935"/>
  <p:tag name="TABLE_ONEKEY_SKIN_IDX" val="0"/>
  <p:tag name="TABLE_SKINIDX" val="-1"/>
  <p:tag name="TABLE_COLORIDX" val="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a7de1fd-1be2-4a44-8296-15e069097241}"/>
  <p:tag name="TABLE_RECT" val="240.567*51.3*598.5*437.4"/>
  <p:tag name="TABLE_EMPHASIZE_COLOR" val="8684935"/>
  <p:tag name="TABLE_ONEKEY_SKIN_IDX" val="0"/>
  <p:tag name="TABLE_SKINIDX" val="-1"/>
  <p:tag name="TABLE_COLORIDX" val="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a7de1fd-1be2-4a44-8296-15e069097241}"/>
  <p:tag name="TABLE_RECT" val="240.567*51.3*598.5*437.4"/>
  <p:tag name="TABLE_EMPHASIZE_COLOR" val="8684935"/>
  <p:tag name="TABLE_ONEKEY_SKIN_IDX" val="0"/>
  <p:tag name="TABLE_SKINIDX" val="-1"/>
  <p:tag name="TABLE_COLORIDX" val="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484</Words>
  <Application>Microsoft Office PowerPoint</Application>
  <PresentationFormat>宽屏</PresentationFormat>
  <Paragraphs>135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微软雅黑</vt:lpstr>
      <vt:lpstr>Arial</vt:lpstr>
      <vt:lpstr>Calibri</vt:lpstr>
      <vt:lpstr>Calibri Light</vt:lpstr>
      <vt:lpstr>Times New Roman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简洁几何</dc:title>
  <dc:creator>第一PPT</dc:creator>
  <cp:keywords>www.1ppt.com</cp:keywords>
  <dc:description>http://www.ypppt.com/</dc:description>
  <cp:lastModifiedBy>8618737192375</cp:lastModifiedBy>
  <cp:revision>286</cp:revision>
  <dcterms:created xsi:type="dcterms:W3CDTF">2016-12-09T01:44:00Z</dcterms:created>
  <dcterms:modified xsi:type="dcterms:W3CDTF">2026-04-02T06:51:26Z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