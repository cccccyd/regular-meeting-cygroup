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1.xml" ContentType="application/vnd.openxmlformats-officedocument.presentationml.notesSlide+xml"/>
  <Override PartName="/ppt/tags/tag32.xml" ContentType="application/vnd.openxmlformats-officedocument.presentationml.tags+xml"/>
  <Override PartName="/ppt/notesSlides/notesSlide2.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3.xml" ContentType="application/vnd.openxmlformats-officedocument.presentationml.notesSlide+xml"/>
  <Override PartName="/ppt/tags/tag37.xml" ContentType="application/vnd.openxmlformats-officedocument.presentationml.tags+xml"/>
  <Override PartName="/ppt/notesSlides/notesSlide4.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5.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6.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7.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8.xml" ContentType="application/vnd.openxmlformats-officedocument.presentationml.notesSlide+xml"/>
  <Override PartName="/ppt/tags/tag54.xml" ContentType="application/vnd.openxmlformats-officedocument.presentationml.tags+xml"/>
  <Override PartName="/ppt/notesSlides/notesSlide9.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10.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11.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12.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13.xml" ContentType="application/vnd.openxmlformats-officedocument.presentationml.notesSlide+xml"/>
  <Override PartName="/ppt/tags/tag71.xml" ContentType="application/vnd.openxmlformats-officedocument.presentationml.tags+xml"/>
  <Override PartName="/ppt/notesSlides/notesSlide14.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15.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16.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notesSlides/notesSlide17.xml" ContentType="application/vnd.openxmlformats-officedocument.presentationml.notesSlide+xml"/>
  <Override PartName="/ppt/tags/tag84.xml" ContentType="application/vnd.openxmlformats-officedocument.presentationml.tags+xml"/>
  <Override PartName="/ppt/notesSlides/notesSlide18.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19.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20.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notesSlides/notesSlide21.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notesSlides/notesSlide22.xml" ContentType="application/vnd.openxmlformats-officedocument.presentationml.notesSlide+xml"/>
  <Override PartName="/ppt/tags/tag101.xml" ContentType="application/vnd.openxmlformats-officedocument.presentationml.tags+xml"/>
  <Override PartName="/ppt/notesSlides/notesSlide23.xml" ContentType="application/vnd.openxmlformats-officedocument.presentationml.notesSlide+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notesSlides/notesSlide24.xml" ContentType="application/vnd.openxmlformats-officedocument.presentationml.notesSlide+xml"/>
  <Override PartName="/ppt/tags/tag106.xml" ContentType="application/vnd.openxmlformats-officedocument.presentationml.tags+xml"/>
  <Override PartName="/ppt/notesSlides/notesSlide25.xml" ContentType="application/vnd.openxmlformats-officedocument.presentationml.notesSlide+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notesSlides/notesSlide26.xml" ContentType="application/vnd.openxmlformats-officedocument.presentationml.notesSlide+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notesSlides/notesSlide27.xml" ContentType="application/vnd.openxmlformats-officedocument.presentationml.notesSlide+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notesSlides/notesSlide28.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notesSlides/notesSlide29.xml" ContentType="application/vnd.openxmlformats-officedocument.presentationml.notesSlide+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notesSlides/notesSlide30.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notesSlides/notesSlide31.xml" ContentType="application/vnd.openxmlformats-officedocument.presentationml.notesSlide+xml"/>
  <Override PartName="/ppt/tags/tag131.xml" ContentType="application/vnd.openxmlformats-officedocument.presentationml.tags+xml"/>
  <Override PartName="/ppt/notesSlides/notesSlide32.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notesSlides/notesSlide33.xml" ContentType="application/vnd.openxmlformats-officedocument.presentationml.notesSlide+xml"/>
  <Override PartName="/ppt/tags/tag136.xml" ContentType="application/vnd.openxmlformats-officedocument.presentationml.tags+xml"/>
  <Override PartName="/ppt/notesSlides/notesSlide34.xml" ContentType="application/vnd.openxmlformats-officedocument.presentationml.notesSlide+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notesSlides/notesSlide35.xml" ContentType="application/vnd.openxmlformats-officedocument.presentationml.notesSlide+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39"/>
  </p:notesMasterIdLst>
  <p:handoutMasterIdLst>
    <p:handoutMasterId r:id="rId40"/>
  </p:handoutMasterIdLst>
  <p:sldIdLst>
    <p:sldId id="256" r:id="rId3"/>
    <p:sldId id="258" r:id="rId4"/>
    <p:sldId id="328" r:id="rId5"/>
    <p:sldId id="259" r:id="rId6"/>
    <p:sldId id="345" r:id="rId7"/>
    <p:sldId id="346" r:id="rId8"/>
    <p:sldId id="347" r:id="rId9"/>
    <p:sldId id="348" r:id="rId10"/>
    <p:sldId id="344" r:id="rId11"/>
    <p:sldId id="316" r:id="rId12"/>
    <p:sldId id="349" r:id="rId13"/>
    <p:sldId id="350" r:id="rId14"/>
    <p:sldId id="351" r:id="rId15"/>
    <p:sldId id="331" r:id="rId16"/>
    <p:sldId id="352" r:id="rId17"/>
    <p:sldId id="353" r:id="rId18"/>
    <p:sldId id="355" r:id="rId19"/>
    <p:sldId id="338" r:id="rId20"/>
    <p:sldId id="339" r:id="rId21"/>
    <p:sldId id="340" r:id="rId22"/>
    <p:sldId id="356" r:id="rId23"/>
    <p:sldId id="357" r:id="rId24"/>
    <p:sldId id="358" r:id="rId25"/>
    <p:sldId id="359" r:id="rId26"/>
    <p:sldId id="360" r:id="rId27"/>
    <p:sldId id="361" r:id="rId28"/>
    <p:sldId id="362" r:id="rId29"/>
    <p:sldId id="365" r:id="rId30"/>
    <p:sldId id="366" r:id="rId31"/>
    <p:sldId id="367" r:id="rId32"/>
    <p:sldId id="370" r:id="rId33"/>
    <p:sldId id="371" r:id="rId34"/>
    <p:sldId id="372" r:id="rId35"/>
    <p:sldId id="373" r:id="rId36"/>
    <p:sldId id="374" r:id="rId37"/>
    <p:sldId id="266" r:id="rId38"/>
  </p:sldIdLst>
  <p:sldSz cx="12192000" cy="6858000"/>
  <p:notesSz cx="6858000" cy="9144000"/>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52" userDrawn="1">
          <p15:clr>
            <a:srgbClr val="A4A3A4"/>
          </p15:clr>
        </p15:guide>
        <p15:guide id="2" pos="21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4769"/>
    <a:srgbClr val="FFFFFF"/>
    <a:srgbClr val="425C8A"/>
    <a:srgbClr val="ACBBDB"/>
    <a:srgbClr val="D0E1F7"/>
    <a:srgbClr val="D9D9D9"/>
    <a:srgbClr val="DCDCDC"/>
    <a:srgbClr val="F0F0F0"/>
    <a:srgbClr val="E6E6E6"/>
    <a:srgbClr val="C8C8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56" autoAdjust="0"/>
    <p:restoredTop sz="78271" autoAdjust="0"/>
  </p:normalViewPr>
  <p:slideViewPr>
    <p:cSldViewPr snapToGrid="0" showGuides="1">
      <p:cViewPr>
        <p:scale>
          <a:sx n="75" d="100"/>
          <a:sy n="75" d="100"/>
        </p:scale>
        <p:origin x="936" y="-82"/>
      </p:cViewPr>
      <p:guideLst>
        <p:guide orient="horz" pos="1052"/>
        <p:guide pos="2156"/>
      </p:guideLst>
    </p:cSldViewPr>
  </p:slideViewPr>
  <p:notesTextViewPr>
    <p:cViewPr>
      <p:scale>
        <a:sx n="3" d="2"/>
        <a:sy n="3" d="2"/>
      </p:scale>
      <p:origin x="0" y="0"/>
    </p:cViewPr>
  </p:notesTextViewPr>
  <p:sorterViewPr>
    <p:cViewPr>
      <p:scale>
        <a:sx n="100" d="100"/>
        <a:sy n="100" d="100"/>
      </p:scale>
      <p:origin x="0" y="-3278"/>
    </p:cViewPr>
  </p:sorterViewPr>
  <p:notesViewPr>
    <p:cSldViewPr snapToGrid="0">
      <p:cViewPr varScale="1">
        <p:scale>
          <a:sx n="92" d="100"/>
          <a:sy n="92" d="100"/>
        </p:scale>
        <p:origin x="2550" y="102"/>
      </p:cViewPr>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汉仪中宋简" panose="02010609000101010101" charset="-128"/>
              <a:ea typeface="汉仪中宋简" panose="02010609000101010101" charset="-128"/>
              <a:cs typeface="汉仪中宋简" panose="02010609000101010101" charset="-128"/>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汉仪中宋简" panose="02010609000101010101" charset="-128"/>
              </a:rPr>
              <a:t>2026/4/6</a:t>
            </a:fld>
            <a:endParaRPr lang="zh-CN" altLang="en-US">
              <a:cs typeface="汉仪中宋简" panose="02010609000101010101" charset="-128"/>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汉仪中宋简" panose="02010609000101010101" charset="-128"/>
              <a:ea typeface="汉仪中宋简" panose="02010609000101010101" charset="-128"/>
              <a:cs typeface="汉仪中宋简" panose="02010609000101010101" charset="-128"/>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汉仪中宋简" panose="02010609000101010101" charset="-128"/>
              </a:rPr>
              <a:t>‹#›</a:t>
            </a:fld>
            <a:endParaRPr lang="zh-CN" altLang="en-US">
              <a:cs typeface="汉仪中宋简" panose="02010609000101010101" charset="-128"/>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汉仪中宋简" panose="02010609000101010101" charset="-128"/>
                <a:ea typeface="汉仪中宋简" panose="02010609000101010101" charset="-128"/>
                <a:cs typeface="汉仪中宋简" panose="02010609000101010101" charset="-128"/>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汉仪中宋简" panose="02010609000101010101" charset="-128"/>
                <a:ea typeface="汉仪中宋简" panose="02010609000101010101" charset="-128"/>
                <a:cs typeface="汉仪中宋简" panose="02010609000101010101" charset="-128"/>
              </a:defRPr>
            </a:lvl1pPr>
          </a:lstStyle>
          <a:p>
            <a:fld id="{D2A48B96-639E-45A3-A0BA-2464DFDB1FAA}" type="datetimeFigureOut">
              <a:rPr lang="zh-CN" altLang="en-US" smtClean="0"/>
              <a:t>2026/4/6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汉仪中宋简" panose="02010609000101010101" charset="-128"/>
                <a:ea typeface="汉仪中宋简" panose="02010609000101010101" charset="-128"/>
                <a:cs typeface="汉仪中宋简" panose="02010609000101010101" charset="-128"/>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汉仪中宋简" panose="02010609000101010101" charset="-128"/>
                <a:ea typeface="汉仪中宋简" panose="02010609000101010101" charset="-128"/>
                <a:cs typeface="汉仪中宋简" panose="02010609000101010101" charset="-128"/>
              </a:defRPr>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汉仪中宋简" panose="02010609000101010101" charset="-128"/>
        <a:ea typeface="汉仪中宋简" panose="02010609000101010101" charset="-128"/>
        <a:cs typeface="汉仪中宋简" panose="02010609000101010101" charset="-128"/>
      </a:defRPr>
    </a:lvl1pPr>
    <a:lvl2pPr marL="457200" algn="l" defTabSz="914400" rtl="0" eaLnBrk="1" latinLnBrk="0" hangingPunct="1">
      <a:defRPr sz="1200" kern="1200">
        <a:solidFill>
          <a:schemeClr val="tx1"/>
        </a:solidFill>
        <a:latin typeface="汉仪中宋简" panose="02010609000101010101" charset="-128"/>
        <a:ea typeface="汉仪中宋简" panose="02010609000101010101" charset="-128"/>
        <a:cs typeface="汉仪中宋简" panose="02010609000101010101" charset="-128"/>
      </a:defRPr>
    </a:lvl2pPr>
    <a:lvl3pPr marL="914400" algn="l" defTabSz="914400" rtl="0" eaLnBrk="1" latinLnBrk="0" hangingPunct="1">
      <a:defRPr sz="1200" kern="1200">
        <a:solidFill>
          <a:schemeClr val="tx1"/>
        </a:solidFill>
        <a:latin typeface="汉仪中宋简" panose="02010609000101010101" charset="-128"/>
        <a:ea typeface="汉仪中宋简" panose="02010609000101010101" charset="-128"/>
        <a:cs typeface="汉仪中宋简" panose="02010609000101010101" charset="-128"/>
      </a:defRPr>
    </a:lvl3pPr>
    <a:lvl4pPr marL="1371600" algn="l" defTabSz="914400" rtl="0" eaLnBrk="1" latinLnBrk="0" hangingPunct="1">
      <a:defRPr sz="1200" kern="1200">
        <a:solidFill>
          <a:schemeClr val="tx1"/>
        </a:solidFill>
        <a:latin typeface="汉仪中宋简" panose="02010609000101010101" charset="-128"/>
        <a:ea typeface="汉仪中宋简" panose="02010609000101010101" charset="-128"/>
        <a:cs typeface="汉仪中宋简" panose="02010609000101010101" charset="-128"/>
      </a:defRPr>
    </a:lvl4pPr>
    <a:lvl5pPr marL="1828800" algn="l" defTabSz="914400" rtl="0" eaLnBrk="1" latinLnBrk="0" hangingPunct="1">
      <a:defRPr sz="1200" kern="1200">
        <a:solidFill>
          <a:schemeClr val="tx1"/>
        </a:solidFill>
        <a:latin typeface="汉仪中宋简" panose="02010609000101010101" charset="-128"/>
        <a:ea typeface="汉仪中宋简" panose="02010609000101010101" charset="-128"/>
        <a:cs typeface="汉仪中宋简" panose="02010609000101010101" charset="-128"/>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endParaRPr lang="en-US" altLang="zh-CN" b="1"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effectLst/>
              </a:rPr>
              <a:t>在什么背景下，存在什么问题，当前技术有什么缺点，我们提出了什么方法，解决了什么，核心方法。达到了什么效果</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57B23-E1F1-6399-700D-C79FBD31AF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9347F65-46F1-51C7-F984-335857E1A5BA}"/>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9B6F4366-7856-5F52-2462-A6B72F37592F}"/>
              </a:ext>
            </a:extLst>
          </p:cNvPr>
          <p:cNvSpPr>
            <a:spLocks noGrp="1"/>
          </p:cNvSpPr>
          <p:nvPr>
            <p:ph type="body" idx="3"/>
          </p:nvPr>
        </p:nvSpPr>
        <p:spPr/>
        <p:txBody>
          <a:bodyPr/>
          <a:lstStyle/>
          <a:p>
            <a:endParaRPr lang="en-US" altLang="zh-CN" dirty="0">
              <a:effectLst/>
            </a:endParaRPr>
          </a:p>
        </p:txBody>
      </p:sp>
    </p:spTree>
    <p:extLst>
      <p:ext uri="{BB962C8B-B14F-4D97-AF65-F5344CB8AC3E}">
        <p14:creationId xmlns:p14="http://schemas.microsoft.com/office/powerpoint/2010/main" val="9072817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7B45D-ABA5-7218-CA65-80293E8C856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D007D1A-CA77-5D11-C02E-397DB431C81D}"/>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FFD0AAB1-29BC-BA7E-5F66-6B840DE4C866}"/>
              </a:ext>
            </a:extLst>
          </p:cNvPr>
          <p:cNvSpPr>
            <a:spLocks noGrp="1"/>
          </p:cNvSpPr>
          <p:nvPr>
            <p:ph type="body" idx="3"/>
          </p:nvPr>
        </p:nvSpPr>
        <p:spPr/>
        <p:txBody>
          <a:bodyPr/>
          <a:lstStyle/>
          <a:p>
            <a:endParaRPr lang="en-US" altLang="zh-CN" dirty="0">
              <a:effectLst/>
            </a:endParaRPr>
          </a:p>
        </p:txBody>
      </p:sp>
    </p:spTree>
    <p:extLst>
      <p:ext uri="{BB962C8B-B14F-4D97-AF65-F5344CB8AC3E}">
        <p14:creationId xmlns:p14="http://schemas.microsoft.com/office/powerpoint/2010/main" val="4607263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58E13-E4AF-1E9F-4016-2B6E2ABBCFE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86F8407-B4C0-75BA-5DE6-BCC9B101EE2B}"/>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2026923A-77CF-92EA-9D3B-22B4D4FB8ADE}"/>
              </a:ext>
            </a:extLst>
          </p:cNvPr>
          <p:cNvSpPr>
            <a:spLocks noGrp="1"/>
          </p:cNvSpPr>
          <p:nvPr>
            <p:ph type="body" idx="3"/>
          </p:nvPr>
        </p:nvSpPr>
        <p:spPr/>
        <p:txBody>
          <a:bodyPr/>
          <a:lstStyle/>
          <a:p>
            <a:r>
              <a:rPr lang="en-US" altLang="zh-CN" dirty="0" err="1">
                <a:effectLst/>
              </a:rPr>
              <a:t>Github</a:t>
            </a:r>
            <a:r>
              <a:rPr lang="zh-CN" altLang="en-US" dirty="0">
                <a:effectLst/>
              </a:rPr>
              <a:t>开源也算是一个贡献</a:t>
            </a:r>
            <a:endParaRPr lang="en-US" altLang="zh-CN" dirty="0">
              <a:effectLst/>
            </a:endParaRPr>
          </a:p>
        </p:txBody>
      </p:sp>
    </p:spTree>
    <p:extLst>
      <p:ext uri="{BB962C8B-B14F-4D97-AF65-F5344CB8AC3E}">
        <p14:creationId xmlns:p14="http://schemas.microsoft.com/office/powerpoint/2010/main" val="15536693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019D1-C0C1-AF57-6C3B-DCAD61EDAE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7350873-8ADF-CF90-4E4A-95571F0FB898}"/>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EB1F65FE-DDD7-BAEE-1C2D-14BA0E0B6DD2}"/>
              </a:ext>
            </a:extLst>
          </p:cNvPr>
          <p:cNvSpPr>
            <a:spLocks noGrp="1"/>
          </p:cNvSpPr>
          <p:nvPr>
            <p:ph type="body" idx="3"/>
          </p:nvPr>
        </p:nvSpPr>
        <p:spPr/>
        <p:txBody>
          <a:bodyPr/>
          <a:lstStyle/>
          <a:p>
            <a:endParaRPr lang="en-US" altLang="zh-CN" dirty="0">
              <a:effectLst/>
            </a:endParaRPr>
          </a:p>
        </p:txBody>
      </p:sp>
    </p:spTree>
    <p:extLst>
      <p:ext uri="{BB962C8B-B14F-4D97-AF65-F5344CB8AC3E}">
        <p14:creationId xmlns:p14="http://schemas.microsoft.com/office/powerpoint/2010/main" val="18198410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42140-7E8D-D989-53F4-7632719E988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4C2B0BB-E4F2-1024-6518-85E9778B101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CC38E1-D0EB-657B-0D52-0224224A673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Tree>
    <p:extLst>
      <p:ext uri="{BB962C8B-B14F-4D97-AF65-F5344CB8AC3E}">
        <p14:creationId xmlns:p14="http://schemas.microsoft.com/office/powerpoint/2010/main" val="23865409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effectLst/>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649AE-6207-0B29-3830-F9791636F57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D5DD3F2-7330-AAA9-46FF-D5657F1C4E11}"/>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F10FB418-BFDC-41E0-53CE-0F0DC21C6B38}"/>
              </a:ext>
            </a:extLst>
          </p:cNvPr>
          <p:cNvSpPr>
            <a:spLocks noGrp="1"/>
          </p:cNvSpPr>
          <p:nvPr>
            <p:ph type="body" idx="3"/>
          </p:nvPr>
        </p:nvSpPr>
        <p:spPr/>
        <p:txBody>
          <a:bodyPr/>
          <a:lstStyle/>
          <a:p>
            <a:endParaRPr lang="en-US" altLang="zh-CN" dirty="0">
              <a:effectLst/>
            </a:endParaRPr>
          </a:p>
        </p:txBody>
      </p:sp>
    </p:spTree>
    <p:extLst>
      <p:ext uri="{BB962C8B-B14F-4D97-AF65-F5344CB8AC3E}">
        <p14:creationId xmlns:p14="http://schemas.microsoft.com/office/powerpoint/2010/main" val="5260903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C71F8-DAD4-FF87-A247-C0D342929ED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93A0D5-BAE5-7149-48DE-2B2D2B87AF59}"/>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2D771C57-529E-EF24-618D-A35B70BA9262}"/>
              </a:ext>
            </a:extLst>
          </p:cNvPr>
          <p:cNvSpPr>
            <a:spLocks noGrp="1"/>
          </p:cNvSpPr>
          <p:nvPr>
            <p:ph type="body" idx="3"/>
          </p:nvPr>
        </p:nvSpPr>
        <p:spPr/>
        <p:txBody>
          <a:bodyPr/>
          <a:lstStyle/>
          <a:p>
            <a:endParaRPr lang="en-US" altLang="zh-CN" dirty="0">
              <a:effectLst/>
            </a:endParaRPr>
          </a:p>
        </p:txBody>
      </p:sp>
    </p:spTree>
    <p:extLst>
      <p:ext uri="{BB962C8B-B14F-4D97-AF65-F5344CB8AC3E}">
        <p14:creationId xmlns:p14="http://schemas.microsoft.com/office/powerpoint/2010/main" val="4317933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03319-3155-ECF2-9263-7A94C8CFFB0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EBD6973-B151-D0E7-3526-0A9ACE221F54}"/>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9A3BF6B9-606A-BBC6-656D-271FB78DEE7D}"/>
              </a:ext>
            </a:extLst>
          </p:cNvPr>
          <p:cNvSpPr>
            <a:spLocks noGrp="1"/>
          </p:cNvSpPr>
          <p:nvPr>
            <p:ph type="body" idx="3"/>
          </p:nvPr>
        </p:nvSpPr>
        <p:spPr/>
        <p:txBody>
          <a:bodyPr/>
          <a:lstStyle/>
          <a:p>
            <a:endParaRPr lang="en-US" altLang="zh-CN" dirty="0">
              <a:effectLst/>
            </a:endParaRPr>
          </a:p>
        </p:txBody>
      </p:sp>
    </p:spTree>
    <p:extLst>
      <p:ext uri="{BB962C8B-B14F-4D97-AF65-F5344CB8AC3E}">
        <p14:creationId xmlns:p14="http://schemas.microsoft.com/office/powerpoint/2010/main" val="1340752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CFDEB-9EB2-5914-8B8D-920EED58FDD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848BFE5-2A7E-FD3D-5759-90F8663A3E35}"/>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BAA6F638-BEC9-F024-F8CA-58D65770FF7F}"/>
              </a:ext>
            </a:extLst>
          </p:cNvPr>
          <p:cNvSpPr>
            <a:spLocks noGrp="1"/>
          </p:cNvSpPr>
          <p:nvPr>
            <p:ph type="body" idx="3"/>
          </p:nvPr>
        </p:nvSpPr>
        <p:spPr/>
        <p:txBody>
          <a:bodyPr/>
          <a:lstStyle/>
          <a:p>
            <a:endParaRPr lang="en-US" altLang="zh-CN" dirty="0">
              <a:effectLst/>
            </a:endParaRPr>
          </a:p>
        </p:txBody>
      </p:sp>
    </p:spTree>
    <p:extLst>
      <p:ext uri="{BB962C8B-B14F-4D97-AF65-F5344CB8AC3E}">
        <p14:creationId xmlns:p14="http://schemas.microsoft.com/office/powerpoint/2010/main" val="34297966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CF8A4-5546-B491-14CE-046CA923CAD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2A2E177-F443-24DB-E178-F595C48E4422}"/>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B585290B-496B-9B48-EAC5-C0465E1D6DA1}"/>
              </a:ext>
            </a:extLst>
          </p:cNvPr>
          <p:cNvSpPr>
            <a:spLocks noGrp="1"/>
          </p:cNvSpPr>
          <p:nvPr>
            <p:ph type="body" idx="3"/>
          </p:nvPr>
        </p:nvSpPr>
        <p:spPr/>
        <p:txBody>
          <a:bodyPr/>
          <a:lstStyle/>
          <a:p>
            <a:endParaRPr lang="en-US" altLang="zh-CN" dirty="0">
              <a:effectLst/>
            </a:endParaRPr>
          </a:p>
        </p:txBody>
      </p:sp>
    </p:spTree>
    <p:extLst>
      <p:ext uri="{BB962C8B-B14F-4D97-AF65-F5344CB8AC3E}">
        <p14:creationId xmlns:p14="http://schemas.microsoft.com/office/powerpoint/2010/main" val="24747048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5E5D8-E0B8-0FC0-9F2A-A8186A2E95B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DF2B53D-F9A8-90F9-E48F-BDCB91335A19}"/>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B0FCD53E-3E72-4961-E557-04B4FC61D70B}"/>
              </a:ext>
            </a:extLst>
          </p:cNvPr>
          <p:cNvSpPr>
            <a:spLocks noGrp="1"/>
          </p:cNvSpPr>
          <p:nvPr>
            <p:ph type="body" idx="3"/>
          </p:nvPr>
        </p:nvSpPr>
        <p:spPr/>
        <p:txBody>
          <a:bodyPr/>
          <a:lstStyle/>
          <a:p>
            <a:endParaRPr lang="en-US" altLang="zh-CN" dirty="0">
              <a:effectLst/>
            </a:endParaRPr>
          </a:p>
        </p:txBody>
      </p:sp>
    </p:spTree>
    <p:extLst>
      <p:ext uri="{BB962C8B-B14F-4D97-AF65-F5344CB8AC3E}">
        <p14:creationId xmlns:p14="http://schemas.microsoft.com/office/powerpoint/2010/main" val="12198211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sz="1200" b="1" dirty="0">
              <a:latin typeface="苹方 中等" panose="020B0400000000000000" pitchFamily="34" charset="-122"/>
              <a:ea typeface="苹方 中等" panose="020B0400000000000000" pitchFamily="34" charset="-122"/>
              <a:cs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sz="1200" b="1" dirty="0">
                <a:latin typeface="苹方 中等" panose="020B0400000000000000" pitchFamily="34" charset="-122"/>
                <a:ea typeface="苹方 中等" panose="020B0400000000000000" pitchFamily="34" charset="-122"/>
                <a:cs typeface="Times New Roman" panose="02020603050405020304" pitchFamily="18" charset="0"/>
              </a:rPr>
              <a:t>4.2</a:t>
            </a:r>
            <a:r>
              <a:rPr lang="zh-CN" altLang="en-US" sz="1200" b="1" dirty="0">
                <a:latin typeface="苹方 中等" panose="020B0400000000000000" pitchFamily="34" charset="-122"/>
                <a:ea typeface="苹方 中等" panose="020B0400000000000000" pitchFamily="34" charset="-122"/>
                <a:cs typeface="Times New Roman" panose="02020603050405020304" pitchFamily="18" charset="0"/>
              </a:rPr>
              <a:t>中通过一个算法将源代码中的赋值语句转化为赋值依赖图</a:t>
            </a:r>
            <a:endParaRPr lang="en-US" altLang="zh-CN" sz="1200" b="1" dirty="0">
              <a:latin typeface="苹方 中等" panose="020B0400000000000000" pitchFamily="34" charset="-122"/>
              <a:ea typeface="苹方 中等" panose="020B0400000000000000" pitchFamily="34" charset="-122"/>
              <a:cs typeface="Times New Roman" panose="02020603050405020304" pitchFamily="18" charset="0"/>
            </a:endParaRPr>
          </a:p>
          <a:p>
            <a:endParaRPr lang="en-US" altLang="zh-CN" sz="1200" b="1" dirty="0">
              <a:latin typeface="苹方 中等" panose="020B0400000000000000" pitchFamily="34" charset="-122"/>
              <a:ea typeface="苹方 中等" panose="020B0400000000000000" pitchFamily="34" charset="-122"/>
              <a:cs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3F9DA-D98D-649A-3DF4-E98AA1FE2C3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1A2B16A-AC4B-6B4E-0F82-4B8037FABE35}"/>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4C2459EE-F67E-D27E-F8AD-868E0CABB9C4}"/>
              </a:ext>
            </a:extLst>
          </p:cNvPr>
          <p:cNvSpPr>
            <a:spLocks noGrp="1"/>
          </p:cNvSpPr>
          <p:nvPr>
            <p:ph type="body" idx="3"/>
          </p:nvPr>
        </p:nvSpPr>
        <p:spPr/>
        <p:txBody>
          <a:bodyPr/>
          <a:lstStyle/>
          <a:p>
            <a:endParaRPr lang="en-US" altLang="zh-CN" sz="1200" b="1" dirty="0">
              <a:latin typeface="苹方 中等" panose="020B0400000000000000" pitchFamily="34" charset="-122"/>
              <a:ea typeface="苹方 中等" panose="020B0400000000000000" pitchFamily="34" charset="-122"/>
              <a:cs typeface="Times New Roman" panose="02020603050405020304" pitchFamily="18" charset="0"/>
            </a:endParaRPr>
          </a:p>
        </p:txBody>
      </p:sp>
    </p:spTree>
    <p:extLst>
      <p:ext uri="{BB962C8B-B14F-4D97-AF65-F5344CB8AC3E}">
        <p14:creationId xmlns:p14="http://schemas.microsoft.com/office/powerpoint/2010/main" val="14534418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1AC5E-85D5-CFDD-DF88-FFAAADCFDE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E337A2B-283E-0F20-AD4C-3D0EEEE97193}"/>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A2B011AB-0903-F846-11CB-F4BC2BA31DDB}"/>
              </a:ext>
            </a:extLst>
          </p:cNvPr>
          <p:cNvSpPr>
            <a:spLocks noGrp="1"/>
          </p:cNvSpPr>
          <p:nvPr>
            <p:ph type="body" idx="3"/>
          </p:nvPr>
        </p:nvSpPr>
        <p:spPr/>
        <p:txBody>
          <a:bodyPr/>
          <a:lstStyle/>
          <a:p>
            <a:endParaRPr lang="en-US" altLang="zh-CN" dirty="0">
              <a:effectLst/>
            </a:endParaRPr>
          </a:p>
        </p:txBody>
      </p:sp>
    </p:spTree>
    <p:extLst>
      <p:ext uri="{BB962C8B-B14F-4D97-AF65-F5344CB8AC3E}">
        <p14:creationId xmlns:p14="http://schemas.microsoft.com/office/powerpoint/2010/main" val="20240711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8A521-D9FA-22F2-4316-C5F5E389A3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7CBBAF0-9A3D-CC16-F84E-77240C33881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98E9EE8-6A9A-8D51-2A1B-D556469D6FF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Tree>
    <p:extLst>
      <p:ext uri="{BB962C8B-B14F-4D97-AF65-F5344CB8AC3E}">
        <p14:creationId xmlns:p14="http://schemas.microsoft.com/office/powerpoint/2010/main" val="19903231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FC0A3-FB1C-F0E2-DD49-731AB8D8738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204616B-231A-2BAC-B4C7-EC8926D26B4D}"/>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28E50888-F41C-3797-D9EB-3DB87B65C3E6}"/>
              </a:ext>
            </a:extLst>
          </p:cNvPr>
          <p:cNvSpPr>
            <a:spLocks noGrp="1"/>
          </p:cNvSpPr>
          <p:nvPr>
            <p:ph type="body" idx="3"/>
          </p:nvPr>
        </p:nvSpPr>
        <p:spPr/>
        <p:txBody>
          <a:bodyPr/>
          <a:lstStyle/>
          <a:p>
            <a:endParaRPr lang="en-US" altLang="zh-CN" sz="1200" b="1" dirty="0">
              <a:latin typeface="苹方 中等" panose="020B0400000000000000" pitchFamily="34" charset="-122"/>
              <a:ea typeface="苹方 中等" panose="020B0400000000000000" pitchFamily="34" charset="-122"/>
              <a:cs typeface="Times New Roman" panose="02020603050405020304" pitchFamily="18" charset="0"/>
            </a:endParaRPr>
          </a:p>
        </p:txBody>
      </p:sp>
    </p:spTree>
    <p:extLst>
      <p:ext uri="{BB962C8B-B14F-4D97-AF65-F5344CB8AC3E}">
        <p14:creationId xmlns:p14="http://schemas.microsoft.com/office/powerpoint/2010/main" val="28621813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153D1-D609-6B33-A8F0-5CED44F150A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542121B-CA4B-FF1D-E54A-BCF392EB2A7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A60E471-C4F6-034B-4D27-7763FBBB31E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Tree>
    <p:extLst>
      <p:ext uri="{BB962C8B-B14F-4D97-AF65-F5344CB8AC3E}">
        <p14:creationId xmlns:p14="http://schemas.microsoft.com/office/powerpoint/2010/main" val="11281519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B8FE2-0EF2-585A-4057-583F4FDB194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F12E547-82CE-B53C-14A0-2BB1A7454759}"/>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24FE364E-34AC-13B1-7A6F-ED105E78C25A}"/>
              </a:ext>
            </a:extLst>
          </p:cNvPr>
          <p:cNvSpPr>
            <a:spLocks noGrp="1"/>
          </p:cNvSpPr>
          <p:nvPr>
            <p:ph type="body" idx="3"/>
          </p:nvPr>
        </p:nvSpPr>
        <p:spPr/>
        <p:txBody>
          <a:bodyPr/>
          <a:lstStyle/>
          <a:p>
            <a:endParaRPr lang="en-US" altLang="zh-CN" sz="1200" b="1" dirty="0">
              <a:latin typeface="苹方 中等" panose="020B0400000000000000" pitchFamily="34" charset="-122"/>
              <a:ea typeface="苹方 中等" panose="020B0400000000000000" pitchFamily="34" charset="-122"/>
              <a:cs typeface="Times New Roman" panose="02020603050405020304" pitchFamily="18" charset="0"/>
            </a:endParaRPr>
          </a:p>
        </p:txBody>
      </p:sp>
    </p:spTree>
    <p:extLst>
      <p:ext uri="{BB962C8B-B14F-4D97-AF65-F5344CB8AC3E}">
        <p14:creationId xmlns:p14="http://schemas.microsoft.com/office/powerpoint/2010/main" val="6714958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AB1C7-3157-9EE9-0171-3E4CD9F7CD2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F6BCAEC-2133-07BE-7305-42953962EB58}"/>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4446E787-AA19-AA6D-FB78-6E45DE3670D9}"/>
              </a:ext>
            </a:extLst>
          </p:cNvPr>
          <p:cNvSpPr>
            <a:spLocks noGrp="1"/>
          </p:cNvSpPr>
          <p:nvPr>
            <p:ph type="body" idx="3"/>
          </p:nvPr>
        </p:nvSpPr>
        <p:spPr/>
        <p:txBody>
          <a:bodyPr/>
          <a:lstStyle/>
          <a:p>
            <a:endParaRPr lang="en-US" altLang="zh-CN" sz="1200" b="1" dirty="0">
              <a:latin typeface="苹方 中等" panose="020B0400000000000000" pitchFamily="34" charset="-122"/>
              <a:ea typeface="苹方 中等" panose="020B0400000000000000" pitchFamily="34" charset="-122"/>
              <a:cs typeface="Times New Roman" panose="02020603050405020304" pitchFamily="18" charset="0"/>
            </a:endParaRPr>
          </a:p>
        </p:txBody>
      </p:sp>
    </p:spTree>
    <p:extLst>
      <p:ext uri="{BB962C8B-B14F-4D97-AF65-F5344CB8AC3E}">
        <p14:creationId xmlns:p14="http://schemas.microsoft.com/office/powerpoint/2010/main" val="22994871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488E0-C3CD-97DF-DE49-041D877630B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A059094-715E-1415-3E90-A79AB5033B57}"/>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4A021147-4A75-58E0-9877-250117B49B2F}"/>
              </a:ext>
            </a:extLst>
          </p:cNvPr>
          <p:cNvSpPr>
            <a:spLocks noGrp="1"/>
          </p:cNvSpPr>
          <p:nvPr>
            <p:ph type="body" idx="3"/>
          </p:nvPr>
        </p:nvSpPr>
        <p:spPr/>
        <p:txBody>
          <a:bodyPr/>
          <a:lstStyle/>
          <a:p>
            <a:endParaRPr lang="en-US" altLang="zh-CN" sz="1200" b="1" dirty="0">
              <a:latin typeface="苹方 中等" panose="020B0400000000000000" pitchFamily="34" charset="-122"/>
              <a:ea typeface="苹方 中等" panose="020B0400000000000000" pitchFamily="34" charset="-122"/>
              <a:cs typeface="Times New Roman" panose="02020603050405020304" pitchFamily="18" charset="0"/>
            </a:endParaRPr>
          </a:p>
        </p:txBody>
      </p:sp>
    </p:spTree>
    <p:extLst>
      <p:ext uri="{BB962C8B-B14F-4D97-AF65-F5344CB8AC3E}">
        <p14:creationId xmlns:p14="http://schemas.microsoft.com/office/powerpoint/2010/main" val="21966149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FB656-A80D-2FB5-128A-A826E6097B3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44045F-2802-DF85-05FA-4C370DA22FA6}"/>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52A1E4D5-D31C-A098-108D-0FB22259050E}"/>
              </a:ext>
            </a:extLst>
          </p:cNvPr>
          <p:cNvSpPr>
            <a:spLocks noGrp="1"/>
          </p:cNvSpPr>
          <p:nvPr>
            <p:ph type="body" idx="3"/>
          </p:nvPr>
        </p:nvSpPr>
        <p:spPr/>
        <p:txBody>
          <a:bodyPr/>
          <a:lstStyle/>
          <a:p>
            <a:endParaRPr lang="en-US" altLang="zh-CN" sz="1200" b="1" dirty="0">
              <a:latin typeface="苹方 中等" panose="020B0400000000000000" pitchFamily="34" charset="-122"/>
              <a:ea typeface="苹方 中等" panose="020B0400000000000000" pitchFamily="34" charset="-122"/>
              <a:cs typeface="Times New Roman" panose="02020603050405020304" pitchFamily="18" charset="0"/>
            </a:endParaRPr>
          </a:p>
        </p:txBody>
      </p:sp>
    </p:spTree>
    <p:extLst>
      <p:ext uri="{BB962C8B-B14F-4D97-AF65-F5344CB8AC3E}">
        <p14:creationId xmlns:p14="http://schemas.microsoft.com/office/powerpoint/2010/main" val="21249986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94958-DDC1-33F8-EE09-BF12D3A3B4F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06621A8-6B2B-AB08-A5DC-C4B68A077F5B}"/>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B07471D7-7EFF-1C50-C609-8B4C5D7A5E74}"/>
              </a:ext>
            </a:extLst>
          </p:cNvPr>
          <p:cNvSpPr>
            <a:spLocks noGrp="1"/>
          </p:cNvSpPr>
          <p:nvPr>
            <p:ph type="body" idx="3"/>
          </p:nvPr>
        </p:nvSpPr>
        <p:spPr/>
        <p:txBody>
          <a:bodyPr/>
          <a:lstStyle/>
          <a:p>
            <a:endParaRPr lang="en-US" altLang="zh-CN" sz="1200" b="1" dirty="0">
              <a:latin typeface="苹方 中等" panose="020B0400000000000000" pitchFamily="34" charset="-122"/>
              <a:ea typeface="苹方 中等" panose="020B0400000000000000" pitchFamily="34" charset="-122"/>
              <a:cs typeface="Times New Roman" panose="02020603050405020304" pitchFamily="18" charset="0"/>
            </a:endParaRPr>
          </a:p>
        </p:txBody>
      </p:sp>
    </p:spTree>
    <p:extLst>
      <p:ext uri="{BB962C8B-B14F-4D97-AF65-F5344CB8AC3E}">
        <p14:creationId xmlns:p14="http://schemas.microsoft.com/office/powerpoint/2010/main" val="25745492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0018E-E803-F0DF-FDF1-94C99DB7B29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FC5CA30-D156-C0FD-EC4B-F1E2598CB83F}"/>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BC9B39C4-E3D4-63C4-BA26-D42BE00150F3}"/>
              </a:ext>
            </a:extLst>
          </p:cNvPr>
          <p:cNvSpPr>
            <a:spLocks noGrp="1"/>
          </p:cNvSpPr>
          <p:nvPr>
            <p:ph type="body" idx="3"/>
          </p:nvPr>
        </p:nvSpPr>
        <p:spPr/>
        <p:txBody>
          <a:bodyPr/>
          <a:lstStyle/>
          <a:p>
            <a:r>
              <a:rPr lang="zh-CN" altLang="en-US" sz="1200" b="1" dirty="0">
                <a:latin typeface="苹方 中等" panose="020B0400000000000000" pitchFamily="34" charset="-122"/>
                <a:ea typeface="苹方 中等" panose="020B0400000000000000" pitchFamily="34" charset="-122"/>
                <a:cs typeface="Times New Roman" panose="02020603050405020304" pitchFamily="18" charset="0"/>
              </a:rPr>
              <a:t>共例举了三个案例</a:t>
            </a:r>
            <a:endParaRPr lang="en-US" altLang="zh-CN" sz="1200" b="1" dirty="0">
              <a:latin typeface="苹方 中等" panose="020B0400000000000000" pitchFamily="34" charset="-122"/>
              <a:ea typeface="苹方 中等" panose="020B0400000000000000" pitchFamily="34" charset="-122"/>
              <a:cs typeface="Times New Roman" panose="02020603050405020304" pitchFamily="18" charset="0"/>
            </a:endParaRPr>
          </a:p>
        </p:txBody>
      </p:sp>
    </p:spTree>
    <p:extLst>
      <p:ext uri="{BB962C8B-B14F-4D97-AF65-F5344CB8AC3E}">
        <p14:creationId xmlns:p14="http://schemas.microsoft.com/office/powerpoint/2010/main" val="2247324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9C0A3-18DF-ECA5-B959-9FE077FEB93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D389570-2DF3-833D-D659-714B556154C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766EA30-201D-CA86-C6C1-4BC7AFD08B2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Tree>
    <p:extLst>
      <p:ext uri="{BB962C8B-B14F-4D97-AF65-F5344CB8AC3E}">
        <p14:creationId xmlns:p14="http://schemas.microsoft.com/office/powerpoint/2010/main" val="3631968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FE00F-EFAB-6E5E-DE12-7B364CF2839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D14C724-E57C-0E16-EF5F-1D73BF2EBFE8}"/>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B131B813-F8B2-977E-05B7-BD7DBF30B0AC}"/>
              </a:ext>
            </a:extLst>
          </p:cNvPr>
          <p:cNvSpPr>
            <a:spLocks noGrp="1"/>
          </p:cNvSpPr>
          <p:nvPr>
            <p:ph type="body" idx="3"/>
          </p:nvPr>
        </p:nvSpPr>
        <p:spPr/>
        <p:txBody>
          <a:bodyPr/>
          <a:lstStyle/>
          <a:p>
            <a:endParaRPr lang="en-US" altLang="zh-CN" sz="1200" b="1" dirty="0">
              <a:latin typeface="苹方 中等" panose="020B0400000000000000" pitchFamily="34" charset="-122"/>
              <a:ea typeface="苹方 中等" panose="020B0400000000000000" pitchFamily="34" charset="-122"/>
              <a:cs typeface="Times New Roman" panose="02020603050405020304" pitchFamily="18" charset="0"/>
            </a:endParaRPr>
          </a:p>
        </p:txBody>
      </p:sp>
    </p:spTree>
    <p:extLst>
      <p:ext uri="{BB962C8B-B14F-4D97-AF65-F5344CB8AC3E}">
        <p14:creationId xmlns:p14="http://schemas.microsoft.com/office/powerpoint/2010/main" val="29889110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5E2B7-2691-0B83-A2C7-55EAEEB8267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C28AE4B-1716-9350-9685-A169CB0A8D1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B55762A-6DD8-A04D-A8CD-4C609E7E7D5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Tree>
    <p:extLst>
      <p:ext uri="{BB962C8B-B14F-4D97-AF65-F5344CB8AC3E}">
        <p14:creationId xmlns:p14="http://schemas.microsoft.com/office/powerpoint/2010/main" val="32553851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96BDE-F392-7F6B-7B7D-0B818DA4D45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98D5BCC-3AEB-B44A-1517-566E3CC36EAA}"/>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87C109D3-3F2C-A419-CDE5-44B5E58BE6E8}"/>
              </a:ext>
            </a:extLst>
          </p:cNvPr>
          <p:cNvSpPr>
            <a:spLocks noGrp="1"/>
          </p:cNvSpPr>
          <p:nvPr>
            <p:ph type="body" idx="3"/>
          </p:nvPr>
        </p:nvSpPr>
        <p:spPr/>
        <p:txBody>
          <a:bodyPr/>
          <a:lstStyle/>
          <a:p>
            <a:r>
              <a:rPr lang="zh-CN" altLang="en-US" sz="1200" b="1" dirty="0">
                <a:latin typeface="苹方 中等" panose="020B0400000000000000" pitchFamily="34" charset="-122"/>
                <a:ea typeface="苹方 中等" panose="020B0400000000000000" pitchFamily="34" charset="-122"/>
                <a:cs typeface="Times New Roman" panose="02020603050405020304" pitchFamily="18" charset="0"/>
              </a:rPr>
              <a:t>提出了一个方法，该方法是</a:t>
            </a:r>
            <a:r>
              <a:rPr lang="en-US" altLang="zh-CN" sz="1200" b="1" dirty="0">
                <a:latin typeface="苹方 中等" panose="020B0400000000000000" pitchFamily="34" charset="-122"/>
                <a:ea typeface="苹方 中等" panose="020B0400000000000000" pitchFamily="34" charset="-122"/>
                <a:cs typeface="Times New Roman" panose="02020603050405020304" pitchFamily="18" charset="0"/>
              </a:rPr>
              <a:t>….</a:t>
            </a:r>
            <a:r>
              <a:rPr lang="zh-CN" altLang="en-US" sz="1200" b="1" dirty="0">
                <a:latin typeface="苹方 中等" panose="020B0400000000000000" pitchFamily="34" charset="-122"/>
                <a:ea typeface="苹方 中等" panose="020B0400000000000000" pitchFamily="34" charset="-122"/>
                <a:cs typeface="Times New Roman" panose="02020603050405020304" pitchFamily="18" charset="0"/>
              </a:rPr>
              <a:t>。该方法核心方法，达到了什么效果，做出了哪些贡献</a:t>
            </a:r>
            <a:endParaRPr lang="en-US" altLang="zh-CN" sz="1200" b="1" dirty="0">
              <a:latin typeface="苹方 中等" panose="020B0400000000000000" pitchFamily="34" charset="-122"/>
              <a:ea typeface="苹方 中等" panose="020B0400000000000000" pitchFamily="34" charset="-122"/>
              <a:cs typeface="Times New Roman" panose="02020603050405020304" pitchFamily="18" charset="0"/>
            </a:endParaRPr>
          </a:p>
        </p:txBody>
      </p:sp>
    </p:spTree>
    <p:extLst>
      <p:ext uri="{BB962C8B-B14F-4D97-AF65-F5344CB8AC3E}">
        <p14:creationId xmlns:p14="http://schemas.microsoft.com/office/powerpoint/2010/main" val="4089999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en-US" b="0" dirty="0">
              <a:latin typeface="Times New Roman" panose="02020603050405020304" pitchFamily="18"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10.xml"/><Relationship Id="rId7"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slideMaster" Target="../slideMasters/slideMaster1.xml"/><Relationship Id="rId5" Type="http://schemas.openxmlformats.org/officeDocument/2006/relationships/tags" Target="../tags/tag18.xml"/><Relationship Id="rId4" Type="http://schemas.openxmlformats.org/officeDocument/2006/relationships/tags" Target="../tags/tag17.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slideMaster" Target="../slideMasters/slideMaster1.xml"/><Relationship Id="rId4" Type="http://schemas.openxmlformats.org/officeDocument/2006/relationships/tags" Target="../tags/tag22.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slideMaster" Target="../slideMasters/slideMaster1.xml"/><Relationship Id="rId5" Type="http://schemas.openxmlformats.org/officeDocument/2006/relationships/tags" Target="../tags/tag27.xml"/><Relationship Id="rId4" Type="http://schemas.openxmlformats.org/officeDocument/2006/relationships/tags" Target="../tags/tag2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AFAFA"/>
        </a:solidFill>
        <a:effectLst/>
      </p:bgPr>
    </p:bg>
    <p:spTree>
      <p:nvGrpSpPr>
        <p:cNvPr id="1" name=""/>
        <p:cNvGrpSpPr/>
        <p:nvPr/>
      </p:nvGrpSpPr>
      <p:grpSpPr>
        <a:xfrm>
          <a:off x="0" y="0"/>
          <a:ext cx="0" cy="0"/>
          <a:chOff x="0" y="0"/>
          <a:chExt cx="0" cy="0"/>
        </a:xfrm>
      </p:grpSpPr>
      <p:grpSp>
        <p:nvGrpSpPr>
          <p:cNvPr id="2" name="组合 1"/>
          <p:cNvGrpSpPr/>
          <p:nvPr userDrawn="1"/>
        </p:nvGrpSpPr>
        <p:grpSpPr>
          <a:xfrm>
            <a:off x="0" y="-39370"/>
            <a:ext cx="12192000" cy="6897370"/>
            <a:chOff x="0" y="-62"/>
            <a:chExt cx="19200" cy="10862"/>
          </a:xfrm>
        </p:grpSpPr>
        <p:sp>
          <p:nvSpPr>
            <p:cNvPr id="5" name="任意多边形 4"/>
            <p:cNvSpPr/>
            <p:nvPr userDrawn="1"/>
          </p:nvSpPr>
          <p:spPr>
            <a:xfrm>
              <a:off x="0" y="3464"/>
              <a:ext cx="10851" cy="7336"/>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0851" h="7336">
                  <a:moveTo>
                    <a:pt x="3244" y="0"/>
                  </a:moveTo>
                  <a:cubicBezTo>
                    <a:pt x="7349" y="0"/>
                    <a:pt x="10696" y="3250"/>
                    <a:pt x="10850" y="7318"/>
                  </a:cubicBezTo>
                  <a:lnTo>
                    <a:pt x="10851" y="7336"/>
                  </a:lnTo>
                  <a:lnTo>
                    <a:pt x="0" y="7336"/>
                  </a:lnTo>
                  <a:lnTo>
                    <a:pt x="0" y="724"/>
                  </a:lnTo>
                  <a:lnTo>
                    <a:pt x="27" y="711"/>
                  </a:lnTo>
                  <a:cubicBezTo>
                    <a:pt x="1004" y="255"/>
                    <a:pt x="2094" y="0"/>
                    <a:pt x="3244" y="0"/>
                  </a:cubicBezTo>
                  <a:close/>
                </a:path>
              </a:pathLst>
            </a:cu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汉仪中宋简" panose="02010609000101010101" charset="-128"/>
              </a:endParaRPr>
            </a:p>
          </p:txBody>
        </p:sp>
        <p:sp>
          <p:nvSpPr>
            <p:cNvPr id="4" name="任意多边形 3"/>
            <p:cNvSpPr/>
            <p:nvPr userDrawn="1"/>
          </p:nvSpPr>
          <p:spPr>
            <a:xfrm>
              <a:off x="0" y="-62"/>
              <a:ext cx="5053" cy="7312"/>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5053" h="7312">
                  <a:moveTo>
                    <a:pt x="0" y="0"/>
                  </a:moveTo>
                  <a:lnTo>
                    <a:pt x="4681" y="0"/>
                  </a:lnTo>
                  <a:lnTo>
                    <a:pt x="4682" y="1"/>
                  </a:lnTo>
                  <a:cubicBezTo>
                    <a:pt x="4921" y="609"/>
                    <a:pt x="5053" y="1272"/>
                    <a:pt x="5053" y="1965"/>
                  </a:cubicBezTo>
                  <a:cubicBezTo>
                    <a:pt x="5053" y="4807"/>
                    <a:pt x="2839" y="7132"/>
                    <a:pt x="42" y="7309"/>
                  </a:cubicBezTo>
                  <a:lnTo>
                    <a:pt x="0" y="7312"/>
                  </a:lnTo>
                  <a:lnTo>
                    <a:pt x="0" y="0"/>
                  </a:lnTo>
                  <a:close/>
                </a:path>
              </a:pathLst>
            </a:custGeom>
            <a:solidFill>
              <a:srgbClr val="D0E1F7">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汉仪中宋简" panose="02010609000101010101" charset="-128"/>
              </a:endParaRPr>
            </a:p>
          </p:txBody>
        </p:sp>
        <p:sp>
          <p:nvSpPr>
            <p:cNvPr id="7" name="任意多边形 6"/>
            <p:cNvSpPr/>
            <p:nvPr userDrawn="1"/>
          </p:nvSpPr>
          <p:spPr>
            <a:xfrm>
              <a:off x="1648" y="-62"/>
              <a:ext cx="17552" cy="10862"/>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7552" h="10862">
                  <a:moveTo>
                    <a:pt x="355" y="0"/>
                  </a:moveTo>
                  <a:lnTo>
                    <a:pt x="17552" y="0"/>
                  </a:lnTo>
                  <a:lnTo>
                    <a:pt x="17552" y="8017"/>
                  </a:lnTo>
                  <a:lnTo>
                    <a:pt x="17548" y="8024"/>
                  </a:lnTo>
                  <a:cubicBezTo>
                    <a:pt x="16775" y="9151"/>
                    <a:pt x="15768" y="10105"/>
                    <a:pt x="14598" y="10816"/>
                  </a:cubicBezTo>
                  <a:lnTo>
                    <a:pt x="14521" y="10862"/>
                  </a:lnTo>
                  <a:lnTo>
                    <a:pt x="4705" y="10862"/>
                  </a:lnTo>
                  <a:lnTo>
                    <a:pt x="4628" y="10816"/>
                  </a:lnTo>
                  <a:cubicBezTo>
                    <a:pt x="1854" y="9130"/>
                    <a:pt x="0" y="6079"/>
                    <a:pt x="0" y="2595"/>
                  </a:cubicBezTo>
                  <a:cubicBezTo>
                    <a:pt x="0" y="1724"/>
                    <a:pt x="116" y="880"/>
                    <a:pt x="333" y="78"/>
                  </a:cubicBezTo>
                  <a:lnTo>
                    <a:pt x="355" y="0"/>
                  </a:lnTo>
                  <a:close/>
                </a:path>
              </a:pathLst>
            </a:custGeom>
            <a:solidFill>
              <a:srgbClr val="FAFAFA">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汉仪中宋简" panose="02010609000101010101" charset="-128"/>
              </a:endParaRPr>
            </a:p>
          </p:txBody>
        </p:sp>
      </p:grpSp>
    </p:spTree>
  </p:cSld>
  <p:clrMapOvr>
    <a:masterClrMapping/>
  </p:clrMapOvr>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AFAFA"/>
        </a:solidFill>
        <a:effectLst/>
      </p:bgPr>
    </p:bg>
    <p:spTree>
      <p:nvGrpSpPr>
        <p:cNvPr id="1" name=""/>
        <p:cNvGrpSpPr/>
        <p:nvPr/>
      </p:nvGrpSpPr>
      <p:grpSpPr>
        <a:xfrm>
          <a:off x="0" y="0"/>
          <a:ext cx="0" cy="0"/>
          <a:chOff x="0" y="0"/>
          <a:chExt cx="0" cy="0"/>
        </a:xfrm>
      </p:grpSpPr>
      <p:sp>
        <p:nvSpPr>
          <p:cNvPr id="12" name="任意多边形 11"/>
          <p:cNvSpPr>
            <a:spLocks noChangeAspect="1"/>
          </p:cNvSpPr>
          <p:nvPr userDrawn="1"/>
        </p:nvSpPr>
        <p:spPr>
          <a:xfrm flipH="1">
            <a:off x="9110980" y="4774565"/>
            <a:ext cx="3081020" cy="208343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0851" h="7336">
                <a:moveTo>
                  <a:pt x="3244" y="0"/>
                </a:moveTo>
                <a:cubicBezTo>
                  <a:pt x="7349" y="0"/>
                  <a:pt x="10696" y="3250"/>
                  <a:pt x="10850" y="7318"/>
                </a:cubicBezTo>
                <a:lnTo>
                  <a:pt x="10851" y="7336"/>
                </a:lnTo>
                <a:lnTo>
                  <a:pt x="0" y="7336"/>
                </a:lnTo>
                <a:lnTo>
                  <a:pt x="0" y="724"/>
                </a:lnTo>
                <a:lnTo>
                  <a:pt x="27" y="711"/>
                </a:lnTo>
                <a:cubicBezTo>
                  <a:pt x="1004" y="255"/>
                  <a:pt x="2094" y="0"/>
                  <a:pt x="3244" y="0"/>
                </a:cubicBezTo>
                <a:close/>
              </a:path>
            </a:pathLst>
          </a:cu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汉仪中宋简" panose="02010609000101010101" charset="-128"/>
            </a:endParaRPr>
          </a:p>
        </p:txBody>
      </p:sp>
      <p:sp>
        <p:nvSpPr>
          <p:cNvPr id="15" name="任意多边形 14"/>
          <p:cNvSpPr/>
          <p:nvPr userDrawn="1"/>
        </p:nvSpPr>
        <p:spPr>
          <a:xfrm>
            <a:off x="11041380" y="3794125"/>
            <a:ext cx="1150620" cy="227139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812" h="3577">
                <a:moveTo>
                  <a:pt x="1789" y="0"/>
                </a:moveTo>
                <a:lnTo>
                  <a:pt x="1812" y="0"/>
                </a:lnTo>
                <a:lnTo>
                  <a:pt x="1812" y="3577"/>
                </a:lnTo>
                <a:lnTo>
                  <a:pt x="1789" y="3577"/>
                </a:lnTo>
                <a:cubicBezTo>
                  <a:pt x="801" y="3577"/>
                  <a:pt x="0" y="2776"/>
                  <a:pt x="0" y="1789"/>
                </a:cubicBezTo>
                <a:cubicBezTo>
                  <a:pt x="0" y="801"/>
                  <a:pt x="801" y="0"/>
                  <a:pt x="1789" y="0"/>
                </a:cubicBezTo>
                <a:close/>
              </a:path>
            </a:pathLst>
          </a:custGeom>
          <a:solidFill>
            <a:srgbClr val="D0E1F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汉仪中宋简" panose="02010609000101010101" charset="-128"/>
            </a:endParaRPr>
          </a:p>
        </p:txBody>
      </p:sp>
      <p:sp>
        <p:nvSpPr>
          <p:cNvPr id="16" name="任意多边形 15"/>
          <p:cNvSpPr/>
          <p:nvPr userDrawn="1"/>
        </p:nvSpPr>
        <p:spPr>
          <a:xfrm>
            <a:off x="3217545" y="0"/>
            <a:ext cx="8974455" cy="685800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4133" h="10800">
                <a:moveTo>
                  <a:pt x="733" y="0"/>
                </a:moveTo>
                <a:lnTo>
                  <a:pt x="14133" y="0"/>
                </a:lnTo>
                <a:lnTo>
                  <a:pt x="14133" y="7877"/>
                </a:lnTo>
                <a:lnTo>
                  <a:pt x="14123" y="7891"/>
                </a:lnTo>
                <a:cubicBezTo>
                  <a:pt x="13127" y="9261"/>
                  <a:pt x="11697" y="10294"/>
                  <a:pt x="10034" y="10789"/>
                </a:cubicBezTo>
                <a:lnTo>
                  <a:pt x="9996" y="10800"/>
                </a:lnTo>
                <a:lnTo>
                  <a:pt x="5614" y="10800"/>
                </a:lnTo>
                <a:lnTo>
                  <a:pt x="5576" y="10789"/>
                </a:lnTo>
                <a:cubicBezTo>
                  <a:pt x="2351" y="9830"/>
                  <a:pt x="0" y="6843"/>
                  <a:pt x="0" y="3307"/>
                </a:cubicBezTo>
                <a:cubicBezTo>
                  <a:pt x="0" y="2128"/>
                  <a:pt x="261" y="1011"/>
                  <a:pt x="729" y="9"/>
                </a:cubicBezTo>
                <a:lnTo>
                  <a:pt x="733" y="0"/>
                </a:lnTo>
                <a:close/>
              </a:path>
            </a:pathLst>
          </a:cu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汉仪中宋简" panose="02010609000101010101" charset="-128"/>
            </a:endParaRPr>
          </a:p>
        </p:txBody>
      </p:sp>
    </p:spTree>
  </p:cSld>
  <p:clrMapOvr>
    <a:masterClrMapping/>
  </p:clrMapOvr>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AFAFA"/>
        </a:solidFill>
        <a:effectLst/>
      </p:bgPr>
    </p:bg>
    <p:spTree>
      <p:nvGrpSpPr>
        <p:cNvPr id="1" name=""/>
        <p:cNvGrpSpPr/>
        <p:nvPr/>
      </p:nvGrpSpPr>
      <p:grpSpPr>
        <a:xfrm>
          <a:off x="0" y="0"/>
          <a:ext cx="0" cy="0"/>
          <a:chOff x="0" y="0"/>
          <a:chExt cx="0" cy="0"/>
        </a:xfrm>
      </p:grpSpPr>
      <p:grpSp>
        <p:nvGrpSpPr>
          <p:cNvPr id="7" name="组合 6"/>
          <p:cNvGrpSpPr/>
          <p:nvPr userDrawn="1"/>
        </p:nvGrpSpPr>
        <p:grpSpPr>
          <a:xfrm flipH="1" flipV="1">
            <a:off x="0" y="-39370"/>
            <a:ext cx="12192000" cy="6897370"/>
            <a:chOff x="0" y="-62"/>
            <a:chExt cx="19200" cy="10862"/>
          </a:xfrm>
        </p:grpSpPr>
        <p:sp>
          <p:nvSpPr>
            <p:cNvPr id="8" name="任意多边形 7"/>
            <p:cNvSpPr/>
            <p:nvPr userDrawn="1"/>
          </p:nvSpPr>
          <p:spPr>
            <a:xfrm>
              <a:off x="0" y="3464"/>
              <a:ext cx="10851" cy="7336"/>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0851" h="7336">
                  <a:moveTo>
                    <a:pt x="3244" y="0"/>
                  </a:moveTo>
                  <a:cubicBezTo>
                    <a:pt x="7349" y="0"/>
                    <a:pt x="10696" y="3250"/>
                    <a:pt x="10850" y="7318"/>
                  </a:cubicBezTo>
                  <a:lnTo>
                    <a:pt x="10851" y="7336"/>
                  </a:lnTo>
                  <a:lnTo>
                    <a:pt x="0" y="7336"/>
                  </a:lnTo>
                  <a:lnTo>
                    <a:pt x="0" y="724"/>
                  </a:lnTo>
                  <a:lnTo>
                    <a:pt x="27" y="711"/>
                  </a:lnTo>
                  <a:cubicBezTo>
                    <a:pt x="1004" y="255"/>
                    <a:pt x="2094" y="0"/>
                    <a:pt x="3244" y="0"/>
                  </a:cubicBezTo>
                  <a:close/>
                </a:path>
              </a:pathLst>
            </a:cu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汉仪中宋简" panose="02010609000101010101" charset="-128"/>
              </a:endParaRPr>
            </a:p>
          </p:txBody>
        </p:sp>
        <p:sp>
          <p:nvSpPr>
            <p:cNvPr id="9" name="任意多边形 8"/>
            <p:cNvSpPr/>
            <p:nvPr userDrawn="1"/>
          </p:nvSpPr>
          <p:spPr>
            <a:xfrm>
              <a:off x="0" y="-62"/>
              <a:ext cx="5053" cy="7312"/>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5053" h="7312">
                  <a:moveTo>
                    <a:pt x="0" y="0"/>
                  </a:moveTo>
                  <a:lnTo>
                    <a:pt x="4681" y="0"/>
                  </a:lnTo>
                  <a:lnTo>
                    <a:pt x="4682" y="1"/>
                  </a:lnTo>
                  <a:cubicBezTo>
                    <a:pt x="4921" y="609"/>
                    <a:pt x="5053" y="1272"/>
                    <a:pt x="5053" y="1965"/>
                  </a:cubicBezTo>
                  <a:cubicBezTo>
                    <a:pt x="5053" y="4807"/>
                    <a:pt x="2839" y="7132"/>
                    <a:pt x="42" y="7309"/>
                  </a:cubicBezTo>
                  <a:lnTo>
                    <a:pt x="0" y="7312"/>
                  </a:lnTo>
                  <a:lnTo>
                    <a:pt x="0" y="0"/>
                  </a:lnTo>
                  <a:close/>
                </a:path>
              </a:pathLst>
            </a:custGeom>
            <a:solidFill>
              <a:srgbClr val="D0E1F7">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汉仪中宋简" panose="02010609000101010101" charset="-128"/>
              </a:endParaRPr>
            </a:p>
          </p:txBody>
        </p:sp>
        <p:sp>
          <p:nvSpPr>
            <p:cNvPr id="10" name="任意多边形 9"/>
            <p:cNvSpPr/>
            <p:nvPr userDrawn="1"/>
          </p:nvSpPr>
          <p:spPr>
            <a:xfrm>
              <a:off x="1648" y="-62"/>
              <a:ext cx="17552" cy="10862"/>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7552" h="10862">
                  <a:moveTo>
                    <a:pt x="355" y="0"/>
                  </a:moveTo>
                  <a:lnTo>
                    <a:pt x="17552" y="0"/>
                  </a:lnTo>
                  <a:lnTo>
                    <a:pt x="17552" y="8017"/>
                  </a:lnTo>
                  <a:lnTo>
                    <a:pt x="17548" y="8024"/>
                  </a:lnTo>
                  <a:cubicBezTo>
                    <a:pt x="16775" y="9151"/>
                    <a:pt x="15768" y="10105"/>
                    <a:pt x="14598" y="10816"/>
                  </a:cubicBezTo>
                  <a:lnTo>
                    <a:pt x="14521" y="10862"/>
                  </a:lnTo>
                  <a:lnTo>
                    <a:pt x="4705" y="10862"/>
                  </a:lnTo>
                  <a:lnTo>
                    <a:pt x="4628" y="10816"/>
                  </a:lnTo>
                  <a:cubicBezTo>
                    <a:pt x="1854" y="9130"/>
                    <a:pt x="0" y="6079"/>
                    <a:pt x="0" y="2595"/>
                  </a:cubicBezTo>
                  <a:cubicBezTo>
                    <a:pt x="0" y="1724"/>
                    <a:pt x="116" y="880"/>
                    <a:pt x="333" y="78"/>
                  </a:cubicBezTo>
                  <a:lnTo>
                    <a:pt x="355" y="0"/>
                  </a:lnTo>
                  <a:close/>
                </a:path>
              </a:pathLst>
            </a:custGeom>
            <a:solidFill>
              <a:srgbClr val="FAFAFA">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汉仪中宋简" panose="02010609000101010101" charset="-128"/>
              </a:endParaRPr>
            </a:p>
          </p:txBody>
        </p:sp>
      </p:grpSp>
    </p:spTree>
  </p:cSld>
  <p:clrMapOvr>
    <a:masterClrMapping/>
  </p:clrMapOvr>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AFAFA"/>
        </a:solidFill>
        <a:effectLst/>
      </p:bgPr>
    </p:bg>
    <p:spTree>
      <p:nvGrpSpPr>
        <p:cNvPr id="1" name=""/>
        <p:cNvGrpSpPr/>
        <p:nvPr/>
      </p:nvGrpSpPr>
      <p:grpSpPr>
        <a:xfrm>
          <a:off x="0" y="0"/>
          <a:ext cx="0" cy="0"/>
          <a:chOff x="0" y="0"/>
          <a:chExt cx="0" cy="0"/>
        </a:xfrm>
      </p:grpSpPr>
      <p:grpSp>
        <p:nvGrpSpPr>
          <p:cNvPr id="8" name="组合 7"/>
          <p:cNvGrpSpPr>
            <a:grpSpLocks noChangeAspect="1"/>
          </p:cNvGrpSpPr>
          <p:nvPr userDrawn="1"/>
        </p:nvGrpSpPr>
        <p:grpSpPr>
          <a:xfrm>
            <a:off x="5179695" y="1499235"/>
            <a:ext cx="7012305" cy="5358765"/>
            <a:chOff x="5067" y="0"/>
            <a:chExt cx="14133" cy="10800"/>
          </a:xfrm>
        </p:grpSpPr>
        <p:sp>
          <p:nvSpPr>
            <p:cNvPr id="12" name="任意多边形 11"/>
            <p:cNvSpPr>
              <a:spLocks noChangeAspect="1"/>
            </p:cNvSpPr>
            <p:nvPr userDrawn="1"/>
          </p:nvSpPr>
          <p:spPr>
            <a:xfrm flipH="1">
              <a:off x="14348" y="7519"/>
              <a:ext cx="4852" cy="3281"/>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0851" h="7336">
                  <a:moveTo>
                    <a:pt x="3244" y="0"/>
                  </a:moveTo>
                  <a:cubicBezTo>
                    <a:pt x="7349" y="0"/>
                    <a:pt x="10696" y="3250"/>
                    <a:pt x="10850" y="7318"/>
                  </a:cubicBezTo>
                  <a:lnTo>
                    <a:pt x="10851" y="7336"/>
                  </a:lnTo>
                  <a:lnTo>
                    <a:pt x="0" y="7336"/>
                  </a:lnTo>
                  <a:lnTo>
                    <a:pt x="0" y="724"/>
                  </a:lnTo>
                  <a:lnTo>
                    <a:pt x="27" y="711"/>
                  </a:lnTo>
                  <a:cubicBezTo>
                    <a:pt x="1004" y="255"/>
                    <a:pt x="2094" y="0"/>
                    <a:pt x="3244" y="0"/>
                  </a:cubicBezTo>
                  <a:close/>
                </a:path>
              </a:pathLst>
            </a:cu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汉仪中宋简" panose="02010609000101010101" charset="-128"/>
              </a:endParaRPr>
            </a:p>
          </p:txBody>
        </p:sp>
        <p:sp>
          <p:nvSpPr>
            <p:cNvPr id="15" name="任意多边形 14"/>
            <p:cNvSpPr/>
            <p:nvPr userDrawn="1"/>
          </p:nvSpPr>
          <p:spPr>
            <a:xfrm>
              <a:off x="17388" y="5975"/>
              <a:ext cx="1812" cy="3577"/>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812" h="3577">
                  <a:moveTo>
                    <a:pt x="1789" y="0"/>
                  </a:moveTo>
                  <a:lnTo>
                    <a:pt x="1812" y="0"/>
                  </a:lnTo>
                  <a:lnTo>
                    <a:pt x="1812" y="3577"/>
                  </a:lnTo>
                  <a:lnTo>
                    <a:pt x="1789" y="3577"/>
                  </a:lnTo>
                  <a:cubicBezTo>
                    <a:pt x="801" y="3577"/>
                    <a:pt x="0" y="2776"/>
                    <a:pt x="0" y="1789"/>
                  </a:cubicBezTo>
                  <a:cubicBezTo>
                    <a:pt x="0" y="801"/>
                    <a:pt x="801" y="0"/>
                    <a:pt x="1789" y="0"/>
                  </a:cubicBezTo>
                  <a:close/>
                </a:path>
              </a:pathLst>
            </a:custGeom>
            <a:solidFill>
              <a:srgbClr val="D0E1F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汉仪中宋简" panose="02010609000101010101" charset="-128"/>
              </a:endParaRPr>
            </a:p>
          </p:txBody>
        </p:sp>
        <p:sp>
          <p:nvSpPr>
            <p:cNvPr id="16" name="任意多边形 15"/>
            <p:cNvSpPr/>
            <p:nvPr userDrawn="1"/>
          </p:nvSpPr>
          <p:spPr>
            <a:xfrm>
              <a:off x="5067" y="0"/>
              <a:ext cx="14133" cy="1080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4133" h="10800">
                  <a:moveTo>
                    <a:pt x="733" y="0"/>
                  </a:moveTo>
                  <a:lnTo>
                    <a:pt x="14133" y="0"/>
                  </a:lnTo>
                  <a:lnTo>
                    <a:pt x="14133" y="7877"/>
                  </a:lnTo>
                  <a:lnTo>
                    <a:pt x="14123" y="7891"/>
                  </a:lnTo>
                  <a:cubicBezTo>
                    <a:pt x="13127" y="9261"/>
                    <a:pt x="11697" y="10294"/>
                    <a:pt x="10034" y="10789"/>
                  </a:cubicBezTo>
                  <a:lnTo>
                    <a:pt x="9996" y="10800"/>
                  </a:lnTo>
                  <a:lnTo>
                    <a:pt x="5614" y="10800"/>
                  </a:lnTo>
                  <a:lnTo>
                    <a:pt x="5576" y="10789"/>
                  </a:lnTo>
                  <a:cubicBezTo>
                    <a:pt x="2351" y="9830"/>
                    <a:pt x="0" y="6843"/>
                    <a:pt x="0" y="3307"/>
                  </a:cubicBezTo>
                  <a:cubicBezTo>
                    <a:pt x="0" y="2128"/>
                    <a:pt x="261" y="1011"/>
                    <a:pt x="729" y="9"/>
                  </a:cubicBezTo>
                  <a:lnTo>
                    <a:pt x="733" y="0"/>
                  </a:lnTo>
                  <a:close/>
                </a:path>
              </a:pathLst>
            </a:cu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汉仪中宋简" panose="02010609000101010101" charset="-128"/>
              </a:endParaRPr>
            </a:p>
          </p:txBody>
        </p:sp>
      </p:grpSp>
    </p:spTree>
  </p:cSld>
  <p:clrMapOvr>
    <a:masterClrMapping/>
  </p:clrMapOvr>
  <p:hf sldNum="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Tree>
  </p:cSld>
  <p:clrMapOvr>
    <a:masterClrMapping/>
  </p:clrMapOvr>
  <p:hf sldNum="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330" y="1555115"/>
            <a:ext cx="5233035" cy="4608195"/>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2026/4/6</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hf sldNum="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2026/4/6</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2026/4/6</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
        <p:nvSpPr>
          <p:cNvPr id="6" name="TextBox 5"/>
          <p:cNvSpPr txBox="1"/>
          <p:nvPr userDrawn="1"/>
        </p:nvSpPr>
        <p:spPr>
          <a:xfrm>
            <a:off x="453650" y="0"/>
            <a:ext cx="54006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dirty="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dirty="0">
                <a:solidFill>
                  <a:schemeClr val="tx1">
                    <a:alpha val="0"/>
                  </a:schemeClr>
                </a:solidFill>
                <a:latin typeface="微软雅黑" panose="020B0503020204020204" pitchFamily="34" charset="-122"/>
                <a:ea typeface="微软雅黑" panose="020B0503020204020204" pitchFamily="34" charset="-122"/>
              </a:rPr>
              <a:t>http://www.1ppt.com/hangye/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2026/4/6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hf sldNum="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2026/4/6</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hf sldNum="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2026/4/6</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hf sldNum="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t>2026/4/6</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t>‹#›</a:t>
            </a:fld>
            <a:endParaRPr lang="zh-CN" altLang="en-US">
              <a:solidFill>
                <a:prstClr val="black"/>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t>2026/4/6</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t>‹#›</a:t>
            </a:fld>
            <a:endParaRPr lang="zh-CN" altLang="en-US">
              <a:solidFill>
                <a:prstClr val="black"/>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汉仪中宋简" panose="02010609000101010101" charset="-128"/>
                <a:ea typeface="汉仪中宋简" panose="02010609000101010101" charset="-128"/>
                <a:cs typeface="汉仪中宋简" panose="02010609000101010101" charset="-128"/>
              </a:defRPr>
            </a:lvl1pPr>
          </a:lstStyle>
          <a:p>
            <a:fld id="{760FBDFE-C587-4B4C-A407-44438C67B59E}" type="datetimeFigureOut">
              <a:rPr lang="zh-CN" altLang="en-US" smtClean="0"/>
              <a:t>2026/4/6</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汉仪中宋简" panose="02010609000101010101" charset="-128"/>
                <a:ea typeface="汉仪中宋简" panose="02010609000101010101" charset="-128"/>
                <a:cs typeface="汉仪中宋简" panose="02010609000101010101" charset="-128"/>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汉仪中宋简" panose="02010609000101010101" charset="-128"/>
                <a:ea typeface="汉仪中宋简" panose="02010609000101010101" charset="-128"/>
                <a:cs typeface="汉仪中宋简" panose="02010609000101010101" charset="-128"/>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ftr="0" dt="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汉仪中宋简" panose="02010609000101010101" charset="-128"/>
          <a:ea typeface="汉仪中宋简" panose="02010609000101010101" charset="-128"/>
          <a:cs typeface="汉仪中宋简" panose="02010609000101010101" charset="-128"/>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汉仪中宋简" panose="02010609000101010101" charset="-128"/>
          <a:ea typeface="汉仪中宋简" panose="02010609000101010101" charset="-128"/>
          <a:cs typeface="汉仪中宋简" panose="02010609000101010101" charset="-128"/>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汉仪中宋简" panose="02010609000101010101" charset="-128"/>
          <a:ea typeface="汉仪中宋简" panose="02010609000101010101" charset="-128"/>
          <a:cs typeface="汉仪中宋简" panose="02010609000101010101" charset="-128"/>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汉仪中宋简" panose="02010609000101010101" charset="-128"/>
          <a:ea typeface="汉仪中宋简" panose="02010609000101010101" charset="-128"/>
          <a:cs typeface="汉仪中宋简" panose="02010609000101010101" charset="-128"/>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汉仪中宋简" panose="02010609000101010101" charset="-128"/>
          <a:ea typeface="汉仪中宋简" panose="02010609000101010101" charset="-128"/>
          <a:cs typeface="汉仪中宋简" panose="02010609000101010101" charset="-128"/>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汉仪中宋简" panose="02010609000101010101" charset="-128"/>
          <a:ea typeface="汉仪中宋简" panose="02010609000101010101" charset="-128"/>
          <a:cs typeface="汉仪中宋简" panose="02010609000101010101" charset="-12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ags" Target="../tags/tag3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32.xml"/></Relationships>
</file>

<file path=ppt/slides/_rels/slide3.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notesSlide" Target="../notesSlides/notesSlide3.xml"/><Relationship Id="rId5" Type="http://schemas.openxmlformats.org/officeDocument/2006/relationships/slideLayout" Target="../slideLayouts/slideLayout5.xml"/><Relationship Id="rId4" Type="http://schemas.openxmlformats.org/officeDocument/2006/relationships/tags" Target="../tags/tag3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37.xml"/></Relationships>
</file>

<file path=ppt/slides/_rels/slide5.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notesSlide" Target="../notesSlides/notesSlide5.xml"/><Relationship Id="rId5" Type="http://schemas.openxmlformats.org/officeDocument/2006/relationships/slideLayout" Target="../slideLayouts/slideLayout5.xml"/><Relationship Id="rId4" Type="http://schemas.openxmlformats.org/officeDocument/2006/relationships/tags" Target="../tags/tag41.xml"/></Relationships>
</file>

<file path=ppt/slides/_rels/slide6.xml.rels><?xml version="1.0" encoding="UTF-8" standalone="yes"?>
<Relationships xmlns="http://schemas.openxmlformats.org/package/2006/relationships"><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notesSlide" Target="../notesSlides/notesSlide6.xml"/><Relationship Id="rId5" Type="http://schemas.openxmlformats.org/officeDocument/2006/relationships/slideLayout" Target="../slideLayouts/slideLayout5.xml"/><Relationship Id="rId4" Type="http://schemas.openxmlformats.org/officeDocument/2006/relationships/tags" Target="../tags/tag45.xml"/></Relationships>
</file>

<file path=ppt/slides/_rels/slide7.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notesSlide" Target="../notesSlides/notesSlide7.xml"/><Relationship Id="rId5" Type="http://schemas.openxmlformats.org/officeDocument/2006/relationships/slideLayout" Target="../slideLayouts/slideLayout5.xml"/><Relationship Id="rId4" Type="http://schemas.openxmlformats.org/officeDocument/2006/relationships/tags" Target="../tags/tag49.xml"/></Relationships>
</file>

<file path=ppt/slides/_rels/slide8.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notesSlide" Target="../notesSlides/notesSlide8.xml"/><Relationship Id="rId5" Type="http://schemas.openxmlformats.org/officeDocument/2006/relationships/slideLayout" Target="../slideLayouts/slideLayout5.xml"/><Relationship Id="rId4" Type="http://schemas.openxmlformats.org/officeDocument/2006/relationships/tags" Target="../tags/tag5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tags" Target="../tags/tag54.xml"/></Relationships>
</file>

<file path=ppt/slides/_rels/slide10.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notesSlide" Target="../notesSlides/notesSlide10.xml"/><Relationship Id="rId5" Type="http://schemas.openxmlformats.org/officeDocument/2006/relationships/slideLayout" Target="../slideLayouts/slideLayout5.xml"/><Relationship Id="rId4" Type="http://schemas.openxmlformats.org/officeDocument/2006/relationships/tags" Target="../tags/tag58.xml"/></Relationships>
</file>

<file path=ppt/slides/_rels/slide11.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notesSlide" Target="../notesSlides/notesSlide11.xml"/><Relationship Id="rId5" Type="http://schemas.openxmlformats.org/officeDocument/2006/relationships/slideLayout" Target="../slideLayouts/slideLayout5.xml"/><Relationship Id="rId4" Type="http://schemas.openxmlformats.org/officeDocument/2006/relationships/tags" Target="../tags/tag62.xml"/></Relationships>
</file>

<file path=ppt/slides/_rels/slide12.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notesSlide" Target="../notesSlides/notesSlide12.xml"/><Relationship Id="rId5" Type="http://schemas.openxmlformats.org/officeDocument/2006/relationships/slideLayout" Target="../slideLayouts/slideLayout5.xml"/><Relationship Id="rId4" Type="http://schemas.openxmlformats.org/officeDocument/2006/relationships/tags" Target="../tags/tag66.xml"/></Relationships>
</file>

<file path=ppt/slides/_rels/slide13.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notesSlide" Target="../notesSlides/notesSlide13.xml"/><Relationship Id="rId5" Type="http://schemas.openxmlformats.org/officeDocument/2006/relationships/slideLayout" Target="../slideLayouts/slideLayout5.xml"/><Relationship Id="rId4" Type="http://schemas.openxmlformats.org/officeDocument/2006/relationships/tags" Target="../tags/tag70.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tags" Target="../tags/tag71.xml"/></Relationships>
</file>

<file path=ppt/slides/_rels/slide15.xml.rels><?xml version="1.0" encoding="UTF-8" standalone="yes"?>
<Relationships xmlns="http://schemas.openxmlformats.org/package/2006/relationships"><Relationship Id="rId3" Type="http://schemas.openxmlformats.org/officeDocument/2006/relationships/tags" Target="../tags/tag74.xml"/><Relationship Id="rId7" Type="http://schemas.openxmlformats.org/officeDocument/2006/relationships/image" Target="../media/image1.png"/><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notesSlide" Target="../notesSlides/notesSlide15.xml"/><Relationship Id="rId5" Type="http://schemas.openxmlformats.org/officeDocument/2006/relationships/slideLayout" Target="../slideLayouts/slideLayout5.xml"/><Relationship Id="rId4" Type="http://schemas.openxmlformats.org/officeDocument/2006/relationships/tags" Target="../tags/tag75.xml"/></Relationships>
</file>

<file path=ppt/slides/_rels/slide16.xml.rels><?xml version="1.0" encoding="UTF-8" standalone="yes"?>
<Relationships xmlns="http://schemas.openxmlformats.org/package/2006/relationships"><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notesSlide" Target="../notesSlides/notesSlide16.xml"/><Relationship Id="rId5" Type="http://schemas.openxmlformats.org/officeDocument/2006/relationships/slideLayout" Target="../slideLayouts/slideLayout5.xml"/><Relationship Id="rId4" Type="http://schemas.openxmlformats.org/officeDocument/2006/relationships/tags" Target="../tags/tag79.xml"/></Relationships>
</file>

<file path=ppt/slides/_rels/slide17.xml.rels><?xml version="1.0" encoding="UTF-8" standalone="yes"?>
<Relationships xmlns="http://schemas.openxmlformats.org/package/2006/relationships"><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notesSlide" Target="../notesSlides/notesSlide17.xml"/><Relationship Id="rId5" Type="http://schemas.openxmlformats.org/officeDocument/2006/relationships/slideLayout" Target="../slideLayouts/slideLayout5.xml"/><Relationship Id="rId4" Type="http://schemas.openxmlformats.org/officeDocument/2006/relationships/tags" Target="../tags/tag8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tags" Target="../tags/tag84.xml"/></Relationships>
</file>

<file path=ppt/slides/_rels/slide19.xml.rels><?xml version="1.0" encoding="UTF-8" standalone="yes"?>
<Relationships xmlns="http://schemas.openxmlformats.org/package/2006/relationships"><Relationship Id="rId3" Type="http://schemas.openxmlformats.org/officeDocument/2006/relationships/tags" Target="../tags/tag87.xml"/><Relationship Id="rId7" Type="http://schemas.openxmlformats.org/officeDocument/2006/relationships/image" Target="../media/image2.png"/><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notesSlide" Target="../notesSlides/notesSlide19.xml"/><Relationship Id="rId5" Type="http://schemas.openxmlformats.org/officeDocument/2006/relationships/slideLayout" Target="../slideLayouts/slideLayout5.xml"/><Relationship Id="rId4" Type="http://schemas.openxmlformats.org/officeDocument/2006/relationships/tags" Target="../tags/tag88.xml"/></Relationships>
</file>

<file path=ppt/slides/_rels/slide20.xml.rels><?xml version="1.0" encoding="UTF-8" standalone="yes"?>
<Relationships xmlns="http://schemas.openxmlformats.org/package/2006/relationships"><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notesSlide" Target="../notesSlides/notesSlide20.xml"/><Relationship Id="rId5" Type="http://schemas.openxmlformats.org/officeDocument/2006/relationships/slideLayout" Target="../slideLayouts/slideLayout5.xml"/><Relationship Id="rId4" Type="http://schemas.openxmlformats.org/officeDocument/2006/relationships/tags" Target="../tags/tag92.xml"/></Relationships>
</file>

<file path=ppt/slides/_rels/slide21.xml.rels><?xml version="1.0" encoding="UTF-8" standalone="yes"?>
<Relationships xmlns="http://schemas.openxmlformats.org/package/2006/relationships"><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notesSlide" Target="../notesSlides/notesSlide21.xml"/><Relationship Id="rId5" Type="http://schemas.openxmlformats.org/officeDocument/2006/relationships/slideLayout" Target="../slideLayouts/slideLayout5.xml"/><Relationship Id="rId4" Type="http://schemas.openxmlformats.org/officeDocument/2006/relationships/tags" Target="../tags/tag96.xml"/></Relationships>
</file>

<file path=ppt/slides/_rels/slide22.xml.rels><?xml version="1.0" encoding="UTF-8" standalone="yes"?>
<Relationships xmlns="http://schemas.openxmlformats.org/package/2006/relationships"><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notesSlide" Target="../notesSlides/notesSlide22.xml"/><Relationship Id="rId5" Type="http://schemas.openxmlformats.org/officeDocument/2006/relationships/slideLayout" Target="../slideLayouts/slideLayout5.xml"/><Relationship Id="rId4" Type="http://schemas.openxmlformats.org/officeDocument/2006/relationships/tags" Target="../tags/tag100.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tags" Target="../tags/tag101.xml"/></Relationships>
</file>

<file path=ppt/slides/_rels/slide24.xml.rels><?xml version="1.0" encoding="UTF-8" standalone="yes"?>
<Relationships xmlns="http://schemas.openxmlformats.org/package/2006/relationships"><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notesSlide" Target="../notesSlides/notesSlide24.xml"/><Relationship Id="rId5" Type="http://schemas.openxmlformats.org/officeDocument/2006/relationships/slideLayout" Target="../slideLayouts/slideLayout5.xml"/><Relationship Id="rId4" Type="http://schemas.openxmlformats.org/officeDocument/2006/relationships/tags" Target="../tags/tag10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tags" Target="../tags/tag106.xml"/></Relationships>
</file>

<file path=ppt/slides/_rels/slide26.xml.rels><?xml version="1.0" encoding="UTF-8" standalone="yes"?>
<Relationships xmlns="http://schemas.openxmlformats.org/package/2006/relationships"><Relationship Id="rId3" Type="http://schemas.openxmlformats.org/officeDocument/2006/relationships/tags" Target="../tags/tag109.xml"/><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notesSlide" Target="../notesSlides/notesSlide26.xml"/><Relationship Id="rId5" Type="http://schemas.openxmlformats.org/officeDocument/2006/relationships/slideLayout" Target="../slideLayouts/slideLayout5.xml"/><Relationship Id="rId4" Type="http://schemas.openxmlformats.org/officeDocument/2006/relationships/tags" Target="../tags/tag110.xml"/></Relationships>
</file>

<file path=ppt/slides/_rels/slide27.xml.rels><?xml version="1.0" encoding="UTF-8" standalone="yes"?>
<Relationships xmlns="http://schemas.openxmlformats.org/package/2006/relationships"><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notesSlide" Target="../notesSlides/notesSlide27.xml"/><Relationship Id="rId5" Type="http://schemas.openxmlformats.org/officeDocument/2006/relationships/slideLayout" Target="../slideLayouts/slideLayout5.xml"/><Relationship Id="rId4" Type="http://schemas.openxmlformats.org/officeDocument/2006/relationships/tags" Target="../tags/tag114.xml"/></Relationships>
</file>

<file path=ppt/slides/_rels/slide28.xml.rels><?xml version="1.0" encoding="UTF-8" standalone="yes"?>
<Relationships xmlns="http://schemas.openxmlformats.org/package/2006/relationships"><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notesSlide" Target="../notesSlides/notesSlide28.xml"/><Relationship Id="rId5" Type="http://schemas.openxmlformats.org/officeDocument/2006/relationships/slideLayout" Target="../slideLayouts/slideLayout5.xml"/><Relationship Id="rId4" Type="http://schemas.openxmlformats.org/officeDocument/2006/relationships/tags" Target="../tags/tag118.xml"/></Relationships>
</file>

<file path=ppt/slides/_rels/slide29.xml.rels><?xml version="1.0" encoding="UTF-8" standalone="yes"?>
<Relationships xmlns="http://schemas.openxmlformats.org/package/2006/relationships"><Relationship Id="rId3" Type="http://schemas.openxmlformats.org/officeDocument/2006/relationships/tags" Target="../tags/tag121.xml"/><Relationship Id="rId7" Type="http://schemas.openxmlformats.org/officeDocument/2006/relationships/image" Target="../media/image3.png"/><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notesSlide" Target="../notesSlides/notesSlide29.xml"/><Relationship Id="rId5" Type="http://schemas.openxmlformats.org/officeDocument/2006/relationships/slideLayout" Target="../slideLayouts/slideLayout5.xml"/><Relationship Id="rId4" Type="http://schemas.openxmlformats.org/officeDocument/2006/relationships/tags" Target="../tags/tag122.xml"/></Relationships>
</file>

<file path=ppt/slides/_rels/slide30.xml.rels><?xml version="1.0" encoding="UTF-8" standalone="yes"?>
<Relationships xmlns="http://schemas.openxmlformats.org/package/2006/relationships"><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notesSlide" Target="../notesSlides/notesSlide30.xml"/><Relationship Id="rId5" Type="http://schemas.openxmlformats.org/officeDocument/2006/relationships/slideLayout" Target="../slideLayouts/slideLayout5.xml"/><Relationship Id="rId4" Type="http://schemas.openxmlformats.org/officeDocument/2006/relationships/tags" Target="../tags/tag126.xml"/></Relationships>
</file>

<file path=ppt/slides/_rels/slide31.xml.rels><?xml version="1.0" encoding="UTF-8" standalone="yes"?>
<Relationships xmlns="http://schemas.openxmlformats.org/package/2006/relationships"><Relationship Id="rId3" Type="http://schemas.openxmlformats.org/officeDocument/2006/relationships/tags" Target="../tags/tag129.xml"/><Relationship Id="rId2" Type="http://schemas.openxmlformats.org/officeDocument/2006/relationships/tags" Target="../tags/tag128.xml"/><Relationship Id="rId1" Type="http://schemas.openxmlformats.org/officeDocument/2006/relationships/tags" Target="../tags/tag127.xml"/><Relationship Id="rId6" Type="http://schemas.openxmlformats.org/officeDocument/2006/relationships/notesSlide" Target="../notesSlides/notesSlide31.xml"/><Relationship Id="rId5" Type="http://schemas.openxmlformats.org/officeDocument/2006/relationships/slideLayout" Target="../slideLayouts/slideLayout5.xml"/><Relationship Id="rId4" Type="http://schemas.openxmlformats.org/officeDocument/2006/relationships/tags" Target="../tags/tag130.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xml"/><Relationship Id="rId1" Type="http://schemas.openxmlformats.org/officeDocument/2006/relationships/tags" Target="../tags/tag131.xml"/></Relationships>
</file>

<file path=ppt/slides/_rels/slide33.xml.rels><?xml version="1.0" encoding="UTF-8" standalone="yes"?>
<Relationships xmlns="http://schemas.openxmlformats.org/package/2006/relationships"><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notesSlide" Target="../notesSlides/notesSlide33.xml"/><Relationship Id="rId5" Type="http://schemas.openxmlformats.org/officeDocument/2006/relationships/slideLayout" Target="../slideLayouts/slideLayout5.xml"/><Relationship Id="rId4" Type="http://schemas.openxmlformats.org/officeDocument/2006/relationships/tags" Target="../tags/tag135.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xml"/><Relationship Id="rId1" Type="http://schemas.openxmlformats.org/officeDocument/2006/relationships/tags" Target="../tags/tag136.xml"/></Relationships>
</file>

<file path=ppt/slides/_rels/slide35.xml.rels><?xml version="1.0" encoding="UTF-8" standalone="yes"?>
<Relationships xmlns="http://schemas.openxmlformats.org/package/2006/relationships"><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notesSlide" Target="../notesSlides/notesSlide35.xml"/><Relationship Id="rId5" Type="http://schemas.openxmlformats.org/officeDocument/2006/relationships/slideLayout" Target="../slideLayouts/slideLayout5.xml"/><Relationship Id="rId4" Type="http://schemas.openxmlformats.org/officeDocument/2006/relationships/tags" Target="../tags/tag140.xml"/></Relationships>
</file>

<file path=ppt/slides/_rels/slide36.xml.rels><?xml version="1.0" encoding="UTF-8" standalone="yes"?>
<Relationships xmlns="http://schemas.openxmlformats.org/package/2006/relationships"><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tags" Target="../tags/tag141.xml"/><Relationship Id="rId5" Type="http://schemas.openxmlformats.org/officeDocument/2006/relationships/notesSlide" Target="../notesSlides/notesSlide36.xml"/><Relationship Id="rId4"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30" name="文本框 29"/>
          <p:cNvSpPr txBox="1"/>
          <p:nvPr/>
        </p:nvSpPr>
        <p:spPr>
          <a:xfrm>
            <a:off x="739140" y="1145540"/>
            <a:ext cx="10641330" cy="2306955"/>
          </a:xfrm>
          <a:prstGeom prst="rect">
            <a:avLst/>
          </a:prstGeom>
          <a:noFill/>
        </p:spPr>
        <p:txBody>
          <a:bodyPr wrap="square" rtlCol="0">
            <a:spAutoFit/>
          </a:bodyPr>
          <a:lstStyle/>
          <a:p>
            <a:pPr algn="ctr"/>
            <a:r>
              <a:rPr lang="en-US" altLang="zh-CN" sz="4800" b="1" dirty="0">
                <a:solidFill>
                  <a:srgbClr val="324769"/>
                </a:solidFill>
                <a:cs typeface="+mn-ea"/>
                <a:sym typeface="+mn-lt"/>
              </a:rPr>
              <a:t>ADGFUZZ: Assignment Dependency-GuidedFuzzing for Robotic Vehicles</a:t>
            </a:r>
          </a:p>
        </p:txBody>
      </p:sp>
      <p:sp>
        <p:nvSpPr>
          <p:cNvPr id="34" name="圆角矩形 33"/>
          <p:cNvSpPr/>
          <p:nvPr/>
        </p:nvSpPr>
        <p:spPr>
          <a:xfrm>
            <a:off x="7114310" y="4924738"/>
            <a:ext cx="4807527" cy="371476"/>
          </a:xfrm>
          <a:prstGeom prst="roundRect">
            <a:avLst>
              <a:gd name="adj" fmla="val 50000"/>
            </a:avLst>
          </a:prstGeom>
          <a:solidFill>
            <a:srgbClr val="D0E1F7"/>
          </a:solidFill>
          <a:ln>
            <a:solidFill>
              <a:srgbClr val="425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324769"/>
                </a:solidFill>
                <a:cs typeface="+mn-ea"/>
                <a:sym typeface="+mn-lt"/>
              </a:rPr>
              <a:t>汇报人：屈景辉</a:t>
            </a:r>
          </a:p>
        </p:txBody>
      </p:sp>
      <p:grpSp>
        <p:nvGrpSpPr>
          <p:cNvPr id="44" name="组合 43"/>
          <p:cNvGrpSpPr/>
          <p:nvPr/>
        </p:nvGrpSpPr>
        <p:grpSpPr bwMode="auto">
          <a:xfrm>
            <a:off x="3153093" y="-315"/>
            <a:ext cx="1109663" cy="1131887"/>
            <a:chOff x="2666985" y="682103"/>
            <a:chExt cx="1109138" cy="1131217"/>
          </a:xfrm>
        </p:grpSpPr>
        <p:sp>
          <p:nvSpPr>
            <p:cNvPr id="45" name="矩形 44"/>
            <p:cNvSpPr/>
            <p:nvPr>
              <p:custDataLst>
                <p:tags r:id="rId2"/>
              </p:custDataLst>
            </p:nvPr>
          </p:nvSpPr>
          <p:spPr>
            <a:xfrm>
              <a:off x="2841528" y="858211"/>
              <a:ext cx="769573" cy="76948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6" name="矩形 45"/>
            <p:cNvSpPr/>
            <p:nvPr>
              <p:custDataLst>
                <p:tags r:id="rId3"/>
              </p:custDataLst>
            </p:nvPr>
          </p:nvSpPr>
          <p:spPr>
            <a:xfrm>
              <a:off x="2666985" y="682103"/>
              <a:ext cx="558536" cy="558469"/>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 name="矩形 46"/>
            <p:cNvSpPr/>
            <p:nvPr>
              <p:custDataLst>
                <p:tags r:id="rId4"/>
              </p:custDataLst>
            </p:nvPr>
          </p:nvSpPr>
          <p:spPr>
            <a:xfrm>
              <a:off x="3217587" y="1254851"/>
              <a:ext cx="558536" cy="558469"/>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sp>
        <p:nvSpPr>
          <p:cNvPr id="8" name="圆角矩形 33"/>
          <p:cNvSpPr/>
          <p:nvPr/>
        </p:nvSpPr>
        <p:spPr>
          <a:xfrm>
            <a:off x="7114310" y="5607878"/>
            <a:ext cx="4807527" cy="371476"/>
          </a:xfrm>
          <a:prstGeom prst="roundRect">
            <a:avLst>
              <a:gd name="adj" fmla="val 50000"/>
            </a:avLst>
          </a:prstGeom>
          <a:solidFill>
            <a:srgbClr val="D0E1F7"/>
          </a:solidFill>
          <a:ln>
            <a:solidFill>
              <a:srgbClr val="425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324769"/>
                </a:solidFill>
                <a:cs typeface="+mn-ea"/>
                <a:sym typeface="+mn-lt"/>
              </a:rPr>
              <a:t>时间：</a:t>
            </a:r>
            <a:r>
              <a:rPr lang="en-US" altLang="zh-CN" dirty="0">
                <a:solidFill>
                  <a:srgbClr val="324769"/>
                </a:solidFill>
                <a:cs typeface="+mn-ea"/>
                <a:sym typeface="+mn-lt"/>
              </a:rPr>
              <a:t>2026.4.7</a:t>
            </a:r>
            <a:endParaRPr lang="zh-CN" altLang="en-US" dirty="0">
              <a:solidFill>
                <a:srgbClr val="ACBBDB"/>
              </a:solidFill>
              <a:cs typeface="+mn-ea"/>
              <a:sym typeface="+mn-lt"/>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3908"/>
    </mc:Choice>
    <mc:Fallback xmlns="">
      <p:transition spd="slow" advTm="2390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2063404" y="2684869"/>
            <a:ext cx="8839822" cy="768350"/>
          </a:xfrm>
          <a:prstGeom prst="rect">
            <a:avLst/>
          </a:prstGeom>
          <a:noFill/>
        </p:spPr>
        <p:txBody>
          <a:bodyPr wrap="square" rtlCol="0">
            <a:spAutoFit/>
          </a:bodyPr>
          <a:lstStyle/>
          <a:p>
            <a:r>
              <a:rPr lang="zh-CN" altLang="en-US" sz="4400" b="1" dirty="0">
                <a:solidFill>
                  <a:srgbClr val="324769"/>
                </a:solidFill>
                <a:cs typeface="+mn-ea"/>
                <a:sym typeface="+mn-lt"/>
              </a:rPr>
              <a:t>摘要</a:t>
            </a:r>
          </a:p>
        </p:txBody>
      </p:sp>
      <p:grpSp>
        <p:nvGrpSpPr>
          <p:cNvPr id="3" name="组合 2"/>
          <p:cNvGrpSpPr/>
          <p:nvPr/>
        </p:nvGrpSpPr>
        <p:grpSpPr>
          <a:xfrm>
            <a:off x="184785" y="2346960"/>
            <a:ext cx="1684655" cy="1446530"/>
            <a:chOff x="909" y="4569"/>
            <a:chExt cx="2653" cy="2278"/>
          </a:xfrm>
        </p:grpSpPr>
        <p:sp>
          <p:nvSpPr>
            <p:cNvPr id="12" name="椭圆 11"/>
            <p:cNvSpPr/>
            <p:nvPr/>
          </p:nvSpPr>
          <p:spPr>
            <a:xfrm>
              <a:off x="2306" y="4674"/>
              <a:ext cx="957" cy="957"/>
            </a:xfrm>
            <a:prstGeom prst="ellipse">
              <a:avLst/>
            </a:prstGeom>
            <a:solidFill>
              <a:srgbClr val="D0E1F7">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0" name="文本框 49"/>
            <p:cNvSpPr txBox="1"/>
            <p:nvPr/>
          </p:nvSpPr>
          <p:spPr>
            <a:xfrm>
              <a:off x="909" y="4569"/>
              <a:ext cx="2653" cy="2278"/>
            </a:xfrm>
            <a:prstGeom prst="rect">
              <a:avLst/>
            </a:prstGeom>
            <a:noFill/>
          </p:spPr>
          <p:txBody>
            <a:bodyPr wrap="square" rtlCol="0">
              <a:spAutoFit/>
            </a:bodyPr>
            <a:lstStyle/>
            <a:p>
              <a:pPr algn="ctr"/>
              <a:r>
                <a:rPr lang="en-US" altLang="zh-CN" sz="8800" dirty="0">
                  <a:solidFill>
                    <a:srgbClr val="324769"/>
                  </a:solidFill>
                  <a:cs typeface="+mn-ea"/>
                  <a:sym typeface="+mn-lt"/>
                </a:rPr>
                <a:t>00</a:t>
              </a:r>
            </a:p>
          </p:txBody>
        </p:sp>
      </p:grpSp>
      <p:cxnSp>
        <p:nvCxnSpPr>
          <p:cNvPr id="32" name="直接连接符 31"/>
          <p:cNvCxnSpPr/>
          <p:nvPr/>
        </p:nvCxnSpPr>
        <p:spPr>
          <a:xfrm>
            <a:off x="530225" y="3720465"/>
            <a:ext cx="5784850" cy="0"/>
          </a:xfrm>
          <a:prstGeom prst="line">
            <a:avLst/>
          </a:prstGeom>
          <a:ln w="28575" cmpd="thickThin">
            <a:solidFill>
              <a:srgbClr val="324769"/>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011"/>
    </mc:Choice>
    <mc:Fallback xmlns="">
      <p:transition spd="slow" advTm="5011"/>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椭圆 11"/>
          <p:cNvSpPr/>
          <p:nvPr/>
        </p:nvSpPr>
        <p:spPr>
          <a:xfrm>
            <a:off x="137160" y="186690"/>
            <a:ext cx="236855" cy="236855"/>
          </a:xfrm>
          <a:prstGeom prst="ellipse">
            <a:avLst/>
          </a:prstGeom>
          <a:solidFill>
            <a:srgbClr val="ACBBDB">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10" name="文本框 9"/>
          <p:cNvSpPr txBox="1"/>
          <p:nvPr>
            <p:custDataLst>
              <p:tags r:id="rId2"/>
            </p:custDataLst>
          </p:nvPr>
        </p:nvSpPr>
        <p:spPr>
          <a:xfrm>
            <a:off x="1083944" y="326688"/>
            <a:ext cx="5888355" cy="521970"/>
          </a:xfrm>
          <a:prstGeom prst="rect">
            <a:avLst/>
          </a:prstGeom>
          <a:noFill/>
        </p:spPr>
        <p:txBody>
          <a:bodyPr wrap="square" rtlCol="0">
            <a:spAutoFit/>
          </a:bodyPr>
          <a:lstStyle/>
          <a:p>
            <a:r>
              <a:rPr lang="zh-CN" altLang="en-US" sz="2800" dirty="0">
                <a:solidFill>
                  <a:srgbClr val="324769"/>
                </a:solidFill>
                <a:latin typeface="Times New Roman" panose="02020603050405020304" pitchFamily="18" charset="0"/>
                <a:cs typeface="+mn-ea"/>
                <a:sym typeface="+mn-lt"/>
              </a:rPr>
              <a:t>摘要</a:t>
            </a:r>
          </a:p>
        </p:txBody>
      </p:sp>
      <p:grpSp>
        <p:nvGrpSpPr>
          <p:cNvPr id="4" name="组合 3"/>
          <p:cNvGrpSpPr/>
          <p:nvPr/>
        </p:nvGrpSpPr>
        <p:grpSpPr>
          <a:xfrm>
            <a:off x="80010" y="198120"/>
            <a:ext cx="1003935" cy="768350"/>
            <a:chOff x="1417" y="1412"/>
            <a:chExt cx="1581" cy="1210"/>
          </a:xfrm>
        </p:grpSpPr>
        <p:sp>
          <p:nvSpPr>
            <p:cNvPr id="3" name="椭圆 2"/>
            <p:cNvSpPr/>
            <p:nvPr>
              <p:custDataLst>
                <p:tags r:id="rId3"/>
              </p:custDataLst>
            </p:nvPr>
          </p:nvSpPr>
          <p:spPr>
            <a:xfrm>
              <a:off x="1617" y="1426"/>
              <a:ext cx="1182" cy="1182"/>
            </a:xfrm>
            <a:prstGeom prst="ellipse">
              <a:avLst/>
            </a:pr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50" name="文本框 49"/>
            <p:cNvSpPr txBox="1"/>
            <p:nvPr>
              <p:custDataLst>
                <p:tags r:id="rId4"/>
              </p:custDataLst>
            </p:nvPr>
          </p:nvSpPr>
          <p:spPr>
            <a:xfrm>
              <a:off x="1417" y="1412"/>
              <a:ext cx="1581" cy="1210"/>
            </a:xfrm>
            <a:prstGeom prst="rect">
              <a:avLst/>
            </a:prstGeom>
            <a:noFill/>
          </p:spPr>
          <p:txBody>
            <a:bodyPr wrap="square" rtlCol="0">
              <a:spAutoFit/>
            </a:bodyPr>
            <a:lstStyle/>
            <a:p>
              <a:pPr algn="ctr"/>
              <a:r>
                <a:rPr lang="en-US" altLang="zh-CN" sz="4400" dirty="0">
                  <a:solidFill>
                    <a:schemeClr val="bg1"/>
                  </a:solidFill>
                  <a:latin typeface="Times New Roman" panose="02020603050405020304" pitchFamily="18" charset="0"/>
                  <a:cs typeface="Times New Roman" panose="02020603050405020304" pitchFamily="18" charset="0"/>
                  <a:sym typeface="+mn-lt"/>
                </a:rPr>
                <a:t>00</a:t>
              </a:r>
            </a:p>
          </p:txBody>
        </p:sp>
      </p:grpSp>
      <p:sp>
        <p:nvSpPr>
          <p:cNvPr id="19" name="Rectangle 2"/>
          <p:cNvSpPr>
            <a:spLocks noChangeArrowheads="1"/>
          </p:cNvSpPr>
          <p:nvPr/>
        </p:nvSpPr>
        <p:spPr bwMode="auto">
          <a:xfrm>
            <a:off x="1425600" y="167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8" name="Rectangle 6"/>
          <p:cNvSpPr>
            <a:spLocks noChangeArrowheads="1"/>
          </p:cNvSpPr>
          <p:nvPr/>
        </p:nvSpPr>
        <p:spPr bwMode="auto">
          <a:xfrm>
            <a:off x="374015" y="48105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dirty="0"/>
          </a:p>
        </p:txBody>
      </p:sp>
      <p:sp>
        <p:nvSpPr>
          <p:cNvPr id="36"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3" name="文本框 12"/>
          <p:cNvSpPr txBox="1"/>
          <p:nvPr/>
        </p:nvSpPr>
        <p:spPr>
          <a:xfrm>
            <a:off x="626703" y="976540"/>
            <a:ext cx="10568968" cy="5369560"/>
          </a:xfrm>
          <a:prstGeom prst="rect">
            <a:avLst/>
          </a:prstGeom>
          <a:noFill/>
          <a:ln w="19050">
            <a:noFill/>
          </a:ln>
        </p:spPr>
        <p:txBody>
          <a:bodyPr wrap="square" rtlCol="0">
            <a:spAutoFit/>
          </a:bodyPr>
          <a:lstStyle/>
          <a:p>
            <a:pPr indent="457200">
              <a:lnSpc>
                <a:spcPct val="130000"/>
              </a:lnSpc>
              <a:spcAft>
                <a:spcPts val="600"/>
              </a:spcAft>
            </a:pPr>
            <a:r>
              <a:rPr lang="zh-CN" altLang="en-US" sz="2000" dirty="0">
                <a:solidFill>
                  <a:srgbClr val="FF0000"/>
                </a:solidFill>
                <a:latin typeface="Times New Roman" panose="02020603050405020304" pitchFamily="18" charset="0"/>
                <a:ea typeface="苹方 中等" panose="020B0400000000000000" pitchFamily="34" charset="-122"/>
                <a:cs typeface="Times New Roman" panose="02020603050405020304" pitchFamily="18" charset="0"/>
              </a:rPr>
              <a:t>无人运载平台（</a:t>
            </a:r>
            <a:r>
              <a:rPr lang="en-US" altLang="zh-CN" sz="2000" dirty="0">
                <a:solidFill>
                  <a:srgbClr val="FF0000"/>
                </a:solidFill>
                <a:latin typeface="Times New Roman" panose="02020603050405020304" pitchFamily="18" charset="0"/>
                <a:ea typeface="苹方 中等" panose="020B0400000000000000" pitchFamily="34" charset="-122"/>
                <a:cs typeface="Times New Roman" panose="02020603050405020304" pitchFamily="18" charset="0"/>
              </a:rPr>
              <a:t>RVs</a:t>
            </a:r>
            <a:r>
              <a:rPr lang="zh-CN" altLang="en-US" sz="2000" dirty="0">
                <a:solidFill>
                  <a:srgbClr val="FF0000"/>
                </a:solidFill>
                <a:latin typeface="Times New Roman" panose="02020603050405020304" pitchFamily="18" charset="0"/>
                <a:ea typeface="苹方 中等" panose="020B0400000000000000" pitchFamily="34" charset="-122"/>
                <a:cs typeface="Times New Roman" panose="02020603050405020304" pitchFamily="18" charset="0"/>
              </a:rPr>
              <a:t>）在现代社会中发挥着日益重要的作用，在商业和军事领域均有广泛应用。无人运载平台控制软件是自动驾驶车辆系统的核心，它通过持续计算车辆的内部状态、传感器读数和外部输入来调整系统行为，以维持其正常运行。然而，无人运载平台软件中可配置参数、命令输入以及环境感知数据的组合空间极为庞大，这给系统带来了显著的安全风险。</a:t>
            </a:r>
            <a:r>
              <a:rPr lang="en-US" altLang="zh-CN" sz="2000" dirty="0" err="1">
                <a:solidFill>
                  <a:schemeClr val="accent1"/>
                </a:solidFill>
                <a:latin typeface="Times New Roman" panose="02020603050405020304" pitchFamily="18" charset="0"/>
                <a:ea typeface="苹方 中等" panose="020B0400000000000000" pitchFamily="34" charset="-122"/>
                <a:cs typeface="Times New Roman" panose="02020603050405020304" pitchFamily="18" charset="0"/>
              </a:rPr>
              <a:t>现有的模糊测试技术在有效探索这一庞大输入空间并发现深层漏洞方面面临巨大挑战</a:t>
            </a:r>
            <a:r>
              <a:rPr lang="en-US" altLang="zh-CN" sz="2000" dirty="0">
                <a:solidFill>
                  <a:schemeClr val="accent1"/>
                </a:solidFill>
                <a:latin typeface="Times New Roman" panose="02020603050405020304" pitchFamily="18" charset="0"/>
                <a:ea typeface="苹方 中等" panose="020B0400000000000000" pitchFamily="34" charset="-122"/>
                <a:cs typeface="Times New Roman" panose="02020603050405020304" pitchFamily="18" charset="0"/>
              </a:rPr>
              <a:t>。</a:t>
            </a:r>
            <a:r>
              <a:rPr lang="zh-CN" altLang="en-US" sz="2000" dirty="0">
                <a:solidFill>
                  <a:srgbClr val="FFC000"/>
                </a:solidFill>
                <a:latin typeface="Times New Roman" panose="02020603050405020304" pitchFamily="18" charset="0"/>
                <a:ea typeface="苹方 中等" panose="020B0400000000000000" pitchFamily="34" charset="-122"/>
                <a:cs typeface="Times New Roman" panose="02020603050405020304" pitchFamily="18" charset="0"/>
              </a:rPr>
              <a:t>为解决这些问题，我们提出了</a:t>
            </a:r>
            <a:r>
              <a:rPr lang="en-US" altLang="zh-CN" sz="2000" dirty="0">
                <a:solidFill>
                  <a:srgbClr val="FFC000"/>
                </a:solidFill>
                <a:latin typeface="Times New Roman" panose="02020603050405020304" pitchFamily="18" charset="0"/>
                <a:ea typeface="苹方 中等" panose="020B0400000000000000" pitchFamily="34" charset="-122"/>
                <a:cs typeface="Times New Roman" panose="02020603050405020304" pitchFamily="18" charset="0"/>
              </a:rPr>
              <a:t>ADGFUZZ</a:t>
            </a:r>
            <a:r>
              <a:rPr lang="zh-CN" altLang="en-US" sz="2000" dirty="0">
                <a:solidFill>
                  <a:srgbClr val="FFC000"/>
                </a:solidFill>
                <a:latin typeface="Times New Roman" panose="02020603050405020304" pitchFamily="18" charset="0"/>
                <a:ea typeface="苹方 中等" panose="020B0400000000000000" pitchFamily="34" charset="-122"/>
                <a:cs typeface="Times New Roman" panose="02020603050405020304" pitchFamily="18" charset="0"/>
              </a:rPr>
              <a:t>，这是一种专为检测无人运载平台控制软件中赋值语句漏洞而设计的新型模糊测试框架。</a:t>
            </a:r>
            <a:r>
              <a:rPr lang="en-US" altLang="zh-CN" sz="2000" dirty="0">
                <a:solidFill>
                  <a:srgbClr val="FFC000"/>
                </a:solidFill>
                <a:latin typeface="Times New Roman" panose="02020603050405020304" pitchFamily="18" charset="0"/>
                <a:ea typeface="苹方 中等" panose="020B0400000000000000" pitchFamily="34" charset="-122"/>
                <a:cs typeface="Times New Roman" panose="02020603050405020304" pitchFamily="18" charset="0"/>
              </a:rPr>
              <a:t>ADGFUZZ</a:t>
            </a:r>
            <a:r>
              <a:rPr lang="zh-CN" altLang="en-US" sz="2000" dirty="0">
                <a:solidFill>
                  <a:srgbClr val="FFC000"/>
                </a:solidFill>
                <a:latin typeface="Times New Roman" panose="02020603050405020304" pitchFamily="18" charset="0"/>
                <a:ea typeface="苹方 中等" panose="020B0400000000000000" pitchFamily="34" charset="-122"/>
                <a:cs typeface="Times New Roman" panose="02020603050405020304" pitchFamily="18" charset="0"/>
              </a:rPr>
              <a:t>静态构建赋值依赖图（</a:t>
            </a:r>
            <a:r>
              <a:rPr lang="en-US" altLang="zh-CN" sz="2000" dirty="0">
                <a:solidFill>
                  <a:srgbClr val="FFC000"/>
                </a:solidFill>
                <a:latin typeface="Times New Roman" panose="02020603050405020304" pitchFamily="18" charset="0"/>
                <a:ea typeface="苹方 中等" panose="020B0400000000000000" pitchFamily="34" charset="-122"/>
                <a:cs typeface="Times New Roman" panose="02020603050405020304" pitchFamily="18" charset="0"/>
              </a:rPr>
              <a:t>ADG</a:t>
            </a:r>
            <a:r>
              <a:rPr lang="zh-CN" altLang="en-US" sz="2000" dirty="0">
                <a:solidFill>
                  <a:srgbClr val="FFC000"/>
                </a:solidFill>
                <a:latin typeface="Times New Roman" panose="02020603050405020304" pitchFamily="18" charset="0"/>
                <a:ea typeface="苹方 中等" panose="020B0400000000000000" pitchFamily="34" charset="-122"/>
                <a:cs typeface="Times New Roman" panose="02020603050405020304" pitchFamily="18" charset="0"/>
              </a:rPr>
              <a:t>），以捕获程序内的变量间依赖关系。随后，通过利用命名相似性将这些依赖关系传播到无人运载平台的输入空间，生成被称为匹配输入集（</a:t>
            </a:r>
            <a:r>
              <a:rPr lang="en-US" altLang="zh-CN" sz="2000" dirty="0">
                <a:solidFill>
                  <a:srgbClr val="FFC000"/>
                </a:solidFill>
                <a:latin typeface="Times New Roman" panose="02020603050405020304" pitchFamily="18" charset="0"/>
                <a:ea typeface="苹方 中等" panose="020B0400000000000000" pitchFamily="34" charset="-122"/>
                <a:cs typeface="Times New Roman" panose="02020603050405020304" pitchFamily="18" charset="0"/>
              </a:rPr>
              <a:t>MIS</a:t>
            </a:r>
            <a:r>
              <a:rPr lang="zh-CN" altLang="en-US" sz="2000" dirty="0">
                <a:solidFill>
                  <a:srgbClr val="FFC000"/>
                </a:solidFill>
                <a:latin typeface="Times New Roman" panose="02020603050405020304" pitchFamily="18" charset="0"/>
                <a:ea typeface="苹方 中等" panose="020B0400000000000000" pitchFamily="34" charset="-122"/>
                <a:cs typeface="Times New Roman" panose="02020603050405020304" pitchFamily="18" charset="0"/>
              </a:rPr>
              <a:t>）的目标输入集合。在此基础上，</a:t>
            </a:r>
            <a:r>
              <a:rPr lang="en-US" altLang="zh-CN" sz="2000" dirty="0">
                <a:solidFill>
                  <a:srgbClr val="FFC000"/>
                </a:solidFill>
                <a:latin typeface="Times New Roman" panose="02020603050405020304" pitchFamily="18" charset="0"/>
                <a:ea typeface="苹方 中等" panose="020B0400000000000000" pitchFamily="34" charset="-122"/>
                <a:cs typeface="Times New Roman" panose="02020603050405020304" pitchFamily="18" charset="0"/>
              </a:rPr>
              <a:t>ADGFUZZ</a:t>
            </a:r>
            <a:r>
              <a:rPr lang="zh-CN" altLang="en-US" sz="2000" dirty="0">
                <a:solidFill>
                  <a:srgbClr val="FFC000"/>
                </a:solidFill>
                <a:latin typeface="Times New Roman" panose="02020603050405020304" pitchFamily="18" charset="0"/>
                <a:ea typeface="苹方 中等" panose="020B0400000000000000" pitchFamily="34" charset="-122"/>
                <a:cs typeface="Times New Roman" panose="02020603050405020304" pitchFamily="18" charset="0"/>
              </a:rPr>
              <a:t>对匹配输入集进行熵感知模糊测试，从而提升漏洞发现的整体效率。</a:t>
            </a:r>
            <a:r>
              <a:rPr lang="zh-CN" altLang="en-US" sz="2000" dirty="0">
                <a:solidFill>
                  <a:schemeClr val="accent3"/>
                </a:solidFill>
                <a:latin typeface="Times New Roman" panose="02020603050405020304" pitchFamily="18" charset="0"/>
                <a:ea typeface="苹方 中等" panose="020B0400000000000000" pitchFamily="34" charset="-122"/>
                <a:cs typeface="Times New Roman" panose="02020603050405020304" pitchFamily="18" charset="0"/>
              </a:rPr>
              <a:t>在评估中，</a:t>
            </a:r>
            <a:r>
              <a:rPr lang="en-US" altLang="zh-CN" sz="2000" dirty="0">
                <a:solidFill>
                  <a:schemeClr val="accent3"/>
                </a:solidFill>
                <a:latin typeface="Times New Roman" panose="02020603050405020304" pitchFamily="18" charset="0"/>
                <a:ea typeface="苹方 中等" panose="020B0400000000000000" pitchFamily="34" charset="-122"/>
                <a:cs typeface="Times New Roman" panose="02020603050405020304" pitchFamily="18" charset="0"/>
              </a:rPr>
              <a:t>ADGFUZZ</a:t>
            </a:r>
            <a:r>
              <a:rPr lang="zh-CN" altLang="en-US" sz="2000" dirty="0">
                <a:solidFill>
                  <a:schemeClr val="accent3"/>
                </a:solidFill>
                <a:latin typeface="Times New Roman" panose="02020603050405020304" pitchFamily="18" charset="0"/>
                <a:ea typeface="苹方 中等" panose="020B0400000000000000" pitchFamily="34" charset="-122"/>
                <a:cs typeface="Times New Roman" panose="02020603050405020304" pitchFamily="18" charset="0"/>
              </a:rPr>
              <a:t>在三种无人运载平台类型中发现了</a:t>
            </a:r>
            <a:r>
              <a:rPr lang="en-US" altLang="zh-CN" sz="2000" dirty="0">
                <a:solidFill>
                  <a:schemeClr val="accent3"/>
                </a:solidFill>
                <a:latin typeface="Times New Roman" panose="02020603050405020304" pitchFamily="18" charset="0"/>
                <a:ea typeface="苹方 中等" panose="020B0400000000000000" pitchFamily="34" charset="-122"/>
                <a:cs typeface="Times New Roman" panose="02020603050405020304" pitchFamily="18" charset="0"/>
              </a:rPr>
              <a:t>87</a:t>
            </a:r>
            <a:r>
              <a:rPr lang="zh-CN" altLang="en-US" sz="2000" dirty="0">
                <a:solidFill>
                  <a:schemeClr val="accent3"/>
                </a:solidFill>
                <a:latin typeface="Times New Roman" panose="02020603050405020304" pitchFamily="18" charset="0"/>
                <a:ea typeface="苹方 中等" panose="020B0400000000000000" pitchFamily="34" charset="-122"/>
                <a:cs typeface="Times New Roman" panose="02020603050405020304" pitchFamily="18" charset="0"/>
              </a:rPr>
              <a:t>个独特漏洞，其中</a:t>
            </a:r>
            <a:r>
              <a:rPr lang="en-US" altLang="zh-CN" sz="2000" dirty="0">
                <a:solidFill>
                  <a:schemeClr val="accent3"/>
                </a:solidFill>
                <a:latin typeface="Times New Roman" panose="02020603050405020304" pitchFamily="18" charset="0"/>
                <a:ea typeface="苹方 中等" panose="020B0400000000000000" pitchFamily="34" charset="-122"/>
                <a:cs typeface="Times New Roman" panose="02020603050405020304" pitchFamily="18" charset="0"/>
              </a:rPr>
              <a:t>78</a:t>
            </a:r>
            <a:r>
              <a:rPr lang="zh-CN" altLang="en-US" sz="2000" dirty="0">
                <a:solidFill>
                  <a:schemeClr val="accent3"/>
                </a:solidFill>
                <a:latin typeface="Times New Roman" panose="02020603050405020304" pitchFamily="18" charset="0"/>
                <a:ea typeface="苹方 中等" panose="020B0400000000000000" pitchFamily="34" charset="-122"/>
                <a:cs typeface="Times New Roman" panose="02020603050405020304" pitchFamily="18" charset="0"/>
              </a:rPr>
              <a:t>个为此前未知的漏洞。所有发现的漏洞均已向开发者进行了负责任的披露，且有</a:t>
            </a:r>
            <a:r>
              <a:rPr lang="en-US" altLang="zh-CN" sz="2000" dirty="0">
                <a:solidFill>
                  <a:schemeClr val="accent3"/>
                </a:solidFill>
                <a:latin typeface="Times New Roman" panose="02020603050405020304" pitchFamily="18" charset="0"/>
                <a:ea typeface="苹方 中等" panose="020B0400000000000000" pitchFamily="34" charset="-122"/>
                <a:cs typeface="Times New Roman" panose="02020603050405020304" pitchFamily="18" charset="0"/>
              </a:rPr>
              <a:t>16</a:t>
            </a:r>
            <a:r>
              <a:rPr lang="zh-CN" altLang="en-US" sz="2000" dirty="0">
                <a:solidFill>
                  <a:schemeClr val="accent3"/>
                </a:solidFill>
                <a:latin typeface="Times New Roman" panose="02020603050405020304" pitchFamily="18" charset="0"/>
                <a:ea typeface="苹方 中等" panose="020B0400000000000000" pitchFamily="34" charset="-122"/>
                <a:cs typeface="Times New Roman" panose="02020603050405020304" pitchFamily="18" charset="0"/>
              </a:rPr>
              <a:t>个漏洞已被确认修复。</a:t>
            </a:r>
          </a:p>
          <a:p>
            <a:pPr indent="457200">
              <a:lnSpc>
                <a:spcPct val="130000"/>
              </a:lnSpc>
              <a:spcAft>
                <a:spcPts val="600"/>
              </a:spcAft>
            </a:pPr>
            <a:endParaRPr lang="en-US" altLang="zh-CN" sz="2000" dirty="0">
              <a:latin typeface="Times New Roman" panose="02020603050405020304" pitchFamily="18" charset="0"/>
              <a:ea typeface="苹方 中等" panose="020B0400000000000000" pitchFamily="34" charset="-122"/>
              <a:cs typeface="Times New Roman" panose="02020603050405020304"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83526"/>
    </mc:Choice>
    <mc:Fallback xmlns="">
      <p:transition spd="slow" advTm="183526"/>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2074430" y="2717482"/>
            <a:ext cx="4910667" cy="769441"/>
          </a:xfrm>
          <a:prstGeom prst="rect">
            <a:avLst/>
          </a:prstGeom>
          <a:noFill/>
        </p:spPr>
        <p:txBody>
          <a:bodyPr wrap="square" rtlCol="0">
            <a:spAutoFit/>
          </a:bodyPr>
          <a:lstStyle>
            <a:defPPr>
              <a:defRPr lang="zh-CN"/>
            </a:defPPr>
            <a:lvl1pPr algn="dist">
              <a:defRPr sz="4400" b="1">
                <a:solidFill>
                  <a:srgbClr val="324769"/>
                </a:solidFill>
                <a:latin typeface="Arial" panose="020B0604020202020204"/>
                <a:ea typeface="微软雅黑" panose="020B0503020204020204" pitchFamily="34" charset="-122"/>
                <a:cs typeface="汉仪中宋简" panose="02010609000101010101" charset="-128"/>
              </a:defRPr>
            </a:lvl1pPr>
          </a:lstStyle>
          <a:p>
            <a:pPr algn="l"/>
            <a:r>
              <a:rPr lang="zh-CN" altLang="en-US" dirty="0">
                <a:latin typeface="+mn-lt"/>
                <a:ea typeface="+mn-ea"/>
                <a:cs typeface="+mn-ea"/>
                <a:sym typeface="+mn-lt"/>
              </a:rPr>
              <a:t>引言</a:t>
            </a:r>
          </a:p>
        </p:txBody>
      </p:sp>
      <p:grpSp>
        <p:nvGrpSpPr>
          <p:cNvPr id="3" name="组合 2"/>
          <p:cNvGrpSpPr/>
          <p:nvPr/>
        </p:nvGrpSpPr>
        <p:grpSpPr>
          <a:xfrm>
            <a:off x="184785" y="2346960"/>
            <a:ext cx="1684655" cy="1445260"/>
            <a:chOff x="909" y="4569"/>
            <a:chExt cx="2653" cy="2276"/>
          </a:xfrm>
        </p:grpSpPr>
        <p:sp>
          <p:nvSpPr>
            <p:cNvPr id="12" name="椭圆 11"/>
            <p:cNvSpPr/>
            <p:nvPr/>
          </p:nvSpPr>
          <p:spPr>
            <a:xfrm>
              <a:off x="2306" y="4674"/>
              <a:ext cx="957" cy="957"/>
            </a:xfrm>
            <a:prstGeom prst="ellipse">
              <a:avLst/>
            </a:prstGeom>
            <a:solidFill>
              <a:srgbClr val="D0E1F7">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0" name="文本框 49"/>
            <p:cNvSpPr txBox="1"/>
            <p:nvPr/>
          </p:nvSpPr>
          <p:spPr>
            <a:xfrm>
              <a:off x="909" y="4569"/>
              <a:ext cx="2653" cy="2276"/>
            </a:xfrm>
            <a:prstGeom prst="rect">
              <a:avLst/>
            </a:prstGeom>
            <a:noFill/>
          </p:spPr>
          <p:txBody>
            <a:bodyPr wrap="square" rtlCol="0">
              <a:spAutoFit/>
            </a:bodyPr>
            <a:lstStyle/>
            <a:p>
              <a:pPr algn="ctr"/>
              <a:r>
                <a:rPr lang="en-US" altLang="zh-CN" sz="8800" dirty="0">
                  <a:solidFill>
                    <a:srgbClr val="324769"/>
                  </a:solidFill>
                  <a:cs typeface="+mn-ea"/>
                  <a:sym typeface="+mn-lt"/>
                </a:rPr>
                <a:t>01</a:t>
              </a:r>
            </a:p>
          </p:txBody>
        </p:sp>
      </p:grpSp>
      <p:cxnSp>
        <p:nvCxnSpPr>
          <p:cNvPr id="32" name="直接连接符 31"/>
          <p:cNvCxnSpPr/>
          <p:nvPr/>
        </p:nvCxnSpPr>
        <p:spPr>
          <a:xfrm>
            <a:off x="530225" y="3720465"/>
            <a:ext cx="5784850" cy="0"/>
          </a:xfrm>
          <a:prstGeom prst="line">
            <a:avLst/>
          </a:prstGeom>
          <a:ln w="28575" cmpd="thickThin">
            <a:solidFill>
              <a:srgbClr val="324769"/>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316"/>
    </mc:Choice>
    <mc:Fallback xmlns="">
      <p:transition spd="slow" advTm="731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F7A0A-C713-4149-EB62-435876D03B2E}"/>
            </a:ext>
          </a:extLst>
        </p:cNvPr>
        <p:cNvGrpSpPr/>
        <p:nvPr/>
      </p:nvGrpSpPr>
      <p:grpSpPr>
        <a:xfrm>
          <a:off x="0" y="0"/>
          <a:ext cx="0" cy="0"/>
          <a:chOff x="0" y="0"/>
          <a:chExt cx="0" cy="0"/>
        </a:xfrm>
      </p:grpSpPr>
      <p:sp>
        <p:nvSpPr>
          <p:cNvPr id="12" name="椭圆 11">
            <a:extLst>
              <a:ext uri="{FF2B5EF4-FFF2-40B4-BE49-F238E27FC236}">
                <a16:creationId xmlns:a16="http://schemas.microsoft.com/office/drawing/2014/main" id="{CBD92D6F-4923-5C2D-8CEC-10E42C6E6615}"/>
              </a:ext>
            </a:extLst>
          </p:cNvPr>
          <p:cNvSpPr/>
          <p:nvPr/>
        </p:nvSpPr>
        <p:spPr>
          <a:xfrm>
            <a:off x="137160" y="186690"/>
            <a:ext cx="236855" cy="236855"/>
          </a:xfrm>
          <a:prstGeom prst="ellipse">
            <a:avLst/>
          </a:prstGeom>
          <a:solidFill>
            <a:srgbClr val="ACBBDB">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10" name="文本框 9">
            <a:extLst>
              <a:ext uri="{FF2B5EF4-FFF2-40B4-BE49-F238E27FC236}">
                <a16:creationId xmlns:a16="http://schemas.microsoft.com/office/drawing/2014/main" id="{CC0A18E6-D6A4-EF10-14A4-50B60837446A}"/>
              </a:ext>
            </a:extLst>
          </p:cNvPr>
          <p:cNvSpPr txBox="1"/>
          <p:nvPr>
            <p:custDataLst>
              <p:tags r:id="rId2"/>
            </p:custDataLst>
          </p:nvPr>
        </p:nvSpPr>
        <p:spPr>
          <a:xfrm>
            <a:off x="1083945" y="326688"/>
            <a:ext cx="2830830" cy="523240"/>
          </a:xfrm>
          <a:prstGeom prst="rect">
            <a:avLst/>
          </a:prstGeom>
          <a:noFill/>
        </p:spPr>
        <p:txBody>
          <a:bodyPr wrap="square" rtlCol="0">
            <a:spAutoFit/>
          </a:bodyPr>
          <a:lstStyle/>
          <a:p>
            <a:r>
              <a:rPr lang="zh-CN" altLang="en-US" sz="2800" dirty="0">
                <a:solidFill>
                  <a:srgbClr val="324769"/>
                </a:solidFill>
                <a:latin typeface="Times New Roman" panose="02020603050405020304" pitchFamily="18" charset="0"/>
                <a:cs typeface="+mn-ea"/>
                <a:sym typeface="+mn-lt"/>
              </a:rPr>
              <a:t>引言</a:t>
            </a:r>
            <a:endParaRPr lang="en-US" altLang="zh-CN" sz="2800" dirty="0">
              <a:solidFill>
                <a:srgbClr val="324769"/>
              </a:solidFill>
              <a:latin typeface="Times New Roman" panose="02020603050405020304" pitchFamily="18" charset="0"/>
              <a:cs typeface="+mn-ea"/>
              <a:sym typeface="+mn-lt"/>
            </a:endParaRPr>
          </a:p>
        </p:txBody>
      </p:sp>
      <p:grpSp>
        <p:nvGrpSpPr>
          <p:cNvPr id="4" name="组合 3">
            <a:extLst>
              <a:ext uri="{FF2B5EF4-FFF2-40B4-BE49-F238E27FC236}">
                <a16:creationId xmlns:a16="http://schemas.microsoft.com/office/drawing/2014/main" id="{F2B838C2-AA37-2070-4D26-CD3397C72AE4}"/>
              </a:ext>
            </a:extLst>
          </p:cNvPr>
          <p:cNvGrpSpPr/>
          <p:nvPr/>
        </p:nvGrpSpPr>
        <p:grpSpPr>
          <a:xfrm>
            <a:off x="80010" y="198120"/>
            <a:ext cx="1003935" cy="768350"/>
            <a:chOff x="1417" y="1412"/>
            <a:chExt cx="1581" cy="1210"/>
          </a:xfrm>
        </p:grpSpPr>
        <p:sp>
          <p:nvSpPr>
            <p:cNvPr id="3" name="椭圆 2">
              <a:extLst>
                <a:ext uri="{FF2B5EF4-FFF2-40B4-BE49-F238E27FC236}">
                  <a16:creationId xmlns:a16="http://schemas.microsoft.com/office/drawing/2014/main" id="{77573B5D-8788-05B5-FD3A-2A61D17C52E1}"/>
                </a:ext>
              </a:extLst>
            </p:cNvPr>
            <p:cNvSpPr/>
            <p:nvPr>
              <p:custDataLst>
                <p:tags r:id="rId3"/>
              </p:custDataLst>
            </p:nvPr>
          </p:nvSpPr>
          <p:spPr>
            <a:xfrm>
              <a:off x="1617" y="1426"/>
              <a:ext cx="1182" cy="1182"/>
            </a:xfrm>
            <a:prstGeom prst="ellipse">
              <a:avLst/>
            </a:pr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50" name="文本框 49">
              <a:extLst>
                <a:ext uri="{FF2B5EF4-FFF2-40B4-BE49-F238E27FC236}">
                  <a16:creationId xmlns:a16="http://schemas.microsoft.com/office/drawing/2014/main" id="{122B2E6A-A3A5-1391-1644-B0853316C06C}"/>
                </a:ext>
              </a:extLst>
            </p:cNvPr>
            <p:cNvSpPr txBox="1"/>
            <p:nvPr>
              <p:custDataLst>
                <p:tags r:id="rId4"/>
              </p:custDataLst>
            </p:nvPr>
          </p:nvSpPr>
          <p:spPr>
            <a:xfrm>
              <a:off x="1417" y="1412"/>
              <a:ext cx="1581" cy="1210"/>
            </a:xfrm>
            <a:prstGeom prst="rect">
              <a:avLst/>
            </a:prstGeom>
            <a:noFill/>
          </p:spPr>
          <p:txBody>
            <a:bodyPr wrap="square" rtlCol="0">
              <a:spAutoFit/>
            </a:bodyPr>
            <a:lstStyle/>
            <a:p>
              <a:pPr algn="ctr"/>
              <a:r>
                <a:rPr lang="en-US" altLang="zh-CN" sz="4400" dirty="0">
                  <a:solidFill>
                    <a:schemeClr val="bg1"/>
                  </a:solidFill>
                  <a:latin typeface="Times New Roman" panose="02020603050405020304" pitchFamily="18" charset="0"/>
                  <a:cs typeface="Times New Roman" panose="02020603050405020304" pitchFamily="18" charset="0"/>
                  <a:sym typeface="+mn-lt"/>
                </a:rPr>
                <a:t>01</a:t>
              </a:r>
            </a:p>
          </p:txBody>
        </p:sp>
      </p:grpSp>
      <p:sp>
        <p:nvSpPr>
          <p:cNvPr id="19" name="Rectangle 2">
            <a:extLst>
              <a:ext uri="{FF2B5EF4-FFF2-40B4-BE49-F238E27FC236}">
                <a16:creationId xmlns:a16="http://schemas.microsoft.com/office/drawing/2014/main" id="{B0F4B764-6952-87D4-78EF-48211FBD75C5}"/>
              </a:ext>
            </a:extLst>
          </p:cNvPr>
          <p:cNvSpPr>
            <a:spLocks noChangeArrowheads="1"/>
          </p:cNvSpPr>
          <p:nvPr/>
        </p:nvSpPr>
        <p:spPr bwMode="auto">
          <a:xfrm>
            <a:off x="1425600" y="167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8" name="Rectangle 6">
            <a:extLst>
              <a:ext uri="{FF2B5EF4-FFF2-40B4-BE49-F238E27FC236}">
                <a16:creationId xmlns:a16="http://schemas.microsoft.com/office/drawing/2014/main" id="{B152DA3D-11DF-738B-65BA-51461676DFD4}"/>
              </a:ext>
            </a:extLst>
          </p:cNvPr>
          <p:cNvSpPr>
            <a:spLocks noChangeArrowheads="1"/>
          </p:cNvSpPr>
          <p:nvPr/>
        </p:nvSpPr>
        <p:spPr bwMode="auto">
          <a:xfrm>
            <a:off x="374015" y="48105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dirty="0"/>
          </a:p>
        </p:txBody>
      </p:sp>
      <p:sp>
        <p:nvSpPr>
          <p:cNvPr id="36" name="Rectangle 8">
            <a:extLst>
              <a:ext uri="{FF2B5EF4-FFF2-40B4-BE49-F238E27FC236}">
                <a16:creationId xmlns:a16="http://schemas.microsoft.com/office/drawing/2014/main" id="{974898C6-A7F5-A200-4986-1A9568DE035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a:extLst>
              <a:ext uri="{FF2B5EF4-FFF2-40B4-BE49-F238E27FC236}">
                <a16:creationId xmlns:a16="http://schemas.microsoft.com/office/drawing/2014/main" id="{1E4DEAE1-F85C-C6D6-A2D5-7B260FA69B07}"/>
              </a:ext>
            </a:extLst>
          </p:cNvPr>
          <p:cNvSpPr txBox="1"/>
          <p:nvPr/>
        </p:nvSpPr>
        <p:spPr>
          <a:xfrm>
            <a:off x="626703" y="976540"/>
            <a:ext cx="10568968" cy="5409494"/>
          </a:xfrm>
          <a:prstGeom prst="rect">
            <a:avLst/>
          </a:prstGeom>
          <a:noFill/>
          <a:ln w="19050">
            <a:noFill/>
          </a:ln>
        </p:spPr>
        <p:txBody>
          <a:bodyPr wrap="square" rtlCol="0">
            <a:spAutoFit/>
          </a:bodyPr>
          <a:lstStyle/>
          <a:p>
            <a:pPr lvl="1">
              <a:lnSpc>
                <a:spcPct val="130000"/>
              </a:lnSpc>
              <a:spcAft>
                <a:spcPts val="600"/>
              </a:spcAft>
            </a:pPr>
            <a:r>
              <a:rPr lang="zh-CN" altLang="en-US" sz="2000" b="1" dirty="0"/>
              <a:t>提出问题</a:t>
            </a:r>
            <a:endParaRPr lang="en-US" altLang="zh-CN" sz="2000" b="1" dirty="0">
              <a:latin typeface="苹方 中等" panose="020B0400000000000000" pitchFamily="34" charset="-122"/>
              <a:ea typeface="苹方 中等" panose="020B0400000000000000" pitchFamily="34" charset="-122"/>
              <a:cs typeface="Times New Roman" panose="02020603050405020304" pitchFamily="18" charset="0"/>
            </a:endParaRPr>
          </a:p>
          <a:p>
            <a:pPr lvl="1">
              <a:lnSpc>
                <a:spcPct val="130000"/>
              </a:lnSpc>
              <a:spcAft>
                <a:spcPts val="600"/>
              </a:spcAft>
            </a:pPr>
            <a:r>
              <a:rPr lang="zh-CN" altLang="en-US" dirty="0"/>
              <a:t>无人运载平台（</a:t>
            </a:r>
            <a:r>
              <a:rPr lang="en-US" altLang="zh-CN" dirty="0"/>
              <a:t>RVs</a:t>
            </a:r>
            <a:r>
              <a:rPr lang="zh-CN" altLang="en-US" dirty="0"/>
              <a:t>）是应用广泛的信息物理系统，被用于各类场景，包括商业航空摄影、编队表演以及军事侦察。机器人车辆的运行，包括飞行姿态稳定、实时控制和自主导航，均由其内部的控制软件管控。尽管机器人车辆系统已得到广泛应用，但研究发现这类系统存在各类软件漏洞，</a:t>
            </a:r>
            <a:r>
              <a:rPr lang="zh-CN" altLang="en-US" dirty="0">
                <a:solidFill>
                  <a:srgbClr val="FF0000"/>
                </a:solidFill>
              </a:rPr>
              <a:t>这些漏洞可能引发飞行姿态不稳定、失控或是通信故障、任务失败、偏离预设航点，甚至是灾难性的坠毁。这凸显了采用自动化技术系统性检测此类漏洞的必要性。</a:t>
            </a:r>
            <a:endParaRPr lang="en-US" altLang="zh-CN" dirty="0">
              <a:solidFill>
                <a:srgbClr val="FF0000"/>
              </a:solidFill>
            </a:endParaRPr>
          </a:p>
          <a:p>
            <a:pPr lvl="1">
              <a:lnSpc>
                <a:spcPct val="130000"/>
              </a:lnSpc>
              <a:spcAft>
                <a:spcPts val="600"/>
              </a:spcAft>
            </a:pPr>
            <a:r>
              <a:rPr lang="zh-CN" altLang="en-US" sz="2000" b="1" dirty="0">
                <a:latin typeface="苹方 中等" panose="020B0400000000000000" pitchFamily="34" charset="-122"/>
                <a:ea typeface="苹方 中等" panose="020B0400000000000000" pitchFamily="34" charset="-122"/>
                <a:cs typeface="Times New Roman" panose="02020603050405020304" pitchFamily="18" charset="0"/>
              </a:rPr>
              <a:t>指出现有方法缺陷</a:t>
            </a:r>
            <a:endParaRPr lang="en-US" altLang="zh-CN" sz="2000" b="1" dirty="0">
              <a:latin typeface="苹方 中等" panose="020B0400000000000000" pitchFamily="34" charset="-122"/>
              <a:ea typeface="苹方 中等" panose="020B0400000000000000" pitchFamily="34" charset="-122"/>
              <a:cs typeface="Times New Roman" panose="02020603050405020304" pitchFamily="18" charset="0"/>
            </a:endParaRPr>
          </a:p>
          <a:p>
            <a:pPr lvl="1">
              <a:lnSpc>
                <a:spcPct val="130000"/>
              </a:lnSpc>
              <a:spcAft>
                <a:spcPts val="600"/>
              </a:spcAft>
            </a:pPr>
            <a:r>
              <a:rPr lang="zh-CN" altLang="en-US" dirty="0"/>
              <a:t>已有多种方法被提出用于检测无人运载平台控制软件中的漏洞。由于无人运载平台会接触到各类输入，包括系统配置参数、控制指令以及风、温度等环境因素，测试输入的范围极为广泛。为应对这一挑战，现有研究主要采用两种策略来保证测试效率。第一种如</a:t>
            </a:r>
            <a:r>
              <a:rPr lang="en-US" altLang="zh-CN" dirty="0" err="1"/>
              <a:t>RVFuzzer</a:t>
            </a:r>
            <a:r>
              <a:rPr lang="zh-CN" altLang="en-US" dirty="0"/>
              <a:t>所采用的方法，通过二分查找、策略组合等技术减少冗余测试输入。第二种如</a:t>
            </a:r>
            <a:r>
              <a:rPr lang="en-US" altLang="zh-CN" dirty="0" err="1"/>
              <a:t>PGFuzz</a:t>
            </a:r>
            <a:r>
              <a:rPr lang="zh-CN" altLang="en-US" dirty="0"/>
              <a:t>的做法，尝试利用从开发者文档中提取的有限组基于规则的策略来发现漏洞。</a:t>
            </a:r>
            <a:r>
              <a:rPr lang="zh-CN" altLang="en-US" dirty="0">
                <a:solidFill>
                  <a:srgbClr val="FF0000"/>
                </a:solidFill>
              </a:rPr>
              <a:t>但这两种方法均存在明显局限。</a:t>
            </a:r>
            <a:r>
              <a:rPr lang="zh-CN" altLang="en-US" dirty="0"/>
              <a:t>第一种方法无法控制测试过程中实际执行到的代码部分，因此无法确定包含潜在漏洞模式的代码区域是否得到了充分覆盖。第二种方法则会遗漏控制计算公式中的大量漏洞，尤其是那些未在文档中记录的漏洞。</a:t>
            </a:r>
            <a:endParaRPr lang="en-US" altLang="zh-CN" sz="2000" dirty="0">
              <a:latin typeface="苹方 中等" panose="020B0400000000000000" pitchFamily="34" charset="-122"/>
              <a:ea typeface="苹方 中等" panose="020B0400000000000000" pitchFamily="34"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2377683332"/>
      </p:ext>
    </p:extLst>
  </p:cSld>
  <p:clrMapOvr>
    <a:masterClrMapping/>
  </p:clrMapOvr>
  <mc:AlternateContent xmlns:mc="http://schemas.openxmlformats.org/markup-compatibility/2006" xmlns:p14="http://schemas.microsoft.com/office/powerpoint/2010/main">
    <mc:Choice Requires="p14">
      <p:transition spd="slow" p14:dur="2000" advTm="183526"/>
    </mc:Choice>
    <mc:Fallback xmlns="">
      <p:transition spd="slow" advTm="18352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73BF7-89D2-D427-5FFE-72875FFE85A5}"/>
            </a:ext>
          </a:extLst>
        </p:cNvPr>
        <p:cNvGrpSpPr/>
        <p:nvPr/>
      </p:nvGrpSpPr>
      <p:grpSpPr>
        <a:xfrm>
          <a:off x="0" y="0"/>
          <a:ext cx="0" cy="0"/>
          <a:chOff x="0" y="0"/>
          <a:chExt cx="0" cy="0"/>
        </a:xfrm>
      </p:grpSpPr>
      <p:sp>
        <p:nvSpPr>
          <p:cNvPr id="12" name="椭圆 11">
            <a:extLst>
              <a:ext uri="{FF2B5EF4-FFF2-40B4-BE49-F238E27FC236}">
                <a16:creationId xmlns:a16="http://schemas.microsoft.com/office/drawing/2014/main" id="{EE21F7D0-B334-B476-AF17-51CDC1B2269E}"/>
              </a:ext>
            </a:extLst>
          </p:cNvPr>
          <p:cNvSpPr/>
          <p:nvPr/>
        </p:nvSpPr>
        <p:spPr>
          <a:xfrm>
            <a:off x="137160" y="186690"/>
            <a:ext cx="236855" cy="236855"/>
          </a:xfrm>
          <a:prstGeom prst="ellipse">
            <a:avLst/>
          </a:prstGeom>
          <a:solidFill>
            <a:srgbClr val="ACBBDB">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10" name="文本框 9">
            <a:extLst>
              <a:ext uri="{FF2B5EF4-FFF2-40B4-BE49-F238E27FC236}">
                <a16:creationId xmlns:a16="http://schemas.microsoft.com/office/drawing/2014/main" id="{BAF0889D-3DBE-ECED-54F5-7AA7CCC8B51B}"/>
              </a:ext>
            </a:extLst>
          </p:cNvPr>
          <p:cNvSpPr txBox="1"/>
          <p:nvPr>
            <p:custDataLst>
              <p:tags r:id="rId2"/>
            </p:custDataLst>
          </p:nvPr>
        </p:nvSpPr>
        <p:spPr>
          <a:xfrm>
            <a:off x="1083945" y="326688"/>
            <a:ext cx="2830830" cy="523240"/>
          </a:xfrm>
          <a:prstGeom prst="rect">
            <a:avLst/>
          </a:prstGeom>
          <a:noFill/>
        </p:spPr>
        <p:txBody>
          <a:bodyPr wrap="square" rtlCol="0">
            <a:spAutoFit/>
          </a:bodyPr>
          <a:lstStyle/>
          <a:p>
            <a:r>
              <a:rPr lang="zh-CN" altLang="en-US" sz="2800" dirty="0">
                <a:solidFill>
                  <a:srgbClr val="324769"/>
                </a:solidFill>
                <a:latin typeface="Times New Roman" panose="02020603050405020304" pitchFamily="18" charset="0"/>
                <a:cs typeface="+mn-ea"/>
                <a:sym typeface="+mn-lt"/>
              </a:rPr>
              <a:t>引言</a:t>
            </a:r>
            <a:endParaRPr lang="en-US" altLang="zh-CN" sz="2800" dirty="0">
              <a:solidFill>
                <a:srgbClr val="324769"/>
              </a:solidFill>
              <a:latin typeface="Times New Roman" panose="02020603050405020304" pitchFamily="18" charset="0"/>
              <a:cs typeface="+mn-ea"/>
              <a:sym typeface="+mn-lt"/>
            </a:endParaRPr>
          </a:p>
        </p:txBody>
      </p:sp>
      <p:grpSp>
        <p:nvGrpSpPr>
          <p:cNvPr id="4" name="组合 3">
            <a:extLst>
              <a:ext uri="{FF2B5EF4-FFF2-40B4-BE49-F238E27FC236}">
                <a16:creationId xmlns:a16="http://schemas.microsoft.com/office/drawing/2014/main" id="{E2244ECC-C457-2D6D-267C-F5DACAB11361}"/>
              </a:ext>
            </a:extLst>
          </p:cNvPr>
          <p:cNvGrpSpPr/>
          <p:nvPr/>
        </p:nvGrpSpPr>
        <p:grpSpPr>
          <a:xfrm>
            <a:off x="80010" y="198120"/>
            <a:ext cx="1003935" cy="768350"/>
            <a:chOff x="1417" y="1412"/>
            <a:chExt cx="1581" cy="1210"/>
          </a:xfrm>
        </p:grpSpPr>
        <p:sp>
          <p:nvSpPr>
            <p:cNvPr id="3" name="椭圆 2">
              <a:extLst>
                <a:ext uri="{FF2B5EF4-FFF2-40B4-BE49-F238E27FC236}">
                  <a16:creationId xmlns:a16="http://schemas.microsoft.com/office/drawing/2014/main" id="{31024FC4-986D-8C5B-0E71-90FEFA519FBD}"/>
                </a:ext>
              </a:extLst>
            </p:cNvPr>
            <p:cNvSpPr/>
            <p:nvPr>
              <p:custDataLst>
                <p:tags r:id="rId3"/>
              </p:custDataLst>
            </p:nvPr>
          </p:nvSpPr>
          <p:spPr>
            <a:xfrm>
              <a:off x="1617" y="1426"/>
              <a:ext cx="1182" cy="1182"/>
            </a:xfrm>
            <a:prstGeom prst="ellipse">
              <a:avLst/>
            </a:pr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50" name="文本框 49">
              <a:extLst>
                <a:ext uri="{FF2B5EF4-FFF2-40B4-BE49-F238E27FC236}">
                  <a16:creationId xmlns:a16="http://schemas.microsoft.com/office/drawing/2014/main" id="{7300EB92-3024-F6D7-8F02-29CAD485A0E7}"/>
                </a:ext>
              </a:extLst>
            </p:cNvPr>
            <p:cNvSpPr txBox="1"/>
            <p:nvPr>
              <p:custDataLst>
                <p:tags r:id="rId4"/>
              </p:custDataLst>
            </p:nvPr>
          </p:nvSpPr>
          <p:spPr>
            <a:xfrm>
              <a:off x="1417" y="1412"/>
              <a:ext cx="1581" cy="1210"/>
            </a:xfrm>
            <a:prstGeom prst="rect">
              <a:avLst/>
            </a:prstGeom>
            <a:noFill/>
          </p:spPr>
          <p:txBody>
            <a:bodyPr wrap="square" rtlCol="0">
              <a:spAutoFit/>
            </a:bodyPr>
            <a:lstStyle/>
            <a:p>
              <a:pPr algn="ctr"/>
              <a:r>
                <a:rPr lang="en-US" altLang="zh-CN" sz="4400" dirty="0">
                  <a:solidFill>
                    <a:schemeClr val="bg1"/>
                  </a:solidFill>
                  <a:latin typeface="Times New Roman" panose="02020603050405020304" pitchFamily="18" charset="0"/>
                  <a:cs typeface="Times New Roman" panose="02020603050405020304" pitchFamily="18" charset="0"/>
                  <a:sym typeface="+mn-lt"/>
                </a:rPr>
                <a:t>01</a:t>
              </a:r>
            </a:p>
          </p:txBody>
        </p:sp>
      </p:grpSp>
      <p:sp>
        <p:nvSpPr>
          <p:cNvPr id="19" name="Rectangle 2">
            <a:extLst>
              <a:ext uri="{FF2B5EF4-FFF2-40B4-BE49-F238E27FC236}">
                <a16:creationId xmlns:a16="http://schemas.microsoft.com/office/drawing/2014/main" id="{1CF24FFA-E1D9-ECCE-DC91-F7030BAF4709}"/>
              </a:ext>
            </a:extLst>
          </p:cNvPr>
          <p:cNvSpPr>
            <a:spLocks noChangeArrowheads="1"/>
          </p:cNvSpPr>
          <p:nvPr/>
        </p:nvSpPr>
        <p:spPr bwMode="auto">
          <a:xfrm>
            <a:off x="1425600" y="167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8" name="Rectangle 6">
            <a:extLst>
              <a:ext uri="{FF2B5EF4-FFF2-40B4-BE49-F238E27FC236}">
                <a16:creationId xmlns:a16="http://schemas.microsoft.com/office/drawing/2014/main" id="{69E3718D-C8A1-95D7-A78E-61BE8660B48A}"/>
              </a:ext>
            </a:extLst>
          </p:cNvPr>
          <p:cNvSpPr>
            <a:spLocks noChangeArrowheads="1"/>
          </p:cNvSpPr>
          <p:nvPr/>
        </p:nvSpPr>
        <p:spPr bwMode="auto">
          <a:xfrm>
            <a:off x="374015" y="48105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dirty="0"/>
          </a:p>
        </p:txBody>
      </p:sp>
      <p:sp>
        <p:nvSpPr>
          <p:cNvPr id="36" name="Rectangle 8">
            <a:extLst>
              <a:ext uri="{FF2B5EF4-FFF2-40B4-BE49-F238E27FC236}">
                <a16:creationId xmlns:a16="http://schemas.microsoft.com/office/drawing/2014/main" id="{E6AADF5B-38D1-9516-B81E-D90456718D8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a:extLst>
              <a:ext uri="{FF2B5EF4-FFF2-40B4-BE49-F238E27FC236}">
                <a16:creationId xmlns:a16="http://schemas.microsoft.com/office/drawing/2014/main" id="{D88EFAB3-41D2-BD97-BC30-90BBFFCCF3EA}"/>
              </a:ext>
            </a:extLst>
          </p:cNvPr>
          <p:cNvSpPr txBox="1"/>
          <p:nvPr/>
        </p:nvSpPr>
        <p:spPr>
          <a:xfrm>
            <a:off x="626703" y="976540"/>
            <a:ext cx="10568968" cy="4569969"/>
          </a:xfrm>
          <a:prstGeom prst="rect">
            <a:avLst/>
          </a:prstGeom>
          <a:noFill/>
          <a:ln w="19050">
            <a:noFill/>
          </a:ln>
        </p:spPr>
        <p:txBody>
          <a:bodyPr wrap="square" rtlCol="0">
            <a:spAutoFit/>
          </a:bodyPr>
          <a:lstStyle/>
          <a:p>
            <a:pPr lvl="1">
              <a:lnSpc>
                <a:spcPct val="130000"/>
              </a:lnSpc>
              <a:spcAft>
                <a:spcPts val="600"/>
              </a:spcAft>
            </a:pPr>
            <a:r>
              <a:rPr lang="zh-CN" altLang="en-US" sz="2000" b="1" dirty="0">
                <a:latin typeface="苹方 中等" panose="020B0400000000000000" pitchFamily="34" charset="-122"/>
                <a:ea typeface="苹方 中等" panose="020B0400000000000000" pitchFamily="34" charset="-122"/>
                <a:cs typeface="Times New Roman" panose="02020603050405020304" pitchFamily="18" charset="0"/>
              </a:rPr>
              <a:t>针对相关工作提出它们的核心问题（找</a:t>
            </a:r>
            <a:r>
              <a:rPr lang="en-US" altLang="zh-CN" sz="2000" b="1" dirty="0">
                <a:latin typeface="苹方 中等" panose="020B0400000000000000" pitchFamily="34" charset="-122"/>
                <a:ea typeface="苹方 中等" panose="020B0400000000000000" pitchFamily="34" charset="-122"/>
                <a:cs typeface="Times New Roman" panose="02020603050405020304" pitchFamily="18" charset="0"/>
              </a:rPr>
              <a:t>BUG</a:t>
            </a:r>
            <a:r>
              <a:rPr lang="zh-CN" altLang="en-US" sz="2000" b="1" dirty="0">
                <a:latin typeface="苹方 中等" panose="020B0400000000000000" pitchFamily="34" charset="-122"/>
                <a:ea typeface="苹方 中等" panose="020B0400000000000000" pitchFamily="34" charset="-122"/>
                <a:cs typeface="Times New Roman" panose="02020603050405020304" pitchFamily="18" charset="0"/>
              </a:rPr>
              <a:t>）</a:t>
            </a:r>
            <a:endParaRPr lang="en-US" altLang="zh-CN" sz="2000" b="1" dirty="0">
              <a:latin typeface="苹方 中等" panose="020B0400000000000000" pitchFamily="34" charset="-122"/>
              <a:ea typeface="苹方 中等" panose="020B0400000000000000" pitchFamily="34" charset="-122"/>
              <a:cs typeface="Times New Roman" panose="02020603050405020304" pitchFamily="18" charset="0"/>
            </a:endParaRPr>
          </a:p>
          <a:p>
            <a:pPr lvl="1">
              <a:lnSpc>
                <a:spcPct val="130000"/>
              </a:lnSpc>
              <a:spcAft>
                <a:spcPts val="600"/>
              </a:spcAft>
            </a:pPr>
            <a:r>
              <a:rPr lang="zh-CN" altLang="en-US" dirty="0"/>
              <a:t>现有研究存在一个根本性缺陷：</a:t>
            </a:r>
            <a:r>
              <a:rPr lang="zh-CN" altLang="en-US" dirty="0">
                <a:solidFill>
                  <a:srgbClr val="FF0000"/>
                </a:solidFill>
              </a:rPr>
              <a:t>要么缺乏对缺陷代码模式的先验知识，要么严重依赖基于文档的分析。这会导致测试过程对潜在高缺陷代码区域的探索不足。</a:t>
            </a:r>
            <a:r>
              <a:rPr lang="zh-CN" altLang="en-US" dirty="0"/>
              <a:t>为解决这一问题，我们对历史漏洞展开深度分析，定位了它们与特定代码模式的关联。研究发现，无人运载工具（</a:t>
            </a:r>
            <a:r>
              <a:rPr lang="en-US" altLang="zh-CN" dirty="0"/>
              <a:t>RV</a:t>
            </a:r>
            <a:r>
              <a:rPr lang="zh-CN" altLang="en-US" dirty="0"/>
              <a:t>）控制软件的源码会将各类物理公式与数学模型（如飞行动力学）转化为程序逻辑，而这一过程大量涉及赋值计算。相当一部分漏洞的根源就出在这些赋值语句中。原因在于，将物理公式与数学模型转化为代码中的赋值语句本身难度较高，且极易出现逻辑不完整，进而大幅提升漏洞引入概率。我们将这类问题定义为赋值语句漏洞。基于这一发现，我们针对过去十年的 </a:t>
            </a:r>
            <a:r>
              <a:rPr lang="en-US" altLang="zh-CN" dirty="0"/>
              <a:t>RV </a:t>
            </a:r>
            <a:r>
              <a:rPr lang="zh-CN" altLang="en-US" dirty="0"/>
              <a:t>软件问题报告开展了实证研究。分析显示：在 </a:t>
            </a:r>
            <a:r>
              <a:rPr lang="en-US" altLang="zh-CN" dirty="0"/>
              <a:t>207 </a:t>
            </a:r>
            <a:r>
              <a:rPr lang="zh-CN" altLang="en-US" dirty="0"/>
              <a:t>个语义与逻辑缺陷中，</a:t>
            </a:r>
            <a:r>
              <a:rPr lang="en-US" altLang="zh-CN" dirty="0"/>
              <a:t>28.02% </a:t>
            </a:r>
            <a:r>
              <a:rPr lang="zh-CN" altLang="en-US" dirty="0"/>
              <a:t>是由参数赋值错误直接导致的赋值语句漏洞；剩余 </a:t>
            </a:r>
            <a:r>
              <a:rPr lang="en-US" altLang="zh-CN" dirty="0"/>
              <a:t>71.98% </a:t>
            </a:r>
            <a:r>
              <a:rPr lang="zh-CN" altLang="en-US" dirty="0"/>
              <a:t>由输入缺失引发，且大多在开发阶段就已被发现并修复，难以通过测试手段复现与挖掘。受上述结论启发，本文旨在提出一种自动化模糊测试技术，以高效检测 </a:t>
            </a:r>
            <a:r>
              <a:rPr lang="en-US" altLang="zh-CN" dirty="0"/>
              <a:t>RV </a:t>
            </a:r>
            <a:r>
              <a:rPr lang="zh-CN" altLang="en-US" dirty="0"/>
              <a:t>系统中的赋值语句漏洞。</a:t>
            </a:r>
            <a:endParaRPr lang="en-US" altLang="zh-CN" dirty="0"/>
          </a:p>
          <a:p>
            <a:pPr lvl="1">
              <a:lnSpc>
                <a:spcPct val="130000"/>
              </a:lnSpc>
              <a:spcAft>
                <a:spcPts val="600"/>
              </a:spcAft>
            </a:pPr>
            <a:endParaRPr lang="en-US" altLang="zh-CN" dirty="0"/>
          </a:p>
        </p:txBody>
      </p:sp>
    </p:spTree>
    <p:custDataLst>
      <p:tags r:id="rId1"/>
    </p:custDataLst>
    <p:extLst>
      <p:ext uri="{BB962C8B-B14F-4D97-AF65-F5344CB8AC3E}">
        <p14:creationId xmlns:p14="http://schemas.microsoft.com/office/powerpoint/2010/main" val="3078788303"/>
      </p:ext>
    </p:extLst>
  </p:cSld>
  <p:clrMapOvr>
    <a:masterClrMapping/>
  </p:clrMapOvr>
  <mc:AlternateContent xmlns:mc="http://schemas.openxmlformats.org/markup-compatibility/2006" xmlns:p14="http://schemas.microsoft.com/office/powerpoint/2010/main">
    <mc:Choice Requires="p14">
      <p:transition spd="slow" p14:dur="2000" advTm="183526"/>
    </mc:Choice>
    <mc:Fallback xmlns="">
      <p:transition spd="slow" advTm="183526"/>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39EE5-2CA5-3561-AE97-13BF3F015A16}"/>
            </a:ext>
          </a:extLst>
        </p:cNvPr>
        <p:cNvGrpSpPr/>
        <p:nvPr/>
      </p:nvGrpSpPr>
      <p:grpSpPr>
        <a:xfrm>
          <a:off x="0" y="0"/>
          <a:ext cx="0" cy="0"/>
          <a:chOff x="0" y="0"/>
          <a:chExt cx="0" cy="0"/>
        </a:xfrm>
      </p:grpSpPr>
      <p:sp>
        <p:nvSpPr>
          <p:cNvPr id="12" name="椭圆 11">
            <a:extLst>
              <a:ext uri="{FF2B5EF4-FFF2-40B4-BE49-F238E27FC236}">
                <a16:creationId xmlns:a16="http://schemas.microsoft.com/office/drawing/2014/main" id="{D8F30EDD-51C5-FD5A-BF94-FD66673158CB}"/>
              </a:ext>
            </a:extLst>
          </p:cNvPr>
          <p:cNvSpPr/>
          <p:nvPr/>
        </p:nvSpPr>
        <p:spPr>
          <a:xfrm>
            <a:off x="137160" y="186690"/>
            <a:ext cx="236855" cy="236855"/>
          </a:xfrm>
          <a:prstGeom prst="ellipse">
            <a:avLst/>
          </a:prstGeom>
          <a:solidFill>
            <a:srgbClr val="ACBBDB">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10" name="文本框 9">
            <a:extLst>
              <a:ext uri="{FF2B5EF4-FFF2-40B4-BE49-F238E27FC236}">
                <a16:creationId xmlns:a16="http://schemas.microsoft.com/office/drawing/2014/main" id="{8F9BF688-0342-D3A7-46EC-F292428E6BDB}"/>
              </a:ext>
            </a:extLst>
          </p:cNvPr>
          <p:cNvSpPr txBox="1"/>
          <p:nvPr>
            <p:custDataLst>
              <p:tags r:id="rId2"/>
            </p:custDataLst>
          </p:nvPr>
        </p:nvSpPr>
        <p:spPr>
          <a:xfrm>
            <a:off x="1083945" y="326688"/>
            <a:ext cx="2830830" cy="523240"/>
          </a:xfrm>
          <a:prstGeom prst="rect">
            <a:avLst/>
          </a:prstGeom>
          <a:noFill/>
        </p:spPr>
        <p:txBody>
          <a:bodyPr wrap="square" rtlCol="0">
            <a:spAutoFit/>
          </a:bodyPr>
          <a:lstStyle/>
          <a:p>
            <a:r>
              <a:rPr lang="zh-CN" altLang="en-US" sz="2800" dirty="0">
                <a:solidFill>
                  <a:srgbClr val="324769"/>
                </a:solidFill>
                <a:latin typeface="Times New Roman" panose="02020603050405020304" pitchFamily="18" charset="0"/>
                <a:cs typeface="+mn-ea"/>
                <a:sym typeface="+mn-lt"/>
              </a:rPr>
              <a:t>引言</a:t>
            </a:r>
            <a:endParaRPr lang="en-US" altLang="zh-CN" sz="2800" dirty="0">
              <a:solidFill>
                <a:srgbClr val="324769"/>
              </a:solidFill>
              <a:latin typeface="Times New Roman" panose="02020603050405020304" pitchFamily="18" charset="0"/>
              <a:cs typeface="+mn-ea"/>
              <a:sym typeface="+mn-lt"/>
            </a:endParaRPr>
          </a:p>
        </p:txBody>
      </p:sp>
      <p:grpSp>
        <p:nvGrpSpPr>
          <p:cNvPr id="4" name="组合 3">
            <a:extLst>
              <a:ext uri="{FF2B5EF4-FFF2-40B4-BE49-F238E27FC236}">
                <a16:creationId xmlns:a16="http://schemas.microsoft.com/office/drawing/2014/main" id="{20025418-62D8-E466-4677-4AE5D5088B88}"/>
              </a:ext>
            </a:extLst>
          </p:cNvPr>
          <p:cNvGrpSpPr/>
          <p:nvPr/>
        </p:nvGrpSpPr>
        <p:grpSpPr>
          <a:xfrm>
            <a:off x="80010" y="198120"/>
            <a:ext cx="1003935" cy="768350"/>
            <a:chOff x="1417" y="1412"/>
            <a:chExt cx="1581" cy="1210"/>
          </a:xfrm>
        </p:grpSpPr>
        <p:sp>
          <p:nvSpPr>
            <p:cNvPr id="3" name="椭圆 2">
              <a:extLst>
                <a:ext uri="{FF2B5EF4-FFF2-40B4-BE49-F238E27FC236}">
                  <a16:creationId xmlns:a16="http://schemas.microsoft.com/office/drawing/2014/main" id="{08F6B04C-21B3-CD4E-C642-62D5AA7B08DC}"/>
                </a:ext>
              </a:extLst>
            </p:cNvPr>
            <p:cNvSpPr/>
            <p:nvPr>
              <p:custDataLst>
                <p:tags r:id="rId3"/>
              </p:custDataLst>
            </p:nvPr>
          </p:nvSpPr>
          <p:spPr>
            <a:xfrm>
              <a:off x="1617" y="1426"/>
              <a:ext cx="1182" cy="1182"/>
            </a:xfrm>
            <a:prstGeom prst="ellipse">
              <a:avLst/>
            </a:pr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50" name="文本框 49">
              <a:extLst>
                <a:ext uri="{FF2B5EF4-FFF2-40B4-BE49-F238E27FC236}">
                  <a16:creationId xmlns:a16="http://schemas.microsoft.com/office/drawing/2014/main" id="{597FED4D-CBE6-4E49-7C41-5D390A5959E1}"/>
                </a:ext>
              </a:extLst>
            </p:cNvPr>
            <p:cNvSpPr txBox="1"/>
            <p:nvPr>
              <p:custDataLst>
                <p:tags r:id="rId4"/>
              </p:custDataLst>
            </p:nvPr>
          </p:nvSpPr>
          <p:spPr>
            <a:xfrm>
              <a:off x="1417" y="1412"/>
              <a:ext cx="1581" cy="1210"/>
            </a:xfrm>
            <a:prstGeom prst="rect">
              <a:avLst/>
            </a:prstGeom>
            <a:noFill/>
          </p:spPr>
          <p:txBody>
            <a:bodyPr wrap="square" rtlCol="0">
              <a:spAutoFit/>
            </a:bodyPr>
            <a:lstStyle/>
            <a:p>
              <a:pPr algn="ctr"/>
              <a:r>
                <a:rPr lang="en-US" altLang="zh-CN" sz="4400" dirty="0">
                  <a:solidFill>
                    <a:schemeClr val="bg1"/>
                  </a:solidFill>
                  <a:latin typeface="Times New Roman" panose="02020603050405020304" pitchFamily="18" charset="0"/>
                  <a:cs typeface="Times New Roman" panose="02020603050405020304" pitchFamily="18" charset="0"/>
                  <a:sym typeface="+mn-lt"/>
                </a:rPr>
                <a:t>01</a:t>
              </a:r>
            </a:p>
          </p:txBody>
        </p:sp>
      </p:grpSp>
      <p:sp>
        <p:nvSpPr>
          <p:cNvPr id="19" name="Rectangle 2">
            <a:extLst>
              <a:ext uri="{FF2B5EF4-FFF2-40B4-BE49-F238E27FC236}">
                <a16:creationId xmlns:a16="http://schemas.microsoft.com/office/drawing/2014/main" id="{BAE53099-D45F-84D6-BD92-519FF0FDB0A3}"/>
              </a:ext>
            </a:extLst>
          </p:cNvPr>
          <p:cNvSpPr>
            <a:spLocks noChangeArrowheads="1"/>
          </p:cNvSpPr>
          <p:nvPr/>
        </p:nvSpPr>
        <p:spPr bwMode="auto">
          <a:xfrm>
            <a:off x="1425600" y="167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8" name="Rectangle 6">
            <a:extLst>
              <a:ext uri="{FF2B5EF4-FFF2-40B4-BE49-F238E27FC236}">
                <a16:creationId xmlns:a16="http://schemas.microsoft.com/office/drawing/2014/main" id="{E4A703A9-9930-7533-BBE5-72A523BC248D}"/>
              </a:ext>
            </a:extLst>
          </p:cNvPr>
          <p:cNvSpPr>
            <a:spLocks noChangeArrowheads="1"/>
          </p:cNvSpPr>
          <p:nvPr/>
        </p:nvSpPr>
        <p:spPr bwMode="auto">
          <a:xfrm>
            <a:off x="374015" y="48105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dirty="0"/>
          </a:p>
        </p:txBody>
      </p:sp>
      <p:sp>
        <p:nvSpPr>
          <p:cNvPr id="36" name="Rectangle 8">
            <a:extLst>
              <a:ext uri="{FF2B5EF4-FFF2-40B4-BE49-F238E27FC236}">
                <a16:creationId xmlns:a16="http://schemas.microsoft.com/office/drawing/2014/main" id="{66888673-FF84-C9C1-B608-F01F5FD9926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a:extLst>
              <a:ext uri="{FF2B5EF4-FFF2-40B4-BE49-F238E27FC236}">
                <a16:creationId xmlns:a16="http://schemas.microsoft.com/office/drawing/2014/main" id="{EE7ADE42-21E0-8F0B-8732-2827871F0E1F}"/>
              </a:ext>
            </a:extLst>
          </p:cNvPr>
          <p:cNvSpPr txBox="1"/>
          <p:nvPr/>
        </p:nvSpPr>
        <p:spPr>
          <a:xfrm>
            <a:off x="626703" y="976540"/>
            <a:ext cx="10568968" cy="6073907"/>
          </a:xfrm>
          <a:prstGeom prst="rect">
            <a:avLst/>
          </a:prstGeom>
          <a:noFill/>
          <a:ln w="19050">
            <a:noFill/>
          </a:ln>
        </p:spPr>
        <p:txBody>
          <a:bodyPr wrap="square" rtlCol="0">
            <a:spAutoFit/>
          </a:bodyPr>
          <a:lstStyle/>
          <a:p>
            <a:pPr lvl="1">
              <a:lnSpc>
                <a:spcPct val="130000"/>
              </a:lnSpc>
              <a:spcAft>
                <a:spcPts val="600"/>
              </a:spcAft>
            </a:pPr>
            <a:r>
              <a:rPr lang="zh-CN" altLang="en-US" sz="2000" b="1" dirty="0">
                <a:latin typeface="苹方 中等" panose="020B0400000000000000" pitchFamily="34" charset="-122"/>
                <a:ea typeface="苹方 中等" panose="020B0400000000000000" pitchFamily="34" charset="-122"/>
                <a:cs typeface="Times New Roman" panose="02020603050405020304" pitchFamily="18" charset="0"/>
              </a:rPr>
              <a:t>提出本文方案</a:t>
            </a:r>
            <a:endParaRPr lang="en-US" altLang="zh-CN" sz="2000" b="1" dirty="0">
              <a:latin typeface="苹方 中等" panose="020B0400000000000000" pitchFamily="34" charset="-122"/>
              <a:ea typeface="苹方 中等" panose="020B0400000000000000" pitchFamily="34" charset="-122"/>
              <a:cs typeface="Times New Roman" panose="02020603050405020304" pitchFamily="18" charset="0"/>
            </a:endParaRPr>
          </a:p>
          <a:p>
            <a:pPr lvl="1">
              <a:lnSpc>
                <a:spcPct val="130000"/>
              </a:lnSpc>
              <a:spcAft>
                <a:spcPts val="600"/>
              </a:spcAft>
            </a:pPr>
            <a:r>
              <a:rPr lang="zh-CN" altLang="en-US" dirty="0"/>
              <a:t>为有效检测赋值计算过程中可能出现的漏洞，</a:t>
            </a:r>
            <a:r>
              <a:rPr lang="zh-CN" altLang="en-US" dirty="0">
                <a:solidFill>
                  <a:srgbClr val="FF0000"/>
                </a:solidFill>
              </a:rPr>
              <a:t>我们提出了</a:t>
            </a:r>
            <a:r>
              <a:rPr lang="en-US" altLang="zh-CN" dirty="0">
                <a:solidFill>
                  <a:srgbClr val="FF0000"/>
                </a:solidFill>
              </a:rPr>
              <a:t>ADGFUZZ</a:t>
            </a:r>
            <a:r>
              <a:rPr lang="zh-CN" altLang="en-US" dirty="0">
                <a:solidFill>
                  <a:srgbClr val="FF0000"/>
                </a:solidFill>
              </a:rPr>
              <a:t>，这是一种基于赋值依赖的模糊测试技术。</a:t>
            </a:r>
            <a:r>
              <a:rPr lang="zh-CN" altLang="en-US" dirty="0"/>
              <a:t>与以往盲目探索</a:t>
            </a:r>
            <a:r>
              <a:rPr lang="en-US" altLang="zh-CN" dirty="0"/>
              <a:t>RV</a:t>
            </a:r>
            <a:r>
              <a:rPr lang="zh-CN" altLang="en-US" dirty="0"/>
              <a:t>庞大输入空间的研究不同，我们的方法聚焦于赋值语句，仅对</a:t>
            </a:r>
            <a:r>
              <a:rPr lang="en-US" altLang="zh-CN" dirty="0"/>
              <a:t>RV</a:t>
            </a:r>
            <a:r>
              <a:rPr lang="zh-CN" altLang="en-US" dirty="0"/>
              <a:t>实现中影响这些赋值的</a:t>
            </a:r>
            <a:r>
              <a:rPr lang="en-US" altLang="zh-CN" dirty="0"/>
              <a:t>RV</a:t>
            </a:r>
            <a:r>
              <a:rPr lang="zh-CN" altLang="en-US" dirty="0"/>
              <a:t>输入参数进行模糊测试，从而实现更高效、更具针对性的测试。我们的核心发现是，</a:t>
            </a:r>
            <a:r>
              <a:rPr lang="en-US" altLang="zh-CN" dirty="0"/>
              <a:t>RV</a:t>
            </a:r>
            <a:r>
              <a:rPr lang="zh-CN" altLang="en-US" dirty="0"/>
              <a:t>控制软件中的赋值语句在计算过程中涉及众多存在固有数据依赖的变量。这些变量通常遵循统一的命名规范，包含丰富的语义信息，且往往与</a:t>
            </a:r>
            <a:r>
              <a:rPr lang="en-US" altLang="zh-CN" dirty="0"/>
              <a:t>RV</a:t>
            </a:r>
            <a:r>
              <a:rPr lang="zh-CN" altLang="en-US" dirty="0"/>
              <a:t>输入参数的命名模式相契合。基于这一发现，我们方法的核心思路是利用命名相似性来识别与特定赋值语句相关联的</a:t>
            </a:r>
            <a:r>
              <a:rPr lang="en-US" altLang="zh-CN" dirty="0"/>
              <a:t>RV</a:t>
            </a:r>
            <a:r>
              <a:rPr lang="zh-CN" altLang="en-US" dirty="0"/>
              <a:t>输入参数，并对其开展针对性的模糊测试。</a:t>
            </a:r>
            <a:endParaRPr lang="en-US" altLang="zh-CN" dirty="0"/>
          </a:p>
          <a:p>
            <a:pPr lvl="1">
              <a:lnSpc>
                <a:spcPct val="130000"/>
              </a:lnSpc>
              <a:spcAft>
                <a:spcPts val="600"/>
              </a:spcAft>
            </a:pPr>
            <a:r>
              <a:rPr lang="zh-CN" altLang="en-US" sz="2000" b="1" dirty="0">
                <a:ea typeface="苹方 中等" panose="020B0400000000000000" pitchFamily="34" charset="-122"/>
                <a:cs typeface="Times New Roman" panose="02020603050405020304" pitchFamily="18" charset="0"/>
              </a:rPr>
              <a:t>列出贡献</a:t>
            </a:r>
            <a:endParaRPr lang="en-US" altLang="zh-CN" sz="2000" b="1" dirty="0">
              <a:ea typeface="苹方 中等" panose="020B0400000000000000" pitchFamily="34" charset="-122"/>
              <a:cs typeface="Times New Roman" panose="02020603050405020304" pitchFamily="18" charset="0"/>
            </a:endParaRPr>
          </a:p>
          <a:p>
            <a:pPr lvl="1">
              <a:lnSpc>
                <a:spcPct val="130000"/>
              </a:lnSpc>
              <a:spcAft>
                <a:spcPts val="600"/>
              </a:spcAft>
            </a:pPr>
            <a:r>
              <a:rPr lang="en-US" altLang="zh-CN" dirty="0"/>
              <a:t>• </a:t>
            </a:r>
            <a:r>
              <a:rPr lang="zh-CN" altLang="en-US" dirty="0"/>
              <a:t>我们提出了</a:t>
            </a:r>
            <a:r>
              <a:rPr lang="en-US" altLang="zh-CN" dirty="0"/>
              <a:t>ADGFUZZ</a:t>
            </a:r>
            <a:r>
              <a:rPr lang="zh-CN" altLang="en-US" dirty="0"/>
              <a:t>，一种用于高效检测赋值语句错误的新型框架。</a:t>
            </a:r>
            <a:r>
              <a:rPr lang="en-US" altLang="zh-CN" dirty="0"/>
              <a:t>ADGFUZZ</a:t>
            </a:r>
            <a:r>
              <a:rPr lang="zh-CN" altLang="en-US" dirty="0"/>
              <a:t>的原型用约</a:t>
            </a:r>
            <a:r>
              <a:rPr lang="en-US" altLang="zh-CN" dirty="0"/>
              <a:t>3000</a:t>
            </a:r>
            <a:r>
              <a:rPr lang="zh-CN" altLang="en-US" dirty="0"/>
              <a:t>行</a:t>
            </a:r>
            <a:r>
              <a:rPr lang="en-US" altLang="zh-CN" dirty="0"/>
              <a:t>Python</a:t>
            </a:r>
            <a:r>
              <a:rPr lang="zh-CN" altLang="en-US" dirty="0"/>
              <a:t>代码实现。</a:t>
            </a:r>
            <a:endParaRPr lang="en-US" altLang="zh-CN" dirty="0"/>
          </a:p>
          <a:p>
            <a:pPr lvl="1">
              <a:lnSpc>
                <a:spcPct val="130000"/>
              </a:lnSpc>
              <a:spcAft>
                <a:spcPts val="600"/>
              </a:spcAft>
            </a:pPr>
            <a:r>
              <a:rPr lang="en-US" altLang="zh-CN" sz="2000" dirty="0"/>
              <a:t>• </a:t>
            </a:r>
            <a:r>
              <a:rPr lang="zh-CN" altLang="en-US" dirty="0"/>
              <a:t>我们在三种广泛使用的</a:t>
            </a:r>
            <a:r>
              <a:rPr lang="en-US" altLang="zh-CN" dirty="0"/>
              <a:t>RV</a:t>
            </a:r>
            <a:r>
              <a:rPr lang="zh-CN" altLang="en-US" dirty="0"/>
              <a:t>类型上对</a:t>
            </a:r>
            <a:r>
              <a:rPr lang="en-US" altLang="zh-CN" dirty="0"/>
              <a:t>ADGFUZZ</a:t>
            </a:r>
            <a:r>
              <a:rPr lang="zh-CN" altLang="en-US" dirty="0"/>
              <a:t>进行了评估。结果表明，</a:t>
            </a:r>
            <a:r>
              <a:rPr lang="en-US" altLang="zh-CN" dirty="0"/>
              <a:t>ADGFUZZ</a:t>
            </a:r>
            <a:r>
              <a:rPr lang="zh-CN" altLang="en-US" dirty="0"/>
              <a:t>在漏洞检测方面优于现有技术方法，共识别出</a:t>
            </a:r>
            <a:r>
              <a:rPr lang="en-US" altLang="zh-CN" dirty="0"/>
              <a:t>87</a:t>
            </a:r>
            <a:r>
              <a:rPr lang="zh-CN" altLang="en-US" dirty="0"/>
              <a:t>个独特漏洞，其中</a:t>
            </a:r>
            <a:r>
              <a:rPr lang="en-US" altLang="zh-CN" dirty="0"/>
              <a:t>78</a:t>
            </a:r>
            <a:r>
              <a:rPr lang="zh-CN" altLang="en-US" dirty="0"/>
              <a:t>个是此前未知的。</a:t>
            </a:r>
            <a:endParaRPr lang="en-US" altLang="zh-CN" dirty="0"/>
          </a:p>
          <a:p>
            <a:pPr lvl="1">
              <a:lnSpc>
                <a:spcPct val="130000"/>
              </a:lnSpc>
              <a:spcAft>
                <a:spcPts val="600"/>
              </a:spcAft>
            </a:pPr>
            <a:r>
              <a:rPr lang="en-US" altLang="zh-CN" dirty="0"/>
              <a:t>• </a:t>
            </a:r>
            <a:r>
              <a:rPr lang="zh-CN" altLang="en-US" dirty="0"/>
              <a:t>我们在 </a:t>
            </a:r>
            <a:r>
              <a:rPr lang="en-US" altLang="zh-CN" dirty="0"/>
              <a:t>GitHub </a:t>
            </a:r>
            <a:r>
              <a:rPr lang="zh-CN" altLang="en-US" dirty="0"/>
              <a:t>上开源了 </a:t>
            </a:r>
            <a:r>
              <a:rPr lang="en-US" altLang="zh-CN" dirty="0"/>
              <a:t>ADGFUZZ </a:t>
            </a:r>
            <a:r>
              <a:rPr lang="zh-CN" altLang="en-US" dirty="0"/>
              <a:t>的源代码，以促进研究的可复现性及进一步的相关研究。</a:t>
            </a:r>
            <a:endParaRPr lang="en-US" altLang="zh-CN" dirty="0"/>
          </a:p>
          <a:p>
            <a:pPr lvl="1">
              <a:lnSpc>
                <a:spcPct val="130000"/>
              </a:lnSpc>
              <a:spcAft>
                <a:spcPts val="600"/>
              </a:spcAft>
            </a:pPr>
            <a:endParaRPr lang="en-US" altLang="zh-CN" sz="2000" b="1" dirty="0">
              <a:ea typeface="苹方 中等" panose="020B0400000000000000" pitchFamily="34"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1067876552"/>
      </p:ext>
    </p:extLst>
  </p:cSld>
  <p:clrMapOvr>
    <a:masterClrMapping/>
  </p:clrMapOvr>
  <mc:AlternateContent xmlns:mc="http://schemas.openxmlformats.org/markup-compatibility/2006" xmlns:p14="http://schemas.microsoft.com/office/powerpoint/2010/main">
    <mc:Choice Requires="p14">
      <p:transition spd="slow" p14:dur="2000" advTm="183526"/>
    </mc:Choice>
    <mc:Fallback xmlns="">
      <p:transition spd="slow" advTm="183526"/>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BD9D6-6C15-12DD-4F07-29013F169B35}"/>
            </a:ext>
          </a:extLst>
        </p:cNvPr>
        <p:cNvGrpSpPr/>
        <p:nvPr/>
      </p:nvGrpSpPr>
      <p:grpSpPr>
        <a:xfrm>
          <a:off x="0" y="0"/>
          <a:ext cx="0" cy="0"/>
          <a:chOff x="0" y="0"/>
          <a:chExt cx="0" cy="0"/>
        </a:xfrm>
      </p:grpSpPr>
      <p:sp>
        <p:nvSpPr>
          <p:cNvPr id="12" name="椭圆 11">
            <a:extLst>
              <a:ext uri="{FF2B5EF4-FFF2-40B4-BE49-F238E27FC236}">
                <a16:creationId xmlns:a16="http://schemas.microsoft.com/office/drawing/2014/main" id="{E97446E1-A88C-121F-206D-A9BCEABC5FAB}"/>
              </a:ext>
            </a:extLst>
          </p:cNvPr>
          <p:cNvSpPr/>
          <p:nvPr/>
        </p:nvSpPr>
        <p:spPr>
          <a:xfrm>
            <a:off x="137160" y="186690"/>
            <a:ext cx="236855" cy="236855"/>
          </a:xfrm>
          <a:prstGeom prst="ellipse">
            <a:avLst/>
          </a:prstGeom>
          <a:solidFill>
            <a:srgbClr val="ACBBDB">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10" name="文本框 9">
            <a:extLst>
              <a:ext uri="{FF2B5EF4-FFF2-40B4-BE49-F238E27FC236}">
                <a16:creationId xmlns:a16="http://schemas.microsoft.com/office/drawing/2014/main" id="{34C7C6A1-61D6-B7C6-B94A-F942F44FC484}"/>
              </a:ext>
            </a:extLst>
          </p:cNvPr>
          <p:cNvSpPr txBox="1"/>
          <p:nvPr>
            <p:custDataLst>
              <p:tags r:id="rId2"/>
            </p:custDataLst>
          </p:nvPr>
        </p:nvSpPr>
        <p:spPr>
          <a:xfrm>
            <a:off x="1083945" y="326688"/>
            <a:ext cx="2830830" cy="523240"/>
          </a:xfrm>
          <a:prstGeom prst="rect">
            <a:avLst/>
          </a:prstGeom>
          <a:noFill/>
        </p:spPr>
        <p:txBody>
          <a:bodyPr wrap="square" rtlCol="0">
            <a:spAutoFit/>
          </a:bodyPr>
          <a:lstStyle/>
          <a:p>
            <a:r>
              <a:rPr lang="zh-CN" altLang="en-US" sz="2800" dirty="0">
                <a:solidFill>
                  <a:srgbClr val="324769"/>
                </a:solidFill>
                <a:latin typeface="Times New Roman" panose="02020603050405020304" pitchFamily="18" charset="0"/>
                <a:cs typeface="+mn-ea"/>
                <a:sym typeface="+mn-lt"/>
              </a:rPr>
              <a:t>引言总结</a:t>
            </a:r>
            <a:endParaRPr lang="en-US" altLang="zh-CN" sz="2800" dirty="0">
              <a:solidFill>
                <a:srgbClr val="324769"/>
              </a:solidFill>
              <a:latin typeface="Times New Roman" panose="02020603050405020304" pitchFamily="18" charset="0"/>
              <a:cs typeface="+mn-ea"/>
              <a:sym typeface="+mn-lt"/>
            </a:endParaRPr>
          </a:p>
        </p:txBody>
      </p:sp>
      <p:grpSp>
        <p:nvGrpSpPr>
          <p:cNvPr id="4" name="组合 3">
            <a:extLst>
              <a:ext uri="{FF2B5EF4-FFF2-40B4-BE49-F238E27FC236}">
                <a16:creationId xmlns:a16="http://schemas.microsoft.com/office/drawing/2014/main" id="{C2B4BB66-2AC8-785F-8F6D-27D139482BFD}"/>
              </a:ext>
            </a:extLst>
          </p:cNvPr>
          <p:cNvGrpSpPr/>
          <p:nvPr/>
        </p:nvGrpSpPr>
        <p:grpSpPr>
          <a:xfrm>
            <a:off x="80010" y="198120"/>
            <a:ext cx="1003935" cy="768350"/>
            <a:chOff x="1417" y="1412"/>
            <a:chExt cx="1581" cy="1210"/>
          </a:xfrm>
        </p:grpSpPr>
        <p:sp>
          <p:nvSpPr>
            <p:cNvPr id="3" name="椭圆 2">
              <a:extLst>
                <a:ext uri="{FF2B5EF4-FFF2-40B4-BE49-F238E27FC236}">
                  <a16:creationId xmlns:a16="http://schemas.microsoft.com/office/drawing/2014/main" id="{A851964A-546C-2890-C7DF-8AA50570B261}"/>
                </a:ext>
              </a:extLst>
            </p:cNvPr>
            <p:cNvSpPr/>
            <p:nvPr>
              <p:custDataLst>
                <p:tags r:id="rId3"/>
              </p:custDataLst>
            </p:nvPr>
          </p:nvSpPr>
          <p:spPr>
            <a:xfrm>
              <a:off x="1617" y="1426"/>
              <a:ext cx="1182" cy="1182"/>
            </a:xfrm>
            <a:prstGeom prst="ellipse">
              <a:avLst/>
            </a:pr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50" name="文本框 49">
              <a:extLst>
                <a:ext uri="{FF2B5EF4-FFF2-40B4-BE49-F238E27FC236}">
                  <a16:creationId xmlns:a16="http://schemas.microsoft.com/office/drawing/2014/main" id="{8D6C79CE-B652-8EF3-B84C-10DFAE1BB0D6}"/>
                </a:ext>
              </a:extLst>
            </p:cNvPr>
            <p:cNvSpPr txBox="1"/>
            <p:nvPr>
              <p:custDataLst>
                <p:tags r:id="rId4"/>
              </p:custDataLst>
            </p:nvPr>
          </p:nvSpPr>
          <p:spPr>
            <a:xfrm>
              <a:off x="1417" y="1412"/>
              <a:ext cx="1581" cy="1210"/>
            </a:xfrm>
            <a:prstGeom prst="rect">
              <a:avLst/>
            </a:prstGeom>
            <a:noFill/>
          </p:spPr>
          <p:txBody>
            <a:bodyPr wrap="square" rtlCol="0">
              <a:spAutoFit/>
            </a:bodyPr>
            <a:lstStyle/>
            <a:p>
              <a:pPr algn="ctr"/>
              <a:r>
                <a:rPr lang="en-US" altLang="zh-CN" sz="4400" dirty="0">
                  <a:solidFill>
                    <a:schemeClr val="bg1"/>
                  </a:solidFill>
                  <a:latin typeface="Times New Roman" panose="02020603050405020304" pitchFamily="18" charset="0"/>
                  <a:cs typeface="Times New Roman" panose="02020603050405020304" pitchFamily="18" charset="0"/>
                  <a:sym typeface="+mn-lt"/>
                </a:rPr>
                <a:t>01</a:t>
              </a:r>
            </a:p>
          </p:txBody>
        </p:sp>
      </p:grpSp>
      <p:sp>
        <p:nvSpPr>
          <p:cNvPr id="28" name="Rectangle 6">
            <a:extLst>
              <a:ext uri="{FF2B5EF4-FFF2-40B4-BE49-F238E27FC236}">
                <a16:creationId xmlns:a16="http://schemas.microsoft.com/office/drawing/2014/main" id="{411FA07C-7F20-7A44-B45B-E6119D0839E2}"/>
              </a:ext>
            </a:extLst>
          </p:cNvPr>
          <p:cNvSpPr>
            <a:spLocks noChangeArrowheads="1"/>
          </p:cNvSpPr>
          <p:nvPr/>
        </p:nvSpPr>
        <p:spPr bwMode="auto">
          <a:xfrm>
            <a:off x="374015" y="48105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dirty="0"/>
          </a:p>
        </p:txBody>
      </p:sp>
      <p:sp>
        <p:nvSpPr>
          <p:cNvPr id="36" name="Rectangle 8">
            <a:extLst>
              <a:ext uri="{FF2B5EF4-FFF2-40B4-BE49-F238E27FC236}">
                <a16:creationId xmlns:a16="http://schemas.microsoft.com/office/drawing/2014/main" id="{8C974C39-C1F8-5D92-61ED-C7FEC8D6C72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a:extLst>
              <a:ext uri="{FF2B5EF4-FFF2-40B4-BE49-F238E27FC236}">
                <a16:creationId xmlns:a16="http://schemas.microsoft.com/office/drawing/2014/main" id="{30B50598-19A0-13B8-50EC-44445A94589D}"/>
              </a:ext>
            </a:extLst>
          </p:cNvPr>
          <p:cNvSpPr txBox="1"/>
          <p:nvPr/>
        </p:nvSpPr>
        <p:spPr>
          <a:xfrm>
            <a:off x="1083944" y="2951820"/>
            <a:ext cx="10166648" cy="1631216"/>
          </a:xfrm>
          <a:prstGeom prst="rect">
            <a:avLst/>
          </a:prstGeom>
          <a:noFill/>
          <a:ln w="19050">
            <a:noFill/>
          </a:ln>
        </p:spPr>
        <p:txBody>
          <a:bodyPr wrap="square" rtlCol="0">
            <a:spAutoFit/>
          </a:bodyPr>
          <a:lstStyle/>
          <a:p>
            <a:r>
              <a:rPr lang="zh-CN" altLang="en-US" sz="2000" b="1" dirty="0"/>
              <a:t>章节整体顺序</a:t>
            </a:r>
            <a:endParaRPr lang="en-US" altLang="zh-CN" sz="2000" b="1" dirty="0"/>
          </a:p>
          <a:p>
            <a:r>
              <a:rPr lang="zh-CN" altLang="en-US" sz="2000" dirty="0"/>
              <a:t>提出问题→ 指出现有方法缺陷→ 针对相关工作提出它们的核心问题→ 提出本文方案 → 列出贡献</a:t>
            </a:r>
            <a:endParaRPr lang="en-US" altLang="zh-CN" sz="2000" dirty="0"/>
          </a:p>
          <a:p>
            <a:r>
              <a:rPr lang="zh-CN" altLang="en-US" sz="2000" b="1" dirty="0"/>
              <a:t>章节作用：</a:t>
            </a:r>
            <a:br>
              <a:rPr lang="en-US" altLang="zh-CN" sz="2000" dirty="0"/>
            </a:br>
            <a:r>
              <a:rPr lang="zh-CN" altLang="en-US" sz="2000" dirty="0"/>
              <a:t>让读者知道你做了什么、为什么重要、强在哪。</a:t>
            </a:r>
          </a:p>
        </p:txBody>
      </p:sp>
    </p:spTree>
    <p:custDataLst>
      <p:tags r:id="rId1"/>
    </p:custDataLst>
    <p:extLst>
      <p:ext uri="{BB962C8B-B14F-4D97-AF65-F5344CB8AC3E}">
        <p14:creationId xmlns:p14="http://schemas.microsoft.com/office/powerpoint/2010/main" val="4182021611"/>
      </p:ext>
    </p:extLst>
  </p:cSld>
  <p:clrMapOvr>
    <a:masterClrMapping/>
  </p:clrMapOvr>
  <mc:AlternateContent xmlns:mc="http://schemas.openxmlformats.org/markup-compatibility/2006" xmlns:p14="http://schemas.microsoft.com/office/powerpoint/2010/main">
    <mc:Choice Requires="p14">
      <p:transition spd="slow" p14:dur="2000" advTm="183526"/>
    </mc:Choice>
    <mc:Fallback xmlns="">
      <p:transition spd="slow" advTm="18352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D192E-7C4D-8B81-6661-5FB4C52AAB26}"/>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9511094E-6B23-1921-F803-29ABEEA87F63}"/>
              </a:ext>
            </a:extLst>
          </p:cNvPr>
          <p:cNvSpPr txBox="1"/>
          <p:nvPr/>
        </p:nvSpPr>
        <p:spPr>
          <a:xfrm>
            <a:off x="2074430" y="2717482"/>
            <a:ext cx="4910667" cy="769441"/>
          </a:xfrm>
          <a:prstGeom prst="rect">
            <a:avLst/>
          </a:prstGeom>
          <a:noFill/>
        </p:spPr>
        <p:txBody>
          <a:bodyPr wrap="square" rtlCol="0">
            <a:spAutoFit/>
          </a:bodyPr>
          <a:lstStyle>
            <a:defPPr>
              <a:defRPr lang="zh-CN"/>
            </a:defPPr>
            <a:lvl1pPr algn="dist">
              <a:defRPr sz="4400" b="1">
                <a:solidFill>
                  <a:srgbClr val="324769"/>
                </a:solidFill>
                <a:latin typeface="Arial" panose="020B0604020202020204"/>
                <a:ea typeface="微软雅黑" panose="020B0503020204020204" pitchFamily="34" charset="-122"/>
                <a:cs typeface="汉仪中宋简" panose="02010609000101010101" charset="-128"/>
              </a:defRPr>
            </a:lvl1pPr>
          </a:lstStyle>
          <a:p>
            <a:pPr algn="l"/>
            <a:r>
              <a:rPr lang="zh-CN" altLang="en-US" dirty="0">
                <a:latin typeface="+mn-lt"/>
                <a:ea typeface="+mn-ea"/>
                <a:cs typeface="+mn-ea"/>
                <a:sym typeface="+mn-lt"/>
              </a:rPr>
              <a:t>背景</a:t>
            </a:r>
          </a:p>
        </p:txBody>
      </p:sp>
      <p:grpSp>
        <p:nvGrpSpPr>
          <p:cNvPr id="3" name="组合 2">
            <a:extLst>
              <a:ext uri="{FF2B5EF4-FFF2-40B4-BE49-F238E27FC236}">
                <a16:creationId xmlns:a16="http://schemas.microsoft.com/office/drawing/2014/main" id="{A7A81DC6-9AD1-EC90-5396-C54FA8AA4EEB}"/>
              </a:ext>
            </a:extLst>
          </p:cNvPr>
          <p:cNvGrpSpPr/>
          <p:nvPr/>
        </p:nvGrpSpPr>
        <p:grpSpPr>
          <a:xfrm>
            <a:off x="184785" y="2346960"/>
            <a:ext cx="1684655" cy="1445260"/>
            <a:chOff x="909" y="4569"/>
            <a:chExt cx="2653" cy="2276"/>
          </a:xfrm>
        </p:grpSpPr>
        <p:sp>
          <p:nvSpPr>
            <p:cNvPr id="12" name="椭圆 11">
              <a:extLst>
                <a:ext uri="{FF2B5EF4-FFF2-40B4-BE49-F238E27FC236}">
                  <a16:creationId xmlns:a16="http://schemas.microsoft.com/office/drawing/2014/main" id="{49A5D847-2D5C-7CFB-B423-F8372855C2F6}"/>
                </a:ext>
              </a:extLst>
            </p:cNvPr>
            <p:cNvSpPr/>
            <p:nvPr/>
          </p:nvSpPr>
          <p:spPr>
            <a:xfrm>
              <a:off x="2306" y="4674"/>
              <a:ext cx="957" cy="957"/>
            </a:xfrm>
            <a:prstGeom prst="ellipse">
              <a:avLst/>
            </a:prstGeom>
            <a:solidFill>
              <a:srgbClr val="D0E1F7">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0" name="文本框 49">
              <a:extLst>
                <a:ext uri="{FF2B5EF4-FFF2-40B4-BE49-F238E27FC236}">
                  <a16:creationId xmlns:a16="http://schemas.microsoft.com/office/drawing/2014/main" id="{F883647A-7D73-3AED-A605-CA93702279FF}"/>
                </a:ext>
              </a:extLst>
            </p:cNvPr>
            <p:cNvSpPr txBox="1"/>
            <p:nvPr/>
          </p:nvSpPr>
          <p:spPr>
            <a:xfrm>
              <a:off x="909" y="4569"/>
              <a:ext cx="2653" cy="2276"/>
            </a:xfrm>
            <a:prstGeom prst="rect">
              <a:avLst/>
            </a:prstGeom>
            <a:noFill/>
          </p:spPr>
          <p:txBody>
            <a:bodyPr wrap="square" rtlCol="0">
              <a:spAutoFit/>
            </a:bodyPr>
            <a:lstStyle/>
            <a:p>
              <a:pPr algn="ctr"/>
              <a:r>
                <a:rPr lang="en-US" altLang="zh-CN" sz="8800" dirty="0">
                  <a:solidFill>
                    <a:srgbClr val="324769"/>
                  </a:solidFill>
                  <a:cs typeface="+mn-ea"/>
                  <a:sym typeface="+mn-lt"/>
                </a:rPr>
                <a:t>02</a:t>
              </a:r>
            </a:p>
          </p:txBody>
        </p:sp>
      </p:grpSp>
      <p:cxnSp>
        <p:nvCxnSpPr>
          <p:cNvPr id="32" name="直接连接符 31">
            <a:extLst>
              <a:ext uri="{FF2B5EF4-FFF2-40B4-BE49-F238E27FC236}">
                <a16:creationId xmlns:a16="http://schemas.microsoft.com/office/drawing/2014/main" id="{52D51A4C-1D4A-4ABE-4788-0F1F4E817273}"/>
              </a:ext>
            </a:extLst>
          </p:cNvPr>
          <p:cNvCxnSpPr/>
          <p:nvPr/>
        </p:nvCxnSpPr>
        <p:spPr>
          <a:xfrm>
            <a:off x="530225" y="3720465"/>
            <a:ext cx="5784850" cy="0"/>
          </a:xfrm>
          <a:prstGeom prst="line">
            <a:avLst/>
          </a:prstGeom>
          <a:ln w="28575" cmpd="thickThin">
            <a:solidFill>
              <a:srgbClr val="324769"/>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828240577"/>
      </p:ext>
    </p:extLst>
  </p:cSld>
  <p:clrMapOvr>
    <a:masterClrMapping/>
  </p:clrMapOvr>
  <mc:AlternateContent xmlns:mc="http://schemas.openxmlformats.org/markup-compatibility/2006" xmlns:p14="http://schemas.microsoft.com/office/powerpoint/2010/main">
    <mc:Choice Requires="p14">
      <p:transition spd="slow" p14:dur="2000" advTm="7316"/>
    </mc:Choice>
    <mc:Fallback xmlns="">
      <p:transition spd="slow" advTm="7316"/>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椭圆 11"/>
          <p:cNvSpPr/>
          <p:nvPr/>
        </p:nvSpPr>
        <p:spPr>
          <a:xfrm>
            <a:off x="137160" y="186690"/>
            <a:ext cx="236855" cy="236855"/>
          </a:xfrm>
          <a:prstGeom prst="ellipse">
            <a:avLst/>
          </a:prstGeom>
          <a:solidFill>
            <a:srgbClr val="ACBBDB">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10" name="文本框 9"/>
          <p:cNvSpPr txBox="1"/>
          <p:nvPr>
            <p:custDataLst>
              <p:tags r:id="rId2"/>
            </p:custDataLst>
          </p:nvPr>
        </p:nvSpPr>
        <p:spPr>
          <a:xfrm>
            <a:off x="1083945" y="326688"/>
            <a:ext cx="2830830" cy="523240"/>
          </a:xfrm>
          <a:prstGeom prst="rect">
            <a:avLst/>
          </a:prstGeom>
          <a:noFill/>
        </p:spPr>
        <p:txBody>
          <a:bodyPr wrap="square" rtlCol="0">
            <a:spAutoFit/>
          </a:bodyPr>
          <a:lstStyle/>
          <a:p>
            <a:r>
              <a:rPr lang="zh-CN" altLang="en-US" sz="2800" dirty="0">
                <a:solidFill>
                  <a:srgbClr val="324769"/>
                </a:solidFill>
                <a:latin typeface="Times New Roman" panose="02020603050405020304" pitchFamily="18" charset="0"/>
                <a:cs typeface="+mn-ea"/>
                <a:sym typeface="+mn-lt"/>
              </a:rPr>
              <a:t>背景</a:t>
            </a:r>
            <a:endParaRPr lang="en-US" altLang="zh-CN" sz="2800" dirty="0">
              <a:solidFill>
                <a:srgbClr val="324769"/>
              </a:solidFill>
              <a:latin typeface="Times New Roman" panose="02020603050405020304" pitchFamily="18" charset="0"/>
              <a:cs typeface="+mn-ea"/>
              <a:sym typeface="+mn-lt"/>
            </a:endParaRPr>
          </a:p>
        </p:txBody>
      </p:sp>
      <p:grpSp>
        <p:nvGrpSpPr>
          <p:cNvPr id="4" name="组合 3"/>
          <p:cNvGrpSpPr/>
          <p:nvPr/>
        </p:nvGrpSpPr>
        <p:grpSpPr>
          <a:xfrm>
            <a:off x="80010" y="198120"/>
            <a:ext cx="1003935" cy="768350"/>
            <a:chOff x="1417" y="1412"/>
            <a:chExt cx="1581" cy="1210"/>
          </a:xfrm>
        </p:grpSpPr>
        <p:sp>
          <p:nvSpPr>
            <p:cNvPr id="3" name="椭圆 2"/>
            <p:cNvSpPr/>
            <p:nvPr>
              <p:custDataLst>
                <p:tags r:id="rId3"/>
              </p:custDataLst>
            </p:nvPr>
          </p:nvSpPr>
          <p:spPr>
            <a:xfrm>
              <a:off x="1617" y="1426"/>
              <a:ext cx="1182" cy="1182"/>
            </a:xfrm>
            <a:prstGeom prst="ellipse">
              <a:avLst/>
            </a:pr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50" name="文本框 49"/>
            <p:cNvSpPr txBox="1"/>
            <p:nvPr>
              <p:custDataLst>
                <p:tags r:id="rId4"/>
              </p:custDataLst>
            </p:nvPr>
          </p:nvSpPr>
          <p:spPr>
            <a:xfrm>
              <a:off x="1417" y="1412"/>
              <a:ext cx="1581" cy="1210"/>
            </a:xfrm>
            <a:prstGeom prst="rect">
              <a:avLst/>
            </a:prstGeom>
            <a:noFill/>
          </p:spPr>
          <p:txBody>
            <a:bodyPr wrap="square" rtlCol="0">
              <a:spAutoFit/>
            </a:bodyPr>
            <a:lstStyle/>
            <a:p>
              <a:pPr algn="ctr"/>
              <a:r>
                <a:rPr lang="en-US" altLang="zh-CN" sz="4400">
                  <a:solidFill>
                    <a:schemeClr val="bg1"/>
                  </a:solidFill>
                  <a:latin typeface="Times New Roman" panose="02020603050405020304" pitchFamily="18" charset="0"/>
                  <a:cs typeface="Times New Roman" panose="02020603050405020304" pitchFamily="18" charset="0"/>
                  <a:sym typeface="+mn-lt"/>
                </a:rPr>
                <a:t>02</a:t>
              </a:r>
            </a:p>
          </p:txBody>
        </p:sp>
      </p:grpSp>
      <p:sp>
        <p:nvSpPr>
          <p:cNvPr id="19" name="Rectangle 2"/>
          <p:cNvSpPr>
            <a:spLocks noChangeArrowheads="1"/>
          </p:cNvSpPr>
          <p:nvPr/>
        </p:nvSpPr>
        <p:spPr bwMode="auto">
          <a:xfrm>
            <a:off x="1425600" y="167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8" name="Rectangle 6"/>
          <p:cNvSpPr>
            <a:spLocks noChangeArrowheads="1"/>
          </p:cNvSpPr>
          <p:nvPr/>
        </p:nvSpPr>
        <p:spPr bwMode="auto">
          <a:xfrm>
            <a:off x="374015" y="48105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dirty="0"/>
          </a:p>
        </p:txBody>
      </p:sp>
      <p:sp>
        <p:nvSpPr>
          <p:cNvPr id="36"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626703" y="976540"/>
            <a:ext cx="10568968" cy="3168047"/>
          </a:xfrm>
          <a:prstGeom prst="rect">
            <a:avLst/>
          </a:prstGeom>
          <a:noFill/>
          <a:ln w="19050">
            <a:noFill/>
          </a:ln>
        </p:spPr>
        <p:txBody>
          <a:bodyPr wrap="square" rtlCol="0">
            <a:spAutoFit/>
          </a:bodyPr>
          <a:lstStyle/>
          <a:p>
            <a:pPr indent="457200">
              <a:lnSpc>
                <a:spcPct val="130000"/>
              </a:lnSpc>
              <a:spcAft>
                <a:spcPts val="600"/>
              </a:spcAft>
            </a:pPr>
            <a:r>
              <a:rPr lang="en-US" altLang="zh-CN" sz="2000" b="1" dirty="0"/>
              <a:t>RV </a:t>
            </a:r>
            <a:r>
              <a:rPr lang="zh-CN" altLang="en-US" sz="2000" b="1" dirty="0"/>
              <a:t>控制软件</a:t>
            </a:r>
            <a:endParaRPr lang="en-US" altLang="zh-CN" sz="2000" b="1" dirty="0"/>
          </a:p>
          <a:p>
            <a:pPr indent="457200">
              <a:lnSpc>
                <a:spcPct val="130000"/>
              </a:lnSpc>
              <a:spcAft>
                <a:spcPts val="600"/>
              </a:spcAft>
            </a:pPr>
            <a:r>
              <a:rPr lang="zh-CN" altLang="en-US" dirty="0"/>
              <a:t>无人运载平台车辆控制软件是驱动机器人车辆完成信息处理与决策的核心计算系统，负责运动控制、环境感知、任务规划及实时决策等工作。该软件包含三大核心模块：</a:t>
            </a:r>
            <a:r>
              <a:rPr lang="zh-CN" altLang="en-US" dirty="0">
                <a:solidFill>
                  <a:srgbClr val="FF0000"/>
                </a:solidFill>
              </a:rPr>
              <a:t>（</a:t>
            </a:r>
            <a:r>
              <a:rPr lang="en-US" altLang="zh-CN" dirty="0">
                <a:solidFill>
                  <a:srgbClr val="FF0000"/>
                </a:solidFill>
              </a:rPr>
              <a:t>1</a:t>
            </a:r>
            <a:r>
              <a:rPr lang="zh-CN" altLang="en-US" dirty="0">
                <a:solidFill>
                  <a:srgbClr val="FF0000"/>
                </a:solidFill>
              </a:rPr>
              <a:t>）传感器模块</a:t>
            </a:r>
            <a:r>
              <a:rPr lang="zh-CN" altLang="en-US" dirty="0"/>
              <a:t>：周期性采集车载传感器（如激光雷达、惯性测量单元）的实时输入信号；</a:t>
            </a:r>
            <a:r>
              <a:rPr lang="zh-CN" altLang="en-US" dirty="0">
                <a:solidFill>
                  <a:srgbClr val="FF0000"/>
                </a:solidFill>
              </a:rPr>
              <a:t>（</a:t>
            </a:r>
            <a:r>
              <a:rPr lang="en-US" altLang="zh-CN" dirty="0">
                <a:solidFill>
                  <a:srgbClr val="FF0000"/>
                </a:solidFill>
              </a:rPr>
              <a:t>2</a:t>
            </a:r>
            <a:r>
              <a:rPr lang="zh-CN" altLang="en-US" dirty="0">
                <a:solidFill>
                  <a:srgbClr val="FF0000"/>
                </a:solidFill>
              </a:rPr>
              <a:t>）控制逻辑模块</a:t>
            </a:r>
            <a:r>
              <a:rPr lang="zh-CN" altLang="en-US" dirty="0"/>
              <a:t>：处理传感器数据、参考状态及任务需求，通过运动规划与决策算法生成适配的控制指令；</a:t>
            </a:r>
            <a:r>
              <a:rPr lang="zh-CN" altLang="en-US" dirty="0">
                <a:solidFill>
                  <a:srgbClr val="FF0000"/>
                </a:solidFill>
              </a:rPr>
              <a:t>（</a:t>
            </a:r>
            <a:r>
              <a:rPr lang="en-US" altLang="zh-CN" dirty="0">
                <a:solidFill>
                  <a:srgbClr val="FF0000"/>
                </a:solidFill>
              </a:rPr>
              <a:t>3</a:t>
            </a:r>
            <a:r>
              <a:rPr lang="zh-CN" altLang="en-US" dirty="0">
                <a:solidFill>
                  <a:srgbClr val="FF0000"/>
                </a:solidFill>
              </a:rPr>
              <a:t>）通信模块</a:t>
            </a:r>
            <a:r>
              <a:rPr lang="zh-CN" altLang="en-US" dirty="0"/>
              <a:t>：与地面控制站建立双向通信，接收用户指令的同时回传车辆状态、任务进度及反馈信息，为远程监控与协同作业提供支撑。</a:t>
            </a:r>
            <a:endParaRPr lang="en-US" altLang="zh-CN" sz="2000" b="1" dirty="0">
              <a:latin typeface="苹方 中等" panose="020B0400000000000000" pitchFamily="34" charset="-122"/>
              <a:ea typeface="苹方 中等" panose="020B0400000000000000" pitchFamily="34" charset="-122"/>
              <a:cs typeface="Times New Roman" panose="02020603050405020304" pitchFamily="18" charset="0"/>
            </a:endParaRPr>
          </a:p>
          <a:p>
            <a:pPr>
              <a:lnSpc>
                <a:spcPct val="130000"/>
              </a:lnSpc>
              <a:spcAft>
                <a:spcPts val="600"/>
              </a:spcAft>
            </a:pPr>
            <a:endParaRPr lang="en-US" altLang="zh-CN" sz="2000" dirty="0">
              <a:latin typeface="苹方 中等" panose="020B0400000000000000" pitchFamily="34" charset="-122"/>
              <a:ea typeface="苹方 中等" panose="020B0400000000000000" pitchFamily="34" charset="-122"/>
              <a:cs typeface="Times New Roman" panose="02020603050405020304"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83526"/>
    </mc:Choice>
    <mc:Fallback xmlns="">
      <p:transition spd="slow" advTm="183526"/>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92C79-7A54-24C7-DEA5-4AE4DFE1B3D5}"/>
            </a:ext>
          </a:extLst>
        </p:cNvPr>
        <p:cNvGrpSpPr/>
        <p:nvPr/>
      </p:nvGrpSpPr>
      <p:grpSpPr>
        <a:xfrm>
          <a:off x="0" y="0"/>
          <a:ext cx="0" cy="0"/>
          <a:chOff x="0" y="0"/>
          <a:chExt cx="0" cy="0"/>
        </a:xfrm>
      </p:grpSpPr>
      <p:sp>
        <p:nvSpPr>
          <p:cNvPr id="12" name="椭圆 11">
            <a:extLst>
              <a:ext uri="{FF2B5EF4-FFF2-40B4-BE49-F238E27FC236}">
                <a16:creationId xmlns:a16="http://schemas.microsoft.com/office/drawing/2014/main" id="{887B5A66-84E1-B2ED-9B4B-22A338BCF541}"/>
              </a:ext>
            </a:extLst>
          </p:cNvPr>
          <p:cNvSpPr/>
          <p:nvPr/>
        </p:nvSpPr>
        <p:spPr>
          <a:xfrm>
            <a:off x="137160" y="186690"/>
            <a:ext cx="236855" cy="236855"/>
          </a:xfrm>
          <a:prstGeom prst="ellipse">
            <a:avLst/>
          </a:prstGeom>
          <a:solidFill>
            <a:srgbClr val="ACBBDB">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10" name="文本框 9">
            <a:extLst>
              <a:ext uri="{FF2B5EF4-FFF2-40B4-BE49-F238E27FC236}">
                <a16:creationId xmlns:a16="http://schemas.microsoft.com/office/drawing/2014/main" id="{B6449CF2-6476-7DD7-04F4-DD8B4F84C97D}"/>
              </a:ext>
            </a:extLst>
          </p:cNvPr>
          <p:cNvSpPr txBox="1"/>
          <p:nvPr>
            <p:custDataLst>
              <p:tags r:id="rId2"/>
            </p:custDataLst>
          </p:nvPr>
        </p:nvSpPr>
        <p:spPr>
          <a:xfrm>
            <a:off x="1083945" y="326688"/>
            <a:ext cx="2830830" cy="523240"/>
          </a:xfrm>
          <a:prstGeom prst="rect">
            <a:avLst/>
          </a:prstGeom>
          <a:noFill/>
        </p:spPr>
        <p:txBody>
          <a:bodyPr wrap="square" rtlCol="0">
            <a:spAutoFit/>
          </a:bodyPr>
          <a:lstStyle/>
          <a:p>
            <a:r>
              <a:rPr lang="zh-CN" altLang="en-US" sz="2800" dirty="0">
                <a:solidFill>
                  <a:srgbClr val="324769"/>
                </a:solidFill>
                <a:latin typeface="Times New Roman" panose="02020603050405020304" pitchFamily="18" charset="0"/>
                <a:cs typeface="+mn-ea"/>
                <a:sym typeface="+mn-lt"/>
              </a:rPr>
              <a:t>背景</a:t>
            </a:r>
            <a:endParaRPr lang="en-US" altLang="zh-CN" sz="2800" dirty="0">
              <a:solidFill>
                <a:srgbClr val="324769"/>
              </a:solidFill>
              <a:latin typeface="Times New Roman" panose="02020603050405020304" pitchFamily="18" charset="0"/>
              <a:cs typeface="+mn-ea"/>
              <a:sym typeface="+mn-lt"/>
            </a:endParaRPr>
          </a:p>
        </p:txBody>
      </p:sp>
      <p:grpSp>
        <p:nvGrpSpPr>
          <p:cNvPr id="4" name="组合 3">
            <a:extLst>
              <a:ext uri="{FF2B5EF4-FFF2-40B4-BE49-F238E27FC236}">
                <a16:creationId xmlns:a16="http://schemas.microsoft.com/office/drawing/2014/main" id="{B7A67945-7D36-21B2-1DC0-D261FE616F80}"/>
              </a:ext>
            </a:extLst>
          </p:cNvPr>
          <p:cNvGrpSpPr/>
          <p:nvPr/>
        </p:nvGrpSpPr>
        <p:grpSpPr>
          <a:xfrm>
            <a:off x="80010" y="198120"/>
            <a:ext cx="1003935" cy="768350"/>
            <a:chOff x="1417" y="1412"/>
            <a:chExt cx="1581" cy="1210"/>
          </a:xfrm>
        </p:grpSpPr>
        <p:sp>
          <p:nvSpPr>
            <p:cNvPr id="3" name="椭圆 2">
              <a:extLst>
                <a:ext uri="{FF2B5EF4-FFF2-40B4-BE49-F238E27FC236}">
                  <a16:creationId xmlns:a16="http://schemas.microsoft.com/office/drawing/2014/main" id="{8478983D-3791-8C5F-C39D-8E44914413FB}"/>
                </a:ext>
              </a:extLst>
            </p:cNvPr>
            <p:cNvSpPr/>
            <p:nvPr>
              <p:custDataLst>
                <p:tags r:id="rId3"/>
              </p:custDataLst>
            </p:nvPr>
          </p:nvSpPr>
          <p:spPr>
            <a:xfrm>
              <a:off x="1617" y="1426"/>
              <a:ext cx="1182" cy="1182"/>
            </a:xfrm>
            <a:prstGeom prst="ellipse">
              <a:avLst/>
            </a:pr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50" name="文本框 49">
              <a:extLst>
                <a:ext uri="{FF2B5EF4-FFF2-40B4-BE49-F238E27FC236}">
                  <a16:creationId xmlns:a16="http://schemas.microsoft.com/office/drawing/2014/main" id="{C0D0654E-C972-1C29-CDA9-380C42150193}"/>
                </a:ext>
              </a:extLst>
            </p:cNvPr>
            <p:cNvSpPr txBox="1"/>
            <p:nvPr>
              <p:custDataLst>
                <p:tags r:id="rId4"/>
              </p:custDataLst>
            </p:nvPr>
          </p:nvSpPr>
          <p:spPr>
            <a:xfrm>
              <a:off x="1417" y="1412"/>
              <a:ext cx="1581" cy="1210"/>
            </a:xfrm>
            <a:prstGeom prst="rect">
              <a:avLst/>
            </a:prstGeom>
            <a:noFill/>
          </p:spPr>
          <p:txBody>
            <a:bodyPr wrap="square" rtlCol="0">
              <a:spAutoFit/>
            </a:bodyPr>
            <a:lstStyle/>
            <a:p>
              <a:pPr algn="ctr"/>
              <a:r>
                <a:rPr lang="en-US" altLang="zh-CN" sz="4400">
                  <a:solidFill>
                    <a:schemeClr val="bg1"/>
                  </a:solidFill>
                  <a:latin typeface="Times New Roman" panose="02020603050405020304" pitchFamily="18" charset="0"/>
                  <a:cs typeface="Times New Roman" panose="02020603050405020304" pitchFamily="18" charset="0"/>
                  <a:sym typeface="+mn-lt"/>
                </a:rPr>
                <a:t>02</a:t>
              </a:r>
            </a:p>
          </p:txBody>
        </p:sp>
      </p:grpSp>
      <p:sp>
        <p:nvSpPr>
          <p:cNvPr id="19" name="Rectangle 2">
            <a:extLst>
              <a:ext uri="{FF2B5EF4-FFF2-40B4-BE49-F238E27FC236}">
                <a16:creationId xmlns:a16="http://schemas.microsoft.com/office/drawing/2014/main" id="{535CA2E5-7FBF-2B8D-DAB1-B6C52D06AC6E}"/>
              </a:ext>
            </a:extLst>
          </p:cNvPr>
          <p:cNvSpPr>
            <a:spLocks noChangeArrowheads="1"/>
          </p:cNvSpPr>
          <p:nvPr/>
        </p:nvSpPr>
        <p:spPr bwMode="auto">
          <a:xfrm>
            <a:off x="1425600" y="167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8" name="Rectangle 6">
            <a:extLst>
              <a:ext uri="{FF2B5EF4-FFF2-40B4-BE49-F238E27FC236}">
                <a16:creationId xmlns:a16="http://schemas.microsoft.com/office/drawing/2014/main" id="{1EB3F8B2-65F8-81FE-36FF-7F0C15560FB4}"/>
              </a:ext>
            </a:extLst>
          </p:cNvPr>
          <p:cNvSpPr>
            <a:spLocks noChangeArrowheads="1"/>
          </p:cNvSpPr>
          <p:nvPr/>
        </p:nvSpPr>
        <p:spPr bwMode="auto">
          <a:xfrm>
            <a:off x="374015" y="48105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dirty="0"/>
          </a:p>
        </p:txBody>
      </p:sp>
      <p:sp>
        <p:nvSpPr>
          <p:cNvPr id="36" name="Rectangle 8">
            <a:extLst>
              <a:ext uri="{FF2B5EF4-FFF2-40B4-BE49-F238E27FC236}">
                <a16:creationId xmlns:a16="http://schemas.microsoft.com/office/drawing/2014/main" id="{677DEE45-694A-AEA8-94CE-46CFBBFB5DC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a:extLst>
              <a:ext uri="{FF2B5EF4-FFF2-40B4-BE49-F238E27FC236}">
                <a16:creationId xmlns:a16="http://schemas.microsoft.com/office/drawing/2014/main" id="{B7F77030-AE9B-EBE0-0669-3DB3E42F1383}"/>
              </a:ext>
            </a:extLst>
          </p:cNvPr>
          <p:cNvSpPr txBox="1"/>
          <p:nvPr/>
        </p:nvSpPr>
        <p:spPr>
          <a:xfrm>
            <a:off x="626703" y="976540"/>
            <a:ext cx="10568968" cy="2699585"/>
          </a:xfrm>
          <a:prstGeom prst="rect">
            <a:avLst/>
          </a:prstGeom>
          <a:noFill/>
          <a:ln w="19050">
            <a:noFill/>
          </a:ln>
        </p:spPr>
        <p:txBody>
          <a:bodyPr wrap="square" rtlCol="0">
            <a:spAutoFit/>
          </a:bodyPr>
          <a:lstStyle/>
          <a:p>
            <a:pPr indent="457200">
              <a:lnSpc>
                <a:spcPct val="130000"/>
              </a:lnSpc>
              <a:spcAft>
                <a:spcPts val="600"/>
              </a:spcAft>
            </a:pPr>
            <a:r>
              <a:rPr lang="en-US" altLang="zh-CN" sz="2000" b="1" dirty="0"/>
              <a:t>RV </a:t>
            </a:r>
            <a:r>
              <a:rPr lang="zh-CN" altLang="en-US" sz="2000" b="1" dirty="0"/>
              <a:t>输入空间</a:t>
            </a:r>
            <a:endParaRPr lang="en-US" altLang="zh-CN" sz="2000" b="1" dirty="0"/>
          </a:p>
          <a:p>
            <a:pPr indent="457200">
              <a:lnSpc>
                <a:spcPct val="130000"/>
              </a:lnSpc>
              <a:spcAft>
                <a:spcPts val="600"/>
              </a:spcAft>
            </a:pPr>
            <a:r>
              <a:rPr lang="en-US" altLang="zh-CN" dirty="0"/>
              <a:t>RV </a:t>
            </a:r>
            <a:r>
              <a:rPr lang="zh-CN" altLang="en-US" dirty="0"/>
              <a:t>输入指 </a:t>
            </a:r>
            <a:r>
              <a:rPr lang="en-US" altLang="zh-CN" dirty="0"/>
              <a:t>RV </a:t>
            </a:r>
            <a:r>
              <a:rPr lang="zh-CN" altLang="en-US" dirty="0"/>
              <a:t>能够接收的数据，主要包括三类：</a:t>
            </a:r>
            <a:r>
              <a:rPr lang="zh-CN" altLang="en-US" dirty="0">
                <a:solidFill>
                  <a:srgbClr val="FF0000"/>
                </a:solidFill>
              </a:rPr>
              <a:t>（</a:t>
            </a:r>
            <a:r>
              <a:rPr lang="en-US" altLang="zh-CN" dirty="0">
                <a:solidFill>
                  <a:srgbClr val="FF0000"/>
                </a:solidFill>
              </a:rPr>
              <a:t>1</a:t>
            </a:r>
            <a:r>
              <a:rPr lang="zh-CN" altLang="en-US" dirty="0">
                <a:solidFill>
                  <a:srgbClr val="FF0000"/>
                </a:solidFill>
              </a:rPr>
              <a:t>）配置参数</a:t>
            </a:r>
            <a:r>
              <a:rPr lang="zh-CN" altLang="en-US" dirty="0"/>
              <a:t>，（</a:t>
            </a:r>
            <a:r>
              <a:rPr lang="en-US" altLang="zh-CN" dirty="0">
                <a:solidFill>
                  <a:srgbClr val="FF0000"/>
                </a:solidFill>
              </a:rPr>
              <a:t>2</a:t>
            </a:r>
            <a:r>
              <a:rPr lang="zh-CN" altLang="en-US" dirty="0">
                <a:solidFill>
                  <a:srgbClr val="FF0000"/>
                </a:solidFill>
              </a:rPr>
              <a:t>）控制指令</a:t>
            </a:r>
            <a:r>
              <a:rPr lang="zh-CN" altLang="en-US" dirty="0"/>
              <a:t>（由地面控制系统发送或从任务文件加载</a:t>
            </a:r>
            <a:r>
              <a:rPr lang="zh-CN" altLang="en-US" dirty="0">
                <a:solidFill>
                  <a:srgbClr val="FF0000"/>
                </a:solidFill>
              </a:rPr>
              <a:t>），（</a:t>
            </a:r>
            <a:r>
              <a:rPr lang="en-US" altLang="zh-CN" dirty="0">
                <a:solidFill>
                  <a:srgbClr val="FF0000"/>
                </a:solidFill>
              </a:rPr>
              <a:t>3</a:t>
            </a:r>
            <a:r>
              <a:rPr lang="zh-CN" altLang="en-US" dirty="0">
                <a:solidFill>
                  <a:srgbClr val="FF0000"/>
                </a:solidFill>
              </a:rPr>
              <a:t>）机载传感器的环境数据</a:t>
            </a:r>
            <a:r>
              <a:rPr lang="zh-CN" altLang="en-US" dirty="0"/>
              <a:t>。起飞前，</a:t>
            </a:r>
            <a:r>
              <a:rPr lang="en-US" altLang="zh-CN" dirty="0"/>
              <a:t>RV </a:t>
            </a:r>
            <a:r>
              <a:rPr lang="zh-CN" altLang="en-US" dirty="0"/>
              <a:t>从包含默认值的文件中读取并初始化配置参数。用户可在起飞前调整这些参数，以预设 </a:t>
            </a:r>
            <a:r>
              <a:rPr lang="en-US" altLang="zh-CN" dirty="0"/>
              <a:t>RV </a:t>
            </a:r>
            <a:r>
              <a:rPr lang="zh-CN" altLang="en-US" dirty="0"/>
              <a:t>的运行状态和阈值，如最大偏转角和加速度。这些参数也可在起飞后修改。在 </a:t>
            </a:r>
            <a:r>
              <a:rPr lang="en-US" altLang="zh-CN" dirty="0"/>
              <a:t>RV </a:t>
            </a:r>
            <a:r>
              <a:rPr lang="zh-CN" altLang="en-US" dirty="0"/>
              <a:t>模拟器中，环境数据的调整方式与发送指令相同。例如，</a:t>
            </a:r>
            <a:r>
              <a:rPr lang="en-US" altLang="zh-CN" dirty="0" err="1"/>
              <a:t>ArduPilot</a:t>
            </a:r>
            <a:r>
              <a:rPr lang="en-US" altLang="zh-CN" dirty="0"/>
              <a:t>  </a:t>
            </a:r>
            <a:r>
              <a:rPr lang="zh-CN" altLang="en-US" dirty="0"/>
              <a:t>包含一个软件在环（</a:t>
            </a:r>
            <a:r>
              <a:rPr lang="en-US" altLang="zh-CN" dirty="0"/>
              <a:t>SITL</a:t>
            </a:r>
            <a:r>
              <a:rPr lang="zh-CN" altLang="en-US" dirty="0"/>
              <a:t>）模拟器该功能可在模拟环境中测试</a:t>
            </a:r>
            <a:r>
              <a:rPr lang="en-US" altLang="zh-CN" dirty="0"/>
              <a:t>RV</a:t>
            </a:r>
            <a:r>
              <a:rPr lang="zh-CN" altLang="en-US" dirty="0"/>
              <a:t>控制软件的正确性。通过设置</a:t>
            </a:r>
            <a:r>
              <a:rPr lang="en-US" altLang="zh-CN" dirty="0"/>
              <a:t>SIM_WIND_SPD</a:t>
            </a:r>
            <a:r>
              <a:rPr lang="zh-CN" altLang="en-US" dirty="0"/>
              <a:t>，用户可以修改模拟中的风速。</a:t>
            </a:r>
            <a:endParaRPr lang="en-US" altLang="zh-CN" sz="2000" dirty="0">
              <a:latin typeface="苹方 中等" panose="020B0400000000000000" pitchFamily="34" charset="-122"/>
              <a:ea typeface="苹方 中等" panose="020B0400000000000000" pitchFamily="34"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1950197506"/>
      </p:ext>
    </p:extLst>
  </p:cSld>
  <p:clrMapOvr>
    <a:masterClrMapping/>
  </p:clrMapOvr>
  <mc:AlternateContent xmlns:mc="http://schemas.openxmlformats.org/markup-compatibility/2006" xmlns:p14="http://schemas.microsoft.com/office/powerpoint/2010/main">
    <mc:Choice Requires="p14">
      <p:transition spd="slow" p14:dur="2000" advTm="183526"/>
    </mc:Choice>
    <mc:Fallback xmlns="">
      <p:transition spd="slow" advTm="183526"/>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35035-B888-2A98-5A1C-37C17429B5A2}"/>
            </a:ext>
          </a:extLst>
        </p:cNvPr>
        <p:cNvGrpSpPr/>
        <p:nvPr/>
      </p:nvGrpSpPr>
      <p:grpSpPr>
        <a:xfrm>
          <a:off x="0" y="0"/>
          <a:ext cx="0" cy="0"/>
          <a:chOff x="0" y="0"/>
          <a:chExt cx="0" cy="0"/>
        </a:xfrm>
      </p:grpSpPr>
      <p:sp>
        <p:nvSpPr>
          <p:cNvPr id="12" name="椭圆 11">
            <a:extLst>
              <a:ext uri="{FF2B5EF4-FFF2-40B4-BE49-F238E27FC236}">
                <a16:creationId xmlns:a16="http://schemas.microsoft.com/office/drawing/2014/main" id="{FD0BCC81-C6A7-B33B-75EF-8EF725C36D24}"/>
              </a:ext>
            </a:extLst>
          </p:cNvPr>
          <p:cNvSpPr/>
          <p:nvPr/>
        </p:nvSpPr>
        <p:spPr>
          <a:xfrm>
            <a:off x="137160" y="186690"/>
            <a:ext cx="236855" cy="236855"/>
          </a:xfrm>
          <a:prstGeom prst="ellipse">
            <a:avLst/>
          </a:prstGeom>
          <a:solidFill>
            <a:srgbClr val="ACBBDB">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10" name="文本框 9">
            <a:extLst>
              <a:ext uri="{FF2B5EF4-FFF2-40B4-BE49-F238E27FC236}">
                <a16:creationId xmlns:a16="http://schemas.microsoft.com/office/drawing/2014/main" id="{912D55C0-44B5-C223-C935-F813C63A4591}"/>
              </a:ext>
            </a:extLst>
          </p:cNvPr>
          <p:cNvSpPr txBox="1"/>
          <p:nvPr>
            <p:custDataLst>
              <p:tags r:id="rId2"/>
            </p:custDataLst>
          </p:nvPr>
        </p:nvSpPr>
        <p:spPr>
          <a:xfrm>
            <a:off x="1083945" y="326688"/>
            <a:ext cx="2830830" cy="523240"/>
          </a:xfrm>
          <a:prstGeom prst="rect">
            <a:avLst/>
          </a:prstGeom>
          <a:noFill/>
        </p:spPr>
        <p:txBody>
          <a:bodyPr wrap="square" rtlCol="0">
            <a:spAutoFit/>
          </a:bodyPr>
          <a:lstStyle/>
          <a:p>
            <a:r>
              <a:rPr lang="zh-CN" altLang="en-US" sz="2800" dirty="0">
                <a:solidFill>
                  <a:srgbClr val="324769"/>
                </a:solidFill>
                <a:latin typeface="Times New Roman" panose="02020603050405020304" pitchFamily="18" charset="0"/>
                <a:cs typeface="+mn-ea"/>
                <a:sym typeface="+mn-lt"/>
              </a:rPr>
              <a:t>背景</a:t>
            </a:r>
            <a:endParaRPr lang="en-US" altLang="zh-CN" sz="2800" dirty="0">
              <a:solidFill>
                <a:srgbClr val="324769"/>
              </a:solidFill>
              <a:latin typeface="Times New Roman" panose="02020603050405020304" pitchFamily="18" charset="0"/>
              <a:cs typeface="+mn-ea"/>
              <a:sym typeface="+mn-lt"/>
            </a:endParaRPr>
          </a:p>
        </p:txBody>
      </p:sp>
      <p:grpSp>
        <p:nvGrpSpPr>
          <p:cNvPr id="4" name="组合 3">
            <a:extLst>
              <a:ext uri="{FF2B5EF4-FFF2-40B4-BE49-F238E27FC236}">
                <a16:creationId xmlns:a16="http://schemas.microsoft.com/office/drawing/2014/main" id="{9133E83C-0C23-E6A8-8206-BB9F9E735ACA}"/>
              </a:ext>
            </a:extLst>
          </p:cNvPr>
          <p:cNvGrpSpPr/>
          <p:nvPr/>
        </p:nvGrpSpPr>
        <p:grpSpPr>
          <a:xfrm>
            <a:off x="80010" y="198120"/>
            <a:ext cx="1003935" cy="768350"/>
            <a:chOff x="1417" y="1412"/>
            <a:chExt cx="1581" cy="1210"/>
          </a:xfrm>
        </p:grpSpPr>
        <p:sp>
          <p:nvSpPr>
            <p:cNvPr id="3" name="椭圆 2">
              <a:extLst>
                <a:ext uri="{FF2B5EF4-FFF2-40B4-BE49-F238E27FC236}">
                  <a16:creationId xmlns:a16="http://schemas.microsoft.com/office/drawing/2014/main" id="{B6F3A4AB-85D3-6F68-B46A-B87DE3A925D6}"/>
                </a:ext>
              </a:extLst>
            </p:cNvPr>
            <p:cNvSpPr/>
            <p:nvPr>
              <p:custDataLst>
                <p:tags r:id="rId3"/>
              </p:custDataLst>
            </p:nvPr>
          </p:nvSpPr>
          <p:spPr>
            <a:xfrm>
              <a:off x="1617" y="1426"/>
              <a:ext cx="1182" cy="1182"/>
            </a:xfrm>
            <a:prstGeom prst="ellipse">
              <a:avLst/>
            </a:pr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50" name="文本框 49">
              <a:extLst>
                <a:ext uri="{FF2B5EF4-FFF2-40B4-BE49-F238E27FC236}">
                  <a16:creationId xmlns:a16="http://schemas.microsoft.com/office/drawing/2014/main" id="{CDC84D98-43E1-BE3E-AC80-6D0DE020686B}"/>
                </a:ext>
              </a:extLst>
            </p:cNvPr>
            <p:cNvSpPr txBox="1"/>
            <p:nvPr>
              <p:custDataLst>
                <p:tags r:id="rId4"/>
              </p:custDataLst>
            </p:nvPr>
          </p:nvSpPr>
          <p:spPr>
            <a:xfrm>
              <a:off x="1417" y="1412"/>
              <a:ext cx="1581" cy="1210"/>
            </a:xfrm>
            <a:prstGeom prst="rect">
              <a:avLst/>
            </a:prstGeom>
            <a:noFill/>
          </p:spPr>
          <p:txBody>
            <a:bodyPr wrap="square" rtlCol="0">
              <a:spAutoFit/>
            </a:bodyPr>
            <a:lstStyle/>
            <a:p>
              <a:pPr algn="ctr"/>
              <a:r>
                <a:rPr lang="en-US" altLang="zh-CN" sz="4400">
                  <a:solidFill>
                    <a:schemeClr val="bg1"/>
                  </a:solidFill>
                  <a:latin typeface="Times New Roman" panose="02020603050405020304" pitchFamily="18" charset="0"/>
                  <a:cs typeface="Times New Roman" panose="02020603050405020304" pitchFamily="18" charset="0"/>
                  <a:sym typeface="+mn-lt"/>
                </a:rPr>
                <a:t>02</a:t>
              </a:r>
            </a:p>
          </p:txBody>
        </p:sp>
      </p:grpSp>
      <p:sp>
        <p:nvSpPr>
          <p:cNvPr id="19" name="Rectangle 2">
            <a:extLst>
              <a:ext uri="{FF2B5EF4-FFF2-40B4-BE49-F238E27FC236}">
                <a16:creationId xmlns:a16="http://schemas.microsoft.com/office/drawing/2014/main" id="{CA49BCBB-C797-59E3-3999-FCB3DBB054D4}"/>
              </a:ext>
            </a:extLst>
          </p:cNvPr>
          <p:cNvSpPr>
            <a:spLocks noChangeArrowheads="1"/>
          </p:cNvSpPr>
          <p:nvPr/>
        </p:nvSpPr>
        <p:spPr bwMode="auto">
          <a:xfrm>
            <a:off x="1425600" y="167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8" name="Rectangle 6">
            <a:extLst>
              <a:ext uri="{FF2B5EF4-FFF2-40B4-BE49-F238E27FC236}">
                <a16:creationId xmlns:a16="http://schemas.microsoft.com/office/drawing/2014/main" id="{02AD9737-B721-C7EC-1494-3EC7F71D35B7}"/>
              </a:ext>
            </a:extLst>
          </p:cNvPr>
          <p:cNvSpPr>
            <a:spLocks noChangeArrowheads="1"/>
          </p:cNvSpPr>
          <p:nvPr/>
        </p:nvSpPr>
        <p:spPr bwMode="auto">
          <a:xfrm>
            <a:off x="374015" y="48105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dirty="0"/>
          </a:p>
        </p:txBody>
      </p:sp>
      <p:sp>
        <p:nvSpPr>
          <p:cNvPr id="36" name="Rectangle 8">
            <a:extLst>
              <a:ext uri="{FF2B5EF4-FFF2-40B4-BE49-F238E27FC236}">
                <a16:creationId xmlns:a16="http://schemas.microsoft.com/office/drawing/2014/main" id="{FE7B8E67-BF9B-3585-2D30-CE1F4BE1C0F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a:extLst>
              <a:ext uri="{FF2B5EF4-FFF2-40B4-BE49-F238E27FC236}">
                <a16:creationId xmlns:a16="http://schemas.microsoft.com/office/drawing/2014/main" id="{CFA4D26E-6BD8-BA52-CF2F-DBABB4563695}"/>
              </a:ext>
            </a:extLst>
          </p:cNvPr>
          <p:cNvSpPr txBox="1"/>
          <p:nvPr/>
        </p:nvSpPr>
        <p:spPr>
          <a:xfrm>
            <a:off x="626703" y="976540"/>
            <a:ext cx="10568968" cy="3168047"/>
          </a:xfrm>
          <a:prstGeom prst="rect">
            <a:avLst/>
          </a:prstGeom>
          <a:noFill/>
          <a:ln w="19050">
            <a:noFill/>
          </a:ln>
        </p:spPr>
        <p:txBody>
          <a:bodyPr wrap="square" rtlCol="0">
            <a:spAutoFit/>
          </a:bodyPr>
          <a:lstStyle/>
          <a:p>
            <a:pPr indent="457200">
              <a:lnSpc>
                <a:spcPct val="130000"/>
              </a:lnSpc>
              <a:spcAft>
                <a:spcPts val="600"/>
              </a:spcAft>
            </a:pPr>
            <a:r>
              <a:rPr lang="zh-CN" altLang="en-US" sz="2000" b="1" dirty="0"/>
              <a:t>输入空间规模巨大</a:t>
            </a:r>
            <a:endParaRPr lang="en-US" altLang="zh-CN" sz="2000" b="1" dirty="0"/>
          </a:p>
          <a:p>
            <a:pPr indent="457200">
              <a:lnSpc>
                <a:spcPct val="130000"/>
              </a:lnSpc>
              <a:spcAft>
                <a:spcPts val="600"/>
              </a:spcAft>
            </a:pPr>
            <a:r>
              <a:rPr lang="zh-CN" altLang="en-US" dirty="0"/>
              <a:t>由于无人车控制软件的复杂性，其输入项数量可能超过</a:t>
            </a:r>
            <a:r>
              <a:rPr lang="en-US" altLang="zh-CN" dirty="0"/>
              <a:t>1000</a:t>
            </a:r>
            <a:r>
              <a:rPr lang="zh-CN" altLang="en-US" dirty="0"/>
              <a:t>个。例如，</a:t>
            </a:r>
            <a:r>
              <a:rPr lang="en-US" altLang="zh-CN" dirty="0" err="1"/>
              <a:t>ArduCopter</a:t>
            </a:r>
            <a:r>
              <a:rPr lang="zh-CN" altLang="en-US" dirty="0"/>
              <a:t>包含</a:t>
            </a:r>
            <a:r>
              <a:rPr lang="en-US" altLang="zh-CN" dirty="0"/>
              <a:t>4000</a:t>
            </a:r>
            <a:r>
              <a:rPr lang="zh-CN" altLang="en-US" dirty="0"/>
              <a:t>多个</a:t>
            </a:r>
            <a:r>
              <a:rPr lang="zh-CN" altLang="en-US" dirty="0">
                <a:solidFill>
                  <a:srgbClr val="FF0000"/>
                </a:solidFill>
              </a:rPr>
              <a:t>配置参数</a:t>
            </a:r>
            <a:r>
              <a:rPr lang="zh-CN" altLang="en-US" dirty="0"/>
              <a:t>和</a:t>
            </a:r>
            <a:r>
              <a:rPr lang="zh-CN" altLang="en-US" dirty="0">
                <a:solidFill>
                  <a:srgbClr val="FF0000"/>
                </a:solidFill>
              </a:rPr>
              <a:t>仿真环境变量</a:t>
            </a:r>
            <a:r>
              <a:rPr lang="zh-CN" altLang="en-US" dirty="0"/>
              <a:t>，以及</a:t>
            </a:r>
            <a:r>
              <a:rPr lang="en-US" altLang="zh-CN" dirty="0"/>
              <a:t>164</a:t>
            </a:r>
            <a:r>
              <a:rPr lang="zh-CN" altLang="en-US" dirty="0"/>
              <a:t>条</a:t>
            </a:r>
            <a:r>
              <a:rPr lang="zh-CN" altLang="en-US" dirty="0">
                <a:solidFill>
                  <a:srgbClr val="FF0000"/>
                </a:solidFill>
              </a:rPr>
              <a:t>控制指令</a:t>
            </a:r>
            <a:r>
              <a:rPr lang="zh-CN" altLang="en-US" dirty="0"/>
              <a:t>。其中，</a:t>
            </a:r>
            <a:r>
              <a:rPr lang="en-US" altLang="zh-CN" dirty="0"/>
              <a:t>200</a:t>
            </a:r>
            <a:r>
              <a:rPr lang="zh-CN" altLang="en-US" dirty="0"/>
              <a:t>多个参数用于调控无人车的姿态和角速度控制，</a:t>
            </a:r>
            <a:r>
              <a:rPr lang="en-US" altLang="zh-CN" dirty="0"/>
              <a:t>500</a:t>
            </a:r>
            <a:r>
              <a:rPr lang="zh-CN" altLang="en-US" dirty="0"/>
              <a:t>多个则与传感器相关。不同类型的输入可能会影响同一个系统变量。例如，配置参数</a:t>
            </a:r>
            <a:r>
              <a:rPr lang="en-US" altLang="zh-CN" dirty="0"/>
              <a:t>MOT_THST_EXPO</a:t>
            </a:r>
            <a:r>
              <a:rPr lang="zh-CN" altLang="en-US" dirty="0"/>
              <a:t>用于调整油门曲线，而控制指令</a:t>
            </a:r>
            <a:r>
              <a:rPr lang="en-US" altLang="zh-CN" dirty="0"/>
              <a:t>MAV_CMD_DO_THROTTLE</a:t>
            </a:r>
            <a:r>
              <a:rPr lang="zh-CN" altLang="en-US" dirty="0"/>
              <a:t>则直接设置油门百分比。因此，当无人车接收到多个输入时，这些输入可能会对同一物理量产生影响。相互冲突的作用会导致系统状态不一致。此外，由于输入可以直接修改关键数据，即便单个输入也可能引发异常行为。遗憾的是，无人车控制软件很少考虑对这类情况的处理。</a:t>
            </a:r>
            <a:endParaRPr lang="en-US" altLang="zh-CN" sz="2000" dirty="0">
              <a:latin typeface="苹方 中等" panose="020B0400000000000000" pitchFamily="34" charset="-122"/>
              <a:ea typeface="苹方 中等" panose="020B0400000000000000" pitchFamily="34"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1060334577"/>
      </p:ext>
    </p:extLst>
  </p:cSld>
  <p:clrMapOvr>
    <a:masterClrMapping/>
  </p:clrMapOvr>
  <mc:AlternateContent xmlns:mc="http://schemas.openxmlformats.org/markup-compatibility/2006" xmlns:p14="http://schemas.microsoft.com/office/powerpoint/2010/main">
    <mc:Choice Requires="p14">
      <p:transition spd="slow" p14:dur="2000" advTm="183526"/>
    </mc:Choice>
    <mc:Fallback xmlns="">
      <p:transition spd="slow" advTm="183526"/>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C366B-F567-C577-E9E3-928AFA541EDF}"/>
            </a:ext>
          </a:extLst>
        </p:cNvPr>
        <p:cNvGrpSpPr/>
        <p:nvPr/>
      </p:nvGrpSpPr>
      <p:grpSpPr>
        <a:xfrm>
          <a:off x="0" y="0"/>
          <a:ext cx="0" cy="0"/>
          <a:chOff x="0" y="0"/>
          <a:chExt cx="0" cy="0"/>
        </a:xfrm>
      </p:grpSpPr>
      <p:sp>
        <p:nvSpPr>
          <p:cNvPr id="12" name="椭圆 11">
            <a:extLst>
              <a:ext uri="{FF2B5EF4-FFF2-40B4-BE49-F238E27FC236}">
                <a16:creationId xmlns:a16="http://schemas.microsoft.com/office/drawing/2014/main" id="{B8A63A26-BC0E-C6BA-B103-B76DD1A10417}"/>
              </a:ext>
            </a:extLst>
          </p:cNvPr>
          <p:cNvSpPr/>
          <p:nvPr/>
        </p:nvSpPr>
        <p:spPr>
          <a:xfrm>
            <a:off x="137160" y="186690"/>
            <a:ext cx="236855" cy="236855"/>
          </a:xfrm>
          <a:prstGeom prst="ellipse">
            <a:avLst/>
          </a:prstGeom>
          <a:solidFill>
            <a:srgbClr val="ACBBDB">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10" name="文本框 9">
            <a:extLst>
              <a:ext uri="{FF2B5EF4-FFF2-40B4-BE49-F238E27FC236}">
                <a16:creationId xmlns:a16="http://schemas.microsoft.com/office/drawing/2014/main" id="{123393FA-C0D6-566B-C4E6-F50CB86D0561}"/>
              </a:ext>
            </a:extLst>
          </p:cNvPr>
          <p:cNvSpPr txBox="1"/>
          <p:nvPr>
            <p:custDataLst>
              <p:tags r:id="rId2"/>
            </p:custDataLst>
          </p:nvPr>
        </p:nvSpPr>
        <p:spPr>
          <a:xfrm>
            <a:off x="1083945" y="326688"/>
            <a:ext cx="2830830" cy="523240"/>
          </a:xfrm>
          <a:prstGeom prst="rect">
            <a:avLst/>
          </a:prstGeom>
          <a:noFill/>
        </p:spPr>
        <p:txBody>
          <a:bodyPr wrap="square" rtlCol="0">
            <a:spAutoFit/>
          </a:bodyPr>
          <a:lstStyle/>
          <a:p>
            <a:r>
              <a:rPr lang="zh-CN" altLang="en-US" sz="2800" dirty="0">
                <a:solidFill>
                  <a:srgbClr val="324769"/>
                </a:solidFill>
                <a:latin typeface="Times New Roman" panose="02020603050405020304" pitchFamily="18" charset="0"/>
                <a:cs typeface="+mn-ea"/>
                <a:sym typeface="+mn-lt"/>
              </a:rPr>
              <a:t>背景总结</a:t>
            </a:r>
            <a:endParaRPr lang="en-US" altLang="zh-CN" sz="2800" dirty="0">
              <a:solidFill>
                <a:srgbClr val="324769"/>
              </a:solidFill>
              <a:latin typeface="Times New Roman" panose="02020603050405020304" pitchFamily="18" charset="0"/>
              <a:cs typeface="+mn-ea"/>
              <a:sym typeface="+mn-lt"/>
            </a:endParaRPr>
          </a:p>
        </p:txBody>
      </p:sp>
      <p:grpSp>
        <p:nvGrpSpPr>
          <p:cNvPr id="4" name="组合 3">
            <a:extLst>
              <a:ext uri="{FF2B5EF4-FFF2-40B4-BE49-F238E27FC236}">
                <a16:creationId xmlns:a16="http://schemas.microsoft.com/office/drawing/2014/main" id="{ADA3EB20-767A-8DEC-02A7-DAB06348C5B2}"/>
              </a:ext>
            </a:extLst>
          </p:cNvPr>
          <p:cNvGrpSpPr/>
          <p:nvPr/>
        </p:nvGrpSpPr>
        <p:grpSpPr>
          <a:xfrm>
            <a:off x="80010" y="198120"/>
            <a:ext cx="1003935" cy="768350"/>
            <a:chOff x="1417" y="1412"/>
            <a:chExt cx="1581" cy="1210"/>
          </a:xfrm>
        </p:grpSpPr>
        <p:sp>
          <p:nvSpPr>
            <p:cNvPr id="3" name="椭圆 2">
              <a:extLst>
                <a:ext uri="{FF2B5EF4-FFF2-40B4-BE49-F238E27FC236}">
                  <a16:creationId xmlns:a16="http://schemas.microsoft.com/office/drawing/2014/main" id="{55CA9208-0E7E-DE72-A64A-E3A2DAF65294}"/>
                </a:ext>
              </a:extLst>
            </p:cNvPr>
            <p:cNvSpPr/>
            <p:nvPr>
              <p:custDataLst>
                <p:tags r:id="rId3"/>
              </p:custDataLst>
            </p:nvPr>
          </p:nvSpPr>
          <p:spPr>
            <a:xfrm>
              <a:off x="1617" y="1426"/>
              <a:ext cx="1182" cy="1182"/>
            </a:xfrm>
            <a:prstGeom prst="ellipse">
              <a:avLst/>
            </a:pr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50" name="文本框 49">
              <a:extLst>
                <a:ext uri="{FF2B5EF4-FFF2-40B4-BE49-F238E27FC236}">
                  <a16:creationId xmlns:a16="http://schemas.microsoft.com/office/drawing/2014/main" id="{474A9026-E5AB-4AD9-D667-3FCAC444F016}"/>
                </a:ext>
              </a:extLst>
            </p:cNvPr>
            <p:cNvSpPr txBox="1"/>
            <p:nvPr>
              <p:custDataLst>
                <p:tags r:id="rId4"/>
              </p:custDataLst>
            </p:nvPr>
          </p:nvSpPr>
          <p:spPr>
            <a:xfrm>
              <a:off x="1417" y="1412"/>
              <a:ext cx="1581" cy="1210"/>
            </a:xfrm>
            <a:prstGeom prst="rect">
              <a:avLst/>
            </a:prstGeom>
            <a:noFill/>
          </p:spPr>
          <p:txBody>
            <a:bodyPr wrap="square" rtlCol="0">
              <a:spAutoFit/>
            </a:bodyPr>
            <a:lstStyle/>
            <a:p>
              <a:pPr algn="ctr"/>
              <a:r>
                <a:rPr lang="en-US" altLang="zh-CN" sz="4400" dirty="0">
                  <a:solidFill>
                    <a:schemeClr val="bg1"/>
                  </a:solidFill>
                  <a:latin typeface="Times New Roman" panose="02020603050405020304" pitchFamily="18" charset="0"/>
                  <a:cs typeface="Times New Roman" panose="02020603050405020304" pitchFamily="18" charset="0"/>
                  <a:sym typeface="+mn-lt"/>
                </a:rPr>
                <a:t>02</a:t>
              </a:r>
            </a:p>
          </p:txBody>
        </p:sp>
      </p:grpSp>
      <p:sp>
        <p:nvSpPr>
          <p:cNvPr id="19" name="Rectangle 2">
            <a:extLst>
              <a:ext uri="{FF2B5EF4-FFF2-40B4-BE49-F238E27FC236}">
                <a16:creationId xmlns:a16="http://schemas.microsoft.com/office/drawing/2014/main" id="{B40FBFF8-8FBB-E6FD-242F-19324290A122}"/>
              </a:ext>
            </a:extLst>
          </p:cNvPr>
          <p:cNvSpPr>
            <a:spLocks noChangeArrowheads="1"/>
          </p:cNvSpPr>
          <p:nvPr/>
        </p:nvSpPr>
        <p:spPr bwMode="auto">
          <a:xfrm>
            <a:off x="1425600" y="167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8" name="Rectangle 6">
            <a:extLst>
              <a:ext uri="{FF2B5EF4-FFF2-40B4-BE49-F238E27FC236}">
                <a16:creationId xmlns:a16="http://schemas.microsoft.com/office/drawing/2014/main" id="{DE3FFDB1-B283-4172-2729-B37887B8614E}"/>
              </a:ext>
            </a:extLst>
          </p:cNvPr>
          <p:cNvSpPr>
            <a:spLocks noChangeArrowheads="1"/>
          </p:cNvSpPr>
          <p:nvPr/>
        </p:nvSpPr>
        <p:spPr bwMode="auto">
          <a:xfrm>
            <a:off x="374015" y="48105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dirty="0"/>
          </a:p>
        </p:txBody>
      </p:sp>
      <p:sp>
        <p:nvSpPr>
          <p:cNvPr id="36" name="Rectangle 8">
            <a:extLst>
              <a:ext uri="{FF2B5EF4-FFF2-40B4-BE49-F238E27FC236}">
                <a16:creationId xmlns:a16="http://schemas.microsoft.com/office/drawing/2014/main" id="{424D1B55-B038-3797-5A19-9119A1E6DB8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a:extLst>
              <a:ext uri="{FF2B5EF4-FFF2-40B4-BE49-F238E27FC236}">
                <a16:creationId xmlns:a16="http://schemas.microsoft.com/office/drawing/2014/main" id="{F54D259B-8643-F46A-A2C7-53EDBB312CAC}"/>
              </a:ext>
            </a:extLst>
          </p:cNvPr>
          <p:cNvSpPr txBox="1"/>
          <p:nvPr/>
        </p:nvSpPr>
        <p:spPr>
          <a:xfrm>
            <a:off x="1083944" y="2951820"/>
            <a:ext cx="9090203" cy="1323439"/>
          </a:xfrm>
          <a:prstGeom prst="rect">
            <a:avLst/>
          </a:prstGeom>
          <a:noFill/>
          <a:ln w="19050">
            <a:noFill/>
          </a:ln>
        </p:spPr>
        <p:txBody>
          <a:bodyPr wrap="square" rtlCol="0">
            <a:spAutoFit/>
          </a:bodyPr>
          <a:lstStyle/>
          <a:p>
            <a:r>
              <a:rPr lang="zh-CN" altLang="en-US" sz="2000" b="1" dirty="0"/>
              <a:t>章节整体顺序</a:t>
            </a:r>
            <a:endParaRPr lang="en-US" altLang="zh-CN" sz="2000" b="1" dirty="0"/>
          </a:p>
          <a:p>
            <a:r>
              <a:rPr lang="en-US" altLang="zh-CN" sz="2000" dirty="0"/>
              <a:t>RV</a:t>
            </a:r>
            <a:r>
              <a:rPr lang="zh-CN" altLang="en-US" sz="2000" dirty="0"/>
              <a:t>控制软件→ </a:t>
            </a:r>
            <a:r>
              <a:rPr lang="en-US" altLang="zh-CN" sz="2000" dirty="0"/>
              <a:t>RV</a:t>
            </a:r>
            <a:r>
              <a:rPr lang="zh-CN" altLang="en-US" sz="2000" dirty="0"/>
              <a:t>输入空间→ 输入空间规模巨大</a:t>
            </a:r>
            <a:endParaRPr lang="en-US" altLang="zh-CN" sz="2000" dirty="0"/>
          </a:p>
          <a:p>
            <a:r>
              <a:rPr lang="zh-CN" altLang="en-US" sz="2000" b="1" dirty="0"/>
              <a:t>章节作用：</a:t>
            </a:r>
            <a:br>
              <a:rPr lang="en-US" altLang="zh-CN" sz="2000" dirty="0"/>
            </a:br>
            <a:r>
              <a:rPr lang="zh-CN" altLang="en-US" sz="2000" dirty="0"/>
              <a:t>铺垫领域知识</a:t>
            </a:r>
          </a:p>
        </p:txBody>
      </p:sp>
    </p:spTree>
    <p:custDataLst>
      <p:tags r:id="rId1"/>
    </p:custDataLst>
    <p:extLst>
      <p:ext uri="{BB962C8B-B14F-4D97-AF65-F5344CB8AC3E}">
        <p14:creationId xmlns:p14="http://schemas.microsoft.com/office/powerpoint/2010/main" val="3103589586"/>
      </p:ext>
    </p:extLst>
  </p:cSld>
  <p:clrMapOvr>
    <a:masterClrMapping/>
  </p:clrMapOvr>
  <mc:AlternateContent xmlns:mc="http://schemas.openxmlformats.org/markup-compatibility/2006" xmlns:p14="http://schemas.microsoft.com/office/powerpoint/2010/main">
    <mc:Choice Requires="p14">
      <p:transition spd="slow" p14:dur="2000" advTm="183526"/>
    </mc:Choice>
    <mc:Fallback xmlns="">
      <p:transition spd="slow" advTm="183526"/>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2074430" y="2717482"/>
            <a:ext cx="4910667" cy="769441"/>
          </a:xfrm>
          <a:prstGeom prst="rect">
            <a:avLst/>
          </a:prstGeom>
          <a:noFill/>
        </p:spPr>
        <p:txBody>
          <a:bodyPr wrap="square" rtlCol="0">
            <a:spAutoFit/>
          </a:bodyPr>
          <a:lstStyle>
            <a:defPPr>
              <a:defRPr lang="zh-CN"/>
            </a:defPPr>
            <a:lvl1pPr algn="dist">
              <a:defRPr sz="4400" b="1">
                <a:solidFill>
                  <a:srgbClr val="324769"/>
                </a:solidFill>
                <a:latin typeface="Arial" panose="020B0604020202020204"/>
                <a:ea typeface="微软雅黑" panose="020B0503020204020204" pitchFamily="34" charset="-122"/>
                <a:cs typeface="汉仪中宋简" panose="02010609000101010101" charset="-128"/>
              </a:defRPr>
            </a:lvl1pPr>
          </a:lstStyle>
          <a:p>
            <a:pPr algn="l"/>
            <a:r>
              <a:rPr lang="zh-CN" altLang="en-US" dirty="0">
                <a:latin typeface="+mn-lt"/>
                <a:ea typeface="+mn-ea"/>
                <a:cs typeface="+mn-ea"/>
                <a:sym typeface="+mn-lt"/>
              </a:rPr>
              <a:t>动机</a:t>
            </a:r>
          </a:p>
        </p:txBody>
      </p:sp>
      <p:grpSp>
        <p:nvGrpSpPr>
          <p:cNvPr id="3" name="组合 2"/>
          <p:cNvGrpSpPr/>
          <p:nvPr/>
        </p:nvGrpSpPr>
        <p:grpSpPr>
          <a:xfrm>
            <a:off x="184785" y="2346960"/>
            <a:ext cx="1684655" cy="1445260"/>
            <a:chOff x="909" y="4569"/>
            <a:chExt cx="2653" cy="2276"/>
          </a:xfrm>
        </p:grpSpPr>
        <p:sp>
          <p:nvSpPr>
            <p:cNvPr id="12" name="椭圆 11"/>
            <p:cNvSpPr/>
            <p:nvPr/>
          </p:nvSpPr>
          <p:spPr>
            <a:xfrm>
              <a:off x="2306" y="4674"/>
              <a:ext cx="957" cy="957"/>
            </a:xfrm>
            <a:prstGeom prst="ellipse">
              <a:avLst/>
            </a:prstGeom>
            <a:solidFill>
              <a:srgbClr val="D0E1F7">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0" name="文本框 49"/>
            <p:cNvSpPr txBox="1"/>
            <p:nvPr/>
          </p:nvSpPr>
          <p:spPr>
            <a:xfrm>
              <a:off x="909" y="4569"/>
              <a:ext cx="2653" cy="2276"/>
            </a:xfrm>
            <a:prstGeom prst="rect">
              <a:avLst/>
            </a:prstGeom>
            <a:noFill/>
          </p:spPr>
          <p:txBody>
            <a:bodyPr wrap="square" rtlCol="0">
              <a:spAutoFit/>
            </a:bodyPr>
            <a:lstStyle/>
            <a:p>
              <a:pPr algn="ctr"/>
              <a:r>
                <a:rPr lang="en-US" altLang="zh-CN" sz="8800" dirty="0">
                  <a:solidFill>
                    <a:srgbClr val="324769"/>
                  </a:solidFill>
                  <a:cs typeface="+mn-ea"/>
                  <a:sym typeface="+mn-lt"/>
                </a:rPr>
                <a:t>03</a:t>
              </a:r>
            </a:p>
          </p:txBody>
        </p:sp>
      </p:grpSp>
      <p:cxnSp>
        <p:nvCxnSpPr>
          <p:cNvPr id="32" name="直接连接符 31"/>
          <p:cNvCxnSpPr/>
          <p:nvPr/>
        </p:nvCxnSpPr>
        <p:spPr>
          <a:xfrm>
            <a:off x="530225" y="3720465"/>
            <a:ext cx="5784850" cy="0"/>
          </a:xfrm>
          <a:prstGeom prst="line">
            <a:avLst/>
          </a:prstGeom>
          <a:ln w="28575" cmpd="thickThin">
            <a:solidFill>
              <a:srgbClr val="324769"/>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316"/>
    </mc:Choice>
    <mc:Fallback xmlns="">
      <p:transition spd="slow" advTm="7316"/>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3D008-48AA-B774-1349-403F3820D500}"/>
            </a:ext>
          </a:extLst>
        </p:cNvPr>
        <p:cNvGrpSpPr/>
        <p:nvPr/>
      </p:nvGrpSpPr>
      <p:grpSpPr>
        <a:xfrm>
          <a:off x="0" y="0"/>
          <a:ext cx="0" cy="0"/>
          <a:chOff x="0" y="0"/>
          <a:chExt cx="0" cy="0"/>
        </a:xfrm>
      </p:grpSpPr>
      <p:sp>
        <p:nvSpPr>
          <p:cNvPr id="12" name="椭圆 11">
            <a:extLst>
              <a:ext uri="{FF2B5EF4-FFF2-40B4-BE49-F238E27FC236}">
                <a16:creationId xmlns:a16="http://schemas.microsoft.com/office/drawing/2014/main" id="{0D15417A-7CDF-1B1D-BD68-F580F4156EE8}"/>
              </a:ext>
            </a:extLst>
          </p:cNvPr>
          <p:cNvSpPr/>
          <p:nvPr/>
        </p:nvSpPr>
        <p:spPr>
          <a:xfrm>
            <a:off x="137160" y="186690"/>
            <a:ext cx="236855" cy="236855"/>
          </a:xfrm>
          <a:prstGeom prst="ellipse">
            <a:avLst/>
          </a:prstGeom>
          <a:solidFill>
            <a:srgbClr val="ACBBDB">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10" name="文本框 9">
            <a:extLst>
              <a:ext uri="{FF2B5EF4-FFF2-40B4-BE49-F238E27FC236}">
                <a16:creationId xmlns:a16="http://schemas.microsoft.com/office/drawing/2014/main" id="{5F944B99-9D5D-939B-028F-D409576F808E}"/>
              </a:ext>
            </a:extLst>
          </p:cNvPr>
          <p:cNvSpPr txBox="1"/>
          <p:nvPr>
            <p:custDataLst>
              <p:tags r:id="rId2"/>
            </p:custDataLst>
          </p:nvPr>
        </p:nvSpPr>
        <p:spPr>
          <a:xfrm>
            <a:off x="1083945" y="326688"/>
            <a:ext cx="2830830" cy="523240"/>
          </a:xfrm>
          <a:prstGeom prst="rect">
            <a:avLst/>
          </a:prstGeom>
          <a:noFill/>
        </p:spPr>
        <p:txBody>
          <a:bodyPr wrap="square" rtlCol="0">
            <a:spAutoFit/>
          </a:bodyPr>
          <a:lstStyle/>
          <a:p>
            <a:r>
              <a:rPr lang="zh-CN" altLang="en-US" sz="2800" dirty="0">
                <a:solidFill>
                  <a:srgbClr val="324769"/>
                </a:solidFill>
                <a:latin typeface="Times New Roman" panose="02020603050405020304" pitchFamily="18" charset="0"/>
                <a:cs typeface="+mn-ea"/>
                <a:sym typeface="+mn-lt"/>
              </a:rPr>
              <a:t>动机</a:t>
            </a:r>
            <a:endParaRPr lang="en-US" altLang="zh-CN" sz="2800" dirty="0">
              <a:solidFill>
                <a:srgbClr val="324769"/>
              </a:solidFill>
              <a:latin typeface="Times New Roman" panose="02020603050405020304" pitchFamily="18" charset="0"/>
              <a:cs typeface="+mn-ea"/>
              <a:sym typeface="+mn-lt"/>
            </a:endParaRPr>
          </a:p>
        </p:txBody>
      </p:sp>
      <p:grpSp>
        <p:nvGrpSpPr>
          <p:cNvPr id="4" name="组合 3">
            <a:extLst>
              <a:ext uri="{FF2B5EF4-FFF2-40B4-BE49-F238E27FC236}">
                <a16:creationId xmlns:a16="http://schemas.microsoft.com/office/drawing/2014/main" id="{541D606E-1199-4404-2C96-0F6A2008691F}"/>
              </a:ext>
            </a:extLst>
          </p:cNvPr>
          <p:cNvGrpSpPr/>
          <p:nvPr/>
        </p:nvGrpSpPr>
        <p:grpSpPr>
          <a:xfrm>
            <a:off x="80010" y="198120"/>
            <a:ext cx="1003935" cy="768350"/>
            <a:chOff x="1417" y="1412"/>
            <a:chExt cx="1581" cy="1210"/>
          </a:xfrm>
        </p:grpSpPr>
        <p:sp>
          <p:nvSpPr>
            <p:cNvPr id="3" name="椭圆 2">
              <a:extLst>
                <a:ext uri="{FF2B5EF4-FFF2-40B4-BE49-F238E27FC236}">
                  <a16:creationId xmlns:a16="http://schemas.microsoft.com/office/drawing/2014/main" id="{857937A1-CAAE-24DD-2EEC-3AAF2EB6E132}"/>
                </a:ext>
              </a:extLst>
            </p:cNvPr>
            <p:cNvSpPr/>
            <p:nvPr>
              <p:custDataLst>
                <p:tags r:id="rId3"/>
              </p:custDataLst>
            </p:nvPr>
          </p:nvSpPr>
          <p:spPr>
            <a:xfrm>
              <a:off x="1617" y="1426"/>
              <a:ext cx="1182" cy="1182"/>
            </a:xfrm>
            <a:prstGeom prst="ellipse">
              <a:avLst/>
            </a:pr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50" name="文本框 49">
              <a:extLst>
                <a:ext uri="{FF2B5EF4-FFF2-40B4-BE49-F238E27FC236}">
                  <a16:creationId xmlns:a16="http://schemas.microsoft.com/office/drawing/2014/main" id="{4576FA75-CA9A-3556-8410-7D29F905CE01}"/>
                </a:ext>
              </a:extLst>
            </p:cNvPr>
            <p:cNvSpPr txBox="1"/>
            <p:nvPr>
              <p:custDataLst>
                <p:tags r:id="rId4"/>
              </p:custDataLst>
            </p:nvPr>
          </p:nvSpPr>
          <p:spPr>
            <a:xfrm>
              <a:off x="1417" y="1412"/>
              <a:ext cx="1581" cy="1210"/>
            </a:xfrm>
            <a:prstGeom prst="rect">
              <a:avLst/>
            </a:prstGeom>
            <a:noFill/>
          </p:spPr>
          <p:txBody>
            <a:bodyPr wrap="square" rtlCol="0">
              <a:spAutoFit/>
            </a:bodyPr>
            <a:lstStyle/>
            <a:p>
              <a:pPr algn="ctr"/>
              <a:r>
                <a:rPr lang="en-US" altLang="zh-CN" sz="4400" dirty="0">
                  <a:solidFill>
                    <a:schemeClr val="bg1"/>
                  </a:solidFill>
                  <a:latin typeface="Times New Roman" panose="02020603050405020304" pitchFamily="18" charset="0"/>
                  <a:cs typeface="Times New Roman" panose="02020603050405020304" pitchFamily="18" charset="0"/>
                  <a:sym typeface="+mn-lt"/>
                </a:rPr>
                <a:t>03</a:t>
              </a:r>
            </a:p>
          </p:txBody>
        </p:sp>
      </p:grpSp>
      <p:sp>
        <p:nvSpPr>
          <p:cNvPr id="19" name="Rectangle 2">
            <a:extLst>
              <a:ext uri="{FF2B5EF4-FFF2-40B4-BE49-F238E27FC236}">
                <a16:creationId xmlns:a16="http://schemas.microsoft.com/office/drawing/2014/main" id="{23A2FD34-FE2E-0D5B-5008-DED87389DB6A}"/>
              </a:ext>
            </a:extLst>
          </p:cNvPr>
          <p:cNvSpPr>
            <a:spLocks noChangeArrowheads="1"/>
          </p:cNvSpPr>
          <p:nvPr/>
        </p:nvSpPr>
        <p:spPr bwMode="auto">
          <a:xfrm>
            <a:off x="1425600" y="167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8" name="Rectangle 6">
            <a:extLst>
              <a:ext uri="{FF2B5EF4-FFF2-40B4-BE49-F238E27FC236}">
                <a16:creationId xmlns:a16="http://schemas.microsoft.com/office/drawing/2014/main" id="{EA6A869C-3BBE-CBBE-AAB8-19E0BB10CD07}"/>
              </a:ext>
            </a:extLst>
          </p:cNvPr>
          <p:cNvSpPr>
            <a:spLocks noChangeArrowheads="1"/>
          </p:cNvSpPr>
          <p:nvPr/>
        </p:nvSpPr>
        <p:spPr bwMode="auto">
          <a:xfrm>
            <a:off x="374015" y="48105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dirty="0"/>
          </a:p>
        </p:txBody>
      </p:sp>
      <p:sp>
        <p:nvSpPr>
          <p:cNvPr id="36" name="Rectangle 8">
            <a:extLst>
              <a:ext uri="{FF2B5EF4-FFF2-40B4-BE49-F238E27FC236}">
                <a16:creationId xmlns:a16="http://schemas.microsoft.com/office/drawing/2014/main" id="{09DDC8B5-C1E4-9FC7-504C-B8842A66999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a:extLst>
              <a:ext uri="{FF2B5EF4-FFF2-40B4-BE49-F238E27FC236}">
                <a16:creationId xmlns:a16="http://schemas.microsoft.com/office/drawing/2014/main" id="{EF122FD9-63B0-653E-8A2F-3A4FAF32316D}"/>
              </a:ext>
            </a:extLst>
          </p:cNvPr>
          <p:cNvSpPr txBox="1"/>
          <p:nvPr/>
        </p:nvSpPr>
        <p:spPr>
          <a:xfrm>
            <a:off x="626703" y="976540"/>
            <a:ext cx="10568968" cy="2694905"/>
          </a:xfrm>
          <a:prstGeom prst="rect">
            <a:avLst/>
          </a:prstGeom>
          <a:noFill/>
          <a:ln w="19050">
            <a:noFill/>
          </a:ln>
        </p:spPr>
        <p:txBody>
          <a:bodyPr wrap="square" rtlCol="0">
            <a:spAutoFit/>
          </a:bodyPr>
          <a:lstStyle/>
          <a:p>
            <a:pPr indent="457200">
              <a:lnSpc>
                <a:spcPct val="130000"/>
              </a:lnSpc>
              <a:spcAft>
                <a:spcPts val="600"/>
              </a:spcAft>
            </a:pPr>
            <a:r>
              <a:rPr lang="zh-CN" altLang="en-US" sz="2000" b="1" dirty="0"/>
              <a:t>真实案例：</a:t>
            </a:r>
            <a:r>
              <a:rPr lang="zh-CN" altLang="en-US" sz="2000" dirty="0"/>
              <a:t>虚拟参考点计算错误 → 无人机明明没到航点却判定完成</a:t>
            </a:r>
            <a:endParaRPr lang="en-US" altLang="zh-CN" sz="2000" b="1" dirty="0"/>
          </a:p>
          <a:p>
            <a:pPr indent="457200">
              <a:lnSpc>
                <a:spcPct val="130000"/>
              </a:lnSpc>
              <a:spcAft>
                <a:spcPts val="600"/>
              </a:spcAft>
            </a:pPr>
            <a:r>
              <a:rPr lang="zh-CN" altLang="en-US" dirty="0"/>
              <a:t>在无人运载工具（</a:t>
            </a:r>
            <a:r>
              <a:rPr lang="en-US" altLang="zh-CN" dirty="0"/>
              <a:t>RV</a:t>
            </a:r>
            <a:r>
              <a:rPr lang="zh-CN" altLang="en-US" dirty="0"/>
              <a:t>）中，虚拟参考点是轨迹规划器生成的期望位置，用于指导飞行控制与路径规划。由于无人运载工具的实际定位需要复杂的传感器融合计算，虚拟参考点为后续飞行决策提供了计算高效且过渡平滑的实现基础。在载体的控制逻辑中，任务是否完成通常依据该虚拟参考点是否在预设的误差半径内到达指定航点来判断。然而，虚拟参考点与无人运载工具的真实位置之间不可避免地存在偏差。虚拟参考点会无视风扰偏移或控制误差，持续沿规划路径推进，这可能导致系统在载体已严重偏离预定轨迹时，仍错误地判定任务完成。</a:t>
            </a:r>
            <a:endParaRPr lang="en-US" altLang="zh-CN" sz="2000" dirty="0">
              <a:latin typeface="苹方 中等" panose="020B0400000000000000" pitchFamily="34" charset="-122"/>
              <a:ea typeface="苹方 中等" panose="020B0400000000000000" pitchFamily="34" charset="-122"/>
              <a:cs typeface="Times New Roman" panose="02020603050405020304" pitchFamily="18" charset="0"/>
            </a:endParaRPr>
          </a:p>
        </p:txBody>
      </p:sp>
      <p:pic>
        <p:nvPicPr>
          <p:cNvPr id="6" name="图片 5">
            <a:extLst>
              <a:ext uri="{FF2B5EF4-FFF2-40B4-BE49-F238E27FC236}">
                <a16:creationId xmlns:a16="http://schemas.microsoft.com/office/drawing/2014/main" id="{116FB5FB-B61A-6C20-5ED5-8506DB6CD424}"/>
              </a:ext>
            </a:extLst>
          </p:cNvPr>
          <p:cNvPicPr>
            <a:picLocks noChangeAspect="1"/>
          </p:cNvPicPr>
          <p:nvPr/>
        </p:nvPicPr>
        <p:blipFill>
          <a:blip r:embed="rId7"/>
          <a:stretch>
            <a:fillRect/>
          </a:stretch>
        </p:blipFill>
        <p:spPr>
          <a:xfrm>
            <a:off x="2983818" y="4126685"/>
            <a:ext cx="4019048" cy="1885714"/>
          </a:xfrm>
          <a:prstGeom prst="rect">
            <a:avLst/>
          </a:prstGeom>
        </p:spPr>
      </p:pic>
    </p:spTree>
    <p:custDataLst>
      <p:tags r:id="rId1"/>
    </p:custDataLst>
    <p:extLst>
      <p:ext uri="{BB962C8B-B14F-4D97-AF65-F5344CB8AC3E}">
        <p14:creationId xmlns:p14="http://schemas.microsoft.com/office/powerpoint/2010/main" val="89084598"/>
      </p:ext>
    </p:extLst>
  </p:cSld>
  <p:clrMapOvr>
    <a:masterClrMapping/>
  </p:clrMapOvr>
  <mc:AlternateContent xmlns:mc="http://schemas.openxmlformats.org/markup-compatibility/2006" xmlns:p14="http://schemas.microsoft.com/office/powerpoint/2010/main">
    <mc:Choice Requires="p14">
      <p:transition spd="slow" p14:dur="2000" advTm="183526"/>
    </mc:Choice>
    <mc:Fallback xmlns="">
      <p:transition spd="slow" advTm="183526"/>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57629-2004-D052-3E58-51395DCF1516}"/>
            </a:ext>
          </a:extLst>
        </p:cNvPr>
        <p:cNvGrpSpPr/>
        <p:nvPr/>
      </p:nvGrpSpPr>
      <p:grpSpPr>
        <a:xfrm>
          <a:off x="0" y="0"/>
          <a:ext cx="0" cy="0"/>
          <a:chOff x="0" y="0"/>
          <a:chExt cx="0" cy="0"/>
        </a:xfrm>
      </p:grpSpPr>
      <p:sp>
        <p:nvSpPr>
          <p:cNvPr id="12" name="椭圆 11">
            <a:extLst>
              <a:ext uri="{FF2B5EF4-FFF2-40B4-BE49-F238E27FC236}">
                <a16:creationId xmlns:a16="http://schemas.microsoft.com/office/drawing/2014/main" id="{7C73E015-A895-50AE-0D23-1CD6837A7DE0}"/>
              </a:ext>
            </a:extLst>
          </p:cNvPr>
          <p:cNvSpPr/>
          <p:nvPr/>
        </p:nvSpPr>
        <p:spPr>
          <a:xfrm>
            <a:off x="137160" y="186690"/>
            <a:ext cx="236855" cy="236855"/>
          </a:xfrm>
          <a:prstGeom prst="ellipse">
            <a:avLst/>
          </a:prstGeom>
          <a:solidFill>
            <a:srgbClr val="ACBBDB">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10" name="文本框 9">
            <a:extLst>
              <a:ext uri="{FF2B5EF4-FFF2-40B4-BE49-F238E27FC236}">
                <a16:creationId xmlns:a16="http://schemas.microsoft.com/office/drawing/2014/main" id="{AF21AAC8-6C45-B97B-56DB-0798577D7105}"/>
              </a:ext>
            </a:extLst>
          </p:cNvPr>
          <p:cNvSpPr txBox="1"/>
          <p:nvPr>
            <p:custDataLst>
              <p:tags r:id="rId2"/>
            </p:custDataLst>
          </p:nvPr>
        </p:nvSpPr>
        <p:spPr>
          <a:xfrm>
            <a:off x="1083945" y="326688"/>
            <a:ext cx="2830830" cy="523240"/>
          </a:xfrm>
          <a:prstGeom prst="rect">
            <a:avLst/>
          </a:prstGeom>
          <a:noFill/>
        </p:spPr>
        <p:txBody>
          <a:bodyPr wrap="square" rtlCol="0">
            <a:spAutoFit/>
          </a:bodyPr>
          <a:lstStyle/>
          <a:p>
            <a:r>
              <a:rPr lang="zh-CN" altLang="en-US" sz="2800" dirty="0">
                <a:solidFill>
                  <a:srgbClr val="324769"/>
                </a:solidFill>
                <a:latin typeface="Times New Roman" panose="02020603050405020304" pitchFamily="18" charset="0"/>
                <a:cs typeface="+mn-ea"/>
                <a:sym typeface="+mn-lt"/>
              </a:rPr>
              <a:t>动机</a:t>
            </a:r>
            <a:endParaRPr lang="en-US" altLang="zh-CN" sz="2800" dirty="0">
              <a:solidFill>
                <a:srgbClr val="324769"/>
              </a:solidFill>
              <a:latin typeface="Times New Roman" panose="02020603050405020304" pitchFamily="18" charset="0"/>
              <a:cs typeface="+mn-ea"/>
              <a:sym typeface="+mn-lt"/>
            </a:endParaRPr>
          </a:p>
        </p:txBody>
      </p:sp>
      <p:grpSp>
        <p:nvGrpSpPr>
          <p:cNvPr id="4" name="组合 3">
            <a:extLst>
              <a:ext uri="{FF2B5EF4-FFF2-40B4-BE49-F238E27FC236}">
                <a16:creationId xmlns:a16="http://schemas.microsoft.com/office/drawing/2014/main" id="{978881FF-67F2-E832-8D45-DA12454B4A77}"/>
              </a:ext>
            </a:extLst>
          </p:cNvPr>
          <p:cNvGrpSpPr/>
          <p:nvPr/>
        </p:nvGrpSpPr>
        <p:grpSpPr>
          <a:xfrm>
            <a:off x="80010" y="198120"/>
            <a:ext cx="1003935" cy="768350"/>
            <a:chOff x="1417" y="1412"/>
            <a:chExt cx="1581" cy="1210"/>
          </a:xfrm>
        </p:grpSpPr>
        <p:sp>
          <p:nvSpPr>
            <p:cNvPr id="3" name="椭圆 2">
              <a:extLst>
                <a:ext uri="{FF2B5EF4-FFF2-40B4-BE49-F238E27FC236}">
                  <a16:creationId xmlns:a16="http://schemas.microsoft.com/office/drawing/2014/main" id="{79F17A5B-B72A-D04D-678E-C98CBF1CF110}"/>
                </a:ext>
              </a:extLst>
            </p:cNvPr>
            <p:cNvSpPr/>
            <p:nvPr>
              <p:custDataLst>
                <p:tags r:id="rId3"/>
              </p:custDataLst>
            </p:nvPr>
          </p:nvSpPr>
          <p:spPr>
            <a:xfrm>
              <a:off x="1617" y="1426"/>
              <a:ext cx="1182" cy="1182"/>
            </a:xfrm>
            <a:prstGeom prst="ellipse">
              <a:avLst/>
            </a:pr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50" name="文本框 49">
              <a:extLst>
                <a:ext uri="{FF2B5EF4-FFF2-40B4-BE49-F238E27FC236}">
                  <a16:creationId xmlns:a16="http://schemas.microsoft.com/office/drawing/2014/main" id="{5E1F1CB3-1195-C41B-0268-09CCFAD3001A}"/>
                </a:ext>
              </a:extLst>
            </p:cNvPr>
            <p:cNvSpPr txBox="1"/>
            <p:nvPr>
              <p:custDataLst>
                <p:tags r:id="rId4"/>
              </p:custDataLst>
            </p:nvPr>
          </p:nvSpPr>
          <p:spPr>
            <a:xfrm>
              <a:off x="1417" y="1412"/>
              <a:ext cx="1581" cy="1210"/>
            </a:xfrm>
            <a:prstGeom prst="rect">
              <a:avLst/>
            </a:prstGeom>
            <a:noFill/>
          </p:spPr>
          <p:txBody>
            <a:bodyPr wrap="square" rtlCol="0">
              <a:spAutoFit/>
            </a:bodyPr>
            <a:lstStyle/>
            <a:p>
              <a:pPr algn="ctr"/>
              <a:r>
                <a:rPr lang="en-US" altLang="zh-CN" sz="4400" dirty="0">
                  <a:solidFill>
                    <a:schemeClr val="bg1"/>
                  </a:solidFill>
                  <a:latin typeface="Times New Roman" panose="02020603050405020304" pitchFamily="18" charset="0"/>
                  <a:cs typeface="Times New Roman" panose="02020603050405020304" pitchFamily="18" charset="0"/>
                  <a:sym typeface="+mn-lt"/>
                </a:rPr>
                <a:t>03</a:t>
              </a:r>
            </a:p>
          </p:txBody>
        </p:sp>
      </p:grpSp>
      <p:sp>
        <p:nvSpPr>
          <p:cNvPr id="19" name="Rectangle 2">
            <a:extLst>
              <a:ext uri="{FF2B5EF4-FFF2-40B4-BE49-F238E27FC236}">
                <a16:creationId xmlns:a16="http://schemas.microsoft.com/office/drawing/2014/main" id="{7081B634-0646-7334-F939-3775122F4507}"/>
              </a:ext>
            </a:extLst>
          </p:cNvPr>
          <p:cNvSpPr>
            <a:spLocks noChangeArrowheads="1"/>
          </p:cNvSpPr>
          <p:nvPr/>
        </p:nvSpPr>
        <p:spPr bwMode="auto">
          <a:xfrm>
            <a:off x="1425600" y="167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8" name="Rectangle 6">
            <a:extLst>
              <a:ext uri="{FF2B5EF4-FFF2-40B4-BE49-F238E27FC236}">
                <a16:creationId xmlns:a16="http://schemas.microsoft.com/office/drawing/2014/main" id="{267E2FEC-477F-450D-7C53-0B0467A38250}"/>
              </a:ext>
            </a:extLst>
          </p:cNvPr>
          <p:cNvSpPr>
            <a:spLocks noChangeArrowheads="1"/>
          </p:cNvSpPr>
          <p:nvPr/>
        </p:nvSpPr>
        <p:spPr bwMode="auto">
          <a:xfrm>
            <a:off x="374015" y="48105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dirty="0"/>
          </a:p>
        </p:txBody>
      </p:sp>
      <p:sp>
        <p:nvSpPr>
          <p:cNvPr id="36" name="Rectangle 8">
            <a:extLst>
              <a:ext uri="{FF2B5EF4-FFF2-40B4-BE49-F238E27FC236}">
                <a16:creationId xmlns:a16="http://schemas.microsoft.com/office/drawing/2014/main" id="{B120134C-CB70-2FD3-BF69-83AA62118C0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a:extLst>
              <a:ext uri="{FF2B5EF4-FFF2-40B4-BE49-F238E27FC236}">
                <a16:creationId xmlns:a16="http://schemas.microsoft.com/office/drawing/2014/main" id="{601AB7E1-3999-7AF0-BCB6-BDC2B3FBB56E}"/>
              </a:ext>
            </a:extLst>
          </p:cNvPr>
          <p:cNvSpPr txBox="1"/>
          <p:nvPr/>
        </p:nvSpPr>
        <p:spPr>
          <a:xfrm>
            <a:off x="626703" y="976540"/>
            <a:ext cx="10568968" cy="6199646"/>
          </a:xfrm>
          <a:prstGeom prst="rect">
            <a:avLst/>
          </a:prstGeom>
          <a:noFill/>
          <a:ln w="19050">
            <a:noFill/>
          </a:ln>
        </p:spPr>
        <p:txBody>
          <a:bodyPr wrap="square" rtlCol="0">
            <a:spAutoFit/>
          </a:bodyPr>
          <a:lstStyle/>
          <a:p>
            <a:pPr indent="457200">
              <a:lnSpc>
                <a:spcPct val="130000"/>
              </a:lnSpc>
              <a:spcAft>
                <a:spcPts val="600"/>
              </a:spcAft>
            </a:pPr>
            <a:r>
              <a:rPr lang="zh-CN" altLang="en-US" sz="2000" b="1" dirty="0"/>
              <a:t>数据支撑：</a:t>
            </a:r>
            <a:r>
              <a:rPr lang="zh-CN" altLang="en-US" sz="2000" dirty="0"/>
              <a:t>分析 </a:t>
            </a:r>
            <a:r>
              <a:rPr lang="en-US" altLang="zh-CN" sz="2000" dirty="0" err="1"/>
              <a:t>ArduPilot</a:t>
            </a:r>
            <a:r>
              <a:rPr lang="en-US" altLang="zh-CN" sz="2000" dirty="0"/>
              <a:t> 10 </a:t>
            </a:r>
            <a:r>
              <a:rPr lang="zh-CN" altLang="en-US" sz="2000" dirty="0"/>
              <a:t>年 </a:t>
            </a:r>
            <a:r>
              <a:rPr lang="en-US" altLang="zh-CN" sz="2000" dirty="0"/>
              <a:t>819 </a:t>
            </a:r>
            <a:r>
              <a:rPr lang="zh-CN" altLang="en-US" sz="2000" dirty="0"/>
              <a:t>个 </a:t>
            </a:r>
            <a:r>
              <a:rPr lang="en-US" altLang="zh-CN" sz="2000" dirty="0"/>
              <a:t>bug</a:t>
            </a:r>
            <a:r>
              <a:rPr lang="zh-CN" altLang="en-US" sz="2000" dirty="0"/>
              <a:t>，</a:t>
            </a:r>
            <a:r>
              <a:rPr lang="en-US" altLang="zh-CN" sz="2000" dirty="0"/>
              <a:t>28.02% </a:t>
            </a:r>
            <a:r>
              <a:rPr lang="zh-CN" altLang="en-US" sz="2000" dirty="0"/>
              <a:t>是赋值语句缺陷</a:t>
            </a:r>
            <a:endParaRPr lang="en-US" altLang="zh-CN" sz="2000" b="1" dirty="0"/>
          </a:p>
          <a:p>
            <a:pPr indent="457200">
              <a:lnSpc>
                <a:spcPct val="130000"/>
              </a:lnSpc>
              <a:spcAft>
                <a:spcPts val="600"/>
              </a:spcAft>
            </a:pPr>
            <a:r>
              <a:rPr lang="zh-CN" altLang="en-US" dirty="0"/>
              <a:t>为了探究赋值语句引发的缺陷是否在机器人车辆（</a:t>
            </a:r>
            <a:r>
              <a:rPr lang="en-US" altLang="zh-CN" dirty="0"/>
              <a:t>RVs</a:t>
            </a:r>
            <a:r>
              <a:rPr lang="zh-CN" altLang="en-US" dirty="0"/>
              <a:t>）中普遍存在，我们针对开源软件 </a:t>
            </a:r>
            <a:r>
              <a:rPr lang="en-US" altLang="zh-CN" dirty="0" err="1"/>
              <a:t>ArduPilot</a:t>
            </a:r>
            <a:r>
              <a:rPr lang="en-US" altLang="zh-CN" dirty="0"/>
              <a:t> </a:t>
            </a:r>
            <a:r>
              <a:rPr lang="zh-CN" altLang="en-US" dirty="0"/>
              <a:t>的问题报告开展了一项探索性研究。我们分析了过去</a:t>
            </a:r>
            <a:r>
              <a:rPr lang="en-US" altLang="zh-CN" dirty="0"/>
              <a:t>10</a:t>
            </a:r>
            <a:r>
              <a:rPr lang="zh-CN" altLang="en-US" dirty="0"/>
              <a:t>年（</a:t>
            </a:r>
            <a:r>
              <a:rPr lang="en-US" altLang="zh-CN" dirty="0"/>
              <a:t>2015</a:t>
            </a:r>
            <a:r>
              <a:rPr lang="zh-CN" altLang="en-US" dirty="0"/>
              <a:t>年</a:t>
            </a:r>
            <a:r>
              <a:rPr lang="en-US" altLang="zh-CN" dirty="0"/>
              <a:t>1</a:t>
            </a:r>
            <a:r>
              <a:rPr lang="zh-CN" altLang="en-US" dirty="0"/>
              <a:t>月至</a:t>
            </a:r>
            <a:r>
              <a:rPr lang="en-US" altLang="zh-CN" dirty="0"/>
              <a:t>2025</a:t>
            </a:r>
            <a:r>
              <a:rPr lang="zh-CN" altLang="en-US" dirty="0"/>
              <a:t>年</a:t>
            </a:r>
            <a:r>
              <a:rPr lang="en-US" altLang="zh-CN" dirty="0"/>
              <a:t>1</a:t>
            </a:r>
            <a:r>
              <a:rPr lang="zh-CN" altLang="en-US" dirty="0"/>
              <a:t>月）内所有</a:t>
            </a:r>
            <a:r>
              <a:rPr lang="en-US" altLang="zh-CN" dirty="0"/>
              <a:t>819</a:t>
            </a:r>
            <a:r>
              <a:rPr lang="zh-CN" altLang="en-US" dirty="0"/>
              <a:t>个标记为“缺陷（</a:t>
            </a:r>
            <a:r>
              <a:rPr lang="en-US" altLang="zh-CN" dirty="0"/>
              <a:t>BUG</a:t>
            </a:r>
            <a:r>
              <a:rPr lang="zh-CN" altLang="en-US" dirty="0"/>
              <a:t>）”的问题。需要重点说明的是，我们剔除了与语义或逻辑缺陷无关的问题（例如编译错误、显示故障、功能增强以及算法调整）。</a:t>
            </a:r>
            <a:endParaRPr lang="en-US" altLang="zh-CN" dirty="0"/>
          </a:p>
          <a:p>
            <a:pPr indent="457200">
              <a:lnSpc>
                <a:spcPct val="130000"/>
              </a:lnSpc>
              <a:spcAft>
                <a:spcPts val="600"/>
              </a:spcAft>
            </a:pPr>
            <a:r>
              <a:rPr lang="zh-CN" altLang="en-US" dirty="0"/>
              <a:t>通过分析这些问题中的修复代码，我们将其分为五类：赋值语句修正、逻辑增删、函数调用修改、对函数返回类型或数值单位的修改，以及对默认值的调整。结果如表一所示。我们发现</a:t>
            </a:r>
            <a:r>
              <a:rPr lang="en-US" altLang="zh-CN" dirty="0"/>
              <a:t>28.02%</a:t>
            </a:r>
            <a:r>
              <a:rPr lang="zh-CN" altLang="en-US" dirty="0"/>
              <a:t>的漏洞是由错误的参数赋值直接导致的。基于这一发现，我们设计了</a:t>
            </a:r>
            <a:r>
              <a:rPr lang="en-US" altLang="zh-CN" dirty="0"/>
              <a:t>ADGFUZZ</a:t>
            </a:r>
            <a:r>
              <a:rPr lang="zh-CN" altLang="en-US" dirty="0"/>
              <a:t>来检测源自此类模式的漏洞。剩余</a:t>
            </a:r>
            <a:r>
              <a:rPr lang="en-US" altLang="zh-CN" dirty="0"/>
              <a:t>71.98%</a:t>
            </a:r>
            <a:r>
              <a:rPr lang="zh-CN" altLang="en-US" dirty="0"/>
              <a:t>的漏洞由输入缺失导致，且大多数在开发过程中被发现并修复，因此几乎无法复现。</a:t>
            </a:r>
            <a:endParaRPr lang="en-US" altLang="zh-CN" dirty="0"/>
          </a:p>
          <a:p>
            <a:pPr indent="457200">
              <a:lnSpc>
                <a:spcPct val="130000"/>
              </a:lnSpc>
              <a:spcAft>
                <a:spcPts val="600"/>
              </a:spcAft>
            </a:pPr>
            <a:r>
              <a:rPr lang="zh-CN" altLang="en-US" sz="2000" b="1" dirty="0"/>
              <a:t>威胁模型：</a:t>
            </a:r>
            <a:r>
              <a:rPr lang="zh-CN" altLang="en-US" sz="2000" dirty="0"/>
              <a:t>关注：赋值语句实现缺陷</a:t>
            </a:r>
            <a:endParaRPr lang="en-US" altLang="zh-CN" sz="2000" dirty="0"/>
          </a:p>
          <a:p>
            <a:pPr indent="457200">
              <a:lnSpc>
                <a:spcPct val="130000"/>
              </a:lnSpc>
              <a:spcAft>
                <a:spcPts val="600"/>
              </a:spcAft>
            </a:pPr>
            <a:r>
              <a:rPr lang="zh-CN" altLang="en-US" sz="2000" dirty="0">
                <a:solidFill>
                  <a:srgbClr val="FF0000"/>
                </a:solidFill>
              </a:rPr>
              <a:t>本文主要聚焦于赋值语句中的实现缺陷</a:t>
            </a:r>
            <a:r>
              <a:rPr lang="zh-CN" altLang="en-US" sz="2000" dirty="0"/>
              <a:t>。由于</a:t>
            </a:r>
            <a:r>
              <a:rPr lang="en-US" altLang="zh-CN" sz="2000" dirty="0"/>
              <a:t>RV</a:t>
            </a:r>
            <a:r>
              <a:rPr lang="zh-CN" altLang="en-US" sz="2000" dirty="0"/>
              <a:t>软件中的许多配置参数和控制命令均支持用户配置，此类缺陷的存在会使系统对配置错误较为敏感。用户可能会无意设置超出常规或合理范围的值，进而触发非预期行为，危及</a:t>
            </a:r>
            <a:r>
              <a:rPr lang="en-US" altLang="zh-CN" sz="2000" dirty="0"/>
              <a:t>RV</a:t>
            </a:r>
            <a:r>
              <a:rPr lang="zh-CN" altLang="en-US" sz="2000" dirty="0"/>
              <a:t>的运行安全。因此，我们的方法主要通过解决赋值语句中的实现缺陷，助力软件质量保障工作。</a:t>
            </a:r>
            <a:endParaRPr lang="en-US" altLang="zh-CN" sz="2400" dirty="0">
              <a:latin typeface="苹方 中等" panose="020B0400000000000000" pitchFamily="34" charset="-122"/>
              <a:ea typeface="苹方 中等" panose="020B0400000000000000" pitchFamily="34" charset="-122"/>
              <a:cs typeface="Times New Roman" panose="02020603050405020304" pitchFamily="18" charset="0"/>
            </a:endParaRPr>
          </a:p>
          <a:p>
            <a:pPr indent="457200">
              <a:lnSpc>
                <a:spcPct val="130000"/>
              </a:lnSpc>
              <a:spcAft>
                <a:spcPts val="600"/>
              </a:spcAft>
            </a:pPr>
            <a:endParaRPr lang="en-US" altLang="zh-CN" sz="2000" dirty="0">
              <a:latin typeface="苹方 中等" panose="020B0400000000000000" pitchFamily="34" charset="-122"/>
              <a:ea typeface="苹方 中等" panose="020B0400000000000000" pitchFamily="34"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3777664520"/>
      </p:ext>
    </p:extLst>
  </p:cSld>
  <p:clrMapOvr>
    <a:masterClrMapping/>
  </p:clrMapOvr>
  <mc:AlternateContent xmlns:mc="http://schemas.openxmlformats.org/markup-compatibility/2006" xmlns:p14="http://schemas.microsoft.com/office/powerpoint/2010/main">
    <mc:Choice Requires="p14">
      <p:transition spd="slow" p14:dur="2000" advTm="183526"/>
    </mc:Choice>
    <mc:Fallback xmlns="">
      <p:transition spd="slow" advTm="183526"/>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7B9B4-105F-58EC-39EB-D76A7C4A4566}"/>
            </a:ext>
          </a:extLst>
        </p:cNvPr>
        <p:cNvGrpSpPr/>
        <p:nvPr/>
      </p:nvGrpSpPr>
      <p:grpSpPr>
        <a:xfrm>
          <a:off x="0" y="0"/>
          <a:ext cx="0" cy="0"/>
          <a:chOff x="0" y="0"/>
          <a:chExt cx="0" cy="0"/>
        </a:xfrm>
      </p:grpSpPr>
      <p:sp>
        <p:nvSpPr>
          <p:cNvPr id="12" name="椭圆 11">
            <a:extLst>
              <a:ext uri="{FF2B5EF4-FFF2-40B4-BE49-F238E27FC236}">
                <a16:creationId xmlns:a16="http://schemas.microsoft.com/office/drawing/2014/main" id="{5EC350EF-A5AC-4CD8-80A1-5444797ADFE5}"/>
              </a:ext>
            </a:extLst>
          </p:cNvPr>
          <p:cNvSpPr/>
          <p:nvPr/>
        </p:nvSpPr>
        <p:spPr>
          <a:xfrm>
            <a:off x="137160" y="186690"/>
            <a:ext cx="236855" cy="236855"/>
          </a:xfrm>
          <a:prstGeom prst="ellipse">
            <a:avLst/>
          </a:prstGeom>
          <a:solidFill>
            <a:srgbClr val="ACBBDB">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10" name="文本框 9">
            <a:extLst>
              <a:ext uri="{FF2B5EF4-FFF2-40B4-BE49-F238E27FC236}">
                <a16:creationId xmlns:a16="http://schemas.microsoft.com/office/drawing/2014/main" id="{9CA93DE5-2802-E4F0-4C06-52EFA5B14933}"/>
              </a:ext>
            </a:extLst>
          </p:cNvPr>
          <p:cNvSpPr txBox="1"/>
          <p:nvPr>
            <p:custDataLst>
              <p:tags r:id="rId2"/>
            </p:custDataLst>
          </p:nvPr>
        </p:nvSpPr>
        <p:spPr>
          <a:xfrm>
            <a:off x="1083945" y="326688"/>
            <a:ext cx="2830830" cy="523240"/>
          </a:xfrm>
          <a:prstGeom prst="rect">
            <a:avLst/>
          </a:prstGeom>
          <a:noFill/>
        </p:spPr>
        <p:txBody>
          <a:bodyPr wrap="square" rtlCol="0">
            <a:spAutoFit/>
          </a:bodyPr>
          <a:lstStyle/>
          <a:p>
            <a:r>
              <a:rPr lang="zh-CN" altLang="en-US" sz="2800" dirty="0">
                <a:solidFill>
                  <a:srgbClr val="324769"/>
                </a:solidFill>
                <a:latin typeface="Times New Roman" panose="02020603050405020304" pitchFamily="18" charset="0"/>
                <a:cs typeface="+mn-ea"/>
                <a:sym typeface="+mn-lt"/>
              </a:rPr>
              <a:t>背景总结</a:t>
            </a:r>
            <a:endParaRPr lang="en-US" altLang="zh-CN" sz="2800" dirty="0">
              <a:solidFill>
                <a:srgbClr val="324769"/>
              </a:solidFill>
              <a:latin typeface="Times New Roman" panose="02020603050405020304" pitchFamily="18" charset="0"/>
              <a:cs typeface="+mn-ea"/>
              <a:sym typeface="+mn-lt"/>
            </a:endParaRPr>
          </a:p>
        </p:txBody>
      </p:sp>
      <p:grpSp>
        <p:nvGrpSpPr>
          <p:cNvPr id="4" name="组合 3">
            <a:extLst>
              <a:ext uri="{FF2B5EF4-FFF2-40B4-BE49-F238E27FC236}">
                <a16:creationId xmlns:a16="http://schemas.microsoft.com/office/drawing/2014/main" id="{ACBADCC0-FB39-2FDA-BC49-43E2EC14E21E}"/>
              </a:ext>
            </a:extLst>
          </p:cNvPr>
          <p:cNvGrpSpPr/>
          <p:nvPr/>
        </p:nvGrpSpPr>
        <p:grpSpPr>
          <a:xfrm>
            <a:off x="80010" y="198120"/>
            <a:ext cx="1003935" cy="768350"/>
            <a:chOff x="1417" y="1412"/>
            <a:chExt cx="1581" cy="1210"/>
          </a:xfrm>
        </p:grpSpPr>
        <p:sp>
          <p:nvSpPr>
            <p:cNvPr id="3" name="椭圆 2">
              <a:extLst>
                <a:ext uri="{FF2B5EF4-FFF2-40B4-BE49-F238E27FC236}">
                  <a16:creationId xmlns:a16="http://schemas.microsoft.com/office/drawing/2014/main" id="{FB766AF2-5EC7-422A-8886-8F870727D888}"/>
                </a:ext>
              </a:extLst>
            </p:cNvPr>
            <p:cNvSpPr/>
            <p:nvPr>
              <p:custDataLst>
                <p:tags r:id="rId3"/>
              </p:custDataLst>
            </p:nvPr>
          </p:nvSpPr>
          <p:spPr>
            <a:xfrm>
              <a:off x="1617" y="1426"/>
              <a:ext cx="1182" cy="1182"/>
            </a:xfrm>
            <a:prstGeom prst="ellipse">
              <a:avLst/>
            </a:pr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50" name="文本框 49">
              <a:extLst>
                <a:ext uri="{FF2B5EF4-FFF2-40B4-BE49-F238E27FC236}">
                  <a16:creationId xmlns:a16="http://schemas.microsoft.com/office/drawing/2014/main" id="{061CDB37-E238-A0A8-5447-0743D5998C46}"/>
                </a:ext>
              </a:extLst>
            </p:cNvPr>
            <p:cNvSpPr txBox="1"/>
            <p:nvPr>
              <p:custDataLst>
                <p:tags r:id="rId4"/>
              </p:custDataLst>
            </p:nvPr>
          </p:nvSpPr>
          <p:spPr>
            <a:xfrm>
              <a:off x="1417" y="1412"/>
              <a:ext cx="1581" cy="1210"/>
            </a:xfrm>
            <a:prstGeom prst="rect">
              <a:avLst/>
            </a:prstGeom>
            <a:noFill/>
          </p:spPr>
          <p:txBody>
            <a:bodyPr wrap="square" rtlCol="0">
              <a:spAutoFit/>
            </a:bodyPr>
            <a:lstStyle/>
            <a:p>
              <a:pPr algn="ctr"/>
              <a:r>
                <a:rPr lang="en-US" altLang="zh-CN" sz="4400" dirty="0">
                  <a:solidFill>
                    <a:schemeClr val="bg1"/>
                  </a:solidFill>
                  <a:latin typeface="Times New Roman" panose="02020603050405020304" pitchFamily="18" charset="0"/>
                  <a:cs typeface="Times New Roman" panose="02020603050405020304" pitchFamily="18" charset="0"/>
                  <a:sym typeface="+mn-lt"/>
                </a:rPr>
                <a:t>02</a:t>
              </a:r>
            </a:p>
          </p:txBody>
        </p:sp>
      </p:grpSp>
      <p:sp>
        <p:nvSpPr>
          <p:cNvPr id="19" name="Rectangle 2">
            <a:extLst>
              <a:ext uri="{FF2B5EF4-FFF2-40B4-BE49-F238E27FC236}">
                <a16:creationId xmlns:a16="http://schemas.microsoft.com/office/drawing/2014/main" id="{4A22A3F7-5925-0FE2-5EA9-3929C78DF114}"/>
              </a:ext>
            </a:extLst>
          </p:cNvPr>
          <p:cNvSpPr>
            <a:spLocks noChangeArrowheads="1"/>
          </p:cNvSpPr>
          <p:nvPr/>
        </p:nvSpPr>
        <p:spPr bwMode="auto">
          <a:xfrm>
            <a:off x="1425600" y="167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8" name="Rectangle 6">
            <a:extLst>
              <a:ext uri="{FF2B5EF4-FFF2-40B4-BE49-F238E27FC236}">
                <a16:creationId xmlns:a16="http://schemas.microsoft.com/office/drawing/2014/main" id="{9955854B-6876-7299-DA05-FFA9B78DD70A}"/>
              </a:ext>
            </a:extLst>
          </p:cNvPr>
          <p:cNvSpPr>
            <a:spLocks noChangeArrowheads="1"/>
          </p:cNvSpPr>
          <p:nvPr/>
        </p:nvSpPr>
        <p:spPr bwMode="auto">
          <a:xfrm>
            <a:off x="374015" y="48105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dirty="0"/>
          </a:p>
        </p:txBody>
      </p:sp>
      <p:sp>
        <p:nvSpPr>
          <p:cNvPr id="36" name="Rectangle 8">
            <a:extLst>
              <a:ext uri="{FF2B5EF4-FFF2-40B4-BE49-F238E27FC236}">
                <a16:creationId xmlns:a16="http://schemas.microsoft.com/office/drawing/2014/main" id="{8566D1B5-6188-9A5A-1DDE-BBEDFA277C5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a:extLst>
              <a:ext uri="{FF2B5EF4-FFF2-40B4-BE49-F238E27FC236}">
                <a16:creationId xmlns:a16="http://schemas.microsoft.com/office/drawing/2014/main" id="{ACF824F9-11E7-1FA9-74E1-D16392F9A384}"/>
              </a:ext>
            </a:extLst>
          </p:cNvPr>
          <p:cNvSpPr txBox="1"/>
          <p:nvPr/>
        </p:nvSpPr>
        <p:spPr>
          <a:xfrm>
            <a:off x="1083944" y="2951820"/>
            <a:ext cx="9090203" cy="1323439"/>
          </a:xfrm>
          <a:prstGeom prst="rect">
            <a:avLst/>
          </a:prstGeom>
          <a:noFill/>
          <a:ln w="19050">
            <a:noFill/>
          </a:ln>
        </p:spPr>
        <p:txBody>
          <a:bodyPr wrap="square" rtlCol="0">
            <a:spAutoFit/>
          </a:bodyPr>
          <a:lstStyle/>
          <a:p>
            <a:r>
              <a:rPr lang="zh-CN" altLang="en-US" sz="2000" b="1" dirty="0"/>
              <a:t>章节整体顺序</a:t>
            </a:r>
            <a:endParaRPr lang="en-US" altLang="zh-CN" sz="2000" b="1" dirty="0"/>
          </a:p>
          <a:p>
            <a:r>
              <a:rPr lang="zh-CN" altLang="en-US" sz="2000" dirty="0"/>
              <a:t>真实案例→ 数据支撑→ 威胁模型（关注赋值语句部分）</a:t>
            </a:r>
            <a:endParaRPr lang="en-US" altLang="zh-CN" sz="2000" dirty="0"/>
          </a:p>
          <a:p>
            <a:r>
              <a:rPr lang="zh-CN" altLang="en-US" sz="2000" b="1" dirty="0"/>
              <a:t>章节作用：</a:t>
            </a:r>
            <a:br>
              <a:rPr lang="en-US" altLang="zh-CN" sz="2000" dirty="0"/>
            </a:br>
            <a:r>
              <a:rPr lang="zh-CN" altLang="en-US" sz="2000" dirty="0"/>
              <a:t>通过“案例 </a:t>
            </a:r>
            <a:r>
              <a:rPr lang="en-US" altLang="zh-CN" sz="2000" dirty="0"/>
              <a:t>+ </a:t>
            </a:r>
            <a:r>
              <a:rPr lang="zh-CN" altLang="en-US" sz="2000" dirty="0"/>
              <a:t>数据” 双重说服</a:t>
            </a:r>
          </a:p>
        </p:txBody>
      </p:sp>
    </p:spTree>
    <p:custDataLst>
      <p:tags r:id="rId1"/>
    </p:custDataLst>
    <p:extLst>
      <p:ext uri="{BB962C8B-B14F-4D97-AF65-F5344CB8AC3E}">
        <p14:creationId xmlns:p14="http://schemas.microsoft.com/office/powerpoint/2010/main" val="341050583"/>
      </p:ext>
    </p:extLst>
  </p:cSld>
  <p:clrMapOvr>
    <a:masterClrMapping/>
  </p:clrMapOvr>
  <mc:AlternateContent xmlns:mc="http://schemas.openxmlformats.org/markup-compatibility/2006" xmlns:p14="http://schemas.microsoft.com/office/powerpoint/2010/main">
    <mc:Choice Requires="p14">
      <p:transition spd="slow" p14:dur="2000" advTm="183526"/>
    </mc:Choice>
    <mc:Fallback xmlns="">
      <p:transition spd="slow" advTm="183526"/>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2074430" y="2717482"/>
            <a:ext cx="4910667" cy="769441"/>
          </a:xfrm>
          <a:prstGeom prst="rect">
            <a:avLst/>
          </a:prstGeom>
          <a:noFill/>
        </p:spPr>
        <p:txBody>
          <a:bodyPr wrap="square" rtlCol="0">
            <a:spAutoFit/>
          </a:bodyPr>
          <a:lstStyle>
            <a:defPPr>
              <a:defRPr lang="zh-CN"/>
            </a:defPPr>
            <a:lvl1pPr algn="dist">
              <a:defRPr sz="4400" b="1">
                <a:solidFill>
                  <a:srgbClr val="324769"/>
                </a:solidFill>
                <a:latin typeface="Arial" panose="020B0604020202020204"/>
                <a:ea typeface="微软雅黑" panose="020B0503020204020204" pitchFamily="34" charset="-122"/>
                <a:cs typeface="汉仪中宋简" panose="02010609000101010101" charset="-128"/>
              </a:defRPr>
            </a:lvl1pPr>
          </a:lstStyle>
          <a:p>
            <a:pPr algn="l"/>
            <a:r>
              <a:rPr lang="zh-CN" altLang="en-US" dirty="0">
                <a:latin typeface="+mn-lt"/>
                <a:ea typeface="+mn-ea"/>
                <a:cs typeface="+mn-ea"/>
                <a:sym typeface="+mn-lt"/>
              </a:rPr>
              <a:t>研究方法</a:t>
            </a:r>
          </a:p>
        </p:txBody>
      </p:sp>
      <p:grpSp>
        <p:nvGrpSpPr>
          <p:cNvPr id="3" name="组合 2"/>
          <p:cNvGrpSpPr/>
          <p:nvPr/>
        </p:nvGrpSpPr>
        <p:grpSpPr>
          <a:xfrm>
            <a:off x="184785" y="2346960"/>
            <a:ext cx="1684655" cy="1445260"/>
            <a:chOff x="909" y="4569"/>
            <a:chExt cx="2653" cy="2276"/>
          </a:xfrm>
        </p:grpSpPr>
        <p:sp>
          <p:nvSpPr>
            <p:cNvPr id="12" name="椭圆 11"/>
            <p:cNvSpPr/>
            <p:nvPr/>
          </p:nvSpPr>
          <p:spPr>
            <a:xfrm>
              <a:off x="2306" y="4674"/>
              <a:ext cx="957" cy="957"/>
            </a:xfrm>
            <a:prstGeom prst="ellipse">
              <a:avLst/>
            </a:prstGeom>
            <a:solidFill>
              <a:srgbClr val="D0E1F7">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0" name="文本框 49"/>
            <p:cNvSpPr txBox="1"/>
            <p:nvPr/>
          </p:nvSpPr>
          <p:spPr>
            <a:xfrm>
              <a:off x="909" y="4569"/>
              <a:ext cx="2653" cy="2276"/>
            </a:xfrm>
            <a:prstGeom prst="rect">
              <a:avLst/>
            </a:prstGeom>
            <a:noFill/>
          </p:spPr>
          <p:txBody>
            <a:bodyPr wrap="square" rtlCol="0">
              <a:spAutoFit/>
            </a:bodyPr>
            <a:lstStyle/>
            <a:p>
              <a:pPr algn="ctr"/>
              <a:r>
                <a:rPr lang="en-US" altLang="zh-CN" sz="8800" dirty="0">
                  <a:solidFill>
                    <a:srgbClr val="324769"/>
                  </a:solidFill>
                  <a:cs typeface="+mn-ea"/>
                  <a:sym typeface="+mn-lt"/>
                </a:rPr>
                <a:t>04</a:t>
              </a:r>
            </a:p>
          </p:txBody>
        </p:sp>
      </p:grpSp>
      <p:cxnSp>
        <p:nvCxnSpPr>
          <p:cNvPr id="32" name="直接连接符 31"/>
          <p:cNvCxnSpPr/>
          <p:nvPr/>
        </p:nvCxnSpPr>
        <p:spPr>
          <a:xfrm>
            <a:off x="530225" y="3720465"/>
            <a:ext cx="5784850" cy="0"/>
          </a:xfrm>
          <a:prstGeom prst="line">
            <a:avLst/>
          </a:prstGeom>
          <a:ln w="28575" cmpd="thickThin">
            <a:solidFill>
              <a:srgbClr val="324769"/>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316"/>
    </mc:Choice>
    <mc:Fallback xmlns="">
      <p:transition spd="slow" advTm="7316"/>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椭圆 11"/>
          <p:cNvSpPr/>
          <p:nvPr/>
        </p:nvSpPr>
        <p:spPr>
          <a:xfrm>
            <a:off x="137160" y="186690"/>
            <a:ext cx="236855" cy="236855"/>
          </a:xfrm>
          <a:prstGeom prst="ellipse">
            <a:avLst/>
          </a:prstGeom>
          <a:solidFill>
            <a:srgbClr val="ACBBDB">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10" name="文本框 9"/>
          <p:cNvSpPr txBox="1"/>
          <p:nvPr>
            <p:custDataLst>
              <p:tags r:id="rId2"/>
            </p:custDataLst>
          </p:nvPr>
        </p:nvSpPr>
        <p:spPr>
          <a:xfrm>
            <a:off x="1083944" y="326688"/>
            <a:ext cx="3438359" cy="523220"/>
          </a:xfrm>
          <a:prstGeom prst="rect">
            <a:avLst/>
          </a:prstGeom>
          <a:noFill/>
        </p:spPr>
        <p:txBody>
          <a:bodyPr wrap="square" rtlCol="0">
            <a:spAutoFit/>
          </a:bodyPr>
          <a:lstStyle/>
          <a:p>
            <a:r>
              <a:rPr lang="zh-CN" altLang="en-US" sz="2800" dirty="0">
                <a:solidFill>
                  <a:srgbClr val="324769"/>
                </a:solidFill>
                <a:latin typeface="Times New Roman" panose="02020603050405020304" pitchFamily="18" charset="0"/>
                <a:cs typeface="+mn-ea"/>
                <a:sym typeface="+mn-lt"/>
              </a:rPr>
              <a:t>研究方法</a:t>
            </a:r>
            <a:endParaRPr lang="en-US" altLang="zh-CN" sz="2800" dirty="0">
              <a:solidFill>
                <a:srgbClr val="324769"/>
              </a:solidFill>
              <a:latin typeface="Times New Roman" panose="02020603050405020304" pitchFamily="18" charset="0"/>
              <a:cs typeface="+mn-ea"/>
              <a:sym typeface="+mn-lt"/>
            </a:endParaRPr>
          </a:p>
        </p:txBody>
      </p:sp>
      <p:grpSp>
        <p:nvGrpSpPr>
          <p:cNvPr id="4" name="组合 3"/>
          <p:cNvGrpSpPr/>
          <p:nvPr/>
        </p:nvGrpSpPr>
        <p:grpSpPr>
          <a:xfrm>
            <a:off x="80010" y="198120"/>
            <a:ext cx="1003935" cy="768350"/>
            <a:chOff x="1417" y="1412"/>
            <a:chExt cx="1581" cy="1210"/>
          </a:xfrm>
        </p:grpSpPr>
        <p:sp>
          <p:nvSpPr>
            <p:cNvPr id="3" name="椭圆 2"/>
            <p:cNvSpPr/>
            <p:nvPr>
              <p:custDataLst>
                <p:tags r:id="rId3"/>
              </p:custDataLst>
            </p:nvPr>
          </p:nvSpPr>
          <p:spPr>
            <a:xfrm>
              <a:off x="1617" y="1426"/>
              <a:ext cx="1182" cy="1182"/>
            </a:xfrm>
            <a:prstGeom prst="ellipse">
              <a:avLst/>
            </a:pr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50" name="文本框 49"/>
            <p:cNvSpPr txBox="1"/>
            <p:nvPr>
              <p:custDataLst>
                <p:tags r:id="rId4"/>
              </p:custDataLst>
            </p:nvPr>
          </p:nvSpPr>
          <p:spPr>
            <a:xfrm>
              <a:off x="1417" y="1412"/>
              <a:ext cx="1581" cy="1210"/>
            </a:xfrm>
            <a:prstGeom prst="rect">
              <a:avLst/>
            </a:prstGeom>
            <a:noFill/>
          </p:spPr>
          <p:txBody>
            <a:bodyPr wrap="square" rtlCol="0">
              <a:spAutoFit/>
            </a:bodyPr>
            <a:lstStyle/>
            <a:p>
              <a:pPr algn="ctr"/>
              <a:r>
                <a:rPr lang="en-US" altLang="zh-CN" sz="4400" dirty="0">
                  <a:solidFill>
                    <a:schemeClr val="bg1"/>
                  </a:solidFill>
                  <a:latin typeface="Times New Roman" panose="02020603050405020304" pitchFamily="18" charset="0"/>
                  <a:cs typeface="Times New Roman" panose="02020603050405020304" pitchFamily="18" charset="0"/>
                  <a:sym typeface="+mn-lt"/>
                </a:rPr>
                <a:t>04</a:t>
              </a:r>
            </a:p>
          </p:txBody>
        </p:sp>
      </p:grpSp>
      <p:sp>
        <p:nvSpPr>
          <p:cNvPr id="19" name="Rectangle 2"/>
          <p:cNvSpPr>
            <a:spLocks noChangeArrowheads="1"/>
          </p:cNvSpPr>
          <p:nvPr/>
        </p:nvSpPr>
        <p:spPr bwMode="auto">
          <a:xfrm>
            <a:off x="1425600" y="167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文本框 10"/>
          <p:cNvSpPr txBox="1"/>
          <p:nvPr/>
        </p:nvSpPr>
        <p:spPr>
          <a:xfrm>
            <a:off x="-1" y="976540"/>
            <a:ext cx="12192000" cy="3059492"/>
          </a:xfrm>
          <a:prstGeom prst="rect">
            <a:avLst/>
          </a:prstGeom>
          <a:noFill/>
          <a:ln w="19050">
            <a:noFill/>
          </a:ln>
        </p:spPr>
        <p:txBody>
          <a:bodyPr wrap="square" rtlCol="0">
            <a:spAutoFit/>
          </a:bodyPr>
          <a:lstStyle/>
          <a:p>
            <a:pPr lvl="1" indent="457200">
              <a:lnSpc>
                <a:spcPct val="130000"/>
              </a:lnSpc>
              <a:spcAft>
                <a:spcPts val="600"/>
              </a:spcAft>
            </a:pPr>
            <a:r>
              <a:rPr lang="en-US" altLang="zh-CN" sz="2000" b="1" dirty="0">
                <a:latin typeface="Times New Roman" panose="02020603050405020304" pitchFamily="18" charset="0"/>
                <a:ea typeface="苹方 中等" panose="020B0400000000000000" pitchFamily="34" charset="-122"/>
                <a:cs typeface="Times New Roman" panose="02020603050405020304" pitchFamily="18" charset="0"/>
              </a:rPr>
              <a:t>4.1</a:t>
            </a:r>
            <a:r>
              <a:rPr lang="zh-CN" altLang="en-US" sz="2000" b="1" dirty="0">
                <a:latin typeface="Times New Roman" panose="02020603050405020304" pitchFamily="18" charset="0"/>
                <a:ea typeface="苹方 中等" panose="020B0400000000000000" pitchFamily="34" charset="-122"/>
                <a:cs typeface="Times New Roman" panose="02020603050405020304" pitchFamily="18" charset="0"/>
              </a:rPr>
              <a:t>总览</a:t>
            </a:r>
            <a:r>
              <a:rPr lang="zh-CN" altLang="en-US" sz="2000" dirty="0">
                <a:latin typeface="Times New Roman" panose="02020603050405020304" pitchFamily="18" charset="0"/>
                <a:ea typeface="苹方 中等" panose="020B0400000000000000" pitchFamily="34" charset="-122"/>
                <a:cs typeface="Times New Roman" panose="02020603050405020304" pitchFamily="18" charset="0"/>
              </a:rPr>
              <a:t>：</a:t>
            </a:r>
            <a:r>
              <a:rPr lang="zh-CN" altLang="en-US" sz="2000" dirty="0"/>
              <a:t>静态建 </a:t>
            </a:r>
            <a:r>
              <a:rPr lang="en-US" altLang="zh-CN" sz="2000" dirty="0"/>
              <a:t>ADG → </a:t>
            </a:r>
            <a:r>
              <a:rPr lang="zh-CN" altLang="en-US" sz="2000" dirty="0"/>
              <a:t>生成 </a:t>
            </a:r>
            <a:r>
              <a:rPr lang="en-US" altLang="zh-CN" sz="2000" dirty="0"/>
              <a:t>MIS → </a:t>
            </a:r>
            <a:r>
              <a:rPr lang="zh-CN" altLang="en-US" sz="2000" dirty="0"/>
              <a:t>熵优先级 → 熵感知 </a:t>
            </a:r>
            <a:r>
              <a:rPr lang="en-US" altLang="zh-CN" sz="2000" dirty="0"/>
              <a:t>fuzz → </a:t>
            </a:r>
            <a:r>
              <a:rPr lang="zh-CN" altLang="en-US" sz="2000" dirty="0"/>
              <a:t>后处理去重</a:t>
            </a:r>
            <a:endParaRPr lang="en-US" altLang="zh-CN" sz="2000" dirty="0"/>
          </a:p>
          <a:p>
            <a:pPr lvl="1" indent="457200">
              <a:lnSpc>
                <a:spcPct val="130000"/>
              </a:lnSpc>
              <a:spcAft>
                <a:spcPts val="600"/>
              </a:spcAft>
            </a:pPr>
            <a:r>
              <a:rPr lang="en-US" altLang="zh-CN" dirty="0"/>
              <a:t>ADGFUZZ </a:t>
            </a:r>
            <a:r>
              <a:rPr lang="zh-CN" altLang="en-US" dirty="0"/>
              <a:t>首先从源代码中的每个函数中提取赋值语句及其对应的赋值链，以</a:t>
            </a:r>
            <a:r>
              <a:rPr lang="zh-CN" altLang="en-US" dirty="0">
                <a:solidFill>
                  <a:srgbClr val="FF0000"/>
                </a:solidFill>
              </a:rPr>
              <a:t>构建赋值依赖图（</a:t>
            </a:r>
            <a:r>
              <a:rPr lang="en-US" altLang="zh-CN" dirty="0">
                <a:solidFill>
                  <a:srgbClr val="FF0000"/>
                </a:solidFill>
              </a:rPr>
              <a:t>ADG</a:t>
            </a:r>
            <a:r>
              <a:rPr lang="zh-CN" altLang="en-US" dirty="0">
                <a:solidFill>
                  <a:srgbClr val="FF0000"/>
                </a:solidFill>
              </a:rPr>
              <a:t>），</a:t>
            </a:r>
            <a:r>
              <a:rPr lang="zh-CN" altLang="en-US" dirty="0"/>
              <a:t>该图表示变量之间的相互依赖关系（第四章</a:t>
            </a:r>
            <a:r>
              <a:rPr lang="en-US" altLang="zh-CN" dirty="0"/>
              <a:t>-B</a:t>
            </a:r>
            <a:r>
              <a:rPr lang="zh-CN" altLang="en-US" dirty="0"/>
              <a:t>节）。接下来，我们利用赋值依赖图中的叶节点变量名来推断相关输入，并将其分组为</a:t>
            </a:r>
            <a:r>
              <a:rPr lang="zh-CN" altLang="en-US" dirty="0">
                <a:solidFill>
                  <a:srgbClr val="FF0000"/>
                </a:solidFill>
              </a:rPr>
              <a:t>最小输入集（</a:t>
            </a:r>
            <a:r>
              <a:rPr lang="en-US" altLang="zh-CN" dirty="0">
                <a:solidFill>
                  <a:srgbClr val="FF0000"/>
                </a:solidFill>
              </a:rPr>
              <a:t>MIS</a:t>
            </a:r>
            <a:r>
              <a:rPr lang="zh-CN" altLang="en-US" dirty="0">
                <a:solidFill>
                  <a:srgbClr val="FF0000"/>
                </a:solidFill>
              </a:rPr>
              <a:t>）（</a:t>
            </a:r>
            <a:r>
              <a:rPr lang="zh-CN" altLang="en-US" dirty="0"/>
              <a:t>第四章</a:t>
            </a:r>
            <a:r>
              <a:rPr lang="en-US" altLang="zh-CN" dirty="0"/>
              <a:t>-C</a:t>
            </a:r>
            <a:r>
              <a:rPr lang="zh-CN" altLang="en-US" dirty="0"/>
              <a:t>节）。随后，我们定义一种定制的基于熵的指标来评估每个最小输入集，将熵值转换为概率分布，以便在模糊测试过程中为</a:t>
            </a:r>
            <a:r>
              <a:rPr lang="zh-CN" altLang="en-US" dirty="0">
                <a:solidFill>
                  <a:srgbClr val="FF0000"/>
                </a:solidFill>
              </a:rPr>
              <a:t>熵值更高的集合分配更多权重</a:t>
            </a:r>
            <a:r>
              <a:rPr lang="zh-CN" altLang="en-US" dirty="0"/>
              <a:t>（第四章</a:t>
            </a:r>
            <a:r>
              <a:rPr lang="en-US" altLang="zh-CN" dirty="0"/>
              <a:t>-D</a:t>
            </a:r>
            <a:r>
              <a:rPr lang="zh-CN" altLang="en-US" dirty="0"/>
              <a:t>节）。然后，基于最小输入集的概率分布，我们在每次迭代中采样一个最小输入集以</a:t>
            </a:r>
            <a:r>
              <a:rPr lang="zh-CN" altLang="en-US" dirty="0">
                <a:solidFill>
                  <a:srgbClr val="FF0000"/>
                </a:solidFill>
              </a:rPr>
              <a:t>生成测试用例</a:t>
            </a:r>
            <a:r>
              <a:rPr lang="zh-CN" altLang="en-US" dirty="0"/>
              <a:t>，随后在</a:t>
            </a:r>
            <a:r>
              <a:rPr lang="en-US" altLang="zh-CN" dirty="0"/>
              <a:t>RISC-V</a:t>
            </a:r>
            <a:r>
              <a:rPr lang="zh-CN" altLang="en-US" dirty="0"/>
              <a:t>模拟器中执行该测试用例以识别潜在漏洞（第四章</a:t>
            </a:r>
            <a:r>
              <a:rPr lang="en-US" altLang="zh-CN" dirty="0"/>
              <a:t>-E</a:t>
            </a:r>
            <a:r>
              <a:rPr lang="zh-CN" altLang="en-US" dirty="0"/>
              <a:t>节）。最后，在后处理阶段，我们执行输入最小化操作来优化测试用例，目标是找到能够触发漏洞的最短输入，</a:t>
            </a:r>
            <a:r>
              <a:rPr lang="zh-CN" altLang="en-US" dirty="0">
                <a:solidFill>
                  <a:srgbClr val="FF0000"/>
                </a:solidFill>
              </a:rPr>
              <a:t>同时剔除冗余输入</a:t>
            </a:r>
            <a:r>
              <a:rPr lang="zh-CN" altLang="en-US" dirty="0"/>
              <a:t>（第四章</a:t>
            </a:r>
            <a:r>
              <a:rPr lang="en-US" altLang="zh-CN" dirty="0"/>
              <a:t>-F</a:t>
            </a:r>
            <a:r>
              <a:rPr lang="zh-CN" altLang="en-US" dirty="0"/>
              <a:t>节）。</a:t>
            </a:r>
            <a:endParaRPr lang="en-US" altLang="zh-CN" sz="2000" dirty="0">
              <a:latin typeface="Times New Roman" panose="02020603050405020304" pitchFamily="18" charset="0"/>
              <a:ea typeface="苹方 中等" panose="020B0400000000000000" pitchFamily="34" charset="-122"/>
              <a:cs typeface="Times New Roman" panose="02020603050405020304" pitchFamily="18" charset="0"/>
            </a:endParaRPr>
          </a:p>
        </p:txBody>
      </p:sp>
      <p:pic>
        <p:nvPicPr>
          <p:cNvPr id="5" name="图片 4">
            <a:extLst>
              <a:ext uri="{FF2B5EF4-FFF2-40B4-BE49-F238E27FC236}">
                <a16:creationId xmlns:a16="http://schemas.microsoft.com/office/drawing/2014/main" id="{F6407121-2ECC-D398-462A-BF5F1D9CEB62}"/>
              </a:ext>
            </a:extLst>
          </p:cNvPr>
          <p:cNvPicPr>
            <a:picLocks noChangeAspect="1"/>
          </p:cNvPicPr>
          <p:nvPr/>
        </p:nvPicPr>
        <p:blipFill>
          <a:blip r:embed="rId7"/>
          <a:stretch>
            <a:fillRect/>
          </a:stretch>
        </p:blipFill>
        <p:spPr>
          <a:xfrm>
            <a:off x="1338856" y="4162664"/>
            <a:ext cx="9514286" cy="2400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83526"/>
    </mc:Choice>
    <mc:Fallback xmlns="">
      <p:transition spd="slow" advTm="183526"/>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椭圆 11"/>
          <p:cNvSpPr/>
          <p:nvPr/>
        </p:nvSpPr>
        <p:spPr>
          <a:xfrm>
            <a:off x="137160" y="186690"/>
            <a:ext cx="236855" cy="236855"/>
          </a:xfrm>
          <a:prstGeom prst="ellipse">
            <a:avLst/>
          </a:prstGeom>
          <a:solidFill>
            <a:srgbClr val="ACBBDB">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10" name="文本框 9"/>
          <p:cNvSpPr txBox="1"/>
          <p:nvPr>
            <p:custDataLst>
              <p:tags r:id="rId2"/>
            </p:custDataLst>
          </p:nvPr>
        </p:nvSpPr>
        <p:spPr>
          <a:xfrm>
            <a:off x="1083944" y="326688"/>
            <a:ext cx="3438359" cy="523220"/>
          </a:xfrm>
          <a:prstGeom prst="rect">
            <a:avLst/>
          </a:prstGeom>
          <a:noFill/>
        </p:spPr>
        <p:txBody>
          <a:bodyPr wrap="square" rtlCol="0">
            <a:spAutoFit/>
          </a:bodyPr>
          <a:lstStyle/>
          <a:p>
            <a:r>
              <a:rPr lang="zh-CN" altLang="en-US" sz="2800" dirty="0">
                <a:solidFill>
                  <a:srgbClr val="324769"/>
                </a:solidFill>
                <a:latin typeface="Times New Roman" panose="02020603050405020304" pitchFamily="18" charset="0"/>
                <a:cs typeface="+mn-ea"/>
                <a:sym typeface="+mn-lt"/>
              </a:rPr>
              <a:t>研究方法</a:t>
            </a:r>
            <a:endParaRPr lang="en-US" altLang="zh-CN" sz="2800" dirty="0">
              <a:solidFill>
                <a:srgbClr val="324769"/>
              </a:solidFill>
              <a:latin typeface="Times New Roman" panose="02020603050405020304" pitchFamily="18" charset="0"/>
              <a:cs typeface="+mn-ea"/>
              <a:sym typeface="+mn-lt"/>
            </a:endParaRPr>
          </a:p>
        </p:txBody>
      </p:sp>
      <p:grpSp>
        <p:nvGrpSpPr>
          <p:cNvPr id="4" name="组合 3"/>
          <p:cNvGrpSpPr/>
          <p:nvPr/>
        </p:nvGrpSpPr>
        <p:grpSpPr>
          <a:xfrm>
            <a:off x="80010" y="198120"/>
            <a:ext cx="1003935" cy="768350"/>
            <a:chOff x="1417" y="1412"/>
            <a:chExt cx="1581" cy="1210"/>
          </a:xfrm>
        </p:grpSpPr>
        <p:sp>
          <p:nvSpPr>
            <p:cNvPr id="3" name="椭圆 2"/>
            <p:cNvSpPr/>
            <p:nvPr>
              <p:custDataLst>
                <p:tags r:id="rId3"/>
              </p:custDataLst>
            </p:nvPr>
          </p:nvSpPr>
          <p:spPr>
            <a:xfrm>
              <a:off x="1617" y="1426"/>
              <a:ext cx="1182" cy="1182"/>
            </a:xfrm>
            <a:prstGeom prst="ellipse">
              <a:avLst/>
            </a:pr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50" name="文本框 49"/>
            <p:cNvSpPr txBox="1"/>
            <p:nvPr>
              <p:custDataLst>
                <p:tags r:id="rId4"/>
              </p:custDataLst>
            </p:nvPr>
          </p:nvSpPr>
          <p:spPr>
            <a:xfrm>
              <a:off x="1417" y="1412"/>
              <a:ext cx="1581" cy="1210"/>
            </a:xfrm>
            <a:prstGeom prst="rect">
              <a:avLst/>
            </a:prstGeom>
            <a:noFill/>
          </p:spPr>
          <p:txBody>
            <a:bodyPr wrap="square" rtlCol="0">
              <a:spAutoFit/>
            </a:bodyPr>
            <a:lstStyle/>
            <a:p>
              <a:pPr algn="ctr"/>
              <a:r>
                <a:rPr lang="en-US" altLang="zh-CN" sz="4400" dirty="0">
                  <a:solidFill>
                    <a:schemeClr val="bg1"/>
                  </a:solidFill>
                  <a:latin typeface="Times New Roman" panose="02020603050405020304" pitchFamily="18" charset="0"/>
                  <a:cs typeface="Times New Roman" panose="02020603050405020304" pitchFamily="18" charset="0"/>
                  <a:sym typeface="+mn-lt"/>
                </a:rPr>
                <a:t>04</a:t>
              </a:r>
            </a:p>
          </p:txBody>
        </p:sp>
      </p:grpSp>
      <p:sp>
        <p:nvSpPr>
          <p:cNvPr id="19" name="Rectangle 2"/>
          <p:cNvSpPr>
            <a:spLocks noChangeArrowheads="1"/>
          </p:cNvSpPr>
          <p:nvPr/>
        </p:nvSpPr>
        <p:spPr bwMode="auto">
          <a:xfrm>
            <a:off x="1425600" y="167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文本框 10"/>
          <p:cNvSpPr txBox="1"/>
          <p:nvPr/>
        </p:nvSpPr>
        <p:spPr>
          <a:xfrm>
            <a:off x="-373711" y="885490"/>
            <a:ext cx="12192000" cy="4746749"/>
          </a:xfrm>
          <a:prstGeom prst="rect">
            <a:avLst/>
          </a:prstGeom>
          <a:noFill/>
          <a:ln w="19050">
            <a:noFill/>
          </a:ln>
        </p:spPr>
        <p:txBody>
          <a:bodyPr wrap="square" rtlCol="0">
            <a:spAutoFit/>
          </a:bodyPr>
          <a:lstStyle/>
          <a:p>
            <a:pPr lvl="1" indent="457200">
              <a:lnSpc>
                <a:spcPct val="130000"/>
              </a:lnSpc>
              <a:spcAft>
                <a:spcPts val="600"/>
              </a:spcAft>
            </a:pPr>
            <a:r>
              <a:rPr lang="en-US" altLang="zh-CN" sz="2000" b="1" dirty="0"/>
              <a:t>4.2</a:t>
            </a:r>
            <a:r>
              <a:rPr lang="zh-CN" altLang="en-US" sz="2000" b="1" dirty="0"/>
              <a:t>构建赋值依赖图（</a:t>
            </a:r>
            <a:r>
              <a:rPr lang="en-US" altLang="zh-CN" sz="2000" b="1" dirty="0"/>
              <a:t>ADG</a:t>
            </a:r>
            <a:r>
              <a:rPr lang="zh-CN" altLang="en-US" sz="2000" b="1" dirty="0"/>
              <a:t>）：</a:t>
            </a:r>
            <a:endParaRPr lang="en-US" altLang="zh-CN" sz="2000" b="1" dirty="0"/>
          </a:p>
          <a:p>
            <a:pPr lvl="1" indent="457200">
              <a:lnSpc>
                <a:spcPct val="130000"/>
              </a:lnSpc>
              <a:spcAft>
                <a:spcPts val="600"/>
              </a:spcAft>
            </a:pPr>
            <a:r>
              <a:rPr lang="zh-CN" altLang="en-US" sz="2000" dirty="0"/>
              <a:t>定义赋值语句、定义赋值依赖图、给出算法</a:t>
            </a:r>
            <a:r>
              <a:rPr lang="en-US" altLang="zh-CN" sz="2000" dirty="0"/>
              <a:t>1</a:t>
            </a:r>
            <a:r>
              <a:rPr lang="zh-CN" altLang="en-US" sz="2000" dirty="0"/>
              <a:t>构建</a:t>
            </a:r>
            <a:r>
              <a:rPr lang="en-US" altLang="zh-CN" sz="2000" dirty="0"/>
              <a:t>ADG</a:t>
            </a:r>
          </a:p>
          <a:p>
            <a:pPr lvl="1" indent="457200">
              <a:lnSpc>
                <a:spcPct val="130000"/>
              </a:lnSpc>
              <a:spcAft>
                <a:spcPts val="600"/>
              </a:spcAft>
            </a:pPr>
            <a:r>
              <a:rPr lang="en-US" altLang="zh-CN" sz="2000" b="1" dirty="0"/>
              <a:t>4.3 </a:t>
            </a:r>
            <a:r>
              <a:rPr lang="zh-CN" altLang="en-US" sz="2000" b="1" dirty="0"/>
              <a:t>生成最小输入集（</a:t>
            </a:r>
            <a:r>
              <a:rPr lang="en-US" altLang="zh-CN" sz="2000" b="1" dirty="0"/>
              <a:t>MIS</a:t>
            </a:r>
            <a:r>
              <a:rPr lang="zh-CN" altLang="en-US" sz="2000" b="1" dirty="0"/>
              <a:t>）</a:t>
            </a:r>
            <a:endParaRPr lang="en-US" altLang="zh-CN" sz="2000" b="1" dirty="0"/>
          </a:p>
          <a:p>
            <a:pPr lvl="1" indent="457200">
              <a:lnSpc>
                <a:spcPct val="130000"/>
              </a:lnSpc>
              <a:spcAft>
                <a:spcPts val="600"/>
              </a:spcAft>
            </a:pPr>
            <a:r>
              <a:rPr lang="zh-CN" altLang="en-US" sz="2000" dirty="0">
                <a:latin typeface="Times New Roman" panose="02020603050405020304" pitchFamily="18" charset="0"/>
                <a:ea typeface="苹方 中等" panose="020B0400000000000000" pitchFamily="34" charset="-122"/>
                <a:cs typeface="Times New Roman" panose="02020603050405020304" pitchFamily="18" charset="0"/>
              </a:rPr>
              <a:t>用变量名分词 </a:t>
            </a:r>
            <a:r>
              <a:rPr lang="en-US" altLang="zh-CN" sz="2000" dirty="0">
                <a:latin typeface="Times New Roman" panose="02020603050405020304" pitchFamily="18" charset="0"/>
                <a:ea typeface="苹方 中等" panose="020B0400000000000000" pitchFamily="34" charset="-122"/>
                <a:cs typeface="Times New Roman" panose="02020603050405020304" pitchFamily="18" charset="0"/>
              </a:rPr>
              <a:t>+ </a:t>
            </a:r>
            <a:r>
              <a:rPr lang="zh-CN" altLang="en-US" sz="2000" dirty="0">
                <a:latin typeface="Times New Roman" panose="02020603050405020304" pitchFamily="18" charset="0"/>
                <a:ea typeface="苹方 中等" panose="020B0400000000000000" pitchFamily="34" charset="-122"/>
                <a:cs typeface="Times New Roman" panose="02020603050405020304" pitchFamily="18" charset="0"/>
              </a:rPr>
              <a:t>同义词表 </a:t>
            </a:r>
            <a:r>
              <a:rPr lang="en-US" altLang="zh-CN" sz="2000" dirty="0">
                <a:latin typeface="Times New Roman" panose="02020603050405020304" pitchFamily="18" charset="0"/>
                <a:ea typeface="苹方 中等" panose="020B0400000000000000" pitchFamily="34" charset="-122"/>
                <a:cs typeface="Times New Roman" panose="02020603050405020304" pitchFamily="18" charset="0"/>
              </a:rPr>
              <a:t>+ </a:t>
            </a:r>
            <a:r>
              <a:rPr lang="zh-CN" altLang="en-US" sz="2000" dirty="0">
                <a:latin typeface="Times New Roman" panose="02020603050405020304" pitchFamily="18" charset="0"/>
                <a:ea typeface="苹方 中等" panose="020B0400000000000000" pitchFamily="34" charset="-122"/>
                <a:cs typeface="Times New Roman" panose="02020603050405020304" pitchFamily="18" charset="0"/>
              </a:rPr>
              <a:t>物理耦合表将 </a:t>
            </a:r>
            <a:endParaRPr lang="en-US" altLang="zh-CN" sz="2000" dirty="0">
              <a:latin typeface="Times New Roman" panose="02020603050405020304" pitchFamily="18" charset="0"/>
              <a:ea typeface="苹方 中等" panose="020B0400000000000000" pitchFamily="34" charset="-122"/>
              <a:cs typeface="Times New Roman" panose="02020603050405020304" pitchFamily="18" charset="0"/>
            </a:endParaRPr>
          </a:p>
          <a:p>
            <a:pPr lvl="1" indent="457200">
              <a:lnSpc>
                <a:spcPct val="130000"/>
              </a:lnSpc>
              <a:spcAft>
                <a:spcPts val="600"/>
              </a:spcAft>
            </a:pPr>
            <a:r>
              <a:rPr lang="en-US" altLang="zh-CN" sz="2000" dirty="0">
                <a:latin typeface="Times New Roman" panose="02020603050405020304" pitchFamily="18" charset="0"/>
                <a:ea typeface="苹方 中等" panose="020B0400000000000000" pitchFamily="34" charset="-122"/>
                <a:cs typeface="Times New Roman" panose="02020603050405020304" pitchFamily="18" charset="0"/>
              </a:rPr>
              <a:t>ADG </a:t>
            </a:r>
            <a:r>
              <a:rPr lang="zh-CN" altLang="en-US" sz="2000" dirty="0">
                <a:latin typeface="Times New Roman" panose="02020603050405020304" pitchFamily="18" charset="0"/>
                <a:ea typeface="苹方 中等" panose="020B0400000000000000" pitchFamily="34" charset="-122"/>
                <a:cs typeface="Times New Roman" panose="02020603050405020304" pitchFamily="18" charset="0"/>
              </a:rPr>
              <a:t>叶节点 → 匹配 </a:t>
            </a:r>
            <a:r>
              <a:rPr lang="en-US" altLang="zh-CN" sz="2000" dirty="0">
                <a:latin typeface="Times New Roman" panose="02020603050405020304" pitchFamily="18" charset="0"/>
                <a:ea typeface="苹方 中等" panose="020B0400000000000000" pitchFamily="34" charset="-122"/>
                <a:cs typeface="Times New Roman" panose="02020603050405020304" pitchFamily="18" charset="0"/>
              </a:rPr>
              <a:t>RV </a:t>
            </a:r>
            <a:r>
              <a:rPr lang="zh-CN" altLang="en-US" sz="2000" dirty="0">
                <a:latin typeface="Times New Roman" panose="02020603050405020304" pitchFamily="18" charset="0"/>
                <a:ea typeface="苹方 中等" panose="020B0400000000000000" pitchFamily="34" charset="-122"/>
                <a:cs typeface="Times New Roman" panose="02020603050405020304" pitchFamily="18" charset="0"/>
              </a:rPr>
              <a:t>真实输入</a:t>
            </a:r>
            <a:endParaRPr lang="en-US" altLang="zh-CN" sz="2000" dirty="0">
              <a:latin typeface="Times New Roman" panose="02020603050405020304" pitchFamily="18" charset="0"/>
              <a:ea typeface="苹方 中等" panose="020B0400000000000000" pitchFamily="34" charset="-122"/>
              <a:cs typeface="Times New Roman" panose="02020603050405020304" pitchFamily="18" charset="0"/>
            </a:endParaRPr>
          </a:p>
          <a:p>
            <a:pPr lvl="1" indent="457200">
              <a:lnSpc>
                <a:spcPct val="130000"/>
              </a:lnSpc>
              <a:spcAft>
                <a:spcPts val="600"/>
              </a:spcAft>
            </a:pPr>
            <a:r>
              <a:rPr lang="zh-CN" altLang="en-US" sz="2000" dirty="0">
                <a:latin typeface="Times New Roman" panose="02020603050405020304" pitchFamily="18" charset="0"/>
                <a:ea typeface="苹方 中等" panose="020B0400000000000000" pitchFamily="34" charset="-122"/>
                <a:cs typeface="Times New Roman" panose="02020603050405020304" pitchFamily="18" charset="0"/>
              </a:rPr>
              <a:t>形成 </a:t>
            </a:r>
            <a:r>
              <a:rPr lang="en-US" altLang="zh-CN" sz="2000" dirty="0">
                <a:latin typeface="Times New Roman" panose="02020603050405020304" pitchFamily="18" charset="0"/>
                <a:ea typeface="苹方 中等" panose="020B0400000000000000" pitchFamily="34" charset="-122"/>
                <a:cs typeface="Times New Roman" panose="02020603050405020304" pitchFamily="18" charset="0"/>
              </a:rPr>
              <a:t>MIS</a:t>
            </a:r>
            <a:r>
              <a:rPr lang="zh-CN" altLang="en-US" sz="2000" dirty="0">
                <a:latin typeface="Times New Roman" panose="02020603050405020304" pitchFamily="18" charset="0"/>
                <a:ea typeface="苹方 中等" panose="020B0400000000000000" pitchFamily="34" charset="-122"/>
                <a:cs typeface="Times New Roman" panose="02020603050405020304" pitchFamily="18" charset="0"/>
              </a:rPr>
              <a:t>只测和赋值相关的输入，大幅缩小空间</a:t>
            </a:r>
            <a:endParaRPr lang="en-US" altLang="zh-CN" sz="2000" dirty="0">
              <a:latin typeface="Times New Roman" panose="02020603050405020304" pitchFamily="18" charset="0"/>
              <a:ea typeface="苹方 中等" panose="020B0400000000000000" pitchFamily="34" charset="-122"/>
              <a:cs typeface="Times New Roman" panose="02020603050405020304" pitchFamily="18" charset="0"/>
            </a:endParaRPr>
          </a:p>
          <a:p>
            <a:pPr lvl="1" indent="457200">
              <a:lnSpc>
                <a:spcPct val="130000"/>
              </a:lnSpc>
              <a:spcAft>
                <a:spcPts val="600"/>
              </a:spcAft>
            </a:pPr>
            <a:r>
              <a:rPr lang="en-US" altLang="zh-CN" sz="2000" b="1" dirty="0">
                <a:latin typeface="Times New Roman" panose="02020603050405020304" pitchFamily="18" charset="0"/>
                <a:ea typeface="苹方 中等" panose="020B0400000000000000" pitchFamily="34" charset="-122"/>
                <a:cs typeface="Times New Roman" panose="02020603050405020304" pitchFamily="18" charset="0"/>
              </a:rPr>
              <a:t>4.4</a:t>
            </a:r>
            <a:r>
              <a:rPr lang="en-US" altLang="zh-CN" sz="2000" b="1" dirty="0"/>
              <a:t> </a:t>
            </a:r>
            <a:r>
              <a:rPr lang="zh-CN" altLang="en-US" sz="2000" b="1" dirty="0"/>
              <a:t>熵优先级</a:t>
            </a:r>
            <a:endParaRPr lang="en-US" altLang="zh-CN" sz="2000" b="1" dirty="0"/>
          </a:p>
          <a:p>
            <a:pPr lvl="1" indent="457200">
              <a:lnSpc>
                <a:spcPct val="130000"/>
              </a:lnSpc>
              <a:spcAft>
                <a:spcPts val="600"/>
              </a:spcAft>
            </a:pPr>
            <a:r>
              <a:rPr lang="zh-CN" altLang="en-US" sz="2000" dirty="0">
                <a:latin typeface="Times New Roman" panose="02020603050405020304" pitchFamily="18" charset="0"/>
                <a:ea typeface="苹方 中等" panose="020B0400000000000000" pitchFamily="34" charset="-122"/>
                <a:cs typeface="Times New Roman" panose="02020603050405020304" pitchFamily="18" charset="0"/>
              </a:rPr>
              <a:t>定义两种熵：</a:t>
            </a:r>
            <a:r>
              <a:rPr lang="en-US" altLang="zh-CN" sz="2000" dirty="0">
                <a:latin typeface="Times New Roman" panose="02020603050405020304" pitchFamily="18" charset="0"/>
                <a:ea typeface="苹方 中等" panose="020B0400000000000000" pitchFamily="34" charset="-122"/>
                <a:cs typeface="Times New Roman" panose="02020603050405020304" pitchFamily="18" charset="0"/>
              </a:rPr>
              <a:t>Enom</a:t>
            </a:r>
            <a:r>
              <a:rPr lang="zh-CN" altLang="en-US" sz="2000" dirty="0">
                <a:latin typeface="Times New Roman" panose="02020603050405020304" pitchFamily="18" charset="0"/>
                <a:ea typeface="苹方 中等" panose="020B0400000000000000" pitchFamily="34" charset="-122"/>
                <a:cs typeface="Times New Roman" panose="02020603050405020304" pitchFamily="18" charset="0"/>
              </a:rPr>
              <a:t>：半依赖节点越多熵越高、</a:t>
            </a:r>
            <a:r>
              <a:rPr lang="en-US" altLang="zh-CN" sz="2000" dirty="0">
                <a:latin typeface="Times New Roman" panose="02020603050405020304" pitchFamily="18" charset="0"/>
                <a:ea typeface="苹方 中等" panose="020B0400000000000000" pitchFamily="34" charset="-122"/>
                <a:cs typeface="Times New Roman" panose="02020603050405020304" pitchFamily="18" charset="0"/>
              </a:rPr>
              <a:t>Equal</a:t>
            </a:r>
            <a:r>
              <a:rPr lang="zh-CN" altLang="en-US" sz="2000" dirty="0">
                <a:latin typeface="Times New Roman" panose="02020603050405020304" pitchFamily="18" charset="0"/>
                <a:ea typeface="苹方 中等" panose="020B0400000000000000" pitchFamily="34" charset="-122"/>
                <a:cs typeface="Times New Roman" panose="02020603050405020304" pitchFamily="18" charset="0"/>
              </a:rPr>
              <a:t>：语义匹配越准熵越高</a:t>
            </a:r>
            <a:endParaRPr lang="en-US" altLang="zh-CN" sz="2000" dirty="0">
              <a:latin typeface="Times New Roman" panose="02020603050405020304" pitchFamily="18" charset="0"/>
              <a:ea typeface="苹方 中等" panose="020B0400000000000000" pitchFamily="34" charset="-122"/>
              <a:cs typeface="Times New Roman" panose="02020603050405020304" pitchFamily="18" charset="0"/>
            </a:endParaRPr>
          </a:p>
          <a:p>
            <a:pPr lvl="1" indent="457200">
              <a:lnSpc>
                <a:spcPct val="130000"/>
              </a:lnSpc>
              <a:spcAft>
                <a:spcPts val="600"/>
              </a:spcAft>
            </a:pPr>
            <a:r>
              <a:rPr lang="zh-CN" altLang="en-US" sz="2000" dirty="0">
                <a:latin typeface="Times New Roman" panose="02020603050405020304" pitchFamily="18" charset="0"/>
                <a:ea typeface="苹方 中等" panose="020B0400000000000000" pitchFamily="34" charset="-122"/>
                <a:cs typeface="Times New Roman" panose="02020603050405020304" pitchFamily="18" charset="0"/>
              </a:rPr>
              <a:t>总熵 </a:t>
            </a:r>
            <a:r>
              <a:rPr lang="en-US" altLang="zh-CN" sz="2000" dirty="0">
                <a:latin typeface="Times New Roman" panose="02020603050405020304" pitchFamily="18" charset="0"/>
                <a:ea typeface="苹方 中等" panose="020B0400000000000000" pitchFamily="34" charset="-122"/>
                <a:cs typeface="Times New Roman" panose="02020603050405020304" pitchFamily="18" charset="0"/>
              </a:rPr>
              <a:t>E = Enom + Equal</a:t>
            </a:r>
          </a:p>
          <a:p>
            <a:pPr lvl="1" indent="457200">
              <a:lnSpc>
                <a:spcPct val="130000"/>
              </a:lnSpc>
              <a:spcAft>
                <a:spcPts val="600"/>
              </a:spcAft>
            </a:pPr>
            <a:r>
              <a:rPr lang="zh-CN" altLang="en-US" sz="2000" dirty="0">
                <a:latin typeface="Times New Roman" panose="02020603050405020304" pitchFamily="18" charset="0"/>
                <a:ea typeface="苹方 中等" panose="020B0400000000000000" pitchFamily="34" charset="-122"/>
                <a:cs typeface="Times New Roman" panose="02020603050405020304" pitchFamily="18" charset="0"/>
              </a:rPr>
              <a:t>按熵概率采样，优先测高风险输入集</a:t>
            </a:r>
            <a:endParaRPr lang="en-US" altLang="zh-CN" sz="2000" dirty="0">
              <a:latin typeface="Times New Roman" panose="02020603050405020304" pitchFamily="18" charset="0"/>
              <a:ea typeface="苹方 中等" panose="020B0400000000000000" pitchFamily="34" charset="-122"/>
              <a:cs typeface="Times New Roman" panose="02020603050405020304"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83526"/>
    </mc:Choice>
    <mc:Fallback xmlns="">
      <p:transition spd="slow" advTm="183526"/>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03BBE-A2C9-D75B-2712-BD89B4306FCB}"/>
            </a:ext>
          </a:extLst>
        </p:cNvPr>
        <p:cNvGrpSpPr/>
        <p:nvPr/>
      </p:nvGrpSpPr>
      <p:grpSpPr>
        <a:xfrm>
          <a:off x="0" y="0"/>
          <a:ext cx="0" cy="0"/>
          <a:chOff x="0" y="0"/>
          <a:chExt cx="0" cy="0"/>
        </a:xfrm>
      </p:grpSpPr>
      <p:sp>
        <p:nvSpPr>
          <p:cNvPr id="12" name="椭圆 11">
            <a:extLst>
              <a:ext uri="{FF2B5EF4-FFF2-40B4-BE49-F238E27FC236}">
                <a16:creationId xmlns:a16="http://schemas.microsoft.com/office/drawing/2014/main" id="{36EA2989-E857-091C-EA63-3F044574B02A}"/>
              </a:ext>
            </a:extLst>
          </p:cNvPr>
          <p:cNvSpPr/>
          <p:nvPr/>
        </p:nvSpPr>
        <p:spPr>
          <a:xfrm>
            <a:off x="137160" y="186690"/>
            <a:ext cx="236855" cy="236855"/>
          </a:xfrm>
          <a:prstGeom prst="ellipse">
            <a:avLst/>
          </a:prstGeom>
          <a:solidFill>
            <a:srgbClr val="ACBBDB">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10" name="文本框 9">
            <a:extLst>
              <a:ext uri="{FF2B5EF4-FFF2-40B4-BE49-F238E27FC236}">
                <a16:creationId xmlns:a16="http://schemas.microsoft.com/office/drawing/2014/main" id="{9E8A43DB-DA26-6C18-7B7A-0306AB91C49C}"/>
              </a:ext>
            </a:extLst>
          </p:cNvPr>
          <p:cNvSpPr txBox="1"/>
          <p:nvPr>
            <p:custDataLst>
              <p:tags r:id="rId2"/>
            </p:custDataLst>
          </p:nvPr>
        </p:nvSpPr>
        <p:spPr>
          <a:xfrm>
            <a:off x="1083944" y="326688"/>
            <a:ext cx="3438359" cy="954107"/>
          </a:xfrm>
          <a:prstGeom prst="rect">
            <a:avLst/>
          </a:prstGeom>
          <a:noFill/>
        </p:spPr>
        <p:txBody>
          <a:bodyPr wrap="square" rtlCol="0">
            <a:spAutoFit/>
          </a:bodyPr>
          <a:lstStyle/>
          <a:p>
            <a:r>
              <a:rPr lang="zh-CN" altLang="en-US" sz="2800" dirty="0">
                <a:solidFill>
                  <a:srgbClr val="324769"/>
                </a:solidFill>
                <a:latin typeface="Times New Roman" panose="02020603050405020304" pitchFamily="18" charset="0"/>
                <a:cs typeface="+mn-ea"/>
                <a:sym typeface="+mn-lt"/>
              </a:rPr>
              <a:t>研究方法</a:t>
            </a:r>
            <a:endParaRPr lang="en-US" altLang="zh-CN" sz="2800" dirty="0">
              <a:solidFill>
                <a:srgbClr val="324769"/>
              </a:solidFill>
              <a:latin typeface="Times New Roman" panose="02020603050405020304" pitchFamily="18" charset="0"/>
              <a:cs typeface="+mn-ea"/>
              <a:sym typeface="+mn-lt"/>
            </a:endParaRPr>
          </a:p>
          <a:p>
            <a:endParaRPr lang="en-US" altLang="zh-CN" sz="2800" dirty="0">
              <a:solidFill>
                <a:srgbClr val="324769"/>
              </a:solidFill>
              <a:latin typeface="Times New Roman" panose="02020603050405020304" pitchFamily="18" charset="0"/>
              <a:cs typeface="+mn-ea"/>
              <a:sym typeface="+mn-lt"/>
            </a:endParaRPr>
          </a:p>
        </p:txBody>
      </p:sp>
      <p:grpSp>
        <p:nvGrpSpPr>
          <p:cNvPr id="4" name="组合 3">
            <a:extLst>
              <a:ext uri="{FF2B5EF4-FFF2-40B4-BE49-F238E27FC236}">
                <a16:creationId xmlns:a16="http://schemas.microsoft.com/office/drawing/2014/main" id="{9C3D8D16-9BA4-0E6E-80C9-6CDB24D9C6D3}"/>
              </a:ext>
            </a:extLst>
          </p:cNvPr>
          <p:cNvGrpSpPr/>
          <p:nvPr/>
        </p:nvGrpSpPr>
        <p:grpSpPr>
          <a:xfrm>
            <a:off x="80010" y="198120"/>
            <a:ext cx="1003935" cy="768350"/>
            <a:chOff x="1417" y="1412"/>
            <a:chExt cx="1581" cy="1210"/>
          </a:xfrm>
        </p:grpSpPr>
        <p:sp>
          <p:nvSpPr>
            <p:cNvPr id="3" name="椭圆 2">
              <a:extLst>
                <a:ext uri="{FF2B5EF4-FFF2-40B4-BE49-F238E27FC236}">
                  <a16:creationId xmlns:a16="http://schemas.microsoft.com/office/drawing/2014/main" id="{F5B65239-5809-59C5-61BE-A9D954E20FA0}"/>
                </a:ext>
              </a:extLst>
            </p:cNvPr>
            <p:cNvSpPr/>
            <p:nvPr>
              <p:custDataLst>
                <p:tags r:id="rId3"/>
              </p:custDataLst>
            </p:nvPr>
          </p:nvSpPr>
          <p:spPr>
            <a:xfrm>
              <a:off x="1617" y="1426"/>
              <a:ext cx="1182" cy="1182"/>
            </a:xfrm>
            <a:prstGeom prst="ellipse">
              <a:avLst/>
            </a:pr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50" name="文本框 49">
              <a:extLst>
                <a:ext uri="{FF2B5EF4-FFF2-40B4-BE49-F238E27FC236}">
                  <a16:creationId xmlns:a16="http://schemas.microsoft.com/office/drawing/2014/main" id="{65C826C6-7F9D-E6A8-2955-955786B4E847}"/>
                </a:ext>
              </a:extLst>
            </p:cNvPr>
            <p:cNvSpPr txBox="1"/>
            <p:nvPr>
              <p:custDataLst>
                <p:tags r:id="rId4"/>
              </p:custDataLst>
            </p:nvPr>
          </p:nvSpPr>
          <p:spPr>
            <a:xfrm>
              <a:off x="1417" y="1412"/>
              <a:ext cx="1581" cy="1210"/>
            </a:xfrm>
            <a:prstGeom prst="rect">
              <a:avLst/>
            </a:prstGeom>
            <a:noFill/>
          </p:spPr>
          <p:txBody>
            <a:bodyPr wrap="square" rtlCol="0">
              <a:spAutoFit/>
            </a:bodyPr>
            <a:lstStyle/>
            <a:p>
              <a:pPr algn="ctr"/>
              <a:r>
                <a:rPr lang="en-US" altLang="zh-CN" sz="4400" dirty="0">
                  <a:solidFill>
                    <a:schemeClr val="bg1"/>
                  </a:solidFill>
                  <a:latin typeface="Times New Roman" panose="02020603050405020304" pitchFamily="18" charset="0"/>
                  <a:cs typeface="Times New Roman" panose="02020603050405020304" pitchFamily="18" charset="0"/>
                  <a:sym typeface="+mn-lt"/>
                </a:rPr>
                <a:t>04</a:t>
              </a:r>
            </a:p>
          </p:txBody>
        </p:sp>
      </p:grpSp>
      <p:sp>
        <p:nvSpPr>
          <p:cNvPr id="19" name="Rectangle 2">
            <a:extLst>
              <a:ext uri="{FF2B5EF4-FFF2-40B4-BE49-F238E27FC236}">
                <a16:creationId xmlns:a16="http://schemas.microsoft.com/office/drawing/2014/main" id="{0E1805C3-9BB1-8CF4-1D27-196E1FDDF0F3}"/>
              </a:ext>
            </a:extLst>
          </p:cNvPr>
          <p:cNvSpPr>
            <a:spLocks noChangeArrowheads="1"/>
          </p:cNvSpPr>
          <p:nvPr/>
        </p:nvSpPr>
        <p:spPr bwMode="auto">
          <a:xfrm>
            <a:off x="1425600" y="167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Rectangle 8">
            <a:extLst>
              <a:ext uri="{FF2B5EF4-FFF2-40B4-BE49-F238E27FC236}">
                <a16:creationId xmlns:a16="http://schemas.microsoft.com/office/drawing/2014/main" id="{75451CC7-D739-F459-7359-D623B8910D4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文本框 10">
            <a:extLst>
              <a:ext uri="{FF2B5EF4-FFF2-40B4-BE49-F238E27FC236}">
                <a16:creationId xmlns:a16="http://schemas.microsoft.com/office/drawing/2014/main" id="{B946E889-6D4E-0E04-7387-64BCC7D79463}"/>
              </a:ext>
            </a:extLst>
          </p:cNvPr>
          <p:cNvSpPr txBox="1"/>
          <p:nvPr/>
        </p:nvSpPr>
        <p:spPr>
          <a:xfrm>
            <a:off x="-373711" y="885490"/>
            <a:ext cx="12192000" cy="3792320"/>
          </a:xfrm>
          <a:prstGeom prst="rect">
            <a:avLst/>
          </a:prstGeom>
          <a:noFill/>
          <a:ln w="19050">
            <a:noFill/>
          </a:ln>
        </p:spPr>
        <p:txBody>
          <a:bodyPr wrap="square" rtlCol="0">
            <a:spAutoFit/>
          </a:bodyPr>
          <a:lstStyle/>
          <a:p>
            <a:pPr lvl="1" indent="457200">
              <a:lnSpc>
                <a:spcPct val="130000"/>
              </a:lnSpc>
              <a:spcAft>
                <a:spcPts val="600"/>
              </a:spcAft>
            </a:pPr>
            <a:r>
              <a:rPr lang="en-US" altLang="zh-CN" sz="2000" b="1" dirty="0"/>
              <a:t>4.5</a:t>
            </a:r>
            <a:r>
              <a:rPr lang="zh-CN" altLang="en-US" sz="2000" b="1" dirty="0"/>
              <a:t>熵感知模糊测试：</a:t>
            </a:r>
            <a:endParaRPr lang="en-US" altLang="zh-CN" sz="2000" b="1" dirty="0"/>
          </a:p>
          <a:p>
            <a:pPr lvl="1" indent="457200">
              <a:lnSpc>
                <a:spcPct val="130000"/>
              </a:lnSpc>
              <a:spcAft>
                <a:spcPts val="600"/>
              </a:spcAft>
            </a:pPr>
            <a:r>
              <a:rPr lang="zh-CN" altLang="en-US" sz="2000" dirty="0"/>
              <a:t>按熵分布采样 </a:t>
            </a:r>
            <a:r>
              <a:rPr lang="en-US" altLang="zh-CN" sz="2000" dirty="0"/>
              <a:t>MIS</a:t>
            </a:r>
          </a:p>
          <a:p>
            <a:pPr lvl="1" indent="457200">
              <a:lnSpc>
                <a:spcPct val="130000"/>
              </a:lnSpc>
              <a:spcAft>
                <a:spcPts val="600"/>
              </a:spcAft>
            </a:pPr>
            <a:r>
              <a:rPr lang="zh-CN" altLang="en-US" sz="2000" dirty="0"/>
              <a:t>仿真中执行完整任务</a:t>
            </a:r>
            <a:endParaRPr lang="en-US" altLang="zh-CN" sz="2000" dirty="0"/>
          </a:p>
          <a:p>
            <a:pPr lvl="1" indent="457200">
              <a:lnSpc>
                <a:spcPct val="130000"/>
              </a:lnSpc>
              <a:spcAft>
                <a:spcPts val="600"/>
              </a:spcAft>
            </a:pPr>
            <a:r>
              <a:rPr lang="zh-CN" altLang="en-US" sz="2000" dirty="0"/>
              <a:t>三大 </a:t>
            </a:r>
            <a:r>
              <a:rPr lang="en-US" altLang="zh-CN" sz="2000" dirty="0"/>
              <a:t>Oracle </a:t>
            </a:r>
            <a:r>
              <a:rPr lang="zh-CN" altLang="en-US" sz="2000" dirty="0"/>
              <a:t>判断漏洞：坠机、航线偏移、软件崩溃</a:t>
            </a:r>
            <a:endParaRPr lang="en-US" altLang="zh-CN" sz="2000" dirty="0"/>
          </a:p>
          <a:p>
            <a:pPr lvl="1" indent="457200">
              <a:lnSpc>
                <a:spcPct val="130000"/>
              </a:lnSpc>
              <a:spcAft>
                <a:spcPts val="600"/>
              </a:spcAft>
            </a:pPr>
            <a:r>
              <a:rPr lang="zh-CN" altLang="en-US" sz="2000" dirty="0"/>
              <a:t>动态调整熵，避免过度测试</a:t>
            </a:r>
            <a:endParaRPr lang="en-US" altLang="zh-CN" sz="2000" dirty="0"/>
          </a:p>
          <a:p>
            <a:pPr lvl="1" indent="457200">
              <a:lnSpc>
                <a:spcPct val="130000"/>
              </a:lnSpc>
              <a:spcAft>
                <a:spcPts val="600"/>
              </a:spcAft>
            </a:pPr>
            <a:r>
              <a:rPr lang="en-US" altLang="zh-CN" sz="2000" b="1" dirty="0"/>
              <a:t>4.6</a:t>
            </a:r>
            <a:r>
              <a:rPr lang="zh-CN" altLang="en-US" sz="2000" b="1" dirty="0"/>
              <a:t>后处理</a:t>
            </a:r>
            <a:endParaRPr lang="en-US" altLang="zh-CN" sz="2000" b="1" dirty="0"/>
          </a:p>
          <a:p>
            <a:pPr lvl="1" indent="457200">
              <a:lnSpc>
                <a:spcPct val="130000"/>
              </a:lnSpc>
              <a:spcAft>
                <a:spcPts val="600"/>
              </a:spcAft>
            </a:pPr>
            <a:r>
              <a:rPr lang="zh-CN" altLang="en-US" sz="2000" dirty="0"/>
              <a:t>输入最小化：找到触发 </a:t>
            </a:r>
            <a:r>
              <a:rPr lang="en-US" altLang="zh-CN" sz="2000" dirty="0"/>
              <a:t>bug </a:t>
            </a:r>
            <a:r>
              <a:rPr lang="zh-CN" altLang="en-US" sz="2000" dirty="0"/>
              <a:t>的最小输入集</a:t>
            </a:r>
            <a:endParaRPr lang="en-US" altLang="zh-CN" sz="2000" dirty="0"/>
          </a:p>
          <a:p>
            <a:pPr lvl="1" indent="457200">
              <a:lnSpc>
                <a:spcPct val="130000"/>
              </a:lnSpc>
              <a:spcAft>
                <a:spcPts val="600"/>
              </a:spcAft>
            </a:pPr>
            <a:r>
              <a:rPr lang="zh-CN" altLang="en-US" sz="2000" dirty="0"/>
              <a:t>合漏洞去重：避免重复报告</a:t>
            </a:r>
            <a:endParaRPr lang="en-US" altLang="zh-CN" sz="2000" dirty="0"/>
          </a:p>
        </p:txBody>
      </p:sp>
    </p:spTree>
    <p:custDataLst>
      <p:tags r:id="rId1"/>
    </p:custDataLst>
    <p:extLst>
      <p:ext uri="{BB962C8B-B14F-4D97-AF65-F5344CB8AC3E}">
        <p14:creationId xmlns:p14="http://schemas.microsoft.com/office/powerpoint/2010/main" val="2921778297"/>
      </p:ext>
    </p:extLst>
  </p:cSld>
  <p:clrMapOvr>
    <a:masterClrMapping/>
  </p:clrMapOvr>
  <mc:AlternateContent xmlns:mc="http://schemas.openxmlformats.org/markup-compatibility/2006" xmlns:p14="http://schemas.microsoft.com/office/powerpoint/2010/main">
    <mc:Choice Requires="p14">
      <p:transition spd="slow" p14:dur="2000" advTm="183526"/>
    </mc:Choice>
    <mc:Fallback xmlns="">
      <p:transition spd="slow" advTm="183526"/>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3313B-6A65-42A5-F3B3-B9499CA40B89}"/>
            </a:ext>
          </a:extLst>
        </p:cNvPr>
        <p:cNvGrpSpPr/>
        <p:nvPr/>
      </p:nvGrpSpPr>
      <p:grpSpPr>
        <a:xfrm>
          <a:off x="0" y="0"/>
          <a:ext cx="0" cy="0"/>
          <a:chOff x="0" y="0"/>
          <a:chExt cx="0" cy="0"/>
        </a:xfrm>
      </p:grpSpPr>
      <p:sp>
        <p:nvSpPr>
          <p:cNvPr id="12" name="椭圆 11">
            <a:extLst>
              <a:ext uri="{FF2B5EF4-FFF2-40B4-BE49-F238E27FC236}">
                <a16:creationId xmlns:a16="http://schemas.microsoft.com/office/drawing/2014/main" id="{AACE0203-B260-7D0D-3284-33D53A152385}"/>
              </a:ext>
            </a:extLst>
          </p:cNvPr>
          <p:cNvSpPr/>
          <p:nvPr/>
        </p:nvSpPr>
        <p:spPr>
          <a:xfrm>
            <a:off x="137160" y="186690"/>
            <a:ext cx="236855" cy="236855"/>
          </a:xfrm>
          <a:prstGeom prst="ellipse">
            <a:avLst/>
          </a:prstGeom>
          <a:solidFill>
            <a:srgbClr val="ACBBDB">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10" name="文本框 9">
            <a:extLst>
              <a:ext uri="{FF2B5EF4-FFF2-40B4-BE49-F238E27FC236}">
                <a16:creationId xmlns:a16="http://schemas.microsoft.com/office/drawing/2014/main" id="{AD1B4AAB-37AE-E39F-8E21-CE2105183FC3}"/>
              </a:ext>
            </a:extLst>
          </p:cNvPr>
          <p:cNvSpPr txBox="1"/>
          <p:nvPr>
            <p:custDataLst>
              <p:tags r:id="rId2"/>
            </p:custDataLst>
          </p:nvPr>
        </p:nvSpPr>
        <p:spPr>
          <a:xfrm>
            <a:off x="1083945" y="326688"/>
            <a:ext cx="2830830" cy="954107"/>
          </a:xfrm>
          <a:prstGeom prst="rect">
            <a:avLst/>
          </a:prstGeom>
          <a:noFill/>
        </p:spPr>
        <p:txBody>
          <a:bodyPr wrap="square" rtlCol="0">
            <a:spAutoFit/>
          </a:bodyPr>
          <a:lstStyle/>
          <a:p>
            <a:r>
              <a:rPr lang="zh-CN" altLang="en-US" sz="2800" dirty="0">
                <a:solidFill>
                  <a:srgbClr val="324769"/>
                </a:solidFill>
                <a:latin typeface="Times New Roman" panose="02020603050405020304" pitchFamily="18" charset="0"/>
                <a:cs typeface="+mn-ea"/>
                <a:sym typeface="+mn-lt"/>
              </a:rPr>
              <a:t>研究方法</a:t>
            </a:r>
            <a:endParaRPr lang="en-US" altLang="zh-CN" sz="2800" dirty="0">
              <a:solidFill>
                <a:srgbClr val="324769"/>
              </a:solidFill>
              <a:latin typeface="Times New Roman" panose="02020603050405020304" pitchFamily="18" charset="0"/>
              <a:cs typeface="+mn-ea"/>
              <a:sym typeface="+mn-lt"/>
            </a:endParaRPr>
          </a:p>
          <a:p>
            <a:endParaRPr lang="en-US" altLang="zh-CN" sz="2800" dirty="0">
              <a:solidFill>
                <a:srgbClr val="324769"/>
              </a:solidFill>
              <a:latin typeface="Times New Roman" panose="02020603050405020304" pitchFamily="18" charset="0"/>
              <a:cs typeface="+mn-ea"/>
              <a:sym typeface="+mn-lt"/>
            </a:endParaRPr>
          </a:p>
        </p:txBody>
      </p:sp>
      <p:grpSp>
        <p:nvGrpSpPr>
          <p:cNvPr id="4" name="组合 3">
            <a:extLst>
              <a:ext uri="{FF2B5EF4-FFF2-40B4-BE49-F238E27FC236}">
                <a16:creationId xmlns:a16="http://schemas.microsoft.com/office/drawing/2014/main" id="{9AB270DA-1906-8E57-2FB8-F95CB4E418B1}"/>
              </a:ext>
            </a:extLst>
          </p:cNvPr>
          <p:cNvGrpSpPr/>
          <p:nvPr/>
        </p:nvGrpSpPr>
        <p:grpSpPr>
          <a:xfrm>
            <a:off x="80010" y="198120"/>
            <a:ext cx="1003935" cy="768350"/>
            <a:chOff x="1417" y="1412"/>
            <a:chExt cx="1581" cy="1210"/>
          </a:xfrm>
        </p:grpSpPr>
        <p:sp>
          <p:nvSpPr>
            <p:cNvPr id="3" name="椭圆 2">
              <a:extLst>
                <a:ext uri="{FF2B5EF4-FFF2-40B4-BE49-F238E27FC236}">
                  <a16:creationId xmlns:a16="http://schemas.microsoft.com/office/drawing/2014/main" id="{ECDF60EC-63B4-B1A8-DB09-15CB5FB3EE37}"/>
                </a:ext>
              </a:extLst>
            </p:cNvPr>
            <p:cNvSpPr/>
            <p:nvPr>
              <p:custDataLst>
                <p:tags r:id="rId3"/>
              </p:custDataLst>
            </p:nvPr>
          </p:nvSpPr>
          <p:spPr>
            <a:xfrm>
              <a:off x="1617" y="1426"/>
              <a:ext cx="1182" cy="1182"/>
            </a:xfrm>
            <a:prstGeom prst="ellipse">
              <a:avLst/>
            </a:pr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50" name="文本框 49">
              <a:extLst>
                <a:ext uri="{FF2B5EF4-FFF2-40B4-BE49-F238E27FC236}">
                  <a16:creationId xmlns:a16="http://schemas.microsoft.com/office/drawing/2014/main" id="{510321FB-ACAD-25D3-CE9E-94CAE0A4905E}"/>
                </a:ext>
              </a:extLst>
            </p:cNvPr>
            <p:cNvSpPr txBox="1"/>
            <p:nvPr>
              <p:custDataLst>
                <p:tags r:id="rId4"/>
              </p:custDataLst>
            </p:nvPr>
          </p:nvSpPr>
          <p:spPr>
            <a:xfrm>
              <a:off x="1417" y="1412"/>
              <a:ext cx="1581" cy="1210"/>
            </a:xfrm>
            <a:prstGeom prst="rect">
              <a:avLst/>
            </a:prstGeom>
            <a:noFill/>
          </p:spPr>
          <p:txBody>
            <a:bodyPr wrap="square" rtlCol="0">
              <a:spAutoFit/>
            </a:bodyPr>
            <a:lstStyle/>
            <a:p>
              <a:pPr algn="ctr"/>
              <a:r>
                <a:rPr lang="en-US" altLang="zh-CN" sz="4400" dirty="0">
                  <a:solidFill>
                    <a:schemeClr val="bg1"/>
                  </a:solidFill>
                  <a:latin typeface="Times New Roman" panose="02020603050405020304" pitchFamily="18" charset="0"/>
                  <a:cs typeface="Times New Roman" panose="02020603050405020304" pitchFamily="18" charset="0"/>
                  <a:sym typeface="+mn-lt"/>
                </a:rPr>
                <a:t>04</a:t>
              </a:r>
            </a:p>
          </p:txBody>
        </p:sp>
      </p:grpSp>
      <p:sp>
        <p:nvSpPr>
          <p:cNvPr id="19" name="Rectangle 2">
            <a:extLst>
              <a:ext uri="{FF2B5EF4-FFF2-40B4-BE49-F238E27FC236}">
                <a16:creationId xmlns:a16="http://schemas.microsoft.com/office/drawing/2014/main" id="{0606B9F0-DF04-085A-25B6-08AFAB4C6058}"/>
              </a:ext>
            </a:extLst>
          </p:cNvPr>
          <p:cNvSpPr>
            <a:spLocks noChangeArrowheads="1"/>
          </p:cNvSpPr>
          <p:nvPr/>
        </p:nvSpPr>
        <p:spPr bwMode="auto">
          <a:xfrm>
            <a:off x="1425600" y="167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8" name="Rectangle 6">
            <a:extLst>
              <a:ext uri="{FF2B5EF4-FFF2-40B4-BE49-F238E27FC236}">
                <a16:creationId xmlns:a16="http://schemas.microsoft.com/office/drawing/2014/main" id="{5B0E9548-DAAA-BCFF-6BA6-F726D8347FAB}"/>
              </a:ext>
            </a:extLst>
          </p:cNvPr>
          <p:cNvSpPr>
            <a:spLocks noChangeArrowheads="1"/>
          </p:cNvSpPr>
          <p:nvPr/>
        </p:nvSpPr>
        <p:spPr bwMode="auto">
          <a:xfrm>
            <a:off x="374015" y="48105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dirty="0"/>
          </a:p>
        </p:txBody>
      </p:sp>
      <p:sp>
        <p:nvSpPr>
          <p:cNvPr id="36" name="Rectangle 8">
            <a:extLst>
              <a:ext uri="{FF2B5EF4-FFF2-40B4-BE49-F238E27FC236}">
                <a16:creationId xmlns:a16="http://schemas.microsoft.com/office/drawing/2014/main" id="{AB8EE4C2-180C-517E-8BDE-9566606B103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a:extLst>
              <a:ext uri="{FF2B5EF4-FFF2-40B4-BE49-F238E27FC236}">
                <a16:creationId xmlns:a16="http://schemas.microsoft.com/office/drawing/2014/main" id="{2062D2BC-FCE2-194F-83AF-F0780601837C}"/>
              </a:ext>
            </a:extLst>
          </p:cNvPr>
          <p:cNvSpPr txBox="1"/>
          <p:nvPr/>
        </p:nvSpPr>
        <p:spPr>
          <a:xfrm>
            <a:off x="1083944" y="2951820"/>
            <a:ext cx="9090203" cy="1323439"/>
          </a:xfrm>
          <a:prstGeom prst="rect">
            <a:avLst/>
          </a:prstGeom>
          <a:noFill/>
          <a:ln w="19050">
            <a:noFill/>
          </a:ln>
        </p:spPr>
        <p:txBody>
          <a:bodyPr wrap="square" rtlCol="0">
            <a:spAutoFit/>
          </a:bodyPr>
          <a:lstStyle/>
          <a:p>
            <a:r>
              <a:rPr lang="zh-CN" altLang="en-US" sz="2000" b="1" dirty="0"/>
              <a:t>章节整体顺序</a:t>
            </a:r>
            <a:endParaRPr lang="en-US" altLang="zh-CN" sz="2000" b="1" dirty="0"/>
          </a:p>
          <a:p>
            <a:r>
              <a:rPr lang="zh-CN" altLang="en-US" sz="2000" dirty="0"/>
              <a:t>静态建 </a:t>
            </a:r>
            <a:r>
              <a:rPr lang="en-US" altLang="zh-CN" sz="2000" dirty="0"/>
              <a:t>ADG → </a:t>
            </a:r>
            <a:r>
              <a:rPr lang="zh-CN" altLang="en-US" sz="2000" dirty="0"/>
              <a:t>生成 </a:t>
            </a:r>
            <a:r>
              <a:rPr lang="en-US" altLang="zh-CN" sz="2000" dirty="0"/>
              <a:t>MIS → </a:t>
            </a:r>
            <a:r>
              <a:rPr lang="zh-CN" altLang="en-US" sz="2000" dirty="0"/>
              <a:t>熵优先级 → 熵感知 </a:t>
            </a:r>
            <a:r>
              <a:rPr lang="en-US" altLang="zh-CN" sz="2000" dirty="0"/>
              <a:t>fuzz → </a:t>
            </a:r>
            <a:r>
              <a:rPr lang="zh-CN" altLang="en-US" sz="2000" dirty="0"/>
              <a:t>后处理去重</a:t>
            </a:r>
            <a:endParaRPr lang="en-US" altLang="zh-CN" sz="2000" dirty="0"/>
          </a:p>
          <a:p>
            <a:r>
              <a:rPr lang="zh-CN" altLang="en-US" sz="2000" b="1" dirty="0"/>
              <a:t>章节作用：</a:t>
            </a:r>
            <a:br>
              <a:rPr lang="en-US" altLang="zh-CN" sz="2000" dirty="0"/>
            </a:br>
            <a:r>
              <a:rPr lang="zh-CN" altLang="en-US" sz="2000" dirty="0"/>
              <a:t>结构简洁明了。五页内容</a:t>
            </a:r>
          </a:p>
        </p:txBody>
      </p:sp>
    </p:spTree>
    <p:custDataLst>
      <p:tags r:id="rId1"/>
    </p:custDataLst>
    <p:extLst>
      <p:ext uri="{BB962C8B-B14F-4D97-AF65-F5344CB8AC3E}">
        <p14:creationId xmlns:p14="http://schemas.microsoft.com/office/powerpoint/2010/main" val="239818048"/>
      </p:ext>
    </p:extLst>
  </p:cSld>
  <p:clrMapOvr>
    <a:masterClrMapping/>
  </p:clrMapOvr>
  <mc:AlternateContent xmlns:mc="http://schemas.openxmlformats.org/markup-compatibility/2006" xmlns:p14="http://schemas.microsoft.com/office/powerpoint/2010/main">
    <mc:Choice Requires="p14">
      <p:transition spd="slow" p14:dur="2000" advTm="183526"/>
    </mc:Choice>
    <mc:Fallback xmlns="">
      <p:transition spd="slow" advTm="183526"/>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CAFCD-80D8-AA4C-739B-196A2E544AC3}"/>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F44DFF37-01BB-807C-D793-7EBE7D2DB230}"/>
              </a:ext>
            </a:extLst>
          </p:cNvPr>
          <p:cNvSpPr txBox="1"/>
          <p:nvPr/>
        </p:nvSpPr>
        <p:spPr>
          <a:xfrm>
            <a:off x="2074430" y="2717482"/>
            <a:ext cx="4910667" cy="769441"/>
          </a:xfrm>
          <a:prstGeom prst="rect">
            <a:avLst/>
          </a:prstGeom>
          <a:noFill/>
        </p:spPr>
        <p:txBody>
          <a:bodyPr wrap="square" rtlCol="0">
            <a:spAutoFit/>
          </a:bodyPr>
          <a:lstStyle>
            <a:defPPr>
              <a:defRPr lang="zh-CN"/>
            </a:defPPr>
            <a:lvl1pPr algn="dist">
              <a:defRPr sz="4400" b="1">
                <a:solidFill>
                  <a:srgbClr val="324769"/>
                </a:solidFill>
                <a:latin typeface="Arial" panose="020B0604020202020204"/>
                <a:ea typeface="微软雅黑" panose="020B0503020204020204" pitchFamily="34" charset="-122"/>
                <a:cs typeface="汉仪中宋简" panose="02010609000101010101" charset="-128"/>
              </a:defRPr>
            </a:lvl1pPr>
          </a:lstStyle>
          <a:p>
            <a:pPr algn="l"/>
            <a:r>
              <a:rPr lang="zh-CN" altLang="en-US" dirty="0">
                <a:latin typeface="+mn-lt"/>
                <a:ea typeface="+mn-ea"/>
                <a:cs typeface="+mn-ea"/>
                <a:sym typeface="+mn-lt"/>
              </a:rPr>
              <a:t>实现</a:t>
            </a:r>
          </a:p>
        </p:txBody>
      </p:sp>
      <p:grpSp>
        <p:nvGrpSpPr>
          <p:cNvPr id="3" name="组合 2">
            <a:extLst>
              <a:ext uri="{FF2B5EF4-FFF2-40B4-BE49-F238E27FC236}">
                <a16:creationId xmlns:a16="http://schemas.microsoft.com/office/drawing/2014/main" id="{B7806C4F-7722-2529-400F-3AB02EC19D97}"/>
              </a:ext>
            </a:extLst>
          </p:cNvPr>
          <p:cNvGrpSpPr/>
          <p:nvPr/>
        </p:nvGrpSpPr>
        <p:grpSpPr>
          <a:xfrm>
            <a:off x="184785" y="2346960"/>
            <a:ext cx="1684655" cy="1445260"/>
            <a:chOff x="909" y="4569"/>
            <a:chExt cx="2653" cy="2276"/>
          </a:xfrm>
        </p:grpSpPr>
        <p:sp>
          <p:nvSpPr>
            <p:cNvPr id="12" name="椭圆 11">
              <a:extLst>
                <a:ext uri="{FF2B5EF4-FFF2-40B4-BE49-F238E27FC236}">
                  <a16:creationId xmlns:a16="http://schemas.microsoft.com/office/drawing/2014/main" id="{8A77769B-C33D-1103-E612-0C0A7C8E8BC7}"/>
                </a:ext>
              </a:extLst>
            </p:cNvPr>
            <p:cNvSpPr/>
            <p:nvPr/>
          </p:nvSpPr>
          <p:spPr>
            <a:xfrm>
              <a:off x="2306" y="4674"/>
              <a:ext cx="957" cy="957"/>
            </a:xfrm>
            <a:prstGeom prst="ellipse">
              <a:avLst/>
            </a:prstGeom>
            <a:solidFill>
              <a:srgbClr val="D0E1F7">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0" name="文本框 49">
              <a:extLst>
                <a:ext uri="{FF2B5EF4-FFF2-40B4-BE49-F238E27FC236}">
                  <a16:creationId xmlns:a16="http://schemas.microsoft.com/office/drawing/2014/main" id="{25DA829E-5D97-D874-35A1-3A4CE5AAC444}"/>
                </a:ext>
              </a:extLst>
            </p:cNvPr>
            <p:cNvSpPr txBox="1"/>
            <p:nvPr/>
          </p:nvSpPr>
          <p:spPr>
            <a:xfrm>
              <a:off x="909" y="4569"/>
              <a:ext cx="2653" cy="2276"/>
            </a:xfrm>
            <a:prstGeom prst="rect">
              <a:avLst/>
            </a:prstGeom>
            <a:noFill/>
          </p:spPr>
          <p:txBody>
            <a:bodyPr wrap="square" rtlCol="0">
              <a:spAutoFit/>
            </a:bodyPr>
            <a:lstStyle/>
            <a:p>
              <a:pPr algn="ctr"/>
              <a:r>
                <a:rPr lang="en-US" altLang="zh-CN" sz="8800" dirty="0">
                  <a:solidFill>
                    <a:srgbClr val="324769"/>
                  </a:solidFill>
                  <a:cs typeface="+mn-ea"/>
                  <a:sym typeface="+mn-lt"/>
                </a:rPr>
                <a:t>05</a:t>
              </a:r>
            </a:p>
          </p:txBody>
        </p:sp>
      </p:grpSp>
      <p:cxnSp>
        <p:nvCxnSpPr>
          <p:cNvPr id="32" name="直接连接符 31">
            <a:extLst>
              <a:ext uri="{FF2B5EF4-FFF2-40B4-BE49-F238E27FC236}">
                <a16:creationId xmlns:a16="http://schemas.microsoft.com/office/drawing/2014/main" id="{9DD93549-4071-626B-7F9D-BBCB0FEA3721}"/>
              </a:ext>
            </a:extLst>
          </p:cNvPr>
          <p:cNvCxnSpPr/>
          <p:nvPr/>
        </p:nvCxnSpPr>
        <p:spPr>
          <a:xfrm>
            <a:off x="530225" y="3720465"/>
            <a:ext cx="5784850" cy="0"/>
          </a:xfrm>
          <a:prstGeom prst="line">
            <a:avLst/>
          </a:prstGeom>
          <a:ln w="28575" cmpd="thickThin">
            <a:solidFill>
              <a:srgbClr val="324769"/>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317015958"/>
      </p:ext>
    </p:extLst>
  </p:cSld>
  <p:clrMapOvr>
    <a:masterClrMapping/>
  </p:clrMapOvr>
  <mc:AlternateContent xmlns:mc="http://schemas.openxmlformats.org/markup-compatibility/2006" xmlns:p14="http://schemas.microsoft.com/office/powerpoint/2010/main">
    <mc:Choice Requires="p14">
      <p:transition spd="slow" p14:dur="2000" advTm="7316"/>
    </mc:Choice>
    <mc:Fallback xmlns="">
      <p:transition spd="slow" advTm="7316"/>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63720-EABB-AF60-0A1B-B19E2D979882}"/>
            </a:ext>
          </a:extLst>
        </p:cNvPr>
        <p:cNvGrpSpPr/>
        <p:nvPr/>
      </p:nvGrpSpPr>
      <p:grpSpPr>
        <a:xfrm>
          <a:off x="0" y="0"/>
          <a:ext cx="0" cy="0"/>
          <a:chOff x="0" y="0"/>
          <a:chExt cx="0" cy="0"/>
        </a:xfrm>
      </p:grpSpPr>
      <p:sp>
        <p:nvSpPr>
          <p:cNvPr id="12" name="椭圆 11">
            <a:extLst>
              <a:ext uri="{FF2B5EF4-FFF2-40B4-BE49-F238E27FC236}">
                <a16:creationId xmlns:a16="http://schemas.microsoft.com/office/drawing/2014/main" id="{54B0E6C4-E5F8-FC00-5D0E-202EDE7F3751}"/>
              </a:ext>
            </a:extLst>
          </p:cNvPr>
          <p:cNvSpPr/>
          <p:nvPr/>
        </p:nvSpPr>
        <p:spPr>
          <a:xfrm>
            <a:off x="137160" y="186690"/>
            <a:ext cx="236855" cy="236855"/>
          </a:xfrm>
          <a:prstGeom prst="ellipse">
            <a:avLst/>
          </a:prstGeom>
          <a:solidFill>
            <a:srgbClr val="ACBBDB">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10" name="文本框 9">
            <a:extLst>
              <a:ext uri="{FF2B5EF4-FFF2-40B4-BE49-F238E27FC236}">
                <a16:creationId xmlns:a16="http://schemas.microsoft.com/office/drawing/2014/main" id="{0C7335A8-0170-DC6A-B3DB-798DFFAE8D11}"/>
              </a:ext>
            </a:extLst>
          </p:cNvPr>
          <p:cNvSpPr txBox="1"/>
          <p:nvPr>
            <p:custDataLst>
              <p:tags r:id="rId2"/>
            </p:custDataLst>
          </p:nvPr>
        </p:nvSpPr>
        <p:spPr>
          <a:xfrm>
            <a:off x="1083944" y="326688"/>
            <a:ext cx="3438359" cy="523220"/>
          </a:xfrm>
          <a:prstGeom prst="rect">
            <a:avLst/>
          </a:prstGeom>
          <a:noFill/>
        </p:spPr>
        <p:txBody>
          <a:bodyPr wrap="square" rtlCol="0">
            <a:spAutoFit/>
          </a:bodyPr>
          <a:lstStyle/>
          <a:p>
            <a:r>
              <a:rPr lang="zh-CN" altLang="en-US" sz="2800" dirty="0">
                <a:solidFill>
                  <a:srgbClr val="324769"/>
                </a:solidFill>
                <a:latin typeface="Times New Roman" panose="02020603050405020304" pitchFamily="18" charset="0"/>
                <a:cs typeface="+mn-ea"/>
                <a:sym typeface="+mn-lt"/>
              </a:rPr>
              <a:t>实现</a:t>
            </a:r>
            <a:endParaRPr lang="en-US" altLang="zh-CN" sz="2800" dirty="0">
              <a:solidFill>
                <a:srgbClr val="324769"/>
              </a:solidFill>
              <a:latin typeface="Times New Roman" panose="02020603050405020304" pitchFamily="18" charset="0"/>
              <a:cs typeface="+mn-ea"/>
              <a:sym typeface="+mn-lt"/>
            </a:endParaRPr>
          </a:p>
        </p:txBody>
      </p:sp>
      <p:grpSp>
        <p:nvGrpSpPr>
          <p:cNvPr id="4" name="组合 3">
            <a:extLst>
              <a:ext uri="{FF2B5EF4-FFF2-40B4-BE49-F238E27FC236}">
                <a16:creationId xmlns:a16="http://schemas.microsoft.com/office/drawing/2014/main" id="{F3679EAC-4AA0-0DE2-2014-11602BA3D314}"/>
              </a:ext>
            </a:extLst>
          </p:cNvPr>
          <p:cNvGrpSpPr/>
          <p:nvPr/>
        </p:nvGrpSpPr>
        <p:grpSpPr>
          <a:xfrm>
            <a:off x="80010" y="198120"/>
            <a:ext cx="1003935" cy="768350"/>
            <a:chOff x="1417" y="1412"/>
            <a:chExt cx="1581" cy="1210"/>
          </a:xfrm>
        </p:grpSpPr>
        <p:sp>
          <p:nvSpPr>
            <p:cNvPr id="3" name="椭圆 2">
              <a:extLst>
                <a:ext uri="{FF2B5EF4-FFF2-40B4-BE49-F238E27FC236}">
                  <a16:creationId xmlns:a16="http://schemas.microsoft.com/office/drawing/2014/main" id="{FE7874DA-472D-937B-5D90-D69EEB147EDB}"/>
                </a:ext>
              </a:extLst>
            </p:cNvPr>
            <p:cNvSpPr/>
            <p:nvPr>
              <p:custDataLst>
                <p:tags r:id="rId3"/>
              </p:custDataLst>
            </p:nvPr>
          </p:nvSpPr>
          <p:spPr>
            <a:xfrm>
              <a:off x="1617" y="1426"/>
              <a:ext cx="1182" cy="1182"/>
            </a:xfrm>
            <a:prstGeom prst="ellipse">
              <a:avLst/>
            </a:pr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50" name="文本框 49">
              <a:extLst>
                <a:ext uri="{FF2B5EF4-FFF2-40B4-BE49-F238E27FC236}">
                  <a16:creationId xmlns:a16="http://schemas.microsoft.com/office/drawing/2014/main" id="{2CFBD899-A965-BBA7-D184-43732FD5329C}"/>
                </a:ext>
              </a:extLst>
            </p:cNvPr>
            <p:cNvSpPr txBox="1"/>
            <p:nvPr>
              <p:custDataLst>
                <p:tags r:id="rId4"/>
              </p:custDataLst>
            </p:nvPr>
          </p:nvSpPr>
          <p:spPr>
            <a:xfrm>
              <a:off x="1417" y="1412"/>
              <a:ext cx="1581" cy="1210"/>
            </a:xfrm>
            <a:prstGeom prst="rect">
              <a:avLst/>
            </a:prstGeom>
            <a:noFill/>
          </p:spPr>
          <p:txBody>
            <a:bodyPr wrap="square" rtlCol="0">
              <a:spAutoFit/>
            </a:bodyPr>
            <a:lstStyle/>
            <a:p>
              <a:pPr algn="ctr"/>
              <a:r>
                <a:rPr lang="en-US" altLang="zh-CN" sz="4400" dirty="0">
                  <a:solidFill>
                    <a:schemeClr val="bg1"/>
                  </a:solidFill>
                  <a:latin typeface="Times New Roman" panose="02020603050405020304" pitchFamily="18" charset="0"/>
                  <a:cs typeface="Times New Roman" panose="02020603050405020304" pitchFamily="18" charset="0"/>
                  <a:sym typeface="+mn-lt"/>
                </a:rPr>
                <a:t>05</a:t>
              </a:r>
            </a:p>
          </p:txBody>
        </p:sp>
      </p:grpSp>
      <p:sp>
        <p:nvSpPr>
          <p:cNvPr id="19" name="Rectangle 2">
            <a:extLst>
              <a:ext uri="{FF2B5EF4-FFF2-40B4-BE49-F238E27FC236}">
                <a16:creationId xmlns:a16="http://schemas.microsoft.com/office/drawing/2014/main" id="{559A68C7-E90A-48BB-34B8-3D55D3429E23}"/>
              </a:ext>
            </a:extLst>
          </p:cNvPr>
          <p:cNvSpPr>
            <a:spLocks noChangeArrowheads="1"/>
          </p:cNvSpPr>
          <p:nvPr/>
        </p:nvSpPr>
        <p:spPr bwMode="auto">
          <a:xfrm>
            <a:off x="1425600" y="167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Rectangle 8">
            <a:extLst>
              <a:ext uri="{FF2B5EF4-FFF2-40B4-BE49-F238E27FC236}">
                <a16:creationId xmlns:a16="http://schemas.microsoft.com/office/drawing/2014/main" id="{4DA4822B-A867-9E08-31DF-EC8D6037DA3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文本框 10">
            <a:extLst>
              <a:ext uri="{FF2B5EF4-FFF2-40B4-BE49-F238E27FC236}">
                <a16:creationId xmlns:a16="http://schemas.microsoft.com/office/drawing/2014/main" id="{4BDDE992-A09F-08D9-54D3-85AFF67BCA43}"/>
              </a:ext>
            </a:extLst>
          </p:cNvPr>
          <p:cNvSpPr txBox="1"/>
          <p:nvPr/>
        </p:nvSpPr>
        <p:spPr>
          <a:xfrm>
            <a:off x="-373711" y="885490"/>
            <a:ext cx="12192000" cy="2731645"/>
          </a:xfrm>
          <a:prstGeom prst="rect">
            <a:avLst/>
          </a:prstGeom>
          <a:noFill/>
          <a:ln w="19050">
            <a:noFill/>
          </a:ln>
        </p:spPr>
        <p:txBody>
          <a:bodyPr wrap="square" rtlCol="0">
            <a:spAutoFit/>
          </a:bodyPr>
          <a:lstStyle/>
          <a:p>
            <a:pPr lvl="1" indent="457200">
              <a:lnSpc>
                <a:spcPct val="130000"/>
              </a:lnSpc>
              <a:spcAft>
                <a:spcPts val="600"/>
              </a:spcAft>
            </a:pPr>
            <a:r>
              <a:rPr lang="zh-CN" altLang="en-US" dirty="0"/>
              <a:t>我们用约</a:t>
            </a:r>
            <a:r>
              <a:rPr lang="en-US" altLang="zh-CN" dirty="0"/>
              <a:t>3000</a:t>
            </a:r>
            <a:r>
              <a:rPr lang="zh-CN" altLang="en-US" dirty="0"/>
              <a:t>行</a:t>
            </a:r>
            <a:r>
              <a:rPr lang="en-US" altLang="zh-CN" dirty="0"/>
              <a:t>Python</a:t>
            </a:r>
            <a:r>
              <a:rPr lang="zh-CN" altLang="en-US" dirty="0"/>
              <a:t>代码实现了</a:t>
            </a:r>
            <a:r>
              <a:rPr lang="en-US" altLang="zh-CN" dirty="0"/>
              <a:t>ADGFUZZ</a:t>
            </a:r>
            <a:r>
              <a:rPr lang="zh-CN" altLang="en-US" dirty="0"/>
              <a:t>。下文概述了各个模块的一些关键实现细节。</a:t>
            </a:r>
            <a:endParaRPr lang="en-US" altLang="zh-CN" dirty="0"/>
          </a:p>
          <a:p>
            <a:pPr lvl="1" indent="457200">
              <a:lnSpc>
                <a:spcPct val="130000"/>
              </a:lnSpc>
              <a:spcAft>
                <a:spcPts val="600"/>
              </a:spcAft>
            </a:pPr>
            <a:r>
              <a:rPr lang="en-US" altLang="zh-CN" dirty="0"/>
              <a:t>ADG </a:t>
            </a:r>
            <a:r>
              <a:rPr lang="zh-CN" altLang="en-US" dirty="0"/>
              <a:t>构建。我们从 </a:t>
            </a:r>
            <a:r>
              <a:rPr lang="en-US" altLang="zh-CN" dirty="0" err="1"/>
              <a:t>ArduCopter</a:t>
            </a:r>
            <a:r>
              <a:rPr lang="zh-CN" altLang="en-US" dirty="0"/>
              <a:t>、</a:t>
            </a:r>
            <a:r>
              <a:rPr lang="en-US" altLang="zh-CN" dirty="0" err="1"/>
              <a:t>ArduPlane</a:t>
            </a:r>
            <a:r>
              <a:rPr lang="zh-CN" altLang="en-US" dirty="0"/>
              <a:t>、</a:t>
            </a:r>
            <a:r>
              <a:rPr lang="en-US" altLang="zh-CN" dirty="0"/>
              <a:t>Rover </a:t>
            </a:r>
            <a:r>
              <a:rPr lang="zh-CN" altLang="en-US" dirty="0"/>
              <a:t>以及 </a:t>
            </a:r>
            <a:r>
              <a:rPr lang="en-US" altLang="zh-CN" dirty="0" err="1"/>
              <a:t>ArduPilot</a:t>
            </a:r>
            <a:r>
              <a:rPr lang="en-US" altLang="zh-CN" dirty="0"/>
              <a:t> </a:t>
            </a:r>
            <a:r>
              <a:rPr lang="zh-CN" altLang="en-US" dirty="0"/>
              <a:t>项目中的库模块选取了源代码。采用基于模式的字符串匹配来识别赋值语句并完成变量名规范化，以此作为构建赋值依赖图（</a:t>
            </a:r>
            <a:r>
              <a:rPr lang="en-US" altLang="zh-CN" dirty="0"/>
              <a:t>ADG</a:t>
            </a:r>
            <a:r>
              <a:rPr lang="zh-CN" altLang="en-US" dirty="0"/>
              <a:t>）的基础。</a:t>
            </a:r>
            <a:endParaRPr lang="en-US" altLang="zh-CN" dirty="0"/>
          </a:p>
          <a:p>
            <a:pPr lvl="1" indent="457200">
              <a:lnSpc>
                <a:spcPct val="130000"/>
              </a:lnSpc>
              <a:spcAft>
                <a:spcPts val="600"/>
              </a:spcAft>
            </a:pPr>
            <a:r>
              <a:rPr lang="zh-CN" altLang="en-US" dirty="0"/>
              <a:t>我们从参数文档与指令文档中提取无人运载工具（</a:t>
            </a:r>
            <a:r>
              <a:rPr lang="en-US" altLang="zh-CN" dirty="0"/>
              <a:t>RV</a:t>
            </a:r>
            <a:r>
              <a:rPr lang="zh-CN" altLang="en-US" dirty="0"/>
              <a:t>）控制软件支持的输入名称，构建输入术语集合。借助术语关联表，我们将赋值依赖图（</a:t>
            </a:r>
            <a:r>
              <a:rPr lang="en-US" altLang="zh-CN" dirty="0"/>
              <a:t>ADG</a:t>
            </a:r>
            <a:r>
              <a:rPr lang="zh-CN" altLang="en-US" dirty="0"/>
              <a:t>）中的变量术语映射至 </a:t>
            </a:r>
            <a:r>
              <a:rPr lang="en-US" altLang="zh-CN" dirty="0"/>
              <a:t>RV </a:t>
            </a:r>
            <a:r>
              <a:rPr lang="zh-CN" altLang="en-US" dirty="0"/>
              <a:t>输入，以此构建匹配输入集（</a:t>
            </a:r>
            <a:r>
              <a:rPr lang="en-US" altLang="zh-CN" dirty="0"/>
              <a:t>MIS</a:t>
            </a:r>
            <a:r>
              <a:rPr lang="zh-CN" altLang="en-US" dirty="0"/>
              <a:t>）。依据本文提出的信息熵定义，我们计算并记录每个匹配输入集对应的熵值。在模糊测试阶段，我们基于 </a:t>
            </a:r>
            <a:r>
              <a:rPr lang="en-US" altLang="zh-CN" dirty="0" err="1"/>
              <a:t>pymavlink</a:t>
            </a:r>
            <a:r>
              <a:rPr lang="en-US" altLang="zh-CN" dirty="0"/>
              <a:t> </a:t>
            </a:r>
            <a:r>
              <a:rPr lang="zh-CN" altLang="en-US" dirty="0"/>
              <a:t>库实现与无人运载工具的交互控制。</a:t>
            </a:r>
            <a:endParaRPr lang="en-US" altLang="zh-CN" sz="2000" dirty="0">
              <a:latin typeface="Times New Roman" panose="02020603050405020304" pitchFamily="18" charset="0"/>
              <a:ea typeface="苹方 中等" panose="020B0400000000000000" pitchFamily="34"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3674220787"/>
      </p:ext>
    </p:extLst>
  </p:cSld>
  <p:clrMapOvr>
    <a:masterClrMapping/>
  </p:clrMapOvr>
  <mc:AlternateContent xmlns:mc="http://schemas.openxmlformats.org/markup-compatibility/2006" xmlns:p14="http://schemas.microsoft.com/office/powerpoint/2010/main">
    <mc:Choice Requires="p14">
      <p:transition spd="slow" p14:dur="2000" advTm="183526"/>
    </mc:Choice>
    <mc:Fallback xmlns="">
      <p:transition spd="slow" advTm="183526"/>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9A61F-C904-1AE6-6D0E-2D3A7451D18A}"/>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0A81812F-08E6-9478-56F3-BFD6D5C78F6C}"/>
              </a:ext>
            </a:extLst>
          </p:cNvPr>
          <p:cNvSpPr txBox="1"/>
          <p:nvPr/>
        </p:nvSpPr>
        <p:spPr>
          <a:xfrm>
            <a:off x="2074430" y="2717482"/>
            <a:ext cx="4910667" cy="769441"/>
          </a:xfrm>
          <a:prstGeom prst="rect">
            <a:avLst/>
          </a:prstGeom>
          <a:noFill/>
        </p:spPr>
        <p:txBody>
          <a:bodyPr wrap="square" rtlCol="0">
            <a:spAutoFit/>
          </a:bodyPr>
          <a:lstStyle>
            <a:defPPr>
              <a:defRPr lang="zh-CN"/>
            </a:defPPr>
            <a:lvl1pPr algn="dist">
              <a:defRPr sz="4400" b="1">
                <a:solidFill>
                  <a:srgbClr val="324769"/>
                </a:solidFill>
                <a:latin typeface="Arial" panose="020B0604020202020204"/>
                <a:ea typeface="微软雅黑" panose="020B0503020204020204" pitchFamily="34" charset="-122"/>
                <a:cs typeface="汉仪中宋简" panose="02010609000101010101" charset="-128"/>
              </a:defRPr>
            </a:lvl1pPr>
          </a:lstStyle>
          <a:p>
            <a:pPr algn="l"/>
            <a:r>
              <a:rPr lang="zh-CN" altLang="en-US" dirty="0">
                <a:latin typeface="+mn-lt"/>
                <a:ea typeface="+mn-ea"/>
                <a:cs typeface="+mn-ea"/>
                <a:sym typeface="+mn-lt"/>
              </a:rPr>
              <a:t>评估</a:t>
            </a:r>
          </a:p>
        </p:txBody>
      </p:sp>
      <p:grpSp>
        <p:nvGrpSpPr>
          <p:cNvPr id="3" name="组合 2">
            <a:extLst>
              <a:ext uri="{FF2B5EF4-FFF2-40B4-BE49-F238E27FC236}">
                <a16:creationId xmlns:a16="http://schemas.microsoft.com/office/drawing/2014/main" id="{931BAFBC-FEE9-8B9E-A064-398467C01413}"/>
              </a:ext>
            </a:extLst>
          </p:cNvPr>
          <p:cNvGrpSpPr/>
          <p:nvPr/>
        </p:nvGrpSpPr>
        <p:grpSpPr>
          <a:xfrm>
            <a:off x="184785" y="2346960"/>
            <a:ext cx="1684655" cy="1445260"/>
            <a:chOff x="909" y="4569"/>
            <a:chExt cx="2653" cy="2276"/>
          </a:xfrm>
        </p:grpSpPr>
        <p:sp>
          <p:nvSpPr>
            <p:cNvPr id="12" name="椭圆 11">
              <a:extLst>
                <a:ext uri="{FF2B5EF4-FFF2-40B4-BE49-F238E27FC236}">
                  <a16:creationId xmlns:a16="http://schemas.microsoft.com/office/drawing/2014/main" id="{8A3A4007-A1A6-DB79-6C15-C7BDA24B6C04}"/>
                </a:ext>
              </a:extLst>
            </p:cNvPr>
            <p:cNvSpPr/>
            <p:nvPr/>
          </p:nvSpPr>
          <p:spPr>
            <a:xfrm>
              <a:off x="2306" y="4674"/>
              <a:ext cx="957" cy="957"/>
            </a:xfrm>
            <a:prstGeom prst="ellipse">
              <a:avLst/>
            </a:prstGeom>
            <a:solidFill>
              <a:srgbClr val="D0E1F7">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0" name="文本框 49">
              <a:extLst>
                <a:ext uri="{FF2B5EF4-FFF2-40B4-BE49-F238E27FC236}">
                  <a16:creationId xmlns:a16="http://schemas.microsoft.com/office/drawing/2014/main" id="{6D009256-5B2C-BA81-C528-29C2663921C1}"/>
                </a:ext>
              </a:extLst>
            </p:cNvPr>
            <p:cNvSpPr txBox="1"/>
            <p:nvPr/>
          </p:nvSpPr>
          <p:spPr>
            <a:xfrm>
              <a:off x="909" y="4569"/>
              <a:ext cx="2653" cy="2276"/>
            </a:xfrm>
            <a:prstGeom prst="rect">
              <a:avLst/>
            </a:prstGeom>
            <a:noFill/>
          </p:spPr>
          <p:txBody>
            <a:bodyPr wrap="square" rtlCol="0">
              <a:spAutoFit/>
            </a:bodyPr>
            <a:lstStyle/>
            <a:p>
              <a:pPr algn="ctr"/>
              <a:r>
                <a:rPr lang="en-US" altLang="zh-CN" sz="8800" dirty="0">
                  <a:solidFill>
                    <a:srgbClr val="324769"/>
                  </a:solidFill>
                  <a:cs typeface="+mn-ea"/>
                  <a:sym typeface="+mn-lt"/>
                </a:rPr>
                <a:t>06</a:t>
              </a:r>
            </a:p>
          </p:txBody>
        </p:sp>
      </p:grpSp>
      <p:cxnSp>
        <p:nvCxnSpPr>
          <p:cNvPr id="32" name="直接连接符 31">
            <a:extLst>
              <a:ext uri="{FF2B5EF4-FFF2-40B4-BE49-F238E27FC236}">
                <a16:creationId xmlns:a16="http://schemas.microsoft.com/office/drawing/2014/main" id="{C8DB1397-497C-0055-A8DD-270EFCC13D26}"/>
              </a:ext>
            </a:extLst>
          </p:cNvPr>
          <p:cNvCxnSpPr/>
          <p:nvPr/>
        </p:nvCxnSpPr>
        <p:spPr>
          <a:xfrm>
            <a:off x="530225" y="3720465"/>
            <a:ext cx="5784850" cy="0"/>
          </a:xfrm>
          <a:prstGeom prst="line">
            <a:avLst/>
          </a:prstGeom>
          <a:ln w="28575" cmpd="thickThin">
            <a:solidFill>
              <a:srgbClr val="324769"/>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350629179"/>
      </p:ext>
    </p:extLst>
  </p:cSld>
  <p:clrMapOvr>
    <a:masterClrMapping/>
  </p:clrMapOvr>
  <mc:AlternateContent xmlns:mc="http://schemas.openxmlformats.org/markup-compatibility/2006" xmlns:p14="http://schemas.microsoft.com/office/powerpoint/2010/main">
    <mc:Choice Requires="p14">
      <p:transition spd="slow" p14:dur="2000" advTm="7316"/>
    </mc:Choice>
    <mc:Fallback xmlns="">
      <p:transition spd="slow" advTm="7316"/>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BF933-5D18-3B46-F1C2-6063F9B58F99}"/>
            </a:ext>
          </a:extLst>
        </p:cNvPr>
        <p:cNvGrpSpPr/>
        <p:nvPr/>
      </p:nvGrpSpPr>
      <p:grpSpPr>
        <a:xfrm>
          <a:off x="0" y="0"/>
          <a:ext cx="0" cy="0"/>
          <a:chOff x="0" y="0"/>
          <a:chExt cx="0" cy="0"/>
        </a:xfrm>
      </p:grpSpPr>
      <p:sp>
        <p:nvSpPr>
          <p:cNvPr id="12" name="椭圆 11">
            <a:extLst>
              <a:ext uri="{FF2B5EF4-FFF2-40B4-BE49-F238E27FC236}">
                <a16:creationId xmlns:a16="http://schemas.microsoft.com/office/drawing/2014/main" id="{0CE0E90B-B58E-9ECB-7B54-778FEDAAF674}"/>
              </a:ext>
            </a:extLst>
          </p:cNvPr>
          <p:cNvSpPr/>
          <p:nvPr/>
        </p:nvSpPr>
        <p:spPr>
          <a:xfrm>
            <a:off x="137160" y="186690"/>
            <a:ext cx="236855" cy="236855"/>
          </a:xfrm>
          <a:prstGeom prst="ellipse">
            <a:avLst/>
          </a:prstGeom>
          <a:solidFill>
            <a:srgbClr val="ACBBDB">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10" name="文本框 9">
            <a:extLst>
              <a:ext uri="{FF2B5EF4-FFF2-40B4-BE49-F238E27FC236}">
                <a16:creationId xmlns:a16="http://schemas.microsoft.com/office/drawing/2014/main" id="{597F1436-17C8-B322-CD63-83DDDB3A9AB9}"/>
              </a:ext>
            </a:extLst>
          </p:cNvPr>
          <p:cNvSpPr txBox="1"/>
          <p:nvPr>
            <p:custDataLst>
              <p:tags r:id="rId2"/>
            </p:custDataLst>
          </p:nvPr>
        </p:nvSpPr>
        <p:spPr>
          <a:xfrm>
            <a:off x="1083944" y="326688"/>
            <a:ext cx="3438359" cy="523220"/>
          </a:xfrm>
          <a:prstGeom prst="rect">
            <a:avLst/>
          </a:prstGeom>
          <a:noFill/>
        </p:spPr>
        <p:txBody>
          <a:bodyPr wrap="square" rtlCol="0">
            <a:spAutoFit/>
          </a:bodyPr>
          <a:lstStyle/>
          <a:p>
            <a:r>
              <a:rPr lang="zh-CN" altLang="en-US" sz="2800" dirty="0">
                <a:solidFill>
                  <a:srgbClr val="324769"/>
                </a:solidFill>
                <a:latin typeface="Times New Roman" panose="02020603050405020304" pitchFamily="18" charset="0"/>
                <a:cs typeface="+mn-ea"/>
                <a:sym typeface="+mn-lt"/>
              </a:rPr>
              <a:t>评估</a:t>
            </a:r>
            <a:endParaRPr lang="en-US" altLang="zh-CN" sz="2800" dirty="0">
              <a:solidFill>
                <a:srgbClr val="324769"/>
              </a:solidFill>
              <a:latin typeface="Times New Roman" panose="02020603050405020304" pitchFamily="18" charset="0"/>
              <a:cs typeface="+mn-ea"/>
              <a:sym typeface="+mn-lt"/>
            </a:endParaRPr>
          </a:p>
        </p:txBody>
      </p:sp>
      <p:grpSp>
        <p:nvGrpSpPr>
          <p:cNvPr id="4" name="组合 3">
            <a:extLst>
              <a:ext uri="{FF2B5EF4-FFF2-40B4-BE49-F238E27FC236}">
                <a16:creationId xmlns:a16="http://schemas.microsoft.com/office/drawing/2014/main" id="{7A4B538D-E893-199A-55D0-28D2D5EF2C41}"/>
              </a:ext>
            </a:extLst>
          </p:cNvPr>
          <p:cNvGrpSpPr/>
          <p:nvPr/>
        </p:nvGrpSpPr>
        <p:grpSpPr>
          <a:xfrm>
            <a:off x="80010" y="198120"/>
            <a:ext cx="1003935" cy="768350"/>
            <a:chOff x="1417" y="1412"/>
            <a:chExt cx="1581" cy="1210"/>
          </a:xfrm>
        </p:grpSpPr>
        <p:sp>
          <p:nvSpPr>
            <p:cNvPr id="3" name="椭圆 2">
              <a:extLst>
                <a:ext uri="{FF2B5EF4-FFF2-40B4-BE49-F238E27FC236}">
                  <a16:creationId xmlns:a16="http://schemas.microsoft.com/office/drawing/2014/main" id="{4B55D097-8ADF-EC12-FB50-471DF84849BD}"/>
                </a:ext>
              </a:extLst>
            </p:cNvPr>
            <p:cNvSpPr/>
            <p:nvPr>
              <p:custDataLst>
                <p:tags r:id="rId3"/>
              </p:custDataLst>
            </p:nvPr>
          </p:nvSpPr>
          <p:spPr>
            <a:xfrm>
              <a:off x="1617" y="1426"/>
              <a:ext cx="1182" cy="1182"/>
            </a:xfrm>
            <a:prstGeom prst="ellipse">
              <a:avLst/>
            </a:pr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50" name="文本框 49">
              <a:extLst>
                <a:ext uri="{FF2B5EF4-FFF2-40B4-BE49-F238E27FC236}">
                  <a16:creationId xmlns:a16="http://schemas.microsoft.com/office/drawing/2014/main" id="{B9E049CD-1D36-5456-0FB9-F91BDAF54DAF}"/>
                </a:ext>
              </a:extLst>
            </p:cNvPr>
            <p:cNvSpPr txBox="1"/>
            <p:nvPr>
              <p:custDataLst>
                <p:tags r:id="rId4"/>
              </p:custDataLst>
            </p:nvPr>
          </p:nvSpPr>
          <p:spPr>
            <a:xfrm>
              <a:off x="1417" y="1412"/>
              <a:ext cx="1581" cy="1210"/>
            </a:xfrm>
            <a:prstGeom prst="rect">
              <a:avLst/>
            </a:prstGeom>
            <a:noFill/>
          </p:spPr>
          <p:txBody>
            <a:bodyPr wrap="square" rtlCol="0">
              <a:spAutoFit/>
            </a:bodyPr>
            <a:lstStyle/>
            <a:p>
              <a:pPr algn="ctr"/>
              <a:r>
                <a:rPr lang="en-US" altLang="zh-CN" sz="4400" dirty="0">
                  <a:solidFill>
                    <a:schemeClr val="bg1"/>
                  </a:solidFill>
                  <a:latin typeface="Times New Roman" panose="02020603050405020304" pitchFamily="18" charset="0"/>
                  <a:cs typeface="Times New Roman" panose="02020603050405020304" pitchFamily="18" charset="0"/>
                  <a:sym typeface="+mn-lt"/>
                </a:rPr>
                <a:t>06</a:t>
              </a:r>
            </a:p>
          </p:txBody>
        </p:sp>
      </p:grpSp>
      <p:sp>
        <p:nvSpPr>
          <p:cNvPr id="19" name="Rectangle 2">
            <a:extLst>
              <a:ext uri="{FF2B5EF4-FFF2-40B4-BE49-F238E27FC236}">
                <a16:creationId xmlns:a16="http://schemas.microsoft.com/office/drawing/2014/main" id="{BC4CF724-CFB6-33DD-50D4-F13A0CFFE2CF}"/>
              </a:ext>
            </a:extLst>
          </p:cNvPr>
          <p:cNvSpPr>
            <a:spLocks noChangeArrowheads="1"/>
          </p:cNvSpPr>
          <p:nvPr/>
        </p:nvSpPr>
        <p:spPr bwMode="auto">
          <a:xfrm>
            <a:off x="1425600" y="167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Rectangle 8">
            <a:extLst>
              <a:ext uri="{FF2B5EF4-FFF2-40B4-BE49-F238E27FC236}">
                <a16:creationId xmlns:a16="http://schemas.microsoft.com/office/drawing/2014/main" id="{B82AECAB-43F3-9796-8AD2-F6C3DA214D8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文本框 10">
            <a:extLst>
              <a:ext uri="{FF2B5EF4-FFF2-40B4-BE49-F238E27FC236}">
                <a16:creationId xmlns:a16="http://schemas.microsoft.com/office/drawing/2014/main" id="{26097269-BFF7-08DB-459D-73956B2BCDEA}"/>
              </a:ext>
            </a:extLst>
          </p:cNvPr>
          <p:cNvSpPr txBox="1"/>
          <p:nvPr/>
        </p:nvSpPr>
        <p:spPr>
          <a:xfrm>
            <a:off x="374015" y="2476781"/>
            <a:ext cx="12192000" cy="1728037"/>
          </a:xfrm>
          <a:prstGeom prst="rect">
            <a:avLst/>
          </a:prstGeom>
          <a:noFill/>
          <a:ln w="19050">
            <a:noFill/>
          </a:ln>
        </p:spPr>
        <p:txBody>
          <a:bodyPr wrap="square" rtlCol="0">
            <a:spAutoFit/>
          </a:bodyPr>
          <a:lstStyle/>
          <a:p>
            <a:pPr lvl="1" indent="457200">
              <a:lnSpc>
                <a:spcPct val="130000"/>
              </a:lnSpc>
              <a:spcAft>
                <a:spcPts val="600"/>
              </a:spcAft>
            </a:pPr>
            <a:r>
              <a:rPr lang="en-US" altLang="zh-CN" dirty="0"/>
              <a:t>RQ1</a:t>
            </a:r>
            <a:r>
              <a:rPr lang="zh-CN" altLang="en-US" dirty="0"/>
              <a:t>：</a:t>
            </a:r>
            <a:r>
              <a:rPr lang="en-US" altLang="zh-CN" dirty="0"/>
              <a:t>ADGFUZZ</a:t>
            </a:r>
            <a:r>
              <a:rPr lang="zh-CN" altLang="en-US" dirty="0"/>
              <a:t>在检测漏洞方面的效果如何？</a:t>
            </a:r>
            <a:endParaRPr lang="en-US" altLang="zh-CN" dirty="0"/>
          </a:p>
          <a:p>
            <a:pPr lvl="1" indent="457200">
              <a:lnSpc>
                <a:spcPct val="130000"/>
              </a:lnSpc>
              <a:spcAft>
                <a:spcPts val="600"/>
              </a:spcAft>
            </a:pPr>
            <a:r>
              <a:rPr lang="en-US" altLang="zh-CN" dirty="0"/>
              <a:t>RQ2</a:t>
            </a:r>
            <a:r>
              <a:rPr lang="zh-CN" altLang="en-US" dirty="0"/>
              <a:t>：基于熵的优先级排序对漏洞检测的贡献程度如何？</a:t>
            </a:r>
            <a:endParaRPr lang="en-US" altLang="zh-CN" dirty="0"/>
          </a:p>
          <a:p>
            <a:pPr lvl="1" indent="457200">
              <a:lnSpc>
                <a:spcPct val="130000"/>
              </a:lnSpc>
              <a:spcAft>
                <a:spcPts val="600"/>
              </a:spcAft>
            </a:pPr>
            <a:r>
              <a:rPr lang="en-US" altLang="zh-CN" dirty="0"/>
              <a:t>RQ3</a:t>
            </a:r>
            <a:r>
              <a:rPr lang="zh-CN" altLang="en-US" dirty="0"/>
              <a:t>：</a:t>
            </a:r>
            <a:r>
              <a:rPr lang="en-US" altLang="zh-CN" dirty="0"/>
              <a:t>ADG–MIS </a:t>
            </a:r>
            <a:r>
              <a:rPr lang="zh-CN" altLang="en-US" dirty="0"/>
              <a:t>构建流程在捕捉源代码变量的语义意图方面的准确性和有效性如何？</a:t>
            </a:r>
            <a:endParaRPr lang="en-US" altLang="zh-CN" dirty="0"/>
          </a:p>
          <a:p>
            <a:pPr lvl="1" indent="457200">
              <a:lnSpc>
                <a:spcPct val="130000"/>
              </a:lnSpc>
              <a:spcAft>
                <a:spcPts val="600"/>
              </a:spcAft>
            </a:pPr>
            <a:r>
              <a:rPr lang="en-US" altLang="zh-CN" dirty="0"/>
              <a:t>RQ4</a:t>
            </a:r>
            <a:r>
              <a:rPr lang="zh-CN" altLang="en-US" dirty="0"/>
              <a:t>：</a:t>
            </a:r>
            <a:r>
              <a:rPr lang="en-US" altLang="zh-CN" dirty="0"/>
              <a:t>ADGFUZZ </a:t>
            </a:r>
            <a:r>
              <a:rPr lang="zh-CN" altLang="en-US" dirty="0"/>
              <a:t>发现的漏洞可如何被利用来影响无人车的安全性？</a:t>
            </a:r>
            <a:endParaRPr lang="en-US" altLang="zh-CN" sz="2000" dirty="0">
              <a:latin typeface="Times New Roman" panose="02020603050405020304" pitchFamily="18" charset="0"/>
              <a:ea typeface="苹方 中等" panose="020B0400000000000000" pitchFamily="34"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1026739946"/>
      </p:ext>
    </p:extLst>
  </p:cSld>
  <p:clrMapOvr>
    <a:masterClrMapping/>
  </p:clrMapOvr>
  <mc:AlternateContent xmlns:mc="http://schemas.openxmlformats.org/markup-compatibility/2006" xmlns:p14="http://schemas.microsoft.com/office/powerpoint/2010/main">
    <mc:Choice Requires="p14">
      <p:transition spd="slow" p14:dur="2000" advTm="183526"/>
    </mc:Choice>
    <mc:Fallback xmlns="">
      <p:transition spd="slow" advTm="183526"/>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2803D-9584-9576-C843-58E8D2875E39}"/>
            </a:ext>
          </a:extLst>
        </p:cNvPr>
        <p:cNvGrpSpPr/>
        <p:nvPr/>
      </p:nvGrpSpPr>
      <p:grpSpPr>
        <a:xfrm>
          <a:off x="0" y="0"/>
          <a:ext cx="0" cy="0"/>
          <a:chOff x="0" y="0"/>
          <a:chExt cx="0" cy="0"/>
        </a:xfrm>
      </p:grpSpPr>
      <p:sp>
        <p:nvSpPr>
          <p:cNvPr id="12" name="椭圆 11">
            <a:extLst>
              <a:ext uri="{FF2B5EF4-FFF2-40B4-BE49-F238E27FC236}">
                <a16:creationId xmlns:a16="http://schemas.microsoft.com/office/drawing/2014/main" id="{A490778F-E175-D16E-6541-2865FC4F77F5}"/>
              </a:ext>
            </a:extLst>
          </p:cNvPr>
          <p:cNvSpPr/>
          <p:nvPr/>
        </p:nvSpPr>
        <p:spPr>
          <a:xfrm>
            <a:off x="137160" y="186690"/>
            <a:ext cx="236855" cy="236855"/>
          </a:xfrm>
          <a:prstGeom prst="ellipse">
            <a:avLst/>
          </a:prstGeom>
          <a:solidFill>
            <a:srgbClr val="ACBBDB">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10" name="文本框 9">
            <a:extLst>
              <a:ext uri="{FF2B5EF4-FFF2-40B4-BE49-F238E27FC236}">
                <a16:creationId xmlns:a16="http://schemas.microsoft.com/office/drawing/2014/main" id="{5271C5EC-23A5-AC2F-859F-FE6C4E9D79B5}"/>
              </a:ext>
            </a:extLst>
          </p:cNvPr>
          <p:cNvSpPr txBox="1"/>
          <p:nvPr>
            <p:custDataLst>
              <p:tags r:id="rId2"/>
            </p:custDataLst>
          </p:nvPr>
        </p:nvSpPr>
        <p:spPr>
          <a:xfrm>
            <a:off x="1083944" y="326688"/>
            <a:ext cx="3438359" cy="523220"/>
          </a:xfrm>
          <a:prstGeom prst="rect">
            <a:avLst/>
          </a:prstGeom>
          <a:noFill/>
        </p:spPr>
        <p:txBody>
          <a:bodyPr wrap="square" rtlCol="0">
            <a:spAutoFit/>
          </a:bodyPr>
          <a:lstStyle/>
          <a:p>
            <a:r>
              <a:rPr lang="zh-CN" altLang="en-US" sz="2800" dirty="0">
                <a:solidFill>
                  <a:srgbClr val="324769"/>
                </a:solidFill>
                <a:latin typeface="Times New Roman" panose="02020603050405020304" pitchFamily="18" charset="0"/>
                <a:cs typeface="+mn-ea"/>
                <a:sym typeface="+mn-lt"/>
              </a:rPr>
              <a:t>评估</a:t>
            </a:r>
            <a:endParaRPr lang="en-US" altLang="zh-CN" sz="2800" dirty="0">
              <a:solidFill>
                <a:srgbClr val="324769"/>
              </a:solidFill>
              <a:latin typeface="Times New Roman" panose="02020603050405020304" pitchFamily="18" charset="0"/>
              <a:cs typeface="+mn-ea"/>
              <a:sym typeface="+mn-lt"/>
            </a:endParaRPr>
          </a:p>
        </p:txBody>
      </p:sp>
      <p:grpSp>
        <p:nvGrpSpPr>
          <p:cNvPr id="4" name="组合 3">
            <a:extLst>
              <a:ext uri="{FF2B5EF4-FFF2-40B4-BE49-F238E27FC236}">
                <a16:creationId xmlns:a16="http://schemas.microsoft.com/office/drawing/2014/main" id="{270CA851-FE5D-E959-0121-29C185CDED13}"/>
              </a:ext>
            </a:extLst>
          </p:cNvPr>
          <p:cNvGrpSpPr/>
          <p:nvPr/>
        </p:nvGrpSpPr>
        <p:grpSpPr>
          <a:xfrm>
            <a:off x="80010" y="198120"/>
            <a:ext cx="1003935" cy="768350"/>
            <a:chOff x="1417" y="1412"/>
            <a:chExt cx="1581" cy="1210"/>
          </a:xfrm>
        </p:grpSpPr>
        <p:sp>
          <p:nvSpPr>
            <p:cNvPr id="3" name="椭圆 2">
              <a:extLst>
                <a:ext uri="{FF2B5EF4-FFF2-40B4-BE49-F238E27FC236}">
                  <a16:creationId xmlns:a16="http://schemas.microsoft.com/office/drawing/2014/main" id="{38DA4151-CFC9-C85E-BF8D-606617AB61DE}"/>
                </a:ext>
              </a:extLst>
            </p:cNvPr>
            <p:cNvSpPr/>
            <p:nvPr>
              <p:custDataLst>
                <p:tags r:id="rId3"/>
              </p:custDataLst>
            </p:nvPr>
          </p:nvSpPr>
          <p:spPr>
            <a:xfrm>
              <a:off x="1617" y="1426"/>
              <a:ext cx="1182" cy="1182"/>
            </a:xfrm>
            <a:prstGeom prst="ellipse">
              <a:avLst/>
            </a:pr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50" name="文本框 49">
              <a:extLst>
                <a:ext uri="{FF2B5EF4-FFF2-40B4-BE49-F238E27FC236}">
                  <a16:creationId xmlns:a16="http://schemas.microsoft.com/office/drawing/2014/main" id="{7E45CA58-DEDE-E9A1-DC52-59C94EA44199}"/>
                </a:ext>
              </a:extLst>
            </p:cNvPr>
            <p:cNvSpPr txBox="1"/>
            <p:nvPr>
              <p:custDataLst>
                <p:tags r:id="rId4"/>
              </p:custDataLst>
            </p:nvPr>
          </p:nvSpPr>
          <p:spPr>
            <a:xfrm>
              <a:off x="1417" y="1412"/>
              <a:ext cx="1581" cy="1210"/>
            </a:xfrm>
            <a:prstGeom prst="rect">
              <a:avLst/>
            </a:prstGeom>
            <a:noFill/>
          </p:spPr>
          <p:txBody>
            <a:bodyPr wrap="square" rtlCol="0">
              <a:spAutoFit/>
            </a:bodyPr>
            <a:lstStyle/>
            <a:p>
              <a:pPr algn="ctr"/>
              <a:r>
                <a:rPr lang="en-US" altLang="zh-CN" sz="4400" dirty="0">
                  <a:solidFill>
                    <a:schemeClr val="bg1"/>
                  </a:solidFill>
                  <a:latin typeface="Times New Roman" panose="02020603050405020304" pitchFamily="18" charset="0"/>
                  <a:cs typeface="Times New Roman" panose="02020603050405020304" pitchFamily="18" charset="0"/>
                  <a:sym typeface="+mn-lt"/>
                </a:rPr>
                <a:t>06</a:t>
              </a:r>
            </a:p>
          </p:txBody>
        </p:sp>
      </p:grpSp>
      <p:sp>
        <p:nvSpPr>
          <p:cNvPr id="19" name="Rectangle 2">
            <a:extLst>
              <a:ext uri="{FF2B5EF4-FFF2-40B4-BE49-F238E27FC236}">
                <a16:creationId xmlns:a16="http://schemas.microsoft.com/office/drawing/2014/main" id="{240DADB4-793A-9228-D147-D3EA66E35359}"/>
              </a:ext>
            </a:extLst>
          </p:cNvPr>
          <p:cNvSpPr>
            <a:spLocks noChangeArrowheads="1"/>
          </p:cNvSpPr>
          <p:nvPr/>
        </p:nvSpPr>
        <p:spPr bwMode="auto">
          <a:xfrm>
            <a:off x="1425600" y="167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Rectangle 8">
            <a:extLst>
              <a:ext uri="{FF2B5EF4-FFF2-40B4-BE49-F238E27FC236}">
                <a16:creationId xmlns:a16="http://schemas.microsoft.com/office/drawing/2014/main" id="{44E94D7E-104C-722A-5872-F4B3ED71E3C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文本框 10">
            <a:extLst>
              <a:ext uri="{FF2B5EF4-FFF2-40B4-BE49-F238E27FC236}">
                <a16:creationId xmlns:a16="http://schemas.microsoft.com/office/drawing/2014/main" id="{9D7C0C25-1C9B-70D6-435F-472C54FAF09F}"/>
              </a:ext>
            </a:extLst>
          </p:cNvPr>
          <p:cNvSpPr txBox="1"/>
          <p:nvPr/>
        </p:nvSpPr>
        <p:spPr>
          <a:xfrm>
            <a:off x="70083" y="1209389"/>
            <a:ext cx="12192000" cy="2848344"/>
          </a:xfrm>
          <a:prstGeom prst="rect">
            <a:avLst/>
          </a:prstGeom>
          <a:noFill/>
          <a:ln w="19050">
            <a:noFill/>
          </a:ln>
        </p:spPr>
        <p:txBody>
          <a:bodyPr wrap="square" rtlCol="0">
            <a:spAutoFit/>
          </a:bodyPr>
          <a:lstStyle/>
          <a:p>
            <a:pPr lvl="1" indent="457200">
              <a:lnSpc>
                <a:spcPct val="130000"/>
              </a:lnSpc>
              <a:spcAft>
                <a:spcPts val="600"/>
              </a:spcAft>
            </a:pPr>
            <a:r>
              <a:rPr lang="en-US" altLang="zh-CN" sz="2000" b="1" dirty="0">
                <a:latin typeface="Times New Roman" panose="02020603050405020304" pitchFamily="18" charset="0"/>
                <a:ea typeface="苹方 中等" panose="020B0400000000000000" pitchFamily="34" charset="-122"/>
                <a:cs typeface="Times New Roman" panose="02020603050405020304" pitchFamily="18" charset="0"/>
              </a:rPr>
              <a:t>6.1</a:t>
            </a:r>
            <a:r>
              <a:rPr lang="zh-CN" altLang="en-US" b="1" dirty="0"/>
              <a:t>评估设置</a:t>
            </a:r>
            <a:endParaRPr lang="en-US" altLang="zh-CN" b="1" dirty="0"/>
          </a:p>
          <a:p>
            <a:pPr lvl="1" indent="457200">
              <a:lnSpc>
                <a:spcPct val="130000"/>
              </a:lnSpc>
              <a:spcAft>
                <a:spcPts val="600"/>
              </a:spcAft>
            </a:pPr>
            <a:r>
              <a:rPr lang="zh-CN" altLang="en-US" dirty="0"/>
              <a:t>我们在评估中选取了三种应用最广泛的无人载具类型：四旋翼无人机（</a:t>
            </a:r>
            <a:r>
              <a:rPr lang="en-US" altLang="zh-CN" dirty="0"/>
              <a:t>Copter</a:t>
            </a:r>
            <a:r>
              <a:rPr lang="zh-CN" altLang="en-US" dirty="0"/>
              <a:t>）、固定翼飞机（</a:t>
            </a:r>
            <a:r>
              <a:rPr lang="en-US" altLang="zh-CN" dirty="0"/>
              <a:t>Plane</a:t>
            </a:r>
            <a:r>
              <a:rPr lang="zh-CN" altLang="en-US" dirty="0"/>
              <a:t>）、以及无人地面车辆（</a:t>
            </a:r>
            <a:r>
              <a:rPr lang="en-US" altLang="zh-CN" dirty="0"/>
              <a:t>Rover</a:t>
            </a:r>
            <a:r>
              <a:rPr lang="zh-CN" altLang="en-US" dirty="0"/>
              <a:t>）。这些模型均源自最主流的无人载具控制软件</a:t>
            </a:r>
            <a:r>
              <a:rPr lang="en-US" altLang="zh-CN" dirty="0" err="1"/>
              <a:t>ArduPilot</a:t>
            </a:r>
            <a:r>
              <a:rPr lang="zh-CN" altLang="en-US" dirty="0"/>
              <a:t>。我们采用</a:t>
            </a:r>
            <a:r>
              <a:rPr lang="en-US" altLang="zh-CN" dirty="0"/>
              <a:t>SITL</a:t>
            </a:r>
            <a:r>
              <a:rPr lang="zh-CN" altLang="en-US" dirty="0"/>
              <a:t>作为无人载具的仿真环境，以</a:t>
            </a:r>
            <a:r>
              <a:rPr lang="en-US" altLang="zh-CN" dirty="0" err="1"/>
              <a:t>MAVProxy</a:t>
            </a:r>
            <a:r>
              <a:rPr lang="zh-CN" altLang="en-US" dirty="0"/>
              <a:t>作为与无人载具交互的地面控制系统（</a:t>
            </a:r>
            <a:r>
              <a:rPr lang="en-US" altLang="zh-CN" dirty="0"/>
              <a:t>GCS</a:t>
            </a:r>
            <a:r>
              <a:rPr lang="zh-CN" altLang="en-US" dirty="0"/>
              <a:t>），并以</a:t>
            </a:r>
            <a:r>
              <a:rPr lang="en-US" altLang="zh-CN" dirty="0" err="1"/>
              <a:t>MAVLink</a:t>
            </a:r>
            <a:r>
              <a:rPr lang="en-US" altLang="zh-CN" dirty="0"/>
              <a:t>[33]</a:t>
            </a:r>
            <a:r>
              <a:rPr lang="zh-CN" altLang="en-US" dirty="0"/>
              <a:t>作为控制软件与地面控制系统之间的通信协议。</a:t>
            </a:r>
            <a:endParaRPr lang="en-US" altLang="zh-CN" dirty="0"/>
          </a:p>
          <a:p>
            <a:pPr lvl="1" indent="457200">
              <a:lnSpc>
                <a:spcPct val="130000"/>
              </a:lnSpc>
              <a:spcAft>
                <a:spcPts val="600"/>
              </a:spcAft>
            </a:pPr>
            <a:r>
              <a:rPr lang="zh-CN" altLang="en-US" dirty="0"/>
              <a:t>所有实验均在配备英特尔酷睿</a:t>
            </a:r>
            <a:r>
              <a:rPr lang="en-US" altLang="zh-CN" dirty="0"/>
              <a:t>i9-11950H</a:t>
            </a:r>
            <a:r>
              <a:rPr lang="zh-CN" altLang="en-US" dirty="0"/>
              <a:t>处理器、</a:t>
            </a:r>
            <a:r>
              <a:rPr lang="en-US" altLang="zh-CN" dirty="0"/>
              <a:t>32GB</a:t>
            </a:r>
            <a:r>
              <a:rPr lang="zh-CN" altLang="en-US" dirty="0"/>
              <a:t>内存以及</a:t>
            </a:r>
            <a:r>
              <a:rPr lang="en-US" altLang="zh-CN" dirty="0"/>
              <a:t>Python 3.8.10</a:t>
            </a:r>
            <a:r>
              <a:rPr lang="zh-CN" altLang="en-US" dirty="0"/>
              <a:t>的</a:t>
            </a:r>
            <a:r>
              <a:rPr lang="en-US" altLang="zh-CN" dirty="0"/>
              <a:t>Ubuntu 20.04</a:t>
            </a:r>
            <a:r>
              <a:rPr lang="zh-CN" altLang="en-US" dirty="0"/>
              <a:t>虚拟机上进行。每项实验均连续运行</a:t>
            </a:r>
            <a:r>
              <a:rPr lang="en-US" altLang="zh-CN" dirty="0"/>
              <a:t>24</a:t>
            </a:r>
            <a:r>
              <a:rPr lang="zh-CN" altLang="en-US" dirty="0"/>
              <a:t>小时。</a:t>
            </a:r>
            <a:endParaRPr lang="en-US" altLang="zh-CN" sz="2000" b="1" dirty="0">
              <a:latin typeface="Times New Roman" panose="02020603050405020304" pitchFamily="18" charset="0"/>
              <a:ea typeface="苹方 中等" panose="020B0400000000000000" pitchFamily="34"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1321460969"/>
      </p:ext>
    </p:extLst>
  </p:cSld>
  <p:clrMapOvr>
    <a:masterClrMapping/>
  </p:clrMapOvr>
  <mc:AlternateContent xmlns:mc="http://schemas.openxmlformats.org/markup-compatibility/2006" xmlns:p14="http://schemas.microsoft.com/office/powerpoint/2010/main">
    <mc:Choice Requires="p14">
      <p:transition spd="slow" p14:dur="2000" advTm="183526"/>
    </mc:Choice>
    <mc:Fallback xmlns="">
      <p:transition spd="slow" advTm="183526"/>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2A05E-9DED-4A97-F359-23C9EE2730ED}"/>
            </a:ext>
          </a:extLst>
        </p:cNvPr>
        <p:cNvGrpSpPr/>
        <p:nvPr/>
      </p:nvGrpSpPr>
      <p:grpSpPr>
        <a:xfrm>
          <a:off x="0" y="0"/>
          <a:ext cx="0" cy="0"/>
          <a:chOff x="0" y="0"/>
          <a:chExt cx="0" cy="0"/>
        </a:xfrm>
      </p:grpSpPr>
      <p:sp>
        <p:nvSpPr>
          <p:cNvPr id="12" name="椭圆 11">
            <a:extLst>
              <a:ext uri="{FF2B5EF4-FFF2-40B4-BE49-F238E27FC236}">
                <a16:creationId xmlns:a16="http://schemas.microsoft.com/office/drawing/2014/main" id="{2DF42AA5-DF8A-7624-8628-716EA61DCC90}"/>
              </a:ext>
            </a:extLst>
          </p:cNvPr>
          <p:cNvSpPr/>
          <p:nvPr/>
        </p:nvSpPr>
        <p:spPr>
          <a:xfrm>
            <a:off x="137160" y="186690"/>
            <a:ext cx="236855" cy="236855"/>
          </a:xfrm>
          <a:prstGeom prst="ellipse">
            <a:avLst/>
          </a:prstGeom>
          <a:solidFill>
            <a:srgbClr val="ACBBDB">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10" name="文本框 9">
            <a:extLst>
              <a:ext uri="{FF2B5EF4-FFF2-40B4-BE49-F238E27FC236}">
                <a16:creationId xmlns:a16="http://schemas.microsoft.com/office/drawing/2014/main" id="{9C7EB8A4-C60A-1D66-5ABA-0515DE1E6B4D}"/>
              </a:ext>
            </a:extLst>
          </p:cNvPr>
          <p:cNvSpPr txBox="1"/>
          <p:nvPr>
            <p:custDataLst>
              <p:tags r:id="rId2"/>
            </p:custDataLst>
          </p:nvPr>
        </p:nvSpPr>
        <p:spPr>
          <a:xfrm>
            <a:off x="1083944" y="326688"/>
            <a:ext cx="3438359" cy="523220"/>
          </a:xfrm>
          <a:prstGeom prst="rect">
            <a:avLst/>
          </a:prstGeom>
          <a:noFill/>
        </p:spPr>
        <p:txBody>
          <a:bodyPr wrap="square" rtlCol="0">
            <a:spAutoFit/>
          </a:bodyPr>
          <a:lstStyle/>
          <a:p>
            <a:r>
              <a:rPr lang="zh-CN" altLang="en-US" sz="2800" dirty="0">
                <a:solidFill>
                  <a:srgbClr val="324769"/>
                </a:solidFill>
                <a:latin typeface="Times New Roman" panose="02020603050405020304" pitchFamily="18" charset="0"/>
                <a:cs typeface="+mn-ea"/>
                <a:sym typeface="+mn-lt"/>
              </a:rPr>
              <a:t>评估</a:t>
            </a:r>
            <a:endParaRPr lang="en-US" altLang="zh-CN" sz="2800" dirty="0">
              <a:solidFill>
                <a:srgbClr val="324769"/>
              </a:solidFill>
              <a:latin typeface="Times New Roman" panose="02020603050405020304" pitchFamily="18" charset="0"/>
              <a:cs typeface="+mn-ea"/>
              <a:sym typeface="+mn-lt"/>
            </a:endParaRPr>
          </a:p>
        </p:txBody>
      </p:sp>
      <p:grpSp>
        <p:nvGrpSpPr>
          <p:cNvPr id="4" name="组合 3">
            <a:extLst>
              <a:ext uri="{FF2B5EF4-FFF2-40B4-BE49-F238E27FC236}">
                <a16:creationId xmlns:a16="http://schemas.microsoft.com/office/drawing/2014/main" id="{27F3DE3D-A215-A8D4-D6E8-3F63C0A3BC3D}"/>
              </a:ext>
            </a:extLst>
          </p:cNvPr>
          <p:cNvGrpSpPr/>
          <p:nvPr/>
        </p:nvGrpSpPr>
        <p:grpSpPr>
          <a:xfrm>
            <a:off x="80010" y="198120"/>
            <a:ext cx="1003935" cy="768350"/>
            <a:chOff x="1417" y="1412"/>
            <a:chExt cx="1581" cy="1210"/>
          </a:xfrm>
        </p:grpSpPr>
        <p:sp>
          <p:nvSpPr>
            <p:cNvPr id="3" name="椭圆 2">
              <a:extLst>
                <a:ext uri="{FF2B5EF4-FFF2-40B4-BE49-F238E27FC236}">
                  <a16:creationId xmlns:a16="http://schemas.microsoft.com/office/drawing/2014/main" id="{3F006034-F530-5113-5132-450F1541D9E6}"/>
                </a:ext>
              </a:extLst>
            </p:cNvPr>
            <p:cNvSpPr/>
            <p:nvPr>
              <p:custDataLst>
                <p:tags r:id="rId3"/>
              </p:custDataLst>
            </p:nvPr>
          </p:nvSpPr>
          <p:spPr>
            <a:xfrm>
              <a:off x="1617" y="1426"/>
              <a:ext cx="1182" cy="1182"/>
            </a:xfrm>
            <a:prstGeom prst="ellipse">
              <a:avLst/>
            </a:pr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50" name="文本框 49">
              <a:extLst>
                <a:ext uri="{FF2B5EF4-FFF2-40B4-BE49-F238E27FC236}">
                  <a16:creationId xmlns:a16="http://schemas.microsoft.com/office/drawing/2014/main" id="{FB3D09F9-91B0-90B8-ACF0-352C78AC9DEE}"/>
                </a:ext>
              </a:extLst>
            </p:cNvPr>
            <p:cNvSpPr txBox="1"/>
            <p:nvPr>
              <p:custDataLst>
                <p:tags r:id="rId4"/>
              </p:custDataLst>
            </p:nvPr>
          </p:nvSpPr>
          <p:spPr>
            <a:xfrm>
              <a:off x="1417" y="1412"/>
              <a:ext cx="1581" cy="1210"/>
            </a:xfrm>
            <a:prstGeom prst="rect">
              <a:avLst/>
            </a:prstGeom>
            <a:noFill/>
          </p:spPr>
          <p:txBody>
            <a:bodyPr wrap="square" rtlCol="0">
              <a:spAutoFit/>
            </a:bodyPr>
            <a:lstStyle/>
            <a:p>
              <a:pPr algn="ctr"/>
              <a:r>
                <a:rPr lang="en-US" altLang="zh-CN" sz="4400" dirty="0">
                  <a:solidFill>
                    <a:schemeClr val="bg1"/>
                  </a:solidFill>
                  <a:latin typeface="Times New Roman" panose="02020603050405020304" pitchFamily="18" charset="0"/>
                  <a:cs typeface="Times New Roman" panose="02020603050405020304" pitchFamily="18" charset="0"/>
                  <a:sym typeface="+mn-lt"/>
                </a:rPr>
                <a:t>06</a:t>
              </a:r>
            </a:p>
          </p:txBody>
        </p:sp>
      </p:grpSp>
      <p:sp>
        <p:nvSpPr>
          <p:cNvPr id="19" name="Rectangle 2">
            <a:extLst>
              <a:ext uri="{FF2B5EF4-FFF2-40B4-BE49-F238E27FC236}">
                <a16:creationId xmlns:a16="http://schemas.microsoft.com/office/drawing/2014/main" id="{C689EBC4-AB2C-A58C-58D9-9E1DE9DD9B12}"/>
              </a:ext>
            </a:extLst>
          </p:cNvPr>
          <p:cNvSpPr>
            <a:spLocks noChangeArrowheads="1"/>
          </p:cNvSpPr>
          <p:nvPr/>
        </p:nvSpPr>
        <p:spPr bwMode="auto">
          <a:xfrm>
            <a:off x="1425600" y="167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Rectangle 8">
            <a:extLst>
              <a:ext uri="{FF2B5EF4-FFF2-40B4-BE49-F238E27FC236}">
                <a16:creationId xmlns:a16="http://schemas.microsoft.com/office/drawing/2014/main" id="{D3B798FA-AB06-084E-24D0-4406E6AD235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文本框 10">
            <a:extLst>
              <a:ext uri="{FF2B5EF4-FFF2-40B4-BE49-F238E27FC236}">
                <a16:creationId xmlns:a16="http://schemas.microsoft.com/office/drawing/2014/main" id="{8922919F-BCB6-CE23-3D01-652FB1C41B22}"/>
              </a:ext>
            </a:extLst>
          </p:cNvPr>
          <p:cNvSpPr txBox="1"/>
          <p:nvPr/>
        </p:nvSpPr>
        <p:spPr>
          <a:xfrm>
            <a:off x="70083" y="1209389"/>
            <a:ext cx="12192000" cy="5292090"/>
          </a:xfrm>
          <a:prstGeom prst="rect">
            <a:avLst/>
          </a:prstGeom>
          <a:noFill/>
          <a:ln w="19050">
            <a:noFill/>
          </a:ln>
        </p:spPr>
        <p:txBody>
          <a:bodyPr wrap="square" rtlCol="0">
            <a:spAutoFit/>
          </a:bodyPr>
          <a:lstStyle/>
          <a:p>
            <a:pPr lvl="1" indent="457200">
              <a:lnSpc>
                <a:spcPct val="130000"/>
              </a:lnSpc>
              <a:spcAft>
                <a:spcPts val="600"/>
              </a:spcAft>
            </a:pPr>
            <a:r>
              <a:rPr lang="en-US" altLang="zh-CN" sz="2000" b="1" dirty="0">
                <a:latin typeface="Times New Roman" panose="02020603050405020304" pitchFamily="18" charset="0"/>
                <a:ea typeface="苹方 中等" panose="020B0400000000000000" pitchFamily="34" charset="-122"/>
                <a:cs typeface="Times New Roman" panose="02020603050405020304" pitchFamily="18" charset="0"/>
              </a:rPr>
              <a:t>6.2</a:t>
            </a:r>
            <a:r>
              <a:rPr lang="zh-CN" altLang="en-US" sz="2000" b="1" dirty="0">
                <a:latin typeface="Times New Roman" panose="02020603050405020304" pitchFamily="18" charset="0"/>
                <a:ea typeface="苹方 中等" panose="020B0400000000000000" pitchFamily="34" charset="-122"/>
                <a:cs typeface="Times New Roman" panose="02020603050405020304" pitchFamily="18" charset="0"/>
              </a:rPr>
              <a:t>漏洞发现：研究问题</a:t>
            </a:r>
            <a:r>
              <a:rPr lang="en-US" altLang="zh-CN" sz="2000" b="1" dirty="0">
                <a:latin typeface="Times New Roman" panose="02020603050405020304" pitchFamily="18" charset="0"/>
                <a:ea typeface="苹方 中等" panose="020B0400000000000000" pitchFamily="34" charset="-122"/>
                <a:cs typeface="Times New Roman" panose="02020603050405020304" pitchFamily="18" charset="0"/>
              </a:rPr>
              <a:t>1</a:t>
            </a:r>
          </a:p>
          <a:p>
            <a:pPr lvl="1" indent="457200">
              <a:lnSpc>
                <a:spcPct val="130000"/>
              </a:lnSpc>
              <a:spcAft>
                <a:spcPts val="600"/>
              </a:spcAft>
            </a:pPr>
            <a:r>
              <a:rPr lang="zh-CN" altLang="en-US" dirty="0"/>
              <a:t>表二总结了</a:t>
            </a:r>
            <a:r>
              <a:rPr lang="en-US" altLang="zh-CN" dirty="0"/>
              <a:t>ADGFUZZ</a:t>
            </a:r>
            <a:r>
              <a:rPr lang="zh-CN" altLang="en-US" dirty="0"/>
              <a:t>在三类车辆中发现的漏洞。</a:t>
            </a:r>
            <a:r>
              <a:rPr lang="en-US" altLang="zh-CN" dirty="0"/>
              <a:t>ADGFUZZ</a:t>
            </a:r>
            <a:r>
              <a:rPr lang="zh-CN" altLang="en-US" dirty="0"/>
              <a:t>共识别出</a:t>
            </a:r>
            <a:r>
              <a:rPr lang="en-US" altLang="zh-CN" dirty="0"/>
              <a:t>87</a:t>
            </a:r>
            <a:r>
              <a:rPr lang="zh-CN" altLang="en-US" dirty="0"/>
              <a:t>个独特漏洞，其中</a:t>
            </a:r>
            <a:r>
              <a:rPr lang="en-US" altLang="zh-CN" dirty="0"/>
              <a:t>78</a:t>
            </a:r>
            <a:r>
              <a:rPr lang="zh-CN" altLang="en-US" dirty="0"/>
              <a:t>个是此前未知的。由于某些输入（如惯性传感器参数）可适用于不同车辆类型，部分漏洞在多辆车辆中由同一输入触发。</a:t>
            </a:r>
            <a:r>
              <a:rPr lang="en-US" altLang="zh-CN" dirty="0"/>
              <a:t>…….</a:t>
            </a:r>
            <a:r>
              <a:rPr lang="zh-CN" altLang="en-US" dirty="0"/>
              <a:t>与地面车相比，多旋翼机和固定翼机之间共享的漏洞更多。这是因为这两类无人车辆共享更大比例的控制逻辑，例如起飞和高度控制相关逻辑。</a:t>
            </a:r>
            <a:endParaRPr lang="en-US" altLang="zh-CN" dirty="0"/>
          </a:p>
          <a:p>
            <a:pPr lvl="1" indent="457200">
              <a:lnSpc>
                <a:spcPct val="130000"/>
              </a:lnSpc>
              <a:spcAft>
                <a:spcPts val="600"/>
              </a:spcAft>
            </a:pPr>
            <a:r>
              <a:rPr lang="zh-CN" altLang="en-US" dirty="0"/>
              <a:t>与现有工作的对比。</a:t>
            </a:r>
            <a:r>
              <a:rPr lang="en-US" altLang="zh-CN" dirty="0" err="1"/>
              <a:t>PGFuzz</a:t>
            </a:r>
            <a:r>
              <a:rPr lang="en-US" altLang="zh-CN" dirty="0"/>
              <a:t>  </a:t>
            </a:r>
            <a:r>
              <a:rPr lang="zh-CN" altLang="en-US" dirty="0"/>
              <a:t>是一种策略引导的模糊测试框架，其重点是检测文档中记录的安全策略违规情况。通过与其公开的缺陷报告进行对比，我们验证了所识别的缺陷中有</a:t>
            </a:r>
            <a:r>
              <a:rPr lang="en-US" altLang="zh-CN" dirty="0"/>
              <a:t>8</a:t>
            </a:r>
            <a:r>
              <a:rPr lang="zh-CN" altLang="en-US" dirty="0"/>
              <a:t>个也可被</a:t>
            </a:r>
            <a:r>
              <a:rPr lang="en-US" altLang="zh-CN" dirty="0" err="1"/>
              <a:t>PGFuzz</a:t>
            </a:r>
            <a:r>
              <a:rPr lang="zh-CN" altLang="en-US" dirty="0"/>
              <a:t>检测到。这表明在我们的方法中，从源代码中推断出的输入与</a:t>
            </a:r>
            <a:r>
              <a:rPr lang="en-US" altLang="zh-CN" dirty="0" err="1"/>
              <a:t>PGFuzz</a:t>
            </a:r>
            <a:r>
              <a:rPr lang="zh-CN" altLang="en-US" dirty="0"/>
              <a:t>手动提取的策略映射输入之间，仅存在极小的交集。经进一步分析，我们找到了</a:t>
            </a:r>
            <a:r>
              <a:rPr lang="en-US" altLang="zh-CN" dirty="0" err="1"/>
              <a:t>PGFuzz</a:t>
            </a:r>
            <a:r>
              <a:rPr lang="zh-CN" altLang="en-US" dirty="0"/>
              <a:t>未能检测到剩余</a:t>
            </a:r>
            <a:r>
              <a:rPr lang="en-US" altLang="zh-CN" dirty="0"/>
              <a:t>79</a:t>
            </a:r>
            <a:r>
              <a:rPr lang="zh-CN" altLang="en-US" dirty="0"/>
              <a:t>个漏洞的原因：当漏洞源于缺乏相关逻辑约束的简单概念时，</a:t>
            </a:r>
            <a:r>
              <a:rPr lang="en-US" altLang="zh-CN" dirty="0" err="1"/>
              <a:t>PGFuzz</a:t>
            </a:r>
            <a:r>
              <a:rPr lang="zh-CN" altLang="en-US" dirty="0"/>
              <a:t>无法推导出相应的检测策略，因为其策略提取机制是围绕“如果</a:t>
            </a:r>
            <a:r>
              <a:rPr lang="en-US" altLang="zh-CN" dirty="0"/>
              <a:t>……</a:t>
            </a:r>
            <a:r>
              <a:rPr lang="zh-CN" altLang="en-US" dirty="0"/>
              <a:t>那么”或“必须</a:t>
            </a:r>
            <a:r>
              <a:rPr lang="en-US" altLang="zh-CN" dirty="0"/>
              <a:t>……”</a:t>
            </a:r>
            <a:r>
              <a:rPr lang="zh-CN" altLang="en-US" dirty="0"/>
              <a:t>等强逻辑规则设计的。此外，并非所有实现逻辑都有文档记录。当开发人员直接在实现中引入计算逻辑错误时，</a:t>
            </a:r>
            <a:r>
              <a:rPr lang="en-US" altLang="zh-CN" dirty="0" err="1"/>
              <a:t>PGFuzz</a:t>
            </a:r>
            <a:r>
              <a:rPr lang="zh-CN" altLang="en-US" dirty="0"/>
              <a:t>往往无法检测到这些错误，因为其提取的策略通常与这类内部计算无关，因此无法覆盖此类漏洞。例如，如第三节</a:t>
            </a:r>
            <a:r>
              <a:rPr lang="en-US" altLang="zh-CN" dirty="0"/>
              <a:t>-A</a:t>
            </a:r>
            <a:r>
              <a:rPr lang="zh-CN" altLang="en-US" dirty="0"/>
              <a:t>所述，“车辆到达航点”这一概念直观易懂，但实现代码错误地忽略了车辆的实际位置，从而产生了漏洞。相比之下，</a:t>
            </a:r>
            <a:r>
              <a:rPr lang="en-US" altLang="zh-CN" dirty="0"/>
              <a:t>ADGFUZZ</a:t>
            </a:r>
            <a:r>
              <a:rPr lang="zh-CN" altLang="en-US" dirty="0"/>
              <a:t>以航点到达指示变量为根节点，从语义上追溯所有可能影响该变量的潜在输入，因此能够评估范围广泛的相关输入。</a:t>
            </a:r>
            <a:endParaRPr lang="en-US" altLang="zh-CN" b="1" dirty="0"/>
          </a:p>
        </p:txBody>
      </p:sp>
    </p:spTree>
    <p:custDataLst>
      <p:tags r:id="rId1"/>
    </p:custDataLst>
    <p:extLst>
      <p:ext uri="{BB962C8B-B14F-4D97-AF65-F5344CB8AC3E}">
        <p14:creationId xmlns:p14="http://schemas.microsoft.com/office/powerpoint/2010/main" val="2891560889"/>
      </p:ext>
    </p:extLst>
  </p:cSld>
  <p:clrMapOvr>
    <a:masterClrMapping/>
  </p:clrMapOvr>
  <mc:AlternateContent xmlns:mc="http://schemas.openxmlformats.org/markup-compatibility/2006" xmlns:p14="http://schemas.microsoft.com/office/powerpoint/2010/main">
    <mc:Choice Requires="p14">
      <p:transition spd="slow" p14:dur="2000" advTm="183526"/>
    </mc:Choice>
    <mc:Fallback xmlns="">
      <p:transition spd="slow" advTm="183526"/>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83A49-31AC-840F-9B36-70800606271E}"/>
            </a:ext>
          </a:extLst>
        </p:cNvPr>
        <p:cNvGrpSpPr/>
        <p:nvPr/>
      </p:nvGrpSpPr>
      <p:grpSpPr>
        <a:xfrm>
          <a:off x="0" y="0"/>
          <a:ext cx="0" cy="0"/>
          <a:chOff x="0" y="0"/>
          <a:chExt cx="0" cy="0"/>
        </a:xfrm>
      </p:grpSpPr>
      <p:sp>
        <p:nvSpPr>
          <p:cNvPr id="12" name="椭圆 11">
            <a:extLst>
              <a:ext uri="{FF2B5EF4-FFF2-40B4-BE49-F238E27FC236}">
                <a16:creationId xmlns:a16="http://schemas.microsoft.com/office/drawing/2014/main" id="{C1889E2E-1293-2E2E-D7D0-446646CDEEA8}"/>
              </a:ext>
            </a:extLst>
          </p:cNvPr>
          <p:cNvSpPr/>
          <p:nvPr/>
        </p:nvSpPr>
        <p:spPr>
          <a:xfrm>
            <a:off x="137160" y="186690"/>
            <a:ext cx="236855" cy="236855"/>
          </a:xfrm>
          <a:prstGeom prst="ellipse">
            <a:avLst/>
          </a:prstGeom>
          <a:solidFill>
            <a:srgbClr val="ACBBDB">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10" name="文本框 9">
            <a:extLst>
              <a:ext uri="{FF2B5EF4-FFF2-40B4-BE49-F238E27FC236}">
                <a16:creationId xmlns:a16="http://schemas.microsoft.com/office/drawing/2014/main" id="{AADEC975-DAB8-2EBB-8030-86E4B633F63F}"/>
              </a:ext>
            </a:extLst>
          </p:cNvPr>
          <p:cNvSpPr txBox="1"/>
          <p:nvPr>
            <p:custDataLst>
              <p:tags r:id="rId2"/>
            </p:custDataLst>
          </p:nvPr>
        </p:nvSpPr>
        <p:spPr>
          <a:xfrm>
            <a:off x="1083944" y="326688"/>
            <a:ext cx="3438359" cy="523220"/>
          </a:xfrm>
          <a:prstGeom prst="rect">
            <a:avLst/>
          </a:prstGeom>
          <a:noFill/>
        </p:spPr>
        <p:txBody>
          <a:bodyPr wrap="square" rtlCol="0">
            <a:spAutoFit/>
          </a:bodyPr>
          <a:lstStyle/>
          <a:p>
            <a:r>
              <a:rPr lang="zh-CN" altLang="en-US" sz="2800" dirty="0">
                <a:solidFill>
                  <a:srgbClr val="324769"/>
                </a:solidFill>
                <a:latin typeface="Times New Roman" panose="02020603050405020304" pitchFamily="18" charset="0"/>
                <a:cs typeface="+mn-ea"/>
                <a:sym typeface="+mn-lt"/>
              </a:rPr>
              <a:t>评估</a:t>
            </a:r>
            <a:endParaRPr lang="en-US" altLang="zh-CN" sz="2800" dirty="0">
              <a:solidFill>
                <a:srgbClr val="324769"/>
              </a:solidFill>
              <a:latin typeface="Times New Roman" panose="02020603050405020304" pitchFamily="18" charset="0"/>
              <a:cs typeface="+mn-ea"/>
              <a:sym typeface="+mn-lt"/>
            </a:endParaRPr>
          </a:p>
        </p:txBody>
      </p:sp>
      <p:grpSp>
        <p:nvGrpSpPr>
          <p:cNvPr id="4" name="组合 3">
            <a:extLst>
              <a:ext uri="{FF2B5EF4-FFF2-40B4-BE49-F238E27FC236}">
                <a16:creationId xmlns:a16="http://schemas.microsoft.com/office/drawing/2014/main" id="{CB490375-F393-F8C1-41FC-25B6060C34B7}"/>
              </a:ext>
            </a:extLst>
          </p:cNvPr>
          <p:cNvGrpSpPr/>
          <p:nvPr/>
        </p:nvGrpSpPr>
        <p:grpSpPr>
          <a:xfrm>
            <a:off x="80010" y="198120"/>
            <a:ext cx="1003935" cy="768350"/>
            <a:chOff x="1417" y="1412"/>
            <a:chExt cx="1581" cy="1210"/>
          </a:xfrm>
        </p:grpSpPr>
        <p:sp>
          <p:nvSpPr>
            <p:cNvPr id="3" name="椭圆 2">
              <a:extLst>
                <a:ext uri="{FF2B5EF4-FFF2-40B4-BE49-F238E27FC236}">
                  <a16:creationId xmlns:a16="http://schemas.microsoft.com/office/drawing/2014/main" id="{865A97FA-68BE-CF4F-B2A9-CF8ADAC791C0}"/>
                </a:ext>
              </a:extLst>
            </p:cNvPr>
            <p:cNvSpPr/>
            <p:nvPr>
              <p:custDataLst>
                <p:tags r:id="rId3"/>
              </p:custDataLst>
            </p:nvPr>
          </p:nvSpPr>
          <p:spPr>
            <a:xfrm>
              <a:off x="1617" y="1426"/>
              <a:ext cx="1182" cy="1182"/>
            </a:xfrm>
            <a:prstGeom prst="ellipse">
              <a:avLst/>
            </a:pr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50" name="文本框 49">
              <a:extLst>
                <a:ext uri="{FF2B5EF4-FFF2-40B4-BE49-F238E27FC236}">
                  <a16:creationId xmlns:a16="http://schemas.microsoft.com/office/drawing/2014/main" id="{123A9669-CE59-AE9F-6D23-EE6C06A563E3}"/>
                </a:ext>
              </a:extLst>
            </p:cNvPr>
            <p:cNvSpPr txBox="1"/>
            <p:nvPr>
              <p:custDataLst>
                <p:tags r:id="rId4"/>
              </p:custDataLst>
            </p:nvPr>
          </p:nvSpPr>
          <p:spPr>
            <a:xfrm>
              <a:off x="1417" y="1412"/>
              <a:ext cx="1581" cy="1210"/>
            </a:xfrm>
            <a:prstGeom prst="rect">
              <a:avLst/>
            </a:prstGeom>
            <a:noFill/>
          </p:spPr>
          <p:txBody>
            <a:bodyPr wrap="square" rtlCol="0">
              <a:spAutoFit/>
            </a:bodyPr>
            <a:lstStyle/>
            <a:p>
              <a:pPr algn="ctr"/>
              <a:r>
                <a:rPr lang="en-US" altLang="zh-CN" sz="4400" dirty="0">
                  <a:solidFill>
                    <a:schemeClr val="bg1"/>
                  </a:solidFill>
                  <a:latin typeface="Times New Roman" panose="02020603050405020304" pitchFamily="18" charset="0"/>
                  <a:cs typeface="Times New Roman" panose="02020603050405020304" pitchFamily="18" charset="0"/>
                  <a:sym typeface="+mn-lt"/>
                </a:rPr>
                <a:t>06</a:t>
              </a:r>
            </a:p>
          </p:txBody>
        </p:sp>
      </p:grpSp>
      <p:sp>
        <p:nvSpPr>
          <p:cNvPr id="19" name="Rectangle 2">
            <a:extLst>
              <a:ext uri="{FF2B5EF4-FFF2-40B4-BE49-F238E27FC236}">
                <a16:creationId xmlns:a16="http://schemas.microsoft.com/office/drawing/2014/main" id="{8BF36C54-D1C0-9C09-2D58-D22F468BD86D}"/>
              </a:ext>
            </a:extLst>
          </p:cNvPr>
          <p:cNvSpPr>
            <a:spLocks noChangeArrowheads="1"/>
          </p:cNvSpPr>
          <p:nvPr/>
        </p:nvSpPr>
        <p:spPr bwMode="auto">
          <a:xfrm>
            <a:off x="1425600" y="167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Rectangle 8">
            <a:extLst>
              <a:ext uri="{FF2B5EF4-FFF2-40B4-BE49-F238E27FC236}">
                <a16:creationId xmlns:a16="http://schemas.microsoft.com/office/drawing/2014/main" id="{5B4F5CFB-F40F-002D-48E0-E525FB87E5A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文本框 10">
            <a:extLst>
              <a:ext uri="{FF2B5EF4-FFF2-40B4-BE49-F238E27FC236}">
                <a16:creationId xmlns:a16="http://schemas.microsoft.com/office/drawing/2014/main" id="{3F3DDDA8-7E1D-6305-D1E5-5232F7BC6184}"/>
              </a:ext>
            </a:extLst>
          </p:cNvPr>
          <p:cNvSpPr txBox="1"/>
          <p:nvPr/>
        </p:nvSpPr>
        <p:spPr>
          <a:xfrm>
            <a:off x="70083" y="1209389"/>
            <a:ext cx="12192000" cy="2334613"/>
          </a:xfrm>
          <a:prstGeom prst="rect">
            <a:avLst/>
          </a:prstGeom>
          <a:noFill/>
          <a:ln w="19050">
            <a:noFill/>
          </a:ln>
        </p:spPr>
        <p:txBody>
          <a:bodyPr wrap="square" rtlCol="0">
            <a:spAutoFit/>
          </a:bodyPr>
          <a:lstStyle/>
          <a:p>
            <a:pPr lvl="1" indent="457200">
              <a:lnSpc>
                <a:spcPct val="130000"/>
              </a:lnSpc>
              <a:spcAft>
                <a:spcPts val="600"/>
              </a:spcAft>
            </a:pPr>
            <a:r>
              <a:rPr lang="en-US" altLang="zh-CN" sz="2000" b="1" dirty="0">
                <a:latin typeface="Times New Roman" panose="02020603050405020304" pitchFamily="18" charset="0"/>
                <a:ea typeface="苹方 中等" panose="020B0400000000000000" pitchFamily="34" charset="-122"/>
                <a:cs typeface="Times New Roman" panose="02020603050405020304" pitchFamily="18" charset="0"/>
              </a:rPr>
              <a:t>6.3 </a:t>
            </a:r>
            <a:r>
              <a:rPr lang="zh-CN" altLang="en-US" sz="2000" b="1" dirty="0">
                <a:latin typeface="Times New Roman" panose="02020603050405020304" pitchFamily="18" charset="0"/>
                <a:ea typeface="苹方 中等" panose="020B0400000000000000" pitchFamily="34" charset="-122"/>
                <a:cs typeface="Times New Roman" panose="02020603050405020304" pitchFamily="18" charset="0"/>
              </a:rPr>
              <a:t>基于熵的输入优先级排序的有效性：研究问题</a:t>
            </a:r>
            <a:r>
              <a:rPr lang="en-US" altLang="zh-CN" sz="2000" b="1" dirty="0">
                <a:latin typeface="Times New Roman" panose="02020603050405020304" pitchFamily="18" charset="0"/>
                <a:ea typeface="苹方 中等" panose="020B0400000000000000" pitchFamily="34" charset="-122"/>
                <a:cs typeface="Times New Roman" panose="02020603050405020304" pitchFamily="18" charset="0"/>
              </a:rPr>
              <a:t>2  </a:t>
            </a:r>
            <a:r>
              <a:rPr lang="zh-CN" altLang="en-US" sz="2000" dirty="0">
                <a:latin typeface="Times New Roman" panose="02020603050405020304" pitchFamily="18" charset="0"/>
                <a:ea typeface="苹方 中等" panose="020B0400000000000000" pitchFamily="34" charset="-122"/>
                <a:cs typeface="Times New Roman" panose="02020603050405020304" pitchFamily="18" charset="0"/>
              </a:rPr>
              <a:t>（消融实验）</a:t>
            </a:r>
            <a:endParaRPr lang="en-US" altLang="zh-CN" sz="2000" dirty="0">
              <a:latin typeface="Times New Roman" panose="02020603050405020304" pitchFamily="18" charset="0"/>
              <a:ea typeface="苹方 中等" panose="020B0400000000000000" pitchFamily="34" charset="-122"/>
              <a:cs typeface="Times New Roman" panose="02020603050405020304" pitchFamily="18" charset="0"/>
            </a:endParaRPr>
          </a:p>
          <a:p>
            <a:pPr lvl="1" indent="457200">
              <a:lnSpc>
                <a:spcPct val="130000"/>
              </a:lnSpc>
              <a:spcAft>
                <a:spcPts val="600"/>
              </a:spcAft>
            </a:pPr>
            <a:r>
              <a:rPr lang="zh-CN" altLang="en-US" dirty="0"/>
              <a:t>为评估我们的熵引导策略在提升</a:t>
            </a:r>
            <a:r>
              <a:rPr lang="en-US" altLang="zh-CN" dirty="0"/>
              <a:t>RV</a:t>
            </a:r>
            <a:r>
              <a:rPr lang="zh-CN" altLang="en-US" dirty="0"/>
              <a:t>漏洞检测效果方面的有效性，我们开发了</a:t>
            </a:r>
            <a:r>
              <a:rPr lang="en-US" altLang="zh-CN" dirty="0"/>
              <a:t>ADGFUZZ</a:t>
            </a:r>
            <a:r>
              <a:rPr lang="zh-CN" altLang="en-US" dirty="0"/>
              <a:t>的一个变体</a:t>
            </a:r>
            <a:r>
              <a:rPr lang="en-US" altLang="zh-CN" dirty="0">
                <a:solidFill>
                  <a:srgbClr val="FF0000"/>
                </a:solidFill>
              </a:rPr>
              <a:t>ADGFUZZ NOE</a:t>
            </a:r>
            <a:r>
              <a:rPr lang="zh-CN" altLang="en-US" dirty="0"/>
              <a:t>，该变体将熵引导的输入集调度替换为</a:t>
            </a:r>
            <a:r>
              <a:rPr lang="zh-CN" altLang="en-US" dirty="0">
                <a:solidFill>
                  <a:srgbClr val="FF0000"/>
                </a:solidFill>
              </a:rPr>
              <a:t>随机选择机制</a:t>
            </a:r>
            <a:r>
              <a:rPr lang="zh-CN" altLang="en-US" dirty="0"/>
              <a:t>。我们针对三类</a:t>
            </a:r>
            <a:r>
              <a:rPr lang="en-US" altLang="zh-CN" dirty="0"/>
              <a:t>RV</a:t>
            </a:r>
            <a:r>
              <a:rPr lang="zh-CN" altLang="en-US" dirty="0"/>
              <a:t>分别独立运行了</a:t>
            </a:r>
            <a:r>
              <a:rPr lang="en-US" altLang="zh-CN" dirty="0"/>
              <a:t>ADGFUZZ</a:t>
            </a:r>
            <a:r>
              <a:rPr lang="zh-CN" altLang="en-US" dirty="0"/>
              <a:t>和</a:t>
            </a:r>
            <a:r>
              <a:rPr lang="en-US" altLang="zh-CN" dirty="0"/>
              <a:t>ADGFUZZ NOE</a:t>
            </a:r>
            <a:r>
              <a:rPr lang="zh-CN" altLang="en-US" dirty="0"/>
              <a:t>，相关结果如图</a:t>
            </a:r>
            <a:r>
              <a:rPr lang="en-US" altLang="zh-CN" dirty="0"/>
              <a:t>6</a:t>
            </a:r>
            <a:r>
              <a:rPr lang="zh-CN" altLang="en-US" dirty="0"/>
              <a:t>所示。图中的每个数据点代表首次发现某一特定漏洞的时间戳。由于单个漏洞可能被多次触发，我们仅记录其首次出现的时间。标注为“</a:t>
            </a:r>
            <a:r>
              <a:rPr lang="en-US" altLang="zh-CN" dirty="0" err="1"/>
              <a:t>noe</a:t>
            </a:r>
            <a:r>
              <a:rPr lang="en-US" altLang="zh-CN" dirty="0"/>
              <a:t>”</a:t>
            </a:r>
            <a:r>
              <a:rPr lang="zh-CN" altLang="en-US" dirty="0"/>
              <a:t>的线条表示</a:t>
            </a:r>
            <a:r>
              <a:rPr lang="en-US" altLang="zh-CN" dirty="0"/>
              <a:t>ADGFUZZ NOE</a:t>
            </a:r>
            <a:r>
              <a:rPr lang="zh-CN" altLang="en-US" dirty="0"/>
              <a:t>针对各对应车型发现的漏洞数量。</a:t>
            </a:r>
            <a:endParaRPr lang="en-US" altLang="zh-CN" sz="2000" b="1" dirty="0">
              <a:latin typeface="Times New Roman" panose="02020603050405020304" pitchFamily="18" charset="0"/>
              <a:ea typeface="苹方 中等" panose="020B0400000000000000" pitchFamily="34" charset="-122"/>
              <a:cs typeface="Times New Roman" panose="02020603050405020304" pitchFamily="18" charset="0"/>
            </a:endParaRPr>
          </a:p>
        </p:txBody>
      </p:sp>
      <p:pic>
        <p:nvPicPr>
          <p:cNvPr id="5" name="图片 4">
            <a:extLst>
              <a:ext uri="{FF2B5EF4-FFF2-40B4-BE49-F238E27FC236}">
                <a16:creationId xmlns:a16="http://schemas.microsoft.com/office/drawing/2014/main" id="{17C75F3D-AC68-EF4E-5941-9A5DC4FB004B}"/>
              </a:ext>
            </a:extLst>
          </p:cNvPr>
          <p:cNvPicPr>
            <a:picLocks noChangeAspect="1"/>
          </p:cNvPicPr>
          <p:nvPr/>
        </p:nvPicPr>
        <p:blipFill>
          <a:blip r:embed="rId7"/>
          <a:stretch>
            <a:fillRect/>
          </a:stretch>
        </p:blipFill>
        <p:spPr>
          <a:xfrm>
            <a:off x="2619040" y="3296247"/>
            <a:ext cx="4800000" cy="2914286"/>
          </a:xfrm>
          <a:prstGeom prst="rect">
            <a:avLst/>
          </a:prstGeom>
        </p:spPr>
      </p:pic>
    </p:spTree>
    <p:custDataLst>
      <p:tags r:id="rId1"/>
    </p:custDataLst>
    <p:extLst>
      <p:ext uri="{BB962C8B-B14F-4D97-AF65-F5344CB8AC3E}">
        <p14:creationId xmlns:p14="http://schemas.microsoft.com/office/powerpoint/2010/main" val="2115154134"/>
      </p:ext>
    </p:extLst>
  </p:cSld>
  <p:clrMapOvr>
    <a:masterClrMapping/>
  </p:clrMapOvr>
  <mc:AlternateContent xmlns:mc="http://schemas.openxmlformats.org/markup-compatibility/2006" xmlns:p14="http://schemas.microsoft.com/office/powerpoint/2010/main">
    <mc:Choice Requires="p14">
      <p:transition spd="slow" p14:dur="2000" advTm="183526"/>
    </mc:Choice>
    <mc:Fallback xmlns="">
      <p:transition spd="slow" advTm="183526"/>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0A8AC-8A71-E6D9-F476-188745084383}"/>
            </a:ext>
          </a:extLst>
        </p:cNvPr>
        <p:cNvGrpSpPr/>
        <p:nvPr/>
      </p:nvGrpSpPr>
      <p:grpSpPr>
        <a:xfrm>
          <a:off x="0" y="0"/>
          <a:ext cx="0" cy="0"/>
          <a:chOff x="0" y="0"/>
          <a:chExt cx="0" cy="0"/>
        </a:xfrm>
      </p:grpSpPr>
      <p:sp>
        <p:nvSpPr>
          <p:cNvPr id="12" name="椭圆 11">
            <a:extLst>
              <a:ext uri="{FF2B5EF4-FFF2-40B4-BE49-F238E27FC236}">
                <a16:creationId xmlns:a16="http://schemas.microsoft.com/office/drawing/2014/main" id="{7F702811-9437-CF64-352D-5AF6E1BC0A40}"/>
              </a:ext>
            </a:extLst>
          </p:cNvPr>
          <p:cNvSpPr/>
          <p:nvPr/>
        </p:nvSpPr>
        <p:spPr>
          <a:xfrm>
            <a:off x="137160" y="186690"/>
            <a:ext cx="236855" cy="236855"/>
          </a:xfrm>
          <a:prstGeom prst="ellipse">
            <a:avLst/>
          </a:prstGeom>
          <a:solidFill>
            <a:srgbClr val="ACBBDB">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10" name="文本框 9">
            <a:extLst>
              <a:ext uri="{FF2B5EF4-FFF2-40B4-BE49-F238E27FC236}">
                <a16:creationId xmlns:a16="http://schemas.microsoft.com/office/drawing/2014/main" id="{862B821A-9323-BB3A-A81E-B0549E74E7F5}"/>
              </a:ext>
            </a:extLst>
          </p:cNvPr>
          <p:cNvSpPr txBox="1"/>
          <p:nvPr>
            <p:custDataLst>
              <p:tags r:id="rId2"/>
            </p:custDataLst>
          </p:nvPr>
        </p:nvSpPr>
        <p:spPr>
          <a:xfrm>
            <a:off x="1083944" y="326688"/>
            <a:ext cx="3438359" cy="523220"/>
          </a:xfrm>
          <a:prstGeom prst="rect">
            <a:avLst/>
          </a:prstGeom>
          <a:noFill/>
        </p:spPr>
        <p:txBody>
          <a:bodyPr wrap="square" rtlCol="0">
            <a:spAutoFit/>
          </a:bodyPr>
          <a:lstStyle/>
          <a:p>
            <a:r>
              <a:rPr lang="zh-CN" altLang="en-US" sz="2800" dirty="0">
                <a:solidFill>
                  <a:srgbClr val="324769"/>
                </a:solidFill>
                <a:latin typeface="Times New Roman" panose="02020603050405020304" pitchFamily="18" charset="0"/>
                <a:cs typeface="+mn-ea"/>
                <a:sym typeface="+mn-lt"/>
              </a:rPr>
              <a:t>评估</a:t>
            </a:r>
            <a:endParaRPr lang="en-US" altLang="zh-CN" sz="2800" dirty="0">
              <a:solidFill>
                <a:srgbClr val="324769"/>
              </a:solidFill>
              <a:latin typeface="Times New Roman" panose="02020603050405020304" pitchFamily="18" charset="0"/>
              <a:cs typeface="+mn-ea"/>
              <a:sym typeface="+mn-lt"/>
            </a:endParaRPr>
          </a:p>
        </p:txBody>
      </p:sp>
      <p:grpSp>
        <p:nvGrpSpPr>
          <p:cNvPr id="4" name="组合 3">
            <a:extLst>
              <a:ext uri="{FF2B5EF4-FFF2-40B4-BE49-F238E27FC236}">
                <a16:creationId xmlns:a16="http://schemas.microsoft.com/office/drawing/2014/main" id="{EF192974-4AE4-784E-84FF-452456C31011}"/>
              </a:ext>
            </a:extLst>
          </p:cNvPr>
          <p:cNvGrpSpPr/>
          <p:nvPr/>
        </p:nvGrpSpPr>
        <p:grpSpPr>
          <a:xfrm>
            <a:off x="80010" y="198120"/>
            <a:ext cx="1003935" cy="768350"/>
            <a:chOff x="1417" y="1412"/>
            <a:chExt cx="1581" cy="1210"/>
          </a:xfrm>
        </p:grpSpPr>
        <p:sp>
          <p:nvSpPr>
            <p:cNvPr id="3" name="椭圆 2">
              <a:extLst>
                <a:ext uri="{FF2B5EF4-FFF2-40B4-BE49-F238E27FC236}">
                  <a16:creationId xmlns:a16="http://schemas.microsoft.com/office/drawing/2014/main" id="{F089718C-2C38-5B64-583D-F76B1AB4D54C}"/>
                </a:ext>
              </a:extLst>
            </p:cNvPr>
            <p:cNvSpPr/>
            <p:nvPr>
              <p:custDataLst>
                <p:tags r:id="rId3"/>
              </p:custDataLst>
            </p:nvPr>
          </p:nvSpPr>
          <p:spPr>
            <a:xfrm>
              <a:off x="1617" y="1426"/>
              <a:ext cx="1182" cy="1182"/>
            </a:xfrm>
            <a:prstGeom prst="ellipse">
              <a:avLst/>
            </a:pr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50" name="文本框 49">
              <a:extLst>
                <a:ext uri="{FF2B5EF4-FFF2-40B4-BE49-F238E27FC236}">
                  <a16:creationId xmlns:a16="http://schemas.microsoft.com/office/drawing/2014/main" id="{342281D1-BFDF-CA69-160D-9F6D50EE4940}"/>
                </a:ext>
              </a:extLst>
            </p:cNvPr>
            <p:cNvSpPr txBox="1"/>
            <p:nvPr>
              <p:custDataLst>
                <p:tags r:id="rId4"/>
              </p:custDataLst>
            </p:nvPr>
          </p:nvSpPr>
          <p:spPr>
            <a:xfrm>
              <a:off x="1417" y="1412"/>
              <a:ext cx="1581" cy="1210"/>
            </a:xfrm>
            <a:prstGeom prst="rect">
              <a:avLst/>
            </a:prstGeom>
            <a:noFill/>
          </p:spPr>
          <p:txBody>
            <a:bodyPr wrap="square" rtlCol="0">
              <a:spAutoFit/>
            </a:bodyPr>
            <a:lstStyle/>
            <a:p>
              <a:pPr algn="ctr"/>
              <a:r>
                <a:rPr lang="en-US" altLang="zh-CN" sz="4400" dirty="0">
                  <a:solidFill>
                    <a:schemeClr val="bg1"/>
                  </a:solidFill>
                  <a:latin typeface="Times New Roman" panose="02020603050405020304" pitchFamily="18" charset="0"/>
                  <a:cs typeface="Times New Roman" panose="02020603050405020304" pitchFamily="18" charset="0"/>
                  <a:sym typeface="+mn-lt"/>
                </a:rPr>
                <a:t>06</a:t>
              </a:r>
            </a:p>
          </p:txBody>
        </p:sp>
      </p:grpSp>
      <p:sp>
        <p:nvSpPr>
          <p:cNvPr id="19" name="Rectangle 2">
            <a:extLst>
              <a:ext uri="{FF2B5EF4-FFF2-40B4-BE49-F238E27FC236}">
                <a16:creationId xmlns:a16="http://schemas.microsoft.com/office/drawing/2014/main" id="{A28C125C-ADC3-F81F-DE64-5C513C447975}"/>
              </a:ext>
            </a:extLst>
          </p:cNvPr>
          <p:cNvSpPr>
            <a:spLocks noChangeArrowheads="1"/>
          </p:cNvSpPr>
          <p:nvPr/>
        </p:nvSpPr>
        <p:spPr bwMode="auto">
          <a:xfrm>
            <a:off x="1425600" y="167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Rectangle 8">
            <a:extLst>
              <a:ext uri="{FF2B5EF4-FFF2-40B4-BE49-F238E27FC236}">
                <a16:creationId xmlns:a16="http://schemas.microsoft.com/office/drawing/2014/main" id="{A12B765E-D977-65F4-AB5F-4D05A906789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文本框 10">
            <a:extLst>
              <a:ext uri="{FF2B5EF4-FFF2-40B4-BE49-F238E27FC236}">
                <a16:creationId xmlns:a16="http://schemas.microsoft.com/office/drawing/2014/main" id="{7B4EE738-566C-2E97-3C3E-0EFAE37E513A}"/>
              </a:ext>
            </a:extLst>
          </p:cNvPr>
          <p:cNvSpPr txBox="1"/>
          <p:nvPr/>
        </p:nvSpPr>
        <p:spPr>
          <a:xfrm>
            <a:off x="70083" y="1209389"/>
            <a:ext cx="12192000" cy="1979196"/>
          </a:xfrm>
          <a:prstGeom prst="rect">
            <a:avLst/>
          </a:prstGeom>
          <a:noFill/>
          <a:ln w="19050">
            <a:noFill/>
          </a:ln>
        </p:spPr>
        <p:txBody>
          <a:bodyPr wrap="square" rtlCol="0">
            <a:spAutoFit/>
          </a:bodyPr>
          <a:lstStyle/>
          <a:p>
            <a:pPr lvl="1" indent="457200">
              <a:lnSpc>
                <a:spcPct val="130000"/>
              </a:lnSpc>
              <a:spcAft>
                <a:spcPts val="600"/>
              </a:spcAft>
            </a:pPr>
            <a:r>
              <a:rPr lang="en-US" altLang="zh-CN" sz="2000" b="1" dirty="0">
                <a:latin typeface="Times New Roman" panose="02020603050405020304" pitchFamily="18" charset="0"/>
                <a:ea typeface="苹方 中等" panose="020B0400000000000000" pitchFamily="34" charset="-122"/>
                <a:cs typeface="Times New Roman" panose="02020603050405020304" pitchFamily="18" charset="0"/>
              </a:rPr>
              <a:t>6.4 ADG–MIS </a:t>
            </a:r>
            <a:r>
              <a:rPr lang="zh-CN" altLang="en-US" sz="2000" b="1" dirty="0">
                <a:latin typeface="Times New Roman" panose="02020603050405020304" pitchFamily="18" charset="0"/>
                <a:ea typeface="苹方 中等" panose="020B0400000000000000" pitchFamily="34" charset="-122"/>
                <a:cs typeface="Times New Roman" panose="02020603050405020304" pitchFamily="18" charset="0"/>
              </a:rPr>
              <a:t>构建的评估：研究问题</a:t>
            </a:r>
            <a:r>
              <a:rPr lang="en-US" altLang="zh-CN" sz="2000" b="1" dirty="0">
                <a:latin typeface="Times New Roman" panose="02020603050405020304" pitchFamily="18" charset="0"/>
                <a:ea typeface="苹方 中等" panose="020B0400000000000000" pitchFamily="34" charset="-122"/>
                <a:cs typeface="Times New Roman" panose="02020603050405020304" pitchFamily="18" charset="0"/>
              </a:rPr>
              <a:t>3</a:t>
            </a:r>
          </a:p>
          <a:p>
            <a:pPr lvl="1" indent="457200">
              <a:lnSpc>
                <a:spcPct val="130000"/>
              </a:lnSpc>
              <a:spcAft>
                <a:spcPts val="600"/>
              </a:spcAft>
            </a:pPr>
            <a:r>
              <a:rPr lang="zh-CN" altLang="en-US" dirty="0"/>
              <a:t>准确性。为了评估</a:t>
            </a:r>
            <a:r>
              <a:rPr lang="en-US" altLang="zh-CN" dirty="0"/>
              <a:t>ADG–MIS</a:t>
            </a:r>
            <a:r>
              <a:rPr lang="zh-CN" altLang="en-US" dirty="0"/>
              <a:t>构建流程的可靠性，我们随机抽取了</a:t>
            </a:r>
            <a:r>
              <a:rPr lang="en-US" altLang="zh-CN" dirty="0"/>
              <a:t>150</a:t>
            </a:r>
            <a:r>
              <a:rPr lang="zh-CN" altLang="en-US" dirty="0"/>
              <a:t>对</a:t>
            </a:r>
            <a:r>
              <a:rPr lang="en-US" altLang="zh-CN" dirty="0"/>
              <a:t>ADG–MIS</a:t>
            </a:r>
            <a:r>
              <a:rPr lang="zh-CN" altLang="en-US" dirty="0"/>
              <a:t>。在静态分析阶段生成。本文的两位作者独立进行了</a:t>
            </a:r>
            <a:r>
              <a:rPr lang="zh-CN" altLang="en-US" dirty="0">
                <a:solidFill>
                  <a:srgbClr val="FF0000"/>
                </a:solidFill>
              </a:rPr>
              <a:t>人工交叉验证</a:t>
            </a:r>
            <a:r>
              <a:rPr lang="zh-CN" altLang="en-US" dirty="0"/>
              <a:t>，</a:t>
            </a:r>
            <a:r>
              <a:rPr lang="zh-CN" altLang="en-US" dirty="0">
                <a:solidFill>
                  <a:srgbClr val="FF0000"/>
                </a:solidFill>
              </a:rPr>
              <a:t>以评估从每个</a:t>
            </a:r>
            <a:r>
              <a:rPr lang="en-US" altLang="zh-CN" dirty="0">
                <a:solidFill>
                  <a:srgbClr val="FF0000"/>
                </a:solidFill>
              </a:rPr>
              <a:t>ADG</a:t>
            </a:r>
            <a:r>
              <a:rPr lang="zh-CN" altLang="en-US" dirty="0">
                <a:solidFill>
                  <a:srgbClr val="FF0000"/>
                </a:solidFill>
              </a:rPr>
              <a:t>中推断出的</a:t>
            </a:r>
            <a:r>
              <a:rPr lang="en-US" altLang="zh-CN" dirty="0">
                <a:solidFill>
                  <a:srgbClr val="FF0000"/>
                </a:solidFill>
              </a:rPr>
              <a:t>MIS</a:t>
            </a:r>
            <a:r>
              <a:rPr lang="zh-CN" altLang="en-US" dirty="0">
                <a:solidFill>
                  <a:srgbClr val="FF0000"/>
                </a:solidFill>
              </a:rPr>
              <a:t>的语义正确性</a:t>
            </a:r>
            <a:r>
              <a:rPr lang="zh-CN" altLang="en-US" dirty="0"/>
              <a:t>。具体而言，我们手动解读了每个</a:t>
            </a:r>
            <a:r>
              <a:rPr lang="en-US" altLang="zh-CN" dirty="0"/>
              <a:t>ADG</a:t>
            </a:r>
            <a:r>
              <a:rPr lang="zh-CN" altLang="en-US" dirty="0"/>
              <a:t>中变量名的语义含义，并识别出包含关键上下文信息的术语，这些术语被称为关键词。随后，我们检查了对应的</a:t>
            </a:r>
            <a:r>
              <a:rPr lang="en-US" altLang="zh-CN" dirty="0"/>
              <a:t>MIS</a:t>
            </a:r>
            <a:r>
              <a:rPr lang="zh-CN" altLang="en-US" dirty="0"/>
              <a:t>是否包含可从这些关键词合理推断出的</a:t>
            </a:r>
            <a:r>
              <a:rPr lang="en-US" altLang="zh-CN" dirty="0"/>
              <a:t>RV</a:t>
            </a:r>
            <a:r>
              <a:rPr lang="zh-CN" altLang="en-US" dirty="0"/>
              <a:t>输入，从而验证</a:t>
            </a:r>
            <a:r>
              <a:rPr lang="en-US" altLang="zh-CN" dirty="0"/>
              <a:t>MIS</a:t>
            </a:r>
            <a:r>
              <a:rPr lang="zh-CN" altLang="en-US" dirty="0"/>
              <a:t>是否与</a:t>
            </a:r>
            <a:r>
              <a:rPr lang="en-US" altLang="zh-CN" dirty="0"/>
              <a:t>ADG</a:t>
            </a:r>
            <a:r>
              <a:rPr lang="zh-CN" altLang="en-US" dirty="0"/>
              <a:t>在语义上保持一致。</a:t>
            </a:r>
            <a:endParaRPr lang="en-US" altLang="zh-CN" sz="2000" b="1" dirty="0">
              <a:latin typeface="Times New Roman" panose="02020603050405020304" pitchFamily="18" charset="0"/>
              <a:ea typeface="苹方 中等" panose="020B0400000000000000" pitchFamily="34"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937397596"/>
      </p:ext>
    </p:extLst>
  </p:cSld>
  <p:clrMapOvr>
    <a:masterClrMapping/>
  </p:clrMapOvr>
  <mc:AlternateContent xmlns:mc="http://schemas.openxmlformats.org/markup-compatibility/2006" xmlns:p14="http://schemas.microsoft.com/office/powerpoint/2010/main">
    <mc:Choice Requires="p14">
      <p:transition spd="slow" p14:dur="2000" advTm="183526"/>
    </mc:Choice>
    <mc:Fallback xmlns="">
      <p:transition spd="slow" advTm="183526"/>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C96C0-B611-1C48-FA84-584E25CFE5FA}"/>
            </a:ext>
          </a:extLst>
        </p:cNvPr>
        <p:cNvGrpSpPr/>
        <p:nvPr/>
      </p:nvGrpSpPr>
      <p:grpSpPr>
        <a:xfrm>
          <a:off x="0" y="0"/>
          <a:ext cx="0" cy="0"/>
          <a:chOff x="0" y="0"/>
          <a:chExt cx="0" cy="0"/>
        </a:xfrm>
      </p:grpSpPr>
      <p:sp>
        <p:nvSpPr>
          <p:cNvPr id="12" name="椭圆 11">
            <a:extLst>
              <a:ext uri="{FF2B5EF4-FFF2-40B4-BE49-F238E27FC236}">
                <a16:creationId xmlns:a16="http://schemas.microsoft.com/office/drawing/2014/main" id="{E24311D2-7B96-7374-35C1-594215AAA889}"/>
              </a:ext>
            </a:extLst>
          </p:cNvPr>
          <p:cNvSpPr/>
          <p:nvPr/>
        </p:nvSpPr>
        <p:spPr>
          <a:xfrm>
            <a:off x="137160" y="186690"/>
            <a:ext cx="236855" cy="236855"/>
          </a:xfrm>
          <a:prstGeom prst="ellipse">
            <a:avLst/>
          </a:prstGeom>
          <a:solidFill>
            <a:srgbClr val="ACBBDB">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10" name="文本框 9">
            <a:extLst>
              <a:ext uri="{FF2B5EF4-FFF2-40B4-BE49-F238E27FC236}">
                <a16:creationId xmlns:a16="http://schemas.microsoft.com/office/drawing/2014/main" id="{29BF9591-2E9C-FC42-7CFF-401E98202A10}"/>
              </a:ext>
            </a:extLst>
          </p:cNvPr>
          <p:cNvSpPr txBox="1"/>
          <p:nvPr>
            <p:custDataLst>
              <p:tags r:id="rId2"/>
            </p:custDataLst>
          </p:nvPr>
        </p:nvSpPr>
        <p:spPr>
          <a:xfrm>
            <a:off x="1083944" y="326688"/>
            <a:ext cx="3438359" cy="523220"/>
          </a:xfrm>
          <a:prstGeom prst="rect">
            <a:avLst/>
          </a:prstGeom>
          <a:noFill/>
        </p:spPr>
        <p:txBody>
          <a:bodyPr wrap="square" rtlCol="0">
            <a:spAutoFit/>
          </a:bodyPr>
          <a:lstStyle/>
          <a:p>
            <a:r>
              <a:rPr lang="zh-CN" altLang="en-US" sz="2800" dirty="0">
                <a:solidFill>
                  <a:srgbClr val="324769"/>
                </a:solidFill>
                <a:latin typeface="Times New Roman" panose="02020603050405020304" pitchFamily="18" charset="0"/>
                <a:cs typeface="+mn-ea"/>
                <a:sym typeface="+mn-lt"/>
              </a:rPr>
              <a:t>评估</a:t>
            </a:r>
            <a:endParaRPr lang="en-US" altLang="zh-CN" sz="2800" dirty="0">
              <a:solidFill>
                <a:srgbClr val="324769"/>
              </a:solidFill>
              <a:latin typeface="Times New Roman" panose="02020603050405020304" pitchFamily="18" charset="0"/>
              <a:cs typeface="+mn-ea"/>
              <a:sym typeface="+mn-lt"/>
            </a:endParaRPr>
          </a:p>
        </p:txBody>
      </p:sp>
      <p:grpSp>
        <p:nvGrpSpPr>
          <p:cNvPr id="4" name="组合 3">
            <a:extLst>
              <a:ext uri="{FF2B5EF4-FFF2-40B4-BE49-F238E27FC236}">
                <a16:creationId xmlns:a16="http://schemas.microsoft.com/office/drawing/2014/main" id="{9D15D65F-F882-9ABC-1575-6532B31AE1ED}"/>
              </a:ext>
            </a:extLst>
          </p:cNvPr>
          <p:cNvGrpSpPr/>
          <p:nvPr/>
        </p:nvGrpSpPr>
        <p:grpSpPr>
          <a:xfrm>
            <a:off x="80010" y="198120"/>
            <a:ext cx="1003935" cy="768350"/>
            <a:chOff x="1417" y="1412"/>
            <a:chExt cx="1581" cy="1210"/>
          </a:xfrm>
        </p:grpSpPr>
        <p:sp>
          <p:nvSpPr>
            <p:cNvPr id="3" name="椭圆 2">
              <a:extLst>
                <a:ext uri="{FF2B5EF4-FFF2-40B4-BE49-F238E27FC236}">
                  <a16:creationId xmlns:a16="http://schemas.microsoft.com/office/drawing/2014/main" id="{ABC76301-F4D4-F0B5-DCE5-F20CD56AB6A1}"/>
                </a:ext>
              </a:extLst>
            </p:cNvPr>
            <p:cNvSpPr/>
            <p:nvPr>
              <p:custDataLst>
                <p:tags r:id="rId3"/>
              </p:custDataLst>
            </p:nvPr>
          </p:nvSpPr>
          <p:spPr>
            <a:xfrm>
              <a:off x="1617" y="1426"/>
              <a:ext cx="1182" cy="1182"/>
            </a:xfrm>
            <a:prstGeom prst="ellipse">
              <a:avLst/>
            </a:pr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50" name="文本框 49">
              <a:extLst>
                <a:ext uri="{FF2B5EF4-FFF2-40B4-BE49-F238E27FC236}">
                  <a16:creationId xmlns:a16="http://schemas.microsoft.com/office/drawing/2014/main" id="{4935B2B3-353A-7793-CCAC-A2B8A7F7D254}"/>
                </a:ext>
              </a:extLst>
            </p:cNvPr>
            <p:cNvSpPr txBox="1"/>
            <p:nvPr>
              <p:custDataLst>
                <p:tags r:id="rId4"/>
              </p:custDataLst>
            </p:nvPr>
          </p:nvSpPr>
          <p:spPr>
            <a:xfrm>
              <a:off x="1417" y="1412"/>
              <a:ext cx="1581" cy="1210"/>
            </a:xfrm>
            <a:prstGeom prst="rect">
              <a:avLst/>
            </a:prstGeom>
            <a:noFill/>
          </p:spPr>
          <p:txBody>
            <a:bodyPr wrap="square" rtlCol="0">
              <a:spAutoFit/>
            </a:bodyPr>
            <a:lstStyle/>
            <a:p>
              <a:pPr algn="ctr"/>
              <a:r>
                <a:rPr lang="en-US" altLang="zh-CN" sz="4400" dirty="0">
                  <a:solidFill>
                    <a:schemeClr val="bg1"/>
                  </a:solidFill>
                  <a:latin typeface="Times New Roman" panose="02020603050405020304" pitchFamily="18" charset="0"/>
                  <a:cs typeface="Times New Roman" panose="02020603050405020304" pitchFamily="18" charset="0"/>
                  <a:sym typeface="+mn-lt"/>
                </a:rPr>
                <a:t>06</a:t>
              </a:r>
            </a:p>
          </p:txBody>
        </p:sp>
      </p:grpSp>
      <p:sp>
        <p:nvSpPr>
          <p:cNvPr id="19" name="Rectangle 2">
            <a:extLst>
              <a:ext uri="{FF2B5EF4-FFF2-40B4-BE49-F238E27FC236}">
                <a16:creationId xmlns:a16="http://schemas.microsoft.com/office/drawing/2014/main" id="{6B072A71-E3D0-F3D7-5F73-F0C828D5C90B}"/>
              </a:ext>
            </a:extLst>
          </p:cNvPr>
          <p:cNvSpPr>
            <a:spLocks noChangeArrowheads="1"/>
          </p:cNvSpPr>
          <p:nvPr/>
        </p:nvSpPr>
        <p:spPr bwMode="auto">
          <a:xfrm>
            <a:off x="1425600" y="167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Rectangle 8">
            <a:extLst>
              <a:ext uri="{FF2B5EF4-FFF2-40B4-BE49-F238E27FC236}">
                <a16:creationId xmlns:a16="http://schemas.microsoft.com/office/drawing/2014/main" id="{759F4333-782B-215F-B692-13F03C42C5C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文本框 10">
            <a:extLst>
              <a:ext uri="{FF2B5EF4-FFF2-40B4-BE49-F238E27FC236}">
                <a16:creationId xmlns:a16="http://schemas.microsoft.com/office/drawing/2014/main" id="{AFA93869-BFE6-8E9E-5E68-EDBC989FD944}"/>
              </a:ext>
            </a:extLst>
          </p:cNvPr>
          <p:cNvSpPr txBox="1"/>
          <p:nvPr/>
        </p:nvSpPr>
        <p:spPr>
          <a:xfrm>
            <a:off x="70083" y="1209389"/>
            <a:ext cx="12192000" cy="4288738"/>
          </a:xfrm>
          <a:prstGeom prst="rect">
            <a:avLst/>
          </a:prstGeom>
          <a:noFill/>
          <a:ln w="19050">
            <a:noFill/>
          </a:ln>
        </p:spPr>
        <p:txBody>
          <a:bodyPr wrap="square" rtlCol="0">
            <a:spAutoFit/>
          </a:bodyPr>
          <a:lstStyle/>
          <a:p>
            <a:pPr lvl="1" indent="457200">
              <a:lnSpc>
                <a:spcPct val="130000"/>
              </a:lnSpc>
              <a:spcAft>
                <a:spcPts val="600"/>
              </a:spcAft>
            </a:pPr>
            <a:r>
              <a:rPr lang="en-US" altLang="zh-CN" sz="2000" b="1" dirty="0">
                <a:latin typeface="Times New Roman" panose="02020603050405020304" pitchFamily="18" charset="0"/>
                <a:ea typeface="苹方 中等" panose="020B0400000000000000" pitchFamily="34" charset="-122"/>
                <a:cs typeface="Times New Roman" panose="02020603050405020304" pitchFamily="18" charset="0"/>
              </a:rPr>
              <a:t>6.4 </a:t>
            </a:r>
            <a:r>
              <a:rPr lang="zh-CN" altLang="en-US" sz="2000" b="1" dirty="0">
                <a:latin typeface="Times New Roman" panose="02020603050405020304" pitchFamily="18" charset="0"/>
                <a:ea typeface="苹方 中等" panose="020B0400000000000000" pitchFamily="34" charset="-122"/>
                <a:cs typeface="Times New Roman" panose="02020603050405020304" pitchFamily="18" charset="0"/>
              </a:rPr>
              <a:t>利用效果（研究问题</a:t>
            </a:r>
            <a:r>
              <a:rPr lang="en-US" altLang="zh-CN" sz="2000" b="1" dirty="0">
                <a:latin typeface="Times New Roman" panose="02020603050405020304" pitchFamily="18" charset="0"/>
                <a:ea typeface="苹方 中等" panose="020B0400000000000000" pitchFamily="34" charset="-122"/>
                <a:cs typeface="Times New Roman" panose="02020603050405020304" pitchFamily="18" charset="0"/>
              </a:rPr>
              <a:t>4</a:t>
            </a:r>
            <a:r>
              <a:rPr lang="zh-CN" altLang="en-US" sz="2000" b="1" dirty="0">
                <a:latin typeface="Times New Roman" panose="02020603050405020304" pitchFamily="18" charset="0"/>
                <a:ea typeface="苹方 中等" panose="020B0400000000000000" pitchFamily="34" charset="-122"/>
                <a:cs typeface="Times New Roman" panose="02020603050405020304" pitchFamily="18" charset="0"/>
              </a:rPr>
              <a:t>）：研究问题</a:t>
            </a:r>
            <a:r>
              <a:rPr lang="en-US" altLang="zh-CN" sz="2000" b="1" dirty="0">
                <a:latin typeface="Times New Roman" panose="02020603050405020304" pitchFamily="18" charset="0"/>
                <a:ea typeface="苹方 中等" panose="020B0400000000000000" pitchFamily="34" charset="-122"/>
                <a:cs typeface="Times New Roman" panose="02020603050405020304" pitchFamily="18" charset="0"/>
              </a:rPr>
              <a:t>3</a:t>
            </a:r>
          </a:p>
          <a:p>
            <a:pPr lvl="1" indent="457200">
              <a:lnSpc>
                <a:spcPct val="130000"/>
              </a:lnSpc>
              <a:spcAft>
                <a:spcPts val="600"/>
              </a:spcAft>
            </a:pPr>
            <a:r>
              <a:rPr lang="zh-CN" altLang="en-US" dirty="0"/>
              <a:t>我们对 </a:t>
            </a:r>
            <a:r>
              <a:rPr lang="en-US" altLang="zh-CN" dirty="0"/>
              <a:t>ADGFUZZ </a:t>
            </a:r>
            <a:r>
              <a:rPr lang="zh-CN" altLang="en-US" dirty="0"/>
              <a:t>识别出的三个代表性示例进行了详细分析，以说明攻击者如何利用这些漏洞破坏正在运行的 </a:t>
            </a:r>
            <a:r>
              <a:rPr lang="en-US" altLang="zh-CN" dirty="0"/>
              <a:t>RV</a:t>
            </a:r>
            <a:r>
              <a:rPr lang="zh-CN" altLang="en-US" dirty="0"/>
              <a:t>。每个案例均附带根本原因分析，以解释导致观察到故障的潜在机制。</a:t>
            </a:r>
            <a:endParaRPr lang="en-US" altLang="zh-CN" dirty="0"/>
          </a:p>
          <a:p>
            <a:pPr marL="800100" lvl="1" indent="-342900">
              <a:lnSpc>
                <a:spcPct val="130000"/>
              </a:lnSpc>
              <a:spcAft>
                <a:spcPts val="600"/>
              </a:spcAft>
              <a:buAutoNum type="arabicParenR"/>
            </a:pPr>
            <a:r>
              <a:rPr lang="zh-CN" altLang="en-US" dirty="0"/>
              <a:t>案例研究</a:t>
            </a:r>
            <a:r>
              <a:rPr lang="en-US" altLang="zh-CN" dirty="0"/>
              <a:t>1——</a:t>
            </a:r>
            <a:r>
              <a:rPr lang="zh-CN" altLang="en-US" dirty="0"/>
              <a:t>意外的电压</a:t>
            </a:r>
            <a:r>
              <a:rPr lang="en-US" altLang="zh-CN" dirty="0"/>
              <a:t>-</a:t>
            </a:r>
            <a:r>
              <a:rPr lang="zh-CN" altLang="en-US" dirty="0"/>
              <a:t>油门相关性错误导致地面坠毁：每个参数均在其记录的有效范围内，单独修改其中任意一个都不会触发该漏洞。</a:t>
            </a:r>
            <a:r>
              <a:rPr lang="en-US" altLang="zh-CN" dirty="0"/>
              <a:t>ADGFUZZ </a:t>
            </a:r>
            <a:r>
              <a:rPr lang="zh-CN" altLang="en-US" dirty="0"/>
              <a:t>发现，同时满足两个特定条件会导致旋翼电机停机，进而使飞行器撞向地面。</a:t>
            </a:r>
            <a:endParaRPr lang="en-US" altLang="zh-CN" dirty="0"/>
          </a:p>
          <a:p>
            <a:pPr lvl="1">
              <a:lnSpc>
                <a:spcPct val="130000"/>
              </a:lnSpc>
              <a:spcAft>
                <a:spcPts val="600"/>
              </a:spcAft>
            </a:pPr>
            <a:r>
              <a:rPr lang="zh-CN" altLang="en-US" dirty="0"/>
              <a:t>以一架四旋翼无人机在空气中稳定悬停为例（图</a:t>
            </a:r>
            <a:r>
              <a:rPr lang="en-US" altLang="zh-CN" dirty="0"/>
              <a:t>7a</a:t>
            </a:r>
            <a:r>
              <a:rPr lang="zh-CN" altLang="en-US" dirty="0"/>
              <a:t>）。攻击者只需将最大电池电压参数（</a:t>
            </a:r>
            <a:r>
              <a:rPr lang="en-US" altLang="zh-CN" dirty="0"/>
              <a:t>MOT_BAT_VOLT_MAX</a:t>
            </a:r>
            <a:r>
              <a:rPr lang="zh-CN" altLang="en-US" dirty="0"/>
              <a:t>）略调至高于实际电压水平，同时降低</a:t>
            </a:r>
            <a:r>
              <a:rPr lang="en-US" altLang="zh-CN" dirty="0"/>
              <a:t>MOT_PWM_MIN</a:t>
            </a:r>
            <a:r>
              <a:rPr lang="zh-CN" altLang="en-US" dirty="0"/>
              <a:t>，即可引发无人机突然失控并坠毁。值得注意的是，单独调整任一参数都不会影响无人机的稳定性。由于电池电压在放电过程中会自然下降，将最大电压设得更高会使飞控固件在满电假设下持续进行补偿，从而维持稳定的推力输出。此外，操作人员通常将</a:t>
            </a:r>
            <a:r>
              <a:rPr lang="en-US" altLang="zh-CN" dirty="0"/>
              <a:t>MOT_PWM_MIN</a:t>
            </a:r>
            <a:r>
              <a:rPr lang="zh-CN" altLang="en-US" dirty="0"/>
              <a:t>视为最小怠速油门；将其调至更低值只是为了在油门为</a:t>
            </a:r>
            <a:r>
              <a:rPr lang="en-US" altLang="zh-CN" dirty="0"/>
              <a:t>0%</a:t>
            </a:r>
            <a:r>
              <a:rPr lang="zh-CN" altLang="en-US" dirty="0"/>
              <a:t>时降低螺旋桨怠速转速，并不会导致故障发生。</a:t>
            </a:r>
            <a:endParaRPr lang="en-US" altLang="zh-CN" sz="2000" b="1" dirty="0">
              <a:latin typeface="Times New Roman" panose="02020603050405020304" pitchFamily="18" charset="0"/>
              <a:ea typeface="苹方 中等" panose="020B0400000000000000" pitchFamily="34"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2709591547"/>
      </p:ext>
    </p:extLst>
  </p:cSld>
  <p:clrMapOvr>
    <a:masterClrMapping/>
  </p:clrMapOvr>
  <mc:AlternateContent xmlns:mc="http://schemas.openxmlformats.org/markup-compatibility/2006" xmlns:p14="http://schemas.microsoft.com/office/powerpoint/2010/main">
    <mc:Choice Requires="p14">
      <p:transition spd="slow" p14:dur="2000" advTm="183526"/>
    </mc:Choice>
    <mc:Fallback xmlns="">
      <p:transition spd="slow" advTm="183526"/>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35B24-8014-A10B-5B95-3ED7D8476B64}"/>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F2C45505-26AA-6988-36E4-2F6DCAD22C93}"/>
              </a:ext>
            </a:extLst>
          </p:cNvPr>
          <p:cNvSpPr txBox="1"/>
          <p:nvPr/>
        </p:nvSpPr>
        <p:spPr>
          <a:xfrm>
            <a:off x="2074430" y="2717482"/>
            <a:ext cx="4910667" cy="769441"/>
          </a:xfrm>
          <a:prstGeom prst="rect">
            <a:avLst/>
          </a:prstGeom>
          <a:noFill/>
        </p:spPr>
        <p:txBody>
          <a:bodyPr wrap="square" rtlCol="0">
            <a:spAutoFit/>
          </a:bodyPr>
          <a:lstStyle>
            <a:defPPr>
              <a:defRPr lang="zh-CN"/>
            </a:defPPr>
            <a:lvl1pPr algn="dist">
              <a:defRPr sz="4400" b="1">
                <a:solidFill>
                  <a:srgbClr val="324769"/>
                </a:solidFill>
                <a:latin typeface="Arial" panose="020B0604020202020204"/>
                <a:ea typeface="微软雅黑" panose="020B0503020204020204" pitchFamily="34" charset="-122"/>
                <a:cs typeface="汉仪中宋简" panose="02010609000101010101" charset="-128"/>
              </a:defRPr>
            </a:lvl1pPr>
          </a:lstStyle>
          <a:p>
            <a:pPr algn="l"/>
            <a:r>
              <a:rPr lang="zh-CN" altLang="en-US" dirty="0">
                <a:latin typeface="+mn-lt"/>
                <a:ea typeface="+mn-ea"/>
                <a:cs typeface="+mn-ea"/>
                <a:sym typeface="+mn-lt"/>
              </a:rPr>
              <a:t>相关工作</a:t>
            </a:r>
          </a:p>
        </p:txBody>
      </p:sp>
      <p:grpSp>
        <p:nvGrpSpPr>
          <p:cNvPr id="3" name="组合 2">
            <a:extLst>
              <a:ext uri="{FF2B5EF4-FFF2-40B4-BE49-F238E27FC236}">
                <a16:creationId xmlns:a16="http://schemas.microsoft.com/office/drawing/2014/main" id="{5C1D85FE-E216-9BD2-4ECC-64E0B3AC37CB}"/>
              </a:ext>
            </a:extLst>
          </p:cNvPr>
          <p:cNvGrpSpPr/>
          <p:nvPr/>
        </p:nvGrpSpPr>
        <p:grpSpPr>
          <a:xfrm>
            <a:off x="184785" y="2346960"/>
            <a:ext cx="1684655" cy="1445260"/>
            <a:chOff x="909" y="4569"/>
            <a:chExt cx="2653" cy="2276"/>
          </a:xfrm>
        </p:grpSpPr>
        <p:sp>
          <p:nvSpPr>
            <p:cNvPr id="12" name="椭圆 11">
              <a:extLst>
                <a:ext uri="{FF2B5EF4-FFF2-40B4-BE49-F238E27FC236}">
                  <a16:creationId xmlns:a16="http://schemas.microsoft.com/office/drawing/2014/main" id="{BD62BDF6-551B-9FC7-875C-58D40B8164ED}"/>
                </a:ext>
              </a:extLst>
            </p:cNvPr>
            <p:cNvSpPr/>
            <p:nvPr/>
          </p:nvSpPr>
          <p:spPr>
            <a:xfrm>
              <a:off x="2306" y="4674"/>
              <a:ext cx="957" cy="957"/>
            </a:xfrm>
            <a:prstGeom prst="ellipse">
              <a:avLst/>
            </a:prstGeom>
            <a:solidFill>
              <a:srgbClr val="D0E1F7">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0" name="文本框 49">
              <a:extLst>
                <a:ext uri="{FF2B5EF4-FFF2-40B4-BE49-F238E27FC236}">
                  <a16:creationId xmlns:a16="http://schemas.microsoft.com/office/drawing/2014/main" id="{4F4BBF1C-DDC6-7565-2251-33E9C1A9069B}"/>
                </a:ext>
              </a:extLst>
            </p:cNvPr>
            <p:cNvSpPr txBox="1"/>
            <p:nvPr/>
          </p:nvSpPr>
          <p:spPr>
            <a:xfrm>
              <a:off x="909" y="4569"/>
              <a:ext cx="2653" cy="2276"/>
            </a:xfrm>
            <a:prstGeom prst="rect">
              <a:avLst/>
            </a:prstGeom>
            <a:noFill/>
          </p:spPr>
          <p:txBody>
            <a:bodyPr wrap="square" rtlCol="0">
              <a:spAutoFit/>
            </a:bodyPr>
            <a:lstStyle/>
            <a:p>
              <a:pPr algn="ctr"/>
              <a:r>
                <a:rPr lang="en-US" altLang="zh-CN" sz="8800" dirty="0">
                  <a:solidFill>
                    <a:srgbClr val="324769"/>
                  </a:solidFill>
                  <a:cs typeface="+mn-ea"/>
                  <a:sym typeface="+mn-lt"/>
                </a:rPr>
                <a:t>07</a:t>
              </a:r>
            </a:p>
          </p:txBody>
        </p:sp>
      </p:grpSp>
      <p:cxnSp>
        <p:nvCxnSpPr>
          <p:cNvPr id="32" name="直接连接符 31">
            <a:extLst>
              <a:ext uri="{FF2B5EF4-FFF2-40B4-BE49-F238E27FC236}">
                <a16:creationId xmlns:a16="http://schemas.microsoft.com/office/drawing/2014/main" id="{C4A00230-9081-8624-6531-0ED546040B8E}"/>
              </a:ext>
            </a:extLst>
          </p:cNvPr>
          <p:cNvCxnSpPr/>
          <p:nvPr/>
        </p:nvCxnSpPr>
        <p:spPr>
          <a:xfrm>
            <a:off x="530225" y="3720465"/>
            <a:ext cx="5784850" cy="0"/>
          </a:xfrm>
          <a:prstGeom prst="line">
            <a:avLst/>
          </a:prstGeom>
          <a:ln w="28575" cmpd="thickThin">
            <a:solidFill>
              <a:srgbClr val="324769"/>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969637345"/>
      </p:ext>
    </p:extLst>
  </p:cSld>
  <p:clrMapOvr>
    <a:masterClrMapping/>
  </p:clrMapOvr>
  <mc:AlternateContent xmlns:mc="http://schemas.openxmlformats.org/markup-compatibility/2006" xmlns:p14="http://schemas.microsoft.com/office/powerpoint/2010/main">
    <mc:Choice Requires="p14">
      <p:transition spd="slow" p14:dur="2000" advTm="7316"/>
    </mc:Choice>
    <mc:Fallback xmlns="">
      <p:transition spd="slow" advTm="7316"/>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A2E34-39D0-1FEC-58EA-E03583C4EA99}"/>
            </a:ext>
          </a:extLst>
        </p:cNvPr>
        <p:cNvGrpSpPr/>
        <p:nvPr/>
      </p:nvGrpSpPr>
      <p:grpSpPr>
        <a:xfrm>
          <a:off x="0" y="0"/>
          <a:ext cx="0" cy="0"/>
          <a:chOff x="0" y="0"/>
          <a:chExt cx="0" cy="0"/>
        </a:xfrm>
      </p:grpSpPr>
      <p:sp>
        <p:nvSpPr>
          <p:cNvPr id="12" name="椭圆 11">
            <a:extLst>
              <a:ext uri="{FF2B5EF4-FFF2-40B4-BE49-F238E27FC236}">
                <a16:creationId xmlns:a16="http://schemas.microsoft.com/office/drawing/2014/main" id="{274EB561-FD68-ABFA-9C1A-B58ABF489B2A}"/>
              </a:ext>
            </a:extLst>
          </p:cNvPr>
          <p:cNvSpPr/>
          <p:nvPr/>
        </p:nvSpPr>
        <p:spPr>
          <a:xfrm>
            <a:off x="137160" y="186690"/>
            <a:ext cx="236855" cy="236855"/>
          </a:xfrm>
          <a:prstGeom prst="ellipse">
            <a:avLst/>
          </a:prstGeom>
          <a:solidFill>
            <a:srgbClr val="ACBBDB">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10" name="文本框 9">
            <a:extLst>
              <a:ext uri="{FF2B5EF4-FFF2-40B4-BE49-F238E27FC236}">
                <a16:creationId xmlns:a16="http://schemas.microsoft.com/office/drawing/2014/main" id="{FEB7D4D9-48DD-0359-D6E6-703F6A782F1B}"/>
              </a:ext>
            </a:extLst>
          </p:cNvPr>
          <p:cNvSpPr txBox="1"/>
          <p:nvPr>
            <p:custDataLst>
              <p:tags r:id="rId2"/>
            </p:custDataLst>
          </p:nvPr>
        </p:nvSpPr>
        <p:spPr>
          <a:xfrm>
            <a:off x="1083944" y="326688"/>
            <a:ext cx="3438359" cy="523220"/>
          </a:xfrm>
          <a:prstGeom prst="rect">
            <a:avLst/>
          </a:prstGeom>
          <a:noFill/>
        </p:spPr>
        <p:txBody>
          <a:bodyPr wrap="square" rtlCol="0">
            <a:spAutoFit/>
          </a:bodyPr>
          <a:lstStyle/>
          <a:p>
            <a:r>
              <a:rPr lang="zh-CN" altLang="en-US" sz="2800" dirty="0">
                <a:solidFill>
                  <a:srgbClr val="324769"/>
                </a:solidFill>
                <a:latin typeface="Times New Roman" panose="02020603050405020304" pitchFamily="18" charset="0"/>
                <a:cs typeface="+mn-ea"/>
                <a:sym typeface="+mn-lt"/>
              </a:rPr>
              <a:t>相关工作</a:t>
            </a:r>
            <a:endParaRPr lang="en-US" altLang="zh-CN" sz="2800" dirty="0">
              <a:solidFill>
                <a:srgbClr val="324769"/>
              </a:solidFill>
              <a:latin typeface="Times New Roman" panose="02020603050405020304" pitchFamily="18" charset="0"/>
              <a:cs typeface="+mn-ea"/>
              <a:sym typeface="+mn-lt"/>
            </a:endParaRPr>
          </a:p>
        </p:txBody>
      </p:sp>
      <p:grpSp>
        <p:nvGrpSpPr>
          <p:cNvPr id="4" name="组合 3">
            <a:extLst>
              <a:ext uri="{FF2B5EF4-FFF2-40B4-BE49-F238E27FC236}">
                <a16:creationId xmlns:a16="http://schemas.microsoft.com/office/drawing/2014/main" id="{2782B1AB-438B-8118-82AA-E27B10BD956D}"/>
              </a:ext>
            </a:extLst>
          </p:cNvPr>
          <p:cNvGrpSpPr/>
          <p:nvPr/>
        </p:nvGrpSpPr>
        <p:grpSpPr>
          <a:xfrm>
            <a:off x="80010" y="198120"/>
            <a:ext cx="1003935" cy="768350"/>
            <a:chOff x="1417" y="1412"/>
            <a:chExt cx="1581" cy="1210"/>
          </a:xfrm>
        </p:grpSpPr>
        <p:sp>
          <p:nvSpPr>
            <p:cNvPr id="3" name="椭圆 2">
              <a:extLst>
                <a:ext uri="{FF2B5EF4-FFF2-40B4-BE49-F238E27FC236}">
                  <a16:creationId xmlns:a16="http://schemas.microsoft.com/office/drawing/2014/main" id="{35806116-A42D-7475-BD36-868F61D0FA01}"/>
                </a:ext>
              </a:extLst>
            </p:cNvPr>
            <p:cNvSpPr/>
            <p:nvPr>
              <p:custDataLst>
                <p:tags r:id="rId3"/>
              </p:custDataLst>
            </p:nvPr>
          </p:nvSpPr>
          <p:spPr>
            <a:xfrm>
              <a:off x="1617" y="1426"/>
              <a:ext cx="1182" cy="1182"/>
            </a:xfrm>
            <a:prstGeom prst="ellipse">
              <a:avLst/>
            </a:pr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50" name="文本框 49">
              <a:extLst>
                <a:ext uri="{FF2B5EF4-FFF2-40B4-BE49-F238E27FC236}">
                  <a16:creationId xmlns:a16="http://schemas.microsoft.com/office/drawing/2014/main" id="{F8DBA76A-36F7-9483-8C8A-5EDC851FB52A}"/>
                </a:ext>
              </a:extLst>
            </p:cNvPr>
            <p:cNvSpPr txBox="1"/>
            <p:nvPr>
              <p:custDataLst>
                <p:tags r:id="rId4"/>
              </p:custDataLst>
            </p:nvPr>
          </p:nvSpPr>
          <p:spPr>
            <a:xfrm>
              <a:off x="1417" y="1412"/>
              <a:ext cx="1581" cy="1210"/>
            </a:xfrm>
            <a:prstGeom prst="rect">
              <a:avLst/>
            </a:prstGeom>
            <a:noFill/>
          </p:spPr>
          <p:txBody>
            <a:bodyPr wrap="square" rtlCol="0">
              <a:spAutoFit/>
            </a:bodyPr>
            <a:lstStyle/>
            <a:p>
              <a:pPr algn="ctr"/>
              <a:r>
                <a:rPr lang="en-US" altLang="zh-CN" sz="4400" dirty="0">
                  <a:solidFill>
                    <a:schemeClr val="bg1"/>
                  </a:solidFill>
                  <a:latin typeface="Times New Roman" panose="02020603050405020304" pitchFamily="18" charset="0"/>
                  <a:cs typeface="Times New Roman" panose="02020603050405020304" pitchFamily="18" charset="0"/>
                  <a:sym typeface="+mn-lt"/>
                </a:rPr>
                <a:t>07</a:t>
              </a:r>
            </a:p>
          </p:txBody>
        </p:sp>
      </p:grpSp>
      <p:sp>
        <p:nvSpPr>
          <p:cNvPr id="19" name="Rectangle 2">
            <a:extLst>
              <a:ext uri="{FF2B5EF4-FFF2-40B4-BE49-F238E27FC236}">
                <a16:creationId xmlns:a16="http://schemas.microsoft.com/office/drawing/2014/main" id="{F20DBB45-8D03-D515-54AF-1155AEFA43A4}"/>
              </a:ext>
            </a:extLst>
          </p:cNvPr>
          <p:cNvSpPr>
            <a:spLocks noChangeArrowheads="1"/>
          </p:cNvSpPr>
          <p:nvPr/>
        </p:nvSpPr>
        <p:spPr bwMode="auto">
          <a:xfrm>
            <a:off x="1425600" y="167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Rectangle 8">
            <a:extLst>
              <a:ext uri="{FF2B5EF4-FFF2-40B4-BE49-F238E27FC236}">
                <a16:creationId xmlns:a16="http://schemas.microsoft.com/office/drawing/2014/main" id="{DC1F47B3-1214-BCBE-E82C-4ED1558F1CB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文本框 10">
            <a:extLst>
              <a:ext uri="{FF2B5EF4-FFF2-40B4-BE49-F238E27FC236}">
                <a16:creationId xmlns:a16="http://schemas.microsoft.com/office/drawing/2014/main" id="{E1345B6A-5AE3-F6DE-FCDC-0E6E84D1F452}"/>
              </a:ext>
            </a:extLst>
          </p:cNvPr>
          <p:cNvSpPr txBox="1"/>
          <p:nvPr/>
        </p:nvSpPr>
        <p:spPr>
          <a:xfrm>
            <a:off x="70083" y="1209389"/>
            <a:ext cx="12192000" cy="4455194"/>
          </a:xfrm>
          <a:prstGeom prst="rect">
            <a:avLst/>
          </a:prstGeom>
          <a:noFill/>
          <a:ln w="19050">
            <a:noFill/>
          </a:ln>
        </p:spPr>
        <p:txBody>
          <a:bodyPr wrap="square" rtlCol="0">
            <a:spAutoFit/>
          </a:bodyPr>
          <a:lstStyle/>
          <a:p>
            <a:pPr lvl="1" indent="457200">
              <a:lnSpc>
                <a:spcPct val="130000"/>
              </a:lnSpc>
              <a:spcAft>
                <a:spcPts val="600"/>
              </a:spcAft>
            </a:pPr>
            <a:r>
              <a:rPr lang="zh-CN" altLang="en-US" dirty="0"/>
              <a:t>近年来，机器人车辆（</a:t>
            </a:r>
            <a:r>
              <a:rPr lang="en-US" altLang="zh-CN" dirty="0"/>
              <a:t>RV</a:t>
            </a:r>
            <a:r>
              <a:rPr lang="zh-CN" altLang="en-US" dirty="0"/>
              <a:t>）的安全问题日益受到研究人员的关注。</a:t>
            </a:r>
            <a:r>
              <a:rPr lang="en-US" altLang="zh-CN" dirty="0"/>
              <a:t>Choi</a:t>
            </a:r>
            <a:r>
              <a:rPr lang="zh-CN" altLang="en-US" dirty="0"/>
              <a:t>等人提出了一种基于控制不变量的机器人车辆攻击检测框架，以抵御物理攻击。然而，该方法无法识别控制软件自身存在的漏洞。</a:t>
            </a:r>
            <a:r>
              <a:rPr lang="en-US" altLang="zh-CN" dirty="0" err="1"/>
              <a:t>RVFuzzer</a:t>
            </a:r>
            <a:r>
              <a:rPr lang="zh-CN" altLang="en-US" dirty="0"/>
              <a:t>通过引入控制不稳定性检测器，针对机器人车辆控制软件中的输入验证漏洞展开研究，重点关注配置参数检查是否实现错误或完全缺失。类似地，</a:t>
            </a:r>
            <a:r>
              <a:rPr lang="en-US" altLang="zh-CN" dirty="0" err="1"/>
              <a:t>LGDFuzzer</a:t>
            </a:r>
            <a:r>
              <a:rPr lang="zh-CN" altLang="en-US" dirty="0"/>
              <a:t>采用一种学习引导的搜索策略，来识别</a:t>
            </a:r>
            <a:r>
              <a:rPr lang="en-US" altLang="zh-CN" dirty="0"/>
              <a:t>RV</a:t>
            </a:r>
            <a:r>
              <a:rPr lang="zh-CN" altLang="en-US" dirty="0"/>
              <a:t>系统中多个配置参数交互导致的范围约束违规问题。这些方法聚焦于与控制稳定性相关的输入，却忽略了控制指令、环境输入以及大量与控制无关的配置参数，从而限制了其检测其他类别漏洞的能力。</a:t>
            </a:r>
            <a:r>
              <a:rPr lang="en-US" altLang="zh-CN" dirty="0"/>
              <a:t>Choi</a:t>
            </a:r>
            <a:r>
              <a:rPr lang="zh-CN" altLang="en-US" dirty="0"/>
              <a:t>等人还提出了一种通过改变环境因素来验证</a:t>
            </a:r>
            <a:r>
              <a:rPr lang="en-US" altLang="zh-CN" dirty="0"/>
              <a:t>RV</a:t>
            </a:r>
            <a:r>
              <a:rPr lang="zh-CN" altLang="en-US" dirty="0"/>
              <a:t>安全检查机制缺陷的方法，但该方法无法发现输入空间其他区域存在的漏洞。</a:t>
            </a:r>
            <a:r>
              <a:rPr lang="en-US" altLang="zh-CN" dirty="0" err="1"/>
              <a:t>PGFuzz</a:t>
            </a:r>
            <a:r>
              <a:rPr lang="en-US" altLang="zh-CN" dirty="0"/>
              <a:t>[8]</a:t>
            </a:r>
            <a:r>
              <a:rPr lang="zh-CN" altLang="en-US" dirty="0"/>
              <a:t>旨在检测由设计缺陷或错误实现引发的策略违规问题；然而，它高度依赖人工指定策略的准确性，且仅适用于从</a:t>
            </a:r>
            <a:r>
              <a:rPr lang="en-US" altLang="zh-CN" dirty="0"/>
              <a:t>RV</a:t>
            </a:r>
            <a:r>
              <a:rPr lang="zh-CN" altLang="en-US" dirty="0"/>
              <a:t>文档中提取的安全需求。因此，它无法检测到由执行逻辑冲突或未记录的实现错误导致的漏洞。</a:t>
            </a:r>
            <a:endParaRPr lang="en-US" altLang="zh-CN" dirty="0"/>
          </a:p>
          <a:p>
            <a:pPr lvl="1" indent="457200">
              <a:lnSpc>
                <a:spcPct val="130000"/>
              </a:lnSpc>
              <a:spcAft>
                <a:spcPts val="600"/>
              </a:spcAft>
            </a:pPr>
            <a:r>
              <a:rPr lang="zh-CN" altLang="en-US" dirty="0"/>
              <a:t>此外，</a:t>
            </a:r>
            <a:r>
              <a:rPr lang="en-US" altLang="zh-CN" dirty="0" err="1"/>
              <a:t>PatchVerif</a:t>
            </a:r>
            <a:r>
              <a:rPr lang="en-US" altLang="zh-CN" dirty="0"/>
              <a:t>[</a:t>
            </a:r>
            <a:r>
              <a:rPr lang="zh-CN" altLang="en-US" dirty="0"/>
              <a:t>旨在对</a:t>
            </a:r>
            <a:r>
              <a:rPr lang="en-US" altLang="zh-CN" dirty="0"/>
              <a:t>RV</a:t>
            </a:r>
            <a:r>
              <a:rPr lang="zh-CN" altLang="en-US" dirty="0"/>
              <a:t>补丁代码进行评估，以判断修改是否成功解决了现有问题或引入了新问题。其作用范围仅限于与补丁代码本身相关的输入，核心目标是暴露行为差异。相比之下，</a:t>
            </a:r>
            <a:r>
              <a:rPr lang="en-US" altLang="zh-CN" dirty="0"/>
              <a:t>ADGFUZZ</a:t>
            </a:r>
            <a:r>
              <a:rPr lang="zh-CN" altLang="en-US" dirty="0"/>
              <a:t>通过探索输入子空间来发现由输入间复杂交互触发的漏洞。</a:t>
            </a:r>
            <a:endParaRPr lang="en-US" altLang="zh-CN" sz="2000" b="1" dirty="0">
              <a:latin typeface="Times New Roman" panose="02020603050405020304" pitchFamily="18" charset="0"/>
              <a:ea typeface="苹方 中等" panose="020B0400000000000000" pitchFamily="34"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2397584150"/>
      </p:ext>
    </p:extLst>
  </p:cSld>
  <p:clrMapOvr>
    <a:masterClrMapping/>
  </p:clrMapOvr>
  <mc:AlternateContent xmlns:mc="http://schemas.openxmlformats.org/markup-compatibility/2006" xmlns:p14="http://schemas.microsoft.com/office/powerpoint/2010/main">
    <mc:Choice Requires="p14">
      <p:transition spd="slow" p14:dur="2000" advTm="183526"/>
    </mc:Choice>
    <mc:Fallback xmlns="">
      <p:transition spd="slow" advTm="183526"/>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68FDC-D9C3-B9EC-E24C-014783D03A48}"/>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AB72BA5E-88CD-723C-32F0-BB26E92E83EA}"/>
              </a:ext>
            </a:extLst>
          </p:cNvPr>
          <p:cNvSpPr txBox="1"/>
          <p:nvPr/>
        </p:nvSpPr>
        <p:spPr>
          <a:xfrm>
            <a:off x="2074430" y="2717482"/>
            <a:ext cx="4910667" cy="769441"/>
          </a:xfrm>
          <a:prstGeom prst="rect">
            <a:avLst/>
          </a:prstGeom>
          <a:noFill/>
        </p:spPr>
        <p:txBody>
          <a:bodyPr wrap="square" rtlCol="0">
            <a:spAutoFit/>
          </a:bodyPr>
          <a:lstStyle>
            <a:defPPr>
              <a:defRPr lang="zh-CN"/>
            </a:defPPr>
            <a:lvl1pPr algn="dist">
              <a:defRPr sz="4400" b="1">
                <a:solidFill>
                  <a:srgbClr val="324769"/>
                </a:solidFill>
                <a:latin typeface="Arial" panose="020B0604020202020204"/>
                <a:ea typeface="微软雅黑" panose="020B0503020204020204" pitchFamily="34" charset="-122"/>
                <a:cs typeface="汉仪中宋简" panose="02010609000101010101" charset="-128"/>
              </a:defRPr>
            </a:lvl1pPr>
          </a:lstStyle>
          <a:p>
            <a:pPr algn="l"/>
            <a:r>
              <a:rPr lang="zh-CN" altLang="en-US" dirty="0">
                <a:latin typeface="+mn-lt"/>
                <a:ea typeface="+mn-ea"/>
                <a:cs typeface="+mn-ea"/>
                <a:sym typeface="+mn-lt"/>
              </a:rPr>
              <a:t>结论</a:t>
            </a:r>
          </a:p>
        </p:txBody>
      </p:sp>
      <p:grpSp>
        <p:nvGrpSpPr>
          <p:cNvPr id="3" name="组合 2">
            <a:extLst>
              <a:ext uri="{FF2B5EF4-FFF2-40B4-BE49-F238E27FC236}">
                <a16:creationId xmlns:a16="http://schemas.microsoft.com/office/drawing/2014/main" id="{9D1974F4-A86F-5188-7EFF-4DC55C14D06D}"/>
              </a:ext>
            </a:extLst>
          </p:cNvPr>
          <p:cNvGrpSpPr/>
          <p:nvPr/>
        </p:nvGrpSpPr>
        <p:grpSpPr>
          <a:xfrm>
            <a:off x="184785" y="2346960"/>
            <a:ext cx="1684655" cy="1445260"/>
            <a:chOff x="909" y="4569"/>
            <a:chExt cx="2653" cy="2276"/>
          </a:xfrm>
        </p:grpSpPr>
        <p:sp>
          <p:nvSpPr>
            <p:cNvPr id="12" name="椭圆 11">
              <a:extLst>
                <a:ext uri="{FF2B5EF4-FFF2-40B4-BE49-F238E27FC236}">
                  <a16:creationId xmlns:a16="http://schemas.microsoft.com/office/drawing/2014/main" id="{9A818832-0D6C-03F3-4C9D-23D9CE3CBA66}"/>
                </a:ext>
              </a:extLst>
            </p:cNvPr>
            <p:cNvSpPr/>
            <p:nvPr/>
          </p:nvSpPr>
          <p:spPr>
            <a:xfrm>
              <a:off x="2306" y="4674"/>
              <a:ext cx="957" cy="957"/>
            </a:xfrm>
            <a:prstGeom prst="ellipse">
              <a:avLst/>
            </a:prstGeom>
            <a:solidFill>
              <a:srgbClr val="D0E1F7">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0" name="文本框 49">
              <a:extLst>
                <a:ext uri="{FF2B5EF4-FFF2-40B4-BE49-F238E27FC236}">
                  <a16:creationId xmlns:a16="http://schemas.microsoft.com/office/drawing/2014/main" id="{23C7EAE0-024F-E36F-F973-4AAC6C5F1F73}"/>
                </a:ext>
              </a:extLst>
            </p:cNvPr>
            <p:cNvSpPr txBox="1"/>
            <p:nvPr/>
          </p:nvSpPr>
          <p:spPr>
            <a:xfrm>
              <a:off x="909" y="4569"/>
              <a:ext cx="2653" cy="2276"/>
            </a:xfrm>
            <a:prstGeom prst="rect">
              <a:avLst/>
            </a:prstGeom>
            <a:noFill/>
          </p:spPr>
          <p:txBody>
            <a:bodyPr wrap="square" rtlCol="0">
              <a:spAutoFit/>
            </a:bodyPr>
            <a:lstStyle/>
            <a:p>
              <a:pPr algn="ctr"/>
              <a:r>
                <a:rPr lang="en-US" altLang="zh-CN" sz="8800" dirty="0">
                  <a:solidFill>
                    <a:srgbClr val="324769"/>
                  </a:solidFill>
                  <a:cs typeface="+mn-ea"/>
                  <a:sym typeface="+mn-lt"/>
                </a:rPr>
                <a:t>08</a:t>
              </a:r>
            </a:p>
          </p:txBody>
        </p:sp>
      </p:grpSp>
      <p:cxnSp>
        <p:nvCxnSpPr>
          <p:cNvPr id="32" name="直接连接符 31">
            <a:extLst>
              <a:ext uri="{FF2B5EF4-FFF2-40B4-BE49-F238E27FC236}">
                <a16:creationId xmlns:a16="http://schemas.microsoft.com/office/drawing/2014/main" id="{AE6A5CE3-5484-6C0A-23AD-18F628766113}"/>
              </a:ext>
            </a:extLst>
          </p:cNvPr>
          <p:cNvCxnSpPr/>
          <p:nvPr/>
        </p:nvCxnSpPr>
        <p:spPr>
          <a:xfrm>
            <a:off x="530225" y="3720465"/>
            <a:ext cx="5784850" cy="0"/>
          </a:xfrm>
          <a:prstGeom prst="line">
            <a:avLst/>
          </a:prstGeom>
          <a:ln w="28575" cmpd="thickThin">
            <a:solidFill>
              <a:srgbClr val="324769"/>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63570971"/>
      </p:ext>
    </p:extLst>
  </p:cSld>
  <p:clrMapOvr>
    <a:masterClrMapping/>
  </p:clrMapOvr>
  <mc:AlternateContent xmlns:mc="http://schemas.openxmlformats.org/markup-compatibility/2006" xmlns:p14="http://schemas.microsoft.com/office/powerpoint/2010/main">
    <mc:Choice Requires="p14">
      <p:transition spd="slow" p14:dur="2000" advTm="7316"/>
    </mc:Choice>
    <mc:Fallback xmlns="">
      <p:transition spd="slow" advTm="7316"/>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4E927-676D-64E6-B6A9-F9297B478699}"/>
            </a:ext>
          </a:extLst>
        </p:cNvPr>
        <p:cNvGrpSpPr/>
        <p:nvPr/>
      </p:nvGrpSpPr>
      <p:grpSpPr>
        <a:xfrm>
          <a:off x="0" y="0"/>
          <a:ext cx="0" cy="0"/>
          <a:chOff x="0" y="0"/>
          <a:chExt cx="0" cy="0"/>
        </a:xfrm>
      </p:grpSpPr>
      <p:sp>
        <p:nvSpPr>
          <p:cNvPr id="12" name="椭圆 11">
            <a:extLst>
              <a:ext uri="{FF2B5EF4-FFF2-40B4-BE49-F238E27FC236}">
                <a16:creationId xmlns:a16="http://schemas.microsoft.com/office/drawing/2014/main" id="{52AED401-9A61-B72C-CFF2-4DA29D4CB4FC}"/>
              </a:ext>
            </a:extLst>
          </p:cNvPr>
          <p:cNvSpPr/>
          <p:nvPr/>
        </p:nvSpPr>
        <p:spPr>
          <a:xfrm>
            <a:off x="137160" y="186690"/>
            <a:ext cx="236855" cy="236855"/>
          </a:xfrm>
          <a:prstGeom prst="ellipse">
            <a:avLst/>
          </a:prstGeom>
          <a:solidFill>
            <a:srgbClr val="ACBBDB">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10" name="文本框 9">
            <a:extLst>
              <a:ext uri="{FF2B5EF4-FFF2-40B4-BE49-F238E27FC236}">
                <a16:creationId xmlns:a16="http://schemas.microsoft.com/office/drawing/2014/main" id="{B6B9EBBC-1A6F-6070-CEEA-2ADA10ECAB23}"/>
              </a:ext>
            </a:extLst>
          </p:cNvPr>
          <p:cNvSpPr txBox="1"/>
          <p:nvPr>
            <p:custDataLst>
              <p:tags r:id="rId2"/>
            </p:custDataLst>
          </p:nvPr>
        </p:nvSpPr>
        <p:spPr>
          <a:xfrm>
            <a:off x="1083944" y="326688"/>
            <a:ext cx="3438359" cy="523220"/>
          </a:xfrm>
          <a:prstGeom prst="rect">
            <a:avLst/>
          </a:prstGeom>
          <a:noFill/>
        </p:spPr>
        <p:txBody>
          <a:bodyPr wrap="square" rtlCol="0">
            <a:spAutoFit/>
          </a:bodyPr>
          <a:lstStyle/>
          <a:p>
            <a:r>
              <a:rPr lang="zh-CN" altLang="en-US" sz="2800" dirty="0">
                <a:solidFill>
                  <a:srgbClr val="324769"/>
                </a:solidFill>
                <a:latin typeface="Times New Roman" panose="02020603050405020304" pitchFamily="18" charset="0"/>
                <a:cs typeface="+mn-ea"/>
                <a:sym typeface="+mn-lt"/>
              </a:rPr>
              <a:t>结论</a:t>
            </a:r>
            <a:endParaRPr lang="en-US" altLang="zh-CN" sz="2800" dirty="0">
              <a:solidFill>
                <a:srgbClr val="324769"/>
              </a:solidFill>
              <a:latin typeface="Times New Roman" panose="02020603050405020304" pitchFamily="18" charset="0"/>
              <a:cs typeface="+mn-ea"/>
              <a:sym typeface="+mn-lt"/>
            </a:endParaRPr>
          </a:p>
        </p:txBody>
      </p:sp>
      <p:grpSp>
        <p:nvGrpSpPr>
          <p:cNvPr id="4" name="组合 3">
            <a:extLst>
              <a:ext uri="{FF2B5EF4-FFF2-40B4-BE49-F238E27FC236}">
                <a16:creationId xmlns:a16="http://schemas.microsoft.com/office/drawing/2014/main" id="{FA54E955-DD54-6A11-B592-9C853675051E}"/>
              </a:ext>
            </a:extLst>
          </p:cNvPr>
          <p:cNvGrpSpPr/>
          <p:nvPr/>
        </p:nvGrpSpPr>
        <p:grpSpPr>
          <a:xfrm>
            <a:off x="80010" y="198120"/>
            <a:ext cx="1003935" cy="768350"/>
            <a:chOff x="1417" y="1412"/>
            <a:chExt cx="1581" cy="1210"/>
          </a:xfrm>
        </p:grpSpPr>
        <p:sp>
          <p:nvSpPr>
            <p:cNvPr id="3" name="椭圆 2">
              <a:extLst>
                <a:ext uri="{FF2B5EF4-FFF2-40B4-BE49-F238E27FC236}">
                  <a16:creationId xmlns:a16="http://schemas.microsoft.com/office/drawing/2014/main" id="{C30B6019-D094-96B7-6B19-8EF216096FC1}"/>
                </a:ext>
              </a:extLst>
            </p:cNvPr>
            <p:cNvSpPr/>
            <p:nvPr>
              <p:custDataLst>
                <p:tags r:id="rId3"/>
              </p:custDataLst>
            </p:nvPr>
          </p:nvSpPr>
          <p:spPr>
            <a:xfrm>
              <a:off x="1617" y="1426"/>
              <a:ext cx="1182" cy="1182"/>
            </a:xfrm>
            <a:prstGeom prst="ellipse">
              <a:avLst/>
            </a:prstGeom>
            <a:solidFill>
              <a:srgbClr val="425C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sym typeface="+mn-lt"/>
              </a:endParaRPr>
            </a:p>
          </p:txBody>
        </p:sp>
        <p:sp>
          <p:nvSpPr>
            <p:cNvPr id="50" name="文本框 49">
              <a:extLst>
                <a:ext uri="{FF2B5EF4-FFF2-40B4-BE49-F238E27FC236}">
                  <a16:creationId xmlns:a16="http://schemas.microsoft.com/office/drawing/2014/main" id="{F7194E4A-11A7-15FD-CCEC-AB1FC94C08DF}"/>
                </a:ext>
              </a:extLst>
            </p:cNvPr>
            <p:cNvSpPr txBox="1"/>
            <p:nvPr>
              <p:custDataLst>
                <p:tags r:id="rId4"/>
              </p:custDataLst>
            </p:nvPr>
          </p:nvSpPr>
          <p:spPr>
            <a:xfrm>
              <a:off x="1417" y="1412"/>
              <a:ext cx="1581" cy="1210"/>
            </a:xfrm>
            <a:prstGeom prst="rect">
              <a:avLst/>
            </a:prstGeom>
            <a:noFill/>
          </p:spPr>
          <p:txBody>
            <a:bodyPr wrap="square" rtlCol="0">
              <a:spAutoFit/>
            </a:bodyPr>
            <a:lstStyle/>
            <a:p>
              <a:pPr algn="ctr"/>
              <a:r>
                <a:rPr lang="en-US" altLang="zh-CN" sz="4400" dirty="0">
                  <a:solidFill>
                    <a:schemeClr val="bg1"/>
                  </a:solidFill>
                  <a:latin typeface="Times New Roman" panose="02020603050405020304" pitchFamily="18" charset="0"/>
                  <a:cs typeface="Times New Roman" panose="02020603050405020304" pitchFamily="18" charset="0"/>
                  <a:sym typeface="+mn-lt"/>
                </a:rPr>
                <a:t>07</a:t>
              </a:r>
            </a:p>
          </p:txBody>
        </p:sp>
      </p:grpSp>
      <p:sp>
        <p:nvSpPr>
          <p:cNvPr id="19" name="Rectangle 2">
            <a:extLst>
              <a:ext uri="{FF2B5EF4-FFF2-40B4-BE49-F238E27FC236}">
                <a16:creationId xmlns:a16="http://schemas.microsoft.com/office/drawing/2014/main" id="{25D665DB-2B76-2EA1-547C-82B511F73411}"/>
              </a:ext>
            </a:extLst>
          </p:cNvPr>
          <p:cNvSpPr>
            <a:spLocks noChangeArrowheads="1"/>
          </p:cNvSpPr>
          <p:nvPr/>
        </p:nvSpPr>
        <p:spPr bwMode="auto">
          <a:xfrm>
            <a:off x="1425600" y="167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Rectangle 8">
            <a:extLst>
              <a:ext uri="{FF2B5EF4-FFF2-40B4-BE49-F238E27FC236}">
                <a16:creationId xmlns:a16="http://schemas.microsoft.com/office/drawing/2014/main" id="{BAA32C58-0FB9-3F11-A24E-1C49139F462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文本框 10">
            <a:extLst>
              <a:ext uri="{FF2B5EF4-FFF2-40B4-BE49-F238E27FC236}">
                <a16:creationId xmlns:a16="http://schemas.microsoft.com/office/drawing/2014/main" id="{B4AA92B0-47F2-8298-2CEC-D8BCEDEB0869}"/>
              </a:ext>
            </a:extLst>
          </p:cNvPr>
          <p:cNvSpPr txBox="1"/>
          <p:nvPr/>
        </p:nvSpPr>
        <p:spPr>
          <a:xfrm>
            <a:off x="70083" y="1209389"/>
            <a:ext cx="12192000" cy="1502142"/>
          </a:xfrm>
          <a:prstGeom prst="rect">
            <a:avLst/>
          </a:prstGeom>
          <a:noFill/>
          <a:ln w="19050">
            <a:noFill/>
          </a:ln>
        </p:spPr>
        <p:txBody>
          <a:bodyPr wrap="square" rtlCol="0">
            <a:spAutoFit/>
          </a:bodyPr>
          <a:lstStyle/>
          <a:p>
            <a:pPr lvl="1" indent="457200">
              <a:lnSpc>
                <a:spcPct val="130000"/>
              </a:lnSpc>
              <a:spcAft>
                <a:spcPts val="600"/>
              </a:spcAft>
            </a:pPr>
            <a:r>
              <a:rPr lang="zh-CN" altLang="en-US" dirty="0"/>
              <a:t>我们</a:t>
            </a:r>
            <a:r>
              <a:rPr lang="zh-CN" altLang="en-US" dirty="0">
                <a:solidFill>
                  <a:srgbClr val="FF0000"/>
                </a:solidFill>
              </a:rPr>
              <a:t>提出</a:t>
            </a:r>
            <a:r>
              <a:rPr lang="zh-CN" altLang="en-US" dirty="0"/>
              <a:t>了</a:t>
            </a:r>
            <a:r>
              <a:rPr lang="en-US" altLang="zh-CN" dirty="0"/>
              <a:t>ADGFUZZ</a:t>
            </a:r>
            <a:r>
              <a:rPr lang="zh-CN" altLang="en-US" dirty="0"/>
              <a:t>，这</a:t>
            </a:r>
            <a:r>
              <a:rPr lang="zh-CN" altLang="en-US" dirty="0">
                <a:solidFill>
                  <a:srgbClr val="FF0000"/>
                </a:solidFill>
              </a:rPr>
              <a:t>是</a:t>
            </a:r>
            <a:r>
              <a:rPr lang="zh-CN" altLang="en-US" dirty="0"/>
              <a:t>一种专为检测</a:t>
            </a:r>
            <a:r>
              <a:rPr lang="en-US" altLang="zh-CN" dirty="0"/>
              <a:t>RV</a:t>
            </a:r>
            <a:r>
              <a:rPr lang="zh-CN" altLang="en-US" dirty="0"/>
              <a:t>控制软件中赋值语句漏洞而设计的新型模糊测试框架。</a:t>
            </a:r>
            <a:r>
              <a:rPr lang="en-US" altLang="zh-CN" dirty="0"/>
              <a:t>ADGFUZZ</a:t>
            </a:r>
            <a:r>
              <a:rPr lang="zh-CN" altLang="en-US" dirty="0">
                <a:solidFill>
                  <a:srgbClr val="FF0000"/>
                </a:solidFill>
              </a:rPr>
              <a:t>通过</a:t>
            </a:r>
            <a:r>
              <a:rPr lang="zh-CN" altLang="en-US" dirty="0"/>
              <a:t>利用命名相似性，识别赋值语句与</a:t>
            </a:r>
            <a:r>
              <a:rPr lang="en-US" altLang="zh-CN" dirty="0"/>
              <a:t>RV</a:t>
            </a:r>
            <a:r>
              <a:rPr lang="zh-CN" altLang="en-US" dirty="0"/>
              <a:t>多源输入之间的数据依赖关系。随后，它对生成的</a:t>
            </a:r>
            <a:r>
              <a:rPr lang="en-US" altLang="zh-CN" dirty="0"/>
              <a:t>RV</a:t>
            </a:r>
            <a:r>
              <a:rPr lang="zh-CN" altLang="en-US" dirty="0"/>
              <a:t>输入应用熵感知模糊测试，以提高漏洞检测的效率。在评估中，</a:t>
            </a:r>
            <a:r>
              <a:rPr lang="en-US" altLang="zh-CN" dirty="0"/>
              <a:t>ADGFUZZ</a:t>
            </a:r>
            <a:r>
              <a:rPr lang="zh-CN" altLang="en-US" dirty="0"/>
              <a:t>在三种</a:t>
            </a:r>
            <a:r>
              <a:rPr lang="en-US" altLang="zh-CN" dirty="0"/>
              <a:t>RV</a:t>
            </a:r>
            <a:r>
              <a:rPr lang="zh-CN" altLang="en-US" dirty="0"/>
              <a:t>类型中发现了</a:t>
            </a:r>
            <a:r>
              <a:rPr lang="en-US" altLang="zh-CN" dirty="0"/>
              <a:t>87</a:t>
            </a:r>
            <a:r>
              <a:rPr lang="zh-CN" altLang="en-US" dirty="0"/>
              <a:t>个独特漏洞，其中</a:t>
            </a:r>
            <a:r>
              <a:rPr lang="en-US" altLang="zh-CN" dirty="0"/>
              <a:t>78</a:t>
            </a:r>
            <a:r>
              <a:rPr lang="zh-CN" altLang="en-US" dirty="0"/>
              <a:t>个是此前未知的。所有发现的漏洞均已向开发者进行了负责任的披露，且有</a:t>
            </a:r>
            <a:r>
              <a:rPr lang="en-US" altLang="zh-CN" dirty="0"/>
              <a:t>16</a:t>
            </a:r>
            <a:r>
              <a:rPr lang="zh-CN" altLang="en-US" dirty="0"/>
              <a:t>个已被确认需要修复。</a:t>
            </a:r>
            <a:endParaRPr lang="en-US" altLang="zh-CN" sz="2000" b="1" dirty="0">
              <a:latin typeface="Times New Roman" panose="02020603050405020304" pitchFamily="18" charset="0"/>
              <a:ea typeface="苹方 中等" panose="020B0400000000000000" pitchFamily="34"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3626751637"/>
      </p:ext>
    </p:extLst>
  </p:cSld>
  <p:clrMapOvr>
    <a:masterClrMapping/>
  </p:clrMapOvr>
  <mc:AlternateContent xmlns:mc="http://schemas.openxmlformats.org/markup-compatibility/2006" xmlns:p14="http://schemas.microsoft.com/office/powerpoint/2010/main">
    <mc:Choice Requires="p14">
      <p:transition spd="slow" p14:dur="2000" advTm="183526"/>
    </mc:Choice>
    <mc:Fallback xmlns="">
      <p:transition spd="slow" advTm="183526"/>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31" name="文本框 30"/>
          <p:cNvSpPr txBox="1"/>
          <p:nvPr/>
        </p:nvSpPr>
        <p:spPr>
          <a:xfrm>
            <a:off x="3908921" y="1800795"/>
            <a:ext cx="8828688" cy="1015663"/>
          </a:xfrm>
          <a:prstGeom prst="rect">
            <a:avLst/>
          </a:prstGeom>
          <a:noFill/>
        </p:spPr>
        <p:txBody>
          <a:bodyPr wrap="square" rtlCol="0">
            <a:spAutoFit/>
          </a:bodyPr>
          <a:lstStyle/>
          <a:p>
            <a:pPr algn="ctr"/>
            <a:r>
              <a:rPr lang="en-US" altLang="zh-CN" sz="6000" b="1" dirty="0">
                <a:solidFill>
                  <a:srgbClr val="324769"/>
                </a:solidFill>
                <a:cs typeface="+mn-ea"/>
                <a:sym typeface="+mn-lt"/>
              </a:rPr>
              <a:t>Thank you</a:t>
            </a:r>
            <a:endParaRPr lang="zh-CN" altLang="en-US" sz="6000" b="1" dirty="0">
              <a:solidFill>
                <a:srgbClr val="324769"/>
              </a:solidFill>
              <a:cs typeface="+mn-ea"/>
              <a:sym typeface="+mn-lt"/>
            </a:endParaRPr>
          </a:p>
        </p:txBody>
      </p:sp>
      <p:grpSp>
        <p:nvGrpSpPr>
          <p:cNvPr id="20" name="组合 19"/>
          <p:cNvGrpSpPr/>
          <p:nvPr/>
        </p:nvGrpSpPr>
        <p:grpSpPr bwMode="auto">
          <a:xfrm>
            <a:off x="5494743" y="2822807"/>
            <a:ext cx="5935980" cy="361950"/>
            <a:chOff x="4154888" y="3453573"/>
            <a:chExt cx="3846874" cy="361046"/>
          </a:xfrm>
        </p:grpSpPr>
        <p:cxnSp>
          <p:nvCxnSpPr>
            <p:cNvPr id="21" name="直接连接符 20"/>
            <p:cNvCxnSpPr/>
            <p:nvPr>
              <p:custDataLst>
                <p:tags r:id="rId2"/>
              </p:custDataLst>
            </p:nvPr>
          </p:nvCxnSpPr>
          <p:spPr>
            <a:xfrm>
              <a:off x="4154888" y="3453573"/>
              <a:ext cx="3846874" cy="0"/>
            </a:xfrm>
            <a:prstGeom prst="line">
              <a:avLst/>
            </a:prstGeom>
            <a:ln w="25400">
              <a:solidFill>
                <a:srgbClr val="044875"/>
              </a:solidFill>
            </a:ln>
          </p:spPr>
          <p:style>
            <a:lnRef idx="1">
              <a:schemeClr val="accent1"/>
            </a:lnRef>
            <a:fillRef idx="0">
              <a:schemeClr val="accent1"/>
            </a:fillRef>
            <a:effectRef idx="0">
              <a:schemeClr val="accent1"/>
            </a:effectRef>
            <a:fontRef idx="minor">
              <a:schemeClr val="tx1"/>
            </a:fontRef>
          </p:style>
        </p:cxnSp>
        <p:sp>
          <p:nvSpPr>
            <p:cNvPr id="22" name="等腰三角形 21"/>
            <p:cNvSpPr/>
            <p:nvPr>
              <p:custDataLst>
                <p:tags r:id="rId3"/>
              </p:custDataLst>
            </p:nvPr>
          </p:nvSpPr>
          <p:spPr>
            <a:xfrm flipV="1">
              <a:off x="5872725" y="3459907"/>
              <a:ext cx="411201" cy="354712"/>
            </a:xfrm>
            <a:prstGeom prst="triangle">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708afc54-f34b-4633-8412-67a6c1d9117b"/>
  <p:tag name="COMMONDATA" val="eyJjb3VudCI6Mi4wLCJoZGlkIjoiNmRkMTg0ODI2ZDZmMjEzNWY2MWIwMWRkMWY0MzFhOTkiLCJ1c2VyQ291bnQiOjIuMH0="/>
</p:tagLst>
</file>

<file path=ppt/tags/tag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第一PPT，www.1ppt.com">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awvcu0p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gs>
            <a:gs pos="100000">
              <a:schemeClr val="phClr">
                <a:lumMod val="85000"/>
              </a:schemeClr>
            </a:gs>
          </a:gsLst>
          <a:lin ang="5400000" scaled="0"/>
        </a:gradFill>
      </a:bgFillStyleLst>
    </a:fmtScheme>
  </a:themeElements>
  <a:objectDefaults>
    <a:txDef>
      <a:spPr>
        <a:noFill/>
        <a:ln w="19050">
          <a:noFill/>
        </a:ln>
      </a:spPr>
      <a:bodyPr wrap="square" rtlCol="0">
        <a:spAutoFit/>
      </a:bodyPr>
      <a:lstStyle>
        <a:defPPr algn="dist">
          <a:defRPr lang="zh-CN" altLang="en-US" sz="2400">
            <a:solidFill>
              <a:schemeClr val="bg1"/>
            </a:solidFill>
            <a:latin typeface="汉仪中宋简" panose="02010609000101010101" charset="-128"/>
            <a:ea typeface="汉仪中宋简" panose="02010609000101010101" charset="-128"/>
            <a:cs typeface="汉仪中宋简" panose="02010609000101010101"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wvcu0p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汉仪中宋简"/>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中宋简"/>
        <a:ea typeface=""/>
        <a:cs typeface=""/>
        <a:font script="Jpan" typeface="ＭＳ Ｐゴシック"/>
        <a:font script="Hang" typeface="맑은 고딕"/>
        <a:font script="Hans" typeface="汉仪中宋简"/>
        <a:font script="Hant" typeface="新細明體"/>
        <a:font script="Arab" typeface="汉仪中宋简"/>
        <a:font script="Hebr" typeface="汉仪中宋简"/>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汉仪中宋简"/>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汉仪中宋简"/>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中宋简"/>
        <a:ea typeface=""/>
        <a:cs typeface=""/>
        <a:font script="Jpan" typeface="ＭＳ Ｐゴシック"/>
        <a:font script="Hang" typeface="맑은 고딕"/>
        <a:font script="Hans" typeface="汉仪中宋简"/>
        <a:font script="Hant" typeface="新細明體"/>
        <a:font script="Arab" typeface="汉仪中宋简"/>
        <a:font script="Hebr" typeface="汉仪中宋简"/>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汉仪中宋简"/>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458</TotalTime>
  <Words>4424</Words>
  <Application>Microsoft Office PowerPoint</Application>
  <PresentationFormat>宽屏</PresentationFormat>
  <Paragraphs>159</Paragraphs>
  <Slides>36</Slides>
  <Notes>36</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36</vt:i4>
      </vt:variant>
    </vt:vector>
  </HeadingPairs>
  <TitlesOfParts>
    <vt:vector size="44" baseType="lpstr">
      <vt:lpstr>汉仪中宋简</vt:lpstr>
      <vt:lpstr>苹方 中等</vt:lpstr>
      <vt:lpstr>微软雅黑</vt:lpstr>
      <vt:lpstr>Arial</vt:lpstr>
      <vt:lpstr>Times New Roman</vt:lpstr>
      <vt:lpstr>Wingdings</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开题报告</dc:title>
  <dc:creator>第一PPT</dc:creator>
  <cp:keywords>www.1ppt.com</cp:keywords>
  <dc:description>www.1ppt.com</dc:description>
  <cp:lastModifiedBy>景辉 屈</cp:lastModifiedBy>
  <cp:revision>1980</cp:revision>
  <dcterms:created xsi:type="dcterms:W3CDTF">2019-06-19T02:08:00Z</dcterms:created>
  <dcterms:modified xsi:type="dcterms:W3CDTF">2026-04-06T13:22:20Z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93F97E03304C4856B2158B3182922B9A_12</vt:lpwstr>
  </property>
  <property fmtid="{D5CDD505-2E9C-101B-9397-08002B2CF9AE}" pid="3" name="KSOProductBuildVer">
    <vt:lpwstr>2052-12.1.0.25225</vt:lpwstr>
  </property>
</Properties>
</file>