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6" r:id="rId3"/>
  </p:sldMasterIdLst>
  <p:notesMasterIdLst>
    <p:notesMasterId r:id="rId7"/>
  </p:notesMasterIdLst>
  <p:sldIdLst>
    <p:sldId id="399" r:id="rId4"/>
    <p:sldId id="384" r:id="rId5"/>
    <p:sldId id="386" r:id="rId6"/>
    <p:sldId id="387" r:id="rId8"/>
    <p:sldId id="446" r:id="rId9"/>
    <p:sldId id="379" r:id="rId10"/>
    <p:sldId id="390" r:id="rId11"/>
    <p:sldId id="389" r:id="rId12"/>
    <p:sldId id="385" r:id="rId13"/>
    <p:sldId id="442" r:id="rId14"/>
    <p:sldId id="443" r:id="rId15"/>
    <p:sldId id="440" r:id="rId16"/>
    <p:sldId id="431" r:id="rId17"/>
    <p:sldId id="438" r:id="rId18"/>
    <p:sldId id="432" r:id="rId19"/>
    <p:sldId id="392" r:id="rId20"/>
    <p:sldId id="430" r:id="rId21"/>
    <p:sldId id="428" r:id="rId22"/>
    <p:sldId id="429" r:id="rId23"/>
    <p:sldId id="425" r:id="rId24"/>
  </p:sldIdLst>
  <p:sldSz cx="9144000" cy="5143500" type="screen16x9"/>
  <p:notesSz cx="6858000" cy="9144000"/>
  <p:embeddedFontLst>
    <p:embeddedFont>
      <p:font typeface="微软雅黑" panose="020B0503020204020204" pitchFamily="34" charset="-122"/>
      <p:regular r:id="rId28"/>
    </p:embeddedFont>
    <p:embeddedFont>
      <p:font typeface="Calibri" panose="020F0502020204030204" pitchFamily="34" charset="0"/>
      <p:regular r:id="rId29"/>
      <p:bold r:id="rId30"/>
      <p:italic r:id="rId31"/>
      <p:boldItalic r:id="rId32"/>
    </p:embeddedFont>
    <p:embeddedFont>
      <p:font typeface="Impact" panose="020B0806030902050204" pitchFamily="34" charset="0"/>
      <p:regular r:id="rId33"/>
    </p:embeddedFont>
  </p:embeddedFontLst>
  <p:custDataLst>
    <p:tags r:id="rId34"/>
  </p:custDataLst>
  <p:defaultTextStyle>
    <a:defPPr>
      <a:defRPr lang="zh-CN"/>
    </a:defPPr>
    <a:lvl1pPr marL="0" lvl="0" indent="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1pPr>
    <a:lvl2pPr marL="342900" lvl="1" indent="1143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2pPr>
    <a:lvl3pPr marL="685800" lvl="2" indent="2286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3pPr>
    <a:lvl4pPr marL="1028700" lvl="3" indent="3429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4pPr>
    <a:lvl5pPr marL="1371600" lvl="4" indent="4572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4572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4572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4572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457200" algn="l" defTabSz="685800" rtl="0" eaLnBrk="1" fontAlgn="base" latinLnBrk="0" hangingPunct="1">
      <a:lnSpc>
        <a:spcPct val="100000"/>
      </a:lnSpc>
      <a:spcBef>
        <a:spcPct val="0"/>
      </a:spcBef>
      <a:spcAft>
        <a:spcPct val="0"/>
      </a:spcAft>
      <a:buNone/>
      <a:defRPr sz="1300" b="0" i="0" u="none" kern="1200" baseline="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1721" userDrawn="1">
          <p15:clr>
            <a:srgbClr val="A4A3A4"/>
          </p15:clr>
        </p15:guide>
        <p15:guide id="2" pos="29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FFD5"/>
    <a:srgbClr val="FFFFCC"/>
    <a:srgbClr val="00508A"/>
    <a:srgbClr val="EB6C15"/>
    <a:srgbClr val="D05F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41" autoAdjust="0"/>
    <p:restoredTop sz="94660"/>
  </p:normalViewPr>
  <p:slideViewPr>
    <p:cSldViewPr snapToGrid="0" showGuides="1">
      <p:cViewPr varScale="1">
        <p:scale>
          <a:sx n="114" d="100"/>
          <a:sy n="114" d="100"/>
        </p:scale>
        <p:origin x="648" y="82"/>
      </p:cViewPr>
      <p:guideLst>
        <p:guide orient="horz" pos="1721"/>
        <p:guide pos="2989"/>
      </p:guideLst>
    </p:cSldViewPr>
  </p:slideViewPr>
  <p:notesTextViewPr>
    <p:cViewPr>
      <p:scale>
        <a:sx n="1" d="1"/>
        <a:sy n="1" d="1"/>
      </p:scale>
      <p:origin x="0" y="0"/>
    </p:cViewPr>
  </p:notesTextViewPr>
  <p:sorterViewPr showFormatting="0">
    <p:cViewPr>
      <p:scale>
        <a:sx n="116" d="100"/>
        <a:sy n="116" d="100"/>
      </p:scale>
      <p:origin x="0" y="-370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tags" Target="tags/tag28.xml"/><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Master" Target="slideMasters/slideMaster2.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685800" rtl="0" eaLnBrk="1" fontAlgn="auto" latinLnBrk="0" hangingPunct="1">
              <a:lnSpc>
                <a:spcPct val="100000"/>
              </a:lnSpc>
              <a:spcBef>
                <a:spcPts val="0"/>
              </a:spcBef>
              <a:spcAft>
                <a:spcPts val="0"/>
              </a:spcAft>
              <a:buClrTx/>
              <a:buSzTx/>
              <a:buFontTx/>
              <a:buNone/>
              <a:defRPr/>
            </a:pPr>
            <a:fld id="{C0CAE63C-D2E9-41B9-85CD-626AC7BEE7B3}"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685800" rtl="0" eaLnBrk="0" fontAlgn="base" latinLnBrk="0" hangingPunct="0">
              <a:lnSpc>
                <a:spcPct val="100000"/>
              </a:lnSpc>
              <a:spcBef>
                <a:spcPct val="30000"/>
              </a:spcBef>
              <a:spcAft>
                <a:spcPct val="0"/>
              </a:spcAft>
              <a:buClrTx/>
              <a:buSzTx/>
              <a:buFontTx/>
              <a:buNone/>
              <a:defRPr/>
            </a:pPr>
            <a:endParaRPr kumimoji="0" lang="zh-CN" alt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685800" rtl="0" eaLnBrk="0" fontAlgn="base" latinLnBrk="0" hangingPunct="0">
              <a:lnSpc>
                <a:spcPct val="100000"/>
              </a:lnSpc>
              <a:spcBef>
                <a:spcPct val="30000"/>
              </a:spcBef>
              <a:spcAft>
                <a:spcPct val="0"/>
              </a:spcAft>
              <a:buClrTx/>
              <a:buSzTx/>
              <a:buFontTx/>
              <a:buNone/>
              <a:defRPr/>
            </a:pPr>
            <a:r>
              <a:rPr kumimoji="0" lang="zh-CN" altLang="en-US" sz="9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900" b="0" i="0" u="none" strike="noStrike" kern="1200" cap="none" spc="0" normalizeH="0" baseline="0" noProof="0">
              <a:ln>
                <a:noFill/>
              </a:ln>
              <a:solidFill>
                <a:schemeClr val="tx1"/>
              </a:solidFill>
              <a:effectLst/>
              <a:uLnTx/>
              <a:uFillTx/>
              <a:latin typeface="+mn-lt"/>
              <a:ea typeface="+mn-ea"/>
              <a:cs typeface="+mn-cs"/>
            </a:endParaRPr>
          </a:p>
          <a:p>
            <a:pPr marL="342900" marR="0" lvl="1" indent="0" algn="l" defTabSz="685800" rtl="0" eaLnBrk="0" fontAlgn="base" latinLnBrk="0" hangingPunct="0">
              <a:lnSpc>
                <a:spcPct val="100000"/>
              </a:lnSpc>
              <a:spcBef>
                <a:spcPct val="30000"/>
              </a:spcBef>
              <a:spcAft>
                <a:spcPct val="0"/>
              </a:spcAft>
              <a:buClrTx/>
              <a:buSzTx/>
              <a:buFontTx/>
              <a:buNone/>
              <a:defRPr/>
            </a:pPr>
            <a:r>
              <a:rPr kumimoji="0" lang="zh-CN" altLang="en-US" sz="9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900" b="0" i="0" u="none" strike="noStrike" kern="1200" cap="none" spc="0" normalizeH="0" baseline="0" noProof="0">
              <a:ln>
                <a:noFill/>
              </a:ln>
              <a:solidFill>
                <a:schemeClr val="tx1"/>
              </a:solidFill>
              <a:effectLst/>
              <a:uLnTx/>
              <a:uFillTx/>
              <a:latin typeface="+mn-lt"/>
              <a:ea typeface="+mn-ea"/>
              <a:cs typeface="+mn-cs"/>
            </a:endParaRPr>
          </a:p>
          <a:p>
            <a:pPr marL="685800" marR="0" lvl="2" indent="0" algn="l" defTabSz="685800" rtl="0" eaLnBrk="0" fontAlgn="base" latinLnBrk="0" hangingPunct="0">
              <a:lnSpc>
                <a:spcPct val="100000"/>
              </a:lnSpc>
              <a:spcBef>
                <a:spcPct val="30000"/>
              </a:spcBef>
              <a:spcAft>
                <a:spcPct val="0"/>
              </a:spcAft>
              <a:buClrTx/>
              <a:buSzTx/>
              <a:buFontTx/>
              <a:buNone/>
              <a:defRPr/>
            </a:pPr>
            <a:r>
              <a:rPr kumimoji="0" lang="zh-CN" altLang="en-US" sz="9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900" b="0" i="0" u="none" strike="noStrike" kern="1200" cap="none" spc="0" normalizeH="0" baseline="0" noProof="0">
              <a:ln>
                <a:noFill/>
              </a:ln>
              <a:solidFill>
                <a:schemeClr val="tx1"/>
              </a:solidFill>
              <a:effectLst/>
              <a:uLnTx/>
              <a:uFillTx/>
              <a:latin typeface="+mn-lt"/>
              <a:ea typeface="+mn-ea"/>
              <a:cs typeface="+mn-cs"/>
            </a:endParaRPr>
          </a:p>
          <a:p>
            <a:pPr marL="1028700" marR="0" lvl="3" indent="0" algn="l" defTabSz="685800" rtl="0" eaLnBrk="0" fontAlgn="base" latinLnBrk="0" hangingPunct="0">
              <a:lnSpc>
                <a:spcPct val="100000"/>
              </a:lnSpc>
              <a:spcBef>
                <a:spcPct val="30000"/>
              </a:spcBef>
              <a:spcAft>
                <a:spcPct val="0"/>
              </a:spcAft>
              <a:buClrTx/>
              <a:buSzTx/>
              <a:buFontTx/>
              <a:buNone/>
              <a:defRPr/>
            </a:pPr>
            <a:r>
              <a:rPr kumimoji="0" lang="zh-CN" altLang="en-US" sz="9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900" b="0" i="0" u="none" strike="noStrike" kern="1200" cap="none" spc="0" normalizeH="0" baseline="0" noProof="0">
              <a:ln>
                <a:noFill/>
              </a:ln>
              <a:solidFill>
                <a:schemeClr val="tx1"/>
              </a:solidFill>
              <a:effectLst/>
              <a:uLnTx/>
              <a:uFillTx/>
              <a:latin typeface="+mn-lt"/>
              <a:ea typeface="+mn-ea"/>
              <a:cs typeface="+mn-cs"/>
            </a:endParaRPr>
          </a:p>
          <a:p>
            <a:pPr marL="1371600" marR="0" lvl="4" indent="0" algn="l" defTabSz="685800" rtl="0" eaLnBrk="0" fontAlgn="base" latinLnBrk="0" hangingPunct="0">
              <a:lnSpc>
                <a:spcPct val="100000"/>
              </a:lnSpc>
              <a:spcBef>
                <a:spcPct val="30000"/>
              </a:spcBef>
              <a:spcAft>
                <a:spcPct val="0"/>
              </a:spcAft>
              <a:buClrTx/>
              <a:buSzTx/>
              <a:buFontTx/>
              <a:buNone/>
              <a:defRPr/>
            </a:pPr>
            <a:r>
              <a:rPr kumimoji="0" lang="zh-CN" altLang="en-US" sz="9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fontAlgn="base" hangingPunct="1"/>
            <a:fld id="{9A0DB2DC-4C9A-4742-B13C-FB6460FD3503}" type="slidenum">
              <a:rPr lang="zh-CN" altLang="en-US" sz="1200" strike="noStrike" noProof="1" dirty="0">
                <a:latin typeface="Calibri" panose="020F0502020204030204" pitchFamily="34" charset="0"/>
                <a:ea typeface="宋体" panose="02010600030101010101" pitchFamily="2" charset="-122"/>
                <a:cs typeface="+mn-cs"/>
              </a:rPr>
            </a:fld>
            <a:endParaRPr lang="zh-CN" altLang="en-US" sz="1200" strike="noStrike" noProof="1">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685800" rtl="0" eaLnBrk="0" fontAlgn="base" hangingPunct="0">
      <a:spcBef>
        <a:spcPct val="30000"/>
      </a:spcBef>
      <a:spcAft>
        <a:spcPct val="0"/>
      </a:spcAft>
      <a:defRPr sz="900" kern="1200">
        <a:solidFill>
          <a:schemeClr val="tx1"/>
        </a:solidFill>
        <a:latin typeface="+mn-lt"/>
        <a:ea typeface="+mn-ea"/>
        <a:cs typeface="+mn-cs"/>
      </a:defRPr>
    </a:lvl1pPr>
    <a:lvl2pPr marL="342900" algn="l" defTabSz="685800" rtl="0" eaLnBrk="0" fontAlgn="base" hangingPunct="0">
      <a:spcBef>
        <a:spcPct val="30000"/>
      </a:spcBef>
      <a:spcAft>
        <a:spcPct val="0"/>
      </a:spcAft>
      <a:defRPr sz="900" kern="1200">
        <a:solidFill>
          <a:schemeClr val="tx1"/>
        </a:solidFill>
        <a:latin typeface="+mn-lt"/>
        <a:ea typeface="+mn-ea"/>
        <a:cs typeface="+mn-cs"/>
      </a:defRPr>
    </a:lvl2pPr>
    <a:lvl3pPr marL="685800" algn="l" defTabSz="685800" rtl="0" eaLnBrk="0" fontAlgn="base" hangingPunct="0">
      <a:spcBef>
        <a:spcPct val="30000"/>
      </a:spcBef>
      <a:spcAft>
        <a:spcPct val="0"/>
      </a:spcAft>
      <a:defRPr sz="900" kern="1200">
        <a:solidFill>
          <a:schemeClr val="tx1"/>
        </a:solidFill>
        <a:latin typeface="+mn-lt"/>
        <a:ea typeface="+mn-ea"/>
        <a:cs typeface="+mn-cs"/>
      </a:defRPr>
    </a:lvl3pPr>
    <a:lvl4pPr marL="1028700" algn="l" defTabSz="685800" rtl="0" eaLnBrk="0" fontAlgn="base" hangingPunct="0">
      <a:spcBef>
        <a:spcPct val="30000"/>
      </a:spcBef>
      <a:spcAft>
        <a:spcPct val="0"/>
      </a:spcAft>
      <a:defRPr sz="900" kern="1200">
        <a:solidFill>
          <a:schemeClr val="tx1"/>
        </a:solidFill>
        <a:latin typeface="+mn-lt"/>
        <a:ea typeface="+mn-ea"/>
        <a:cs typeface="+mn-cs"/>
      </a:defRPr>
    </a:lvl4pPr>
    <a:lvl5pPr marL="1371600" algn="l" defTabSz="685800" rtl="0" eaLnBrk="0" fontAlgn="base" hangingPunct="0">
      <a:spcBef>
        <a:spcPct val="30000"/>
      </a:spcBef>
      <a:spcAft>
        <a:spcPct val="0"/>
      </a:spcAft>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TextEdit="1"/>
          </p:cNvSpPr>
          <p:nvPr>
            <p:ph type="sldImg"/>
          </p:nvPr>
        </p:nvSpPr>
        <p:spPr>
          <a:ln>
            <a:solidFill>
              <a:srgbClr val="000000"/>
            </a:solidFill>
            <a:miter/>
          </a:ln>
        </p:spPr>
      </p:sp>
      <p:sp>
        <p:nvSpPr>
          <p:cNvPr id="1945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94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a:ln>
            <a:solidFill>
              <a:srgbClr val="000000"/>
            </a:solidFill>
            <a:miter/>
          </a:ln>
        </p:spPr>
      </p:sp>
      <p:sp>
        <p:nvSpPr>
          <p:cNvPr id="2150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15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a:ln>
            <a:solidFill>
              <a:srgbClr val="000000"/>
            </a:solidFill>
            <a:miter/>
          </a:ln>
        </p:spPr>
      </p:sp>
      <p:sp>
        <p:nvSpPr>
          <p:cNvPr id="2150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15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56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76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noTextEdit="1"/>
          </p:cNvSpPr>
          <p:nvPr>
            <p:ph type="sldImg"/>
          </p:nvPr>
        </p:nvSpPr>
        <p:spPr>
          <a:ln>
            <a:solidFill>
              <a:srgbClr val="000000"/>
            </a:solidFill>
            <a:miter/>
          </a:ln>
        </p:spPr>
      </p:sp>
      <p:sp>
        <p:nvSpPr>
          <p:cNvPr id="2969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96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noTextEdit="1"/>
          </p:cNvSpPr>
          <p:nvPr>
            <p:ph type="sldImg"/>
          </p:nvPr>
        </p:nvSpPr>
        <p:spPr>
          <a:ln>
            <a:solidFill>
              <a:srgbClr val="000000"/>
            </a:solidFill>
            <a:miter/>
          </a:ln>
        </p:spPr>
      </p:sp>
      <p:sp>
        <p:nvSpPr>
          <p:cNvPr id="3379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379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noTextEdit="1"/>
          </p:cNvSpPr>
          <p:nvPr>
            <p:ph type="sldImg"/>
          </p:nvPr>
        </p:nvSpPr>
        <p:spPr>
          <a:ln>
            <a:solidFill>
              <a:srgbClr val="000000"/>
            </a:solidFill>
            <a:miter/>
          </a:ln>
        </p:spPr>
      </p:sp>
      <p:sp>
        <p:nvSpPr>
          <p:cNvPr id="3584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584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p:cNvSpPr>
            <a:spLocks noGrp="1" noRot="1" noChangeAspect="1" noTextEdit="1"/>
          </p:cNvSpPr>
          <p:nvPr>
            <p:ph type="sldImg"/>
          </p:nvPr>
        </p:nvSpPr>
        <p:spPr>
          <a:ln>
            <a:solidFill>
              <a:srgbClr val="000000"/>
            </a:solidFill>
            <a:miter/>
          </a:ln>
        </p:spPr>
      </p:sp>
      <p:sp>
        <p:nvSpPr>
          <p:cNvPr id="5529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552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pPr fontAlgn="base"/>
            <a:r>
              <a:rPr lang="zh-CN" altLang="en-US" strike="noStrike" noProof="1"/>
              <a:t>单击此处编辑母版标题样式</a:t>
            </a:r>
            <a:endParaRPr lang="en-US" strike="noStrike" noProof="1"/>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gradFill rotWithShape="0">
          <a:gsLst>
            <a:gs pos="0">
              <a:srgbClr val="001934">
                <a:alpha val="100000"/>
              </a:srgbClr>
            </a:gs>
            <a:gs pos="53999">
              <a:srgbClr val="003576">
                <a:alpha val="100000"/>
              </a:srgbClr>
            </a:gs>
            <a:gs pos="100000">
              <a:srgbClr val="00479E">
                <a:alpha val="100000"/>
              </a:srgbClr>
            </a:gs>
          </a:gsLst>
          <a:lin ang="5400000" scaled="1"/>
          <a:tileRect/>
        </a:gra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50" y="1369219"/>
            <a:ext cx="3886200" cy="326350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4629150" y="1369219"/>
            <a:ext cx="3886200" cy="326350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endParaRPr lang="zh-CN" altLang="en-US" strike="noStrike" noProof="1"/>
          </a:p>
        </p:txBody>
      </p:sp>
      <p:sp>
        <p:nvSpPr>
          <p:cNvPr id="4" name="Content Placeholder 3"/>
          <p:cNvSpPr>
            <a:spLocks noGrp="1"/>
          </p:cNvSpPr>
          <p:nvPr>
            <p:ph sz="half" idx="2"/>
          </p:nvPr>
        </p:nvSpPr>
        <p:spPr>
          <a:xfrm>
            <a:off x="629842" y="1878806"/>
            <a:ext cx="3868340" cy="2763441"/>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endParaRPr lang="zh-CN" altLang="en-US" strike="noStrike" noProof="1"/>
          </a:p>
        </p:txBody>
      </p:sp>
      <p:sp>
        <p:nvSpPr>
          <p:cNvPr id="6" name="Content Placeholder 5"/>
          <p:cNvSpPr>
            <a:spLocks noGrp="1"/>
          </p:cNvSpPr>
          <p:nvPr>
            <p:ph sz="quarter" idx="4"/>
          </p:nvPr>
        </p:nvSpPr>
        <p:spPr>
          <a:xfrm>
            <a:off x="4629150" y="1878806"/>
            <a:ext cx="3887391" cy="2763441"/>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7" name="日期占位符 6"/>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8" name="矩形 7"/>
          <p:cNvSpPr/>
          <p:nvPr/>
        </p:nvSpPr>
        <p:spPr>
          <a:xfrm>
            <a:off x="63500"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9" name="矩形 8"/>
          <p:cNvSpPr/>
          <p:nvPr/>
        </p:nvSpPr>
        <p:spPr>
          <a:xfrm>
            <a:off x="188913"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0" name="矩形 9"/>
          <p:cNvSpPr/>
          <p:nvPr/>
        </p:nvSpPr>
        <p:spPr>
          <a:xfrm>
            <a:off x="125413"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1" name="圆角矩形 10"/>
          <p:cNvSpPr/>
          <p:nvPr/>
        </p:nvSpPr>
        <p:spPr>
          <a:xfrm>
            <a:off x="188913" y="190500"/>
            <a:ext cx="2706688" cy="457200"/>
          </a:xfrm>
          <a:prstGeom prst="roundRect">
            <a:avLst>
              <a:gd name="adj" fmla="val 50000"/>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Nexa Light" pitchFamily="50" charset="0"/>
                <a:ea typeface="+mn-ea"/>
                <a:cs typeface="+mn-cs"/>
              </a:rPr>
              <a:t>目录</a:t>
            </a:r>
            <a:endParaRPr kumimoji="0" lang="zh-CN" altLang="en-US" sz="3200" b="1"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0-#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30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0-#ppt_w/2"/>
                                          </p:val>
                                        </p:tav>
                                        <p:tav tm="100000">
                                          <p:val>
                                            <p:strVal val="#ppt_x"/>
                                          </p:val>
                                        </p:tav>
                                      </p:tavLst>
                                    </p:anim>
                                    <p:anim calcmode="lin" valueType="num">
                                      <p:cBhvr>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30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0-#ppt_w/2"/>
                                          </p:val>
                                        </p:tav>
                                        <p:tav tm="100000">
                                          <p:val>
                                            <p:strVal val="#ppt_x"/>
                                          </p:val>
                                        </p:tav>
                                      </p:tavLst>
                                    </p:anim>
                                    <p:anim calcmode="lin" valueType="num">
                                      <p:cBhvr>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30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0-#ppt_w/2"/>
                                          </p:val>
                                        </p:tav>
                                        <p:tav tm="100000">
                                          <p:val>
                                            <p:strVal val="#ppt_x"/>
                                          </p:val>
                                        </p:tav>
                                      </p:tavLst>
                                    </p:anim>
                                    <p:anim calcmode="lin" valueType="num">
                                      <p:cBhvr>
                                        <p:cTn id="20" dur="500" fill="hold"/>
                                        <p:tgtEl>
                                          <p:spTgt spid="9"/>
                                        </p:tgtEl>
                                        <p:attrNameLst>
                                          <p:attrName>ppt_y</p:attrName>
                                        </p:attrNameLst>
                                      </p:cBhvr>
                                      <p:tavLst>
                                        <p:tav tm="0">
                                          <p:val>
                                            <p:strVal val="#ppt_y"/>
                                          </p:val>
                                        </p:tav>
                                        <p:tav tm="100000">
                                          <p:val>
                                            <p:strVal val="#ppt_y"/>
                                          </p:val>
                                        </p:tav>
                                      </p:tavLst>
                                    </p:anim>
                                  </p:childTnLst>
                                </p:cTn>
                              </p:par>
                              <p:par>
                                <p:cTn id="21" presetID="22" presetClass="entr" presetSubtype="8" fill="hold" grpId="0" nodeType="withEffect">
                                  <p:stCondLst>
                                    <p:cond delay="8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8" name="矩形 7"/>
          <p:cNvSpPr/>
          <p:nvPr/>
        </p:nvSpPr>
        <p:spPr>
          <a:xfrm>
            <a:off x="63500"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9" name="矩形 8"/>
          <p:cNvSpPr/>
          <p:nvPr/>
        </p:nvSpPr>
        <p:spPr>
          <a:xfrm>
            <a:off x="188913"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0" name="矩形 9"/>
          <p:cNvSpPr/>
          <p:nvPr/>
        </p:nvSpPr>
        <p:spPr>
          <a:xfrm>
            <a:off x="125413"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1" name="圆角矩形 10"/>
          <p:cNvSpPr/>
          <p:nvPr/>
        </p:nvSpPr>
        <p:spPr>
          <a:xfrm>
            <a:off x="188913" y="190500"/>
            <a:ext cx="3073400" cy="457200"/>
          </a:xfrm>
          <a:prstGeom prst="roundRect">
            <a:avLst>
              <a:gd name="adj" fmla="val 50000"/>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Nexa Light" pitchFamily="50" charset="0"/>
                <a:ea typeface="+mn-ea"/>
                <a:cs typeface="+mn-cs"/>
              </a:rPr>
              <a:t>点击此处添加标题</a:t>
            </a:r>
            <a:endParaRPr kumimoji="0" lang="zh-CN" altLang="en-US" sz="2400" b="1"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0-#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30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0-#ppt_w/2"/>
                                          </p:val>
                                        </p:tav>
                                        <p:tav tm="100000">
                                          <p:val>
                                            <p:strVal val="#ppt_x"/>
                                          </p:val>
                                        </p:tav>
                                      </p:tavLst>
                                    </p:anim>
                                    <p:anim calcmode="lin" valueType="num">
                                      <p:cBhvr>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30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0-#ppt_w/2"/>
                                          </p:val>
                                        </p:tav>
                                        <p:tav tm="100000">
                                          <p:val>
                                            <p:strVal val="#ppt_x"/>
                                          </p:val>
                                        </p:tav>
                                      </p:tavLst>
                                    </p:anim>
                                    <p:anim calcmode="lin" valueType="num">
                                      <p:cBhvr>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30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0-#ppt_w/2"/>
                                          </p:val>
                                        </p:tav>
                                        <p:tav tm="100000">
                                          <p:val>
                                            <p:strVal val="#ppt_x"/>
                                          </p:val>
                                        </p:tav>
                                      </p:tavLst>
                                    </p:anim>
                                    <p:anim calcmode="lin" valueType="num">
                                      <p:cBhvr>
                                        <p:cTn id="20" dur="500" fill="hold"/>
                                        <p:tgtEl>
                                          <p:spTgt spid="9"/>
                                        </p:tgtEl>
                                        <p:attrNameLst>
                                          <p:attrName>ppt_y</p:attrName>
                                        </p:attrNameLst>
                                      </p:cBhvr>
                                      <p:tavLst>
                                        <p:tav tm="0">
                                          <p:val>
                                            <p:strVal val="#ppt_y"/>
                                          </p:val>
                                        </p:tav>
                                        <p:tav tm="100000">
                                          <p:val>
                                            <p:strVal val="#ppt_y"/>
                                          </p:val>
                                        </p:tav>
                                      </p:tavLst>
                                    </p:anim>
                                  </p:childTnLst>
                                </p:cTn>
                              </p:par>
                              <p:par>
                                <p:cTn id="21" presetID="22" presetClass="entr" presetSubtype="8" fill="hold" grpId="0" nodeType="withEffect">
                                  <p:stCondLst>
                                    <p:cond delay="8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标题和内容">
    <p:bg>
      <p:bgPr>
        <a:solidFill>
          <a:srgbClr val="F2F2F2"/>
        </a:solidFill>
        <a:effectLst/>
      </p:bgPr>
    </p:bg>
    <p:spTree>
      <p:nvGrpSpPr>
        <p:cNvPr id="1" name=""/>
        <p:cNvGrpSpPr/>
        <p:nvPr/>
      </p:nvGrpSpPr>
      <p:grpSpPr>
        <a:xfrm>
          <a:off x="0" y="0"/>
          <a:ext cx="0" cy="0"/>
          <a:chOff x="0" y="0"/>
          <a:chExt cx="0" cy="0"/>
        </a:xfrm>
      </p:grpSpPr>
      <p:sp>
        <p:nvSpPr>
          <p:cNvPr id="7" name="矩形 6"/>
          <p:cNvSpPr/>
          <p:nvPr/>
        </p:nvSpPr>
        <p:spPr>
          <a:xfrm>
            <a:off x="0" y="0"/>
            <a:ext cx="9144000" cy="60007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grpSp>
        <p:nvGrpSpPr>
          <p:cNvPr id="6147" name="组合 7"/>
          <p:cNvGrpSpPr/>
          <p:nvPr userDrawn="1"/>
        </p:nvGrpSpPr>
        <p:grpSpPr>
          <a:xfrm>
            <a:off x="1370013" y="106363"/>
            <a:ext cx="1330325" cy="474662"/>
            <a:chOff x="1399441" y="1145221"/>
            <a:chExt cx="1329556" cy="474509"/>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0"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1920875" y="-1587"/>
            <a:ext cx="1412875"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7172"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45974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19442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72477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7183" name="图片 19"/>
          <p:cNvPicPr>
            <a:picLocks noChangeAspect="1"/>
          </p:cNvPicPr>
          <p:nvPr userDrawn="1"/>
        </p:nvPicPr>
        <p:blipFill>
          <a:blip r:embed="rId2"/>
          <a:stretch>
            <a:fillRect/>
          </a:stretch>
        </p:blipFill>
        <p:spPr>
          <a:xfrm>
            <a:off x="273050" y="57150"/>
            <a:ext cx="1243013" cy="420688"/>
          </a:xfrm>
          <a:prstGeom prst="rect">
            <a:avLst/>
          </a:prstGeom>
          <a:noFill/>
          <a:ln w="9525">
            <a:noFill/>
          </a:ln>
        </p:spPr>
      </p:pic>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3333750" y="-1587"/>
            <a:ext cx="1263650"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8196"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619442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72477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8206" name="图片 18"/>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20" name="直接连接符 19"/>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4629150" y="6350"/>
            <a:ext cx="1573213"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9220"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33401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72477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9230" name="图片 18"/>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20" name="直接连接符 19"/>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6194425" y="7938"/>
            <a:ext cx="1547813" cy="51911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10244"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33401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0253" name="图片 17"/>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19" name="直接连接符 18"/>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602163"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7769225" y="-4762"/>
            <a:ext cx="1374775"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11268"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05538" y="141288"/>
            <a:ext cx="15541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89863" y="149225"/>
            <a:ext cx="14033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cxnSp>
        <p:nvCxnSpPr>
          <p:cNvPr id="17" name="直接连接符 16"/>
          <p:cNvCxnSpPr/>
          <p:nvPr/>
        </p:nvCxnSpPr>
        <p:spPr>
          <a:xfrm>
            <a:off x="33401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1277" name="图片 17"/>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19" name="直接连接符 18"/>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602163"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176963"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50" y="273844"/>
            <a:ext cx="5800725" cy="4358879"/>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pPr fontAlgn="base"/>
            <a:r>
              <a:rPr lang="zh-CN" altLang="en-US" strike="noStrike" noProof="1"/>
              <a:t>单击此处编辑母版标题样式</a:t>
            </a:r>
            <a:endParaRPr lang="en-US" strike="noStrike" noProof="1"/>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节标题">
    <p:bg>
      <p:bgPr>
        <a:gradFill rotWithShape="0">
          <a:gsLst>
            <a:gs pos="0">
              <a:srgbClr val="001934">
                <a:alpha val="100000"/>
              </a:srgbClr>
            </a:gs>
            <a:gs pos="53999">
              <a:srgbClr val="003576">
                <a:alpha val="100000"/>
              </a:srgbClr>
            </a:gs>
            <a:gs pos="100000">
              <a:srgbClr val="00479E">
                <a:alpha val="100000"/>
              </a:srgbClr>
            </a:gs>
          </a:gsLst>
          <a:lin ang="5400000" scaled="1"/>
          <a:tileRect/>
        </a:gra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50" y="1369219"/>
            <a:ext cx="3886200" cy="326350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4629150" y="1369219"/>
            <a:ext cx="3886200" cy="326350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endParaRPr lang="zh-CN" altLang="en-US" strike="noStrike" noProof="1"/>
          </a:p>
        </p:txBody>
      </p:sp>
      <p:sp>
        <p:nvSpPr>
          <p:cNvPr id="4" name="Content Placeholder 3"/>
          <p:cNvSpPr>
            <a:spLocks noGrp="1"/>
          </p:cNvSpPr>
          <p:nvPr>
            <p:ph sz="half" idx="2"/>
          </p:nvPr>
        </p:nvSpPr>
        <p:spPr>
          <a:xfrm>
            <a:off x="629842" y="1878806"/>
            <a:ext cx="3868340" cy="2763441"/>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endParaRPr lang="zh-CN" altLang="en-US" strike="noStrike" noProof="1"/>
          </a:p>
        </p:txBody>
      </p:sp>
      <p:sp>
        <p:nvSpPr>
          <p:cNvPr id="6" name="Content Placeholder 5"/>
          <p:cNvSpPr>
            <a:spLocks noGrp="1"/>
          </p:cNvSpPr>
          <p:nvPr>
            <p:ph sz="quarter" idx="4"/>
          </p:nvPr>
        </p:nvSpPr>
        <p:spPr>
          <a:xfrm>
            <a:off x="4629150" y="1878806"/>
            <a:ext cx="3887391" cy="2763441"/>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7" name="日期占位符 6"/>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8" name="矩形 7"/>
          <p:cNvSpPr/>
          <p:nvPr/>
        </p:nvSpPr>
        <p:spPr>
          <a:xfrm>
            <a:off x="63500"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9" name="矩形 8"/>
          <p:cNvSpPr/>
          <p:nvPr/>
        </p:nvSpPr>
        <p:spPr>
          <a:xfrm>
            <a:off x="188913"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0" name="矩形 9"/>
          <p:cNvSpPr/>
          <p:nvPr/>
        </p:nvSpPr>
        <p:spPr>
          <a:xfrm>
            <a:off x="125413" y="214313"/>
            <a:ext cx="42863" cy="3968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1" name="圆角矩形 10"/>
          <p:cNvSpPr/>
          <p:nvPr/>
        </p:nvSpPr>
        <p:spPr>
          <a:xfrm>
            <a:off x="188913" y="190500"/>
            <a:ext cx="2706688" cy="457200"/>
          </a:xfrm>
          <a:prstGeom prst="roundRect">
            <a:avLst>
              <a:gd name="adj" fmla="val 50000"/>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Nexa Light" pitchFamily="50" charset="0"/>
                <a:ea typeface="+mn-ea"/>
                <a:cs typeface="+mn-cs"/>
              </a:rPr>
              <a:t>目录</a:t>
            </a:r>
            <a:endParaRPr kumimoji="0" lang="zh-CN" altLang="en-US" sz="3200" b="1"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0-#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30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0-#ppt_w/2"/>
                                          </p:val>
                                        </p:tav>
                                        <p:tav tm="100000">
                                          <p:val>
                                            <p:strVal val="#ppt_x"/>
                                          </p:val>
                                        </p:tav>
                                      </p:tavLst>
                                    </p:anim>
                                    <p:anim calcmode="lin" valueType="num">
                                      <p:cBhvr>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30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0-#ppt_w/2"/>
                                          </p:val>
                                        </p:tav>
                                        <p:tav tm="100000">
                                          <p:val>
                                            <p:strVal val="#ppt_x"/>
                                          </p:val>
                                        </p:tav>
                                      </p:tavLst>
                                    </p:anim>
                                    <p:anim calcmode="lin" valueType="num">
                                      <p:cBhvr>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30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0-#ppt_w/2"/>
                                          </p:val>
                                        </p:tav>
                                        <p:tav tm="100000">
                                          <p:val>
                                            <p:strVal val="#ppt_x"/>
                                          </p:val>
                                        </p:tav>
                                      </p:tavLst>
                                    </p:anim>
                                    <p:anim calcmode="lin" valueType="num">
                                      <p:cBhvr>
                                        <p:cTn id="20" dur="500" fill="hold"/>
                                        <p:tgtEl>
                                          <p:spTgt spid="9"/>
                                        </p:tgtEl>
                                        <p:attrNameLst>
                                          <p:attrName>ppt_y</p:attrName>
                                        </p:attrNameLst>
                                      </p:cBhvr>
                                      <p:tavLst>
                                        <p:tav tm="0">
                                          <p:val>
                                            <p:strVal val="#ppt_y"/>
                                          </p:val>
                                        </p:tav>
                                        <p:tav tm="100000">
                                          <p:val>
                                            <p:strVal val="#ppt_y"/>
                                          </p:val>
                                        </p:tav>
                                      </p:tavLst>
                                    </p:anim>
                                  </p:childTnLst>
                                </p:cTn>
                              </p:par>
                              <p:par>
                                <p:cTn id="21" presetID="22" presetClass="entr" presetSubtype="8" fill="hold" grpId="0" nodeType="withEffect">
                                  <p:stCondLst>
                                    <p:cond delay="8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8" name="矩形 7"/>
          <p:cNvSpPr/>
          <p:nvPr/>
        </p:nvSpPr>
        <p:spPr>
          <a:xfrm>
            <a:off x="63500"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9" name="矩形 8"/>
          <p:cNvSpPr/>
          <p:nvPr/>
        </p:nvSpPr>
        <p:spPr>
          <a:xfrm>
            <a:off x="188913"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0" name="矩形 9"/>
          <p:cNvSpPr/>
          <p:nvPr/>
        </p:nvSpPr>
        <p:spPr>
          <a:xfrm>
            <a:off x="125413" y="214313"/>
            <a:ext cx="42863" cy="39687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11" name="圆角矩形 10"/>
          <p:cNvSpPr/>
          <p:nvPr/>
        </p:nvSpPr>
        <p:spPr>
          <a:xfrm>
            <a:off x="188913" y="190500"/>
            <a:ext cx="3073400" cy="457200"/>
          </a:xfrm>
          <a:prstGeom prst="roundRect">
            <a:avLst>
              <a:gd name="adj" fmla="val 50000"/>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Nexa Light" pitchFamily="50" charset="0"/>
                <a:ea typeface="+mn-ea"/>
                <a:cs typeface="+mn-cs"/>
              </a:rPr>
              <a:t>点击此处添加标题</a:t>
            </a:r>
            <a:endParaRPr kumimoji="0" lang="zh-CN" altLang="en-US" sz="2400" b="1" i="0" u="none" strike="noStrike" kern="1200" cap="none" spc="0" normalizeH="0" baseline="0" noProof="0" dirty="0">
              <a:ln>
                <a:noFill/>
              </a:ln>
              <a:solidFill>
                <a:schemeClr val="tx1"/>
              </a:solidFill>
              <a:effectLst/>
              <a:uLnTx/>
              <a:uFillTx/>
              <a:latin typeface="Nexa Light" pitchFamily="50" charset="0"/>
              <a:ea typeface="+mn-ea"/>
              <a:cs typeface="+mn-cs"/>
            </a:endParaRPr>
          </a:p>
        </p:txBody>
      </p: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0-#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30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0-#ppt_w/2"/>
                                          </p:val>
                                        </p:tav>
                                        <p:tav tm="100000">
                                          <p:val>
                                            <p:strVal val="#ppt_x"/>
                                          </p:val>
                                        </p:tav>
                                      </p:tavLst>
                                    </p:anim>
                                    <p:anim calcmode="lin" valueType="num">
                                      <p:cBhvr>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30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0-#ppt_w/2"/>
                                          </p:val>
                                        </p:tav>
                                        <p:tav tm="100000">
                                          <p:val>
                                            <p:strVal val="#ppt_x"/>
                                          </p:val>
                                        </p:tav>
                                      </p:tavLst>
                                    </p:anim>
                                    <p:anim calcmode="lin" valueType="num">
                                      <p:cBhvr>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30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0-#ppt_w/2"/>
                                          </p:val>
                                        </p:tav>
                                        <p:tav tm="100000">
                                          <p:val>
                                            <p:strVal val="#ppt_x"/>
                                          </p:val>
                                        </p:tav>
                                      </p:tavLst>
                                    </p:anim>
                                    <p:anim calcmode="lin" valueType="num">
                                      <p:cBhvr>
                                        <p:cTn id="20" dur="500" fill="hold"/>
                                        <p:tgtEl>
                                          <p:spTgt spid="9"/>
                                        </p:tgtEl>
                                        <p:attrNameLst>
                                          <p:attrName>ppt_y</p:attrName>
                                        </p:attrNameLst>
                                      </p:cBhvr>
                                      <p:tavLst>
                                        <p:tav tm="0">
                                          <p:val>
                                            <p:strVal val="#ppt_y"/>
                                          </p:val>
                                        </p:tav>
                                        <p:tav tm="100000">
                                          <p:val>
                                            <p:strVal val="#ppt_y"/>
                                          </p:val>
                                        </p:tav>
                                      </p:tavLst>
                                    </p:anim>
                                  </p:childTnLst>
                                </p:cTn>
                              </p:par>
                              <p:par>
                                <p:cTn id="21" presetID="22" presetClass="entr" presetSubtype="8" fill="hold" grpId="0" nodeType="withEffect">
                                  <p:stCondLst>
                                    <p:cond delay="8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与标题">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标题和内容">
    <p:bg>
      <p:bgPr>
        <a:solidFill>
          <a:srgbClr val="F2F2F2"/>
        </a:solidFill>
        <a:effectLst/>
      </p:bgPr>
    </p:bg>
    <p:spTree>
      <p:nvGrpSpPr>
        <p:cNvPr id="1" name=""/>
        <p:cNvGrpSpPr/>
        <p:nvPr/>
      </p:nvGrpSpPr>
      <p:grpSpPr>
        <a:xfrm>
          <a:off x="0" y="0"/>
          <a:ext cx="0" cy="0"/>
          <a:chOff x="0" y="0"/>
          <a:chExt cx="0" cy="0"/>
        </a:xfrm>
      </p:grpSpPr>
      <p:sp>
        <p:nvSpPr>
          <p:cNvPr id="7" name="矩形 6"/>
          <p:cNvSpPr/>
          <p:nvPr/>
        </p:nvSpPr>
        <p:spPr>
          <a:xfrm>
            <a:off x="0" y="0"/>
            <a:ext cx="9144000" cy="60007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lumMod val="65000"/>
                  <a:lumOff val="35000"/>
                </a:schemeClr>
              </a:solidFill>
              <a:effectLst/>
              <a:uLnTx/>
              <a:uFillTx/>
              <a:latin typeface="+mn-lt"/>
              <a:ea typeface="+mn-ea"/>
              <a:cs typeface="+mn-cs"/>
            </a:endParaRPr>
          </a:p>
        </p:txBody>
      </p:sp>
      <p:grpSp>
        <p:nvGrpSpPr>
          <p:cNvPr id="6147" name="组合 7"/>
          <p:cNvGrpSpPr/>
          <p:nvPr userDrawn="1"/>
        </p:nvGrpSpPr>
        <p:grpSpPr>
          <a:xfrm>
            <a:off x="1370013" y="106363"/>
            <a:ext cx="1330325" cy="474662"/>
            <a:chOff x="1399441" y="1145221"/>
            <a:chExt cx="1329556" cy="474509"/>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0"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1920875" y="-1587"/>
            <a:ext cx="1412875"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7172"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45974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19442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72477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7183" name="图片 19"/>
          <p:cNvPicPr>
            <a:picLocks noChangeAspect="1"/>
          </p:cNvPicPr>
          <p:nvPr userDrawn="1"/>
        </p:nvPicPr>
        <p:blipFill>
          <a:blip r:embed="rId2"/>
          <a:stretch>
            <a:fillRect/>
          </a:stretch>
        </p:blipFill>
        <p:spPr>
          <a:xfrm>
            <a:off x="273050" y="57150"/>
            <a:ext cx="1243013" cy="420688"/>
          </a:xfrm>
          <a:prstGeom prst="rect">
            <a:avLst/>
          </a:prstGeom>
          <a:noFill/>
          <a:ln w="9525">
            <a:noFill/>
          </a:ln>
        </p:spPr>
      </p:pic>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3333750" y="-1587"/>
            <a:ext cx="1263650"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8196"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619442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72477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8206" name="图片 18"/>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20" name="直接连接符 19"/>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4629150" y="6350"/>
            <a:ext cx="1573213"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9220"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33401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724775"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9230" name="图片 18"/>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20" name="直接连接符 19"/>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6194425" y="7938"/>
            <a:ext cx="1547813" cy="51911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10244"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13475" y="141288"/>
            <a:ext cx="1528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42238" y="149225"/>
            <a:ext cx="14017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cxnSp>
        <p:nvCxnSpPr>
          <p:cNvPr id="17" name="直接连接符 16"/>
          <p:cNvCxnSpPr/>
          <p:nvPr/>
        </p:nvCxnSpPr>
        <p:spPr>
          <a:xfrm>
            <a:off x="33401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0253" name="图片 17"/>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19" name="直接连接符 18"/>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602163"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911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7769225" y="-4762"/>
            <a:ext cx="1374775" cy="5207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grpSp>
        <p:nvGrpSpPr>
          <p:cNvPr id="11268" name="组合 8"/>
          <p:cNvGrpSpPr/>
          <p:nvPr userDrawn="1"/>
        </p:nvGrpSpPr>
        <p:grpSpPr>
          <a:xfrm>
            <a:off x="1370013" y="106363"/>
            <a:ext cx="1330325" cy="474662"/>
            <a:chOff x="1399441" y="1145221"/>
            <a:chExt cx="1329556" cy="474509"/>
          </a:xfrm>
        </p:grpSpPr>
        <p:sp>
          <p:nvSpPr>
            <p:cNvPr id="10" name="圆角矩形 9"/>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mn-lt"/>
                <a:ea typeface="+mn-ea"/>
                <a:cs typeface="+mn-cs"/>
              </a:endParaRPr>
            </a:p>
          </p:txBody>
        </p:sp>
        <p:sp>
          <p:nvSpPr>
            <p:cNvPr id="11" name="TextBox 15"/>
            <p:cNvSpPr txBox="1">
              <a:spLocks noChangeArrowheads="1"/>
            </p:cNvSpPr>
            <p:nvPr/>
          </p:nvSpPr>
          <p:spPr bwMode="auto">
            <a:xfrm>
              <a:off x="1691372" y="1281702"/>
              <a:ext cx="184044" cy="33802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 name="TextBox 16">
            <a:hlinkClick r:id="" action="ppaction://noaction" highlightClick="1"/>
            <a:hlinkHover r:id="" action="ppaction://noaction" highlightClick="1"/>
          </p:cNvPr>
          <p:cNvSpPr txBox="1"/>
          <p:nvPr/>
        </p:nvSpPr>
        <p:spPr>
          <a:xfrm>
            <a:off x="1979613" y="141288"/>
            <a:ext cx="1252538"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选题背景及意义</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3" name="TextBox 17">
            <a:hlinkClick r:id="" action="ppaction://hlinkshowjump?jump=nextslide" highlightClick="1"/>
            <a:hlinkHover r:id="" action="ppaction://noaction" highlightClick="1"/>
          </p:cNvPr>
          <p:cNvSpPr txBox="1"/>
          <p:nvPr/>
        </p:nvSpPr>
        <p:spPr>
          <a:xfrm>
            <a:off x="3333750" y="141288"/>
            <a:ext cx="1279525"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论文综述</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4" name="TextBox 18">
            <a:hlinkClick r:id="" action="ppaction://noaction" highlightClick="1"/>
            <a:hlinkHover r:id="" action="ppaction://noaction" highlightClick="1"/>
          </p:cNvPr>
          <p:cNvSpPr txBox="1"/>
          <p:nvPr/>
        </p:nvSpPr>
        <p:spPr>
          <a:xfrm>
            <a:off x="4613275" y="141288"/>
            <a:ext cx="15811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关键技术与难点</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5" name="TextBox 19">
            <a:hlinkClick r:id="" action="ppaction://noaction" highlightClick="1"/>
            <a:hlinkHover r:id="" action="ppaction://noaction" highlightClick="1"/>
          </p:cNvPr>
          <p:cNvSpPr txBox="1"/>
          <p:nvPr/>
        </p:nvSpPr>
        <p:spPr>
          <a:xfrm>
            <a:off x="6205538" y="141288"/>
            <a:ext cx="1554163"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ea"/>
                <a:ea typeface="+mn-ea"/>
                <a:cs typeface="+mn-cs"/>
              </a:rPr>
              <a:t>研究成果与应用</a:t>
            </a:r>
            <a:endParaRPr kumimoji="0" lang="zh-CN" altLang="en-US" sz="1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TextBox 20">
            <a:hlinkClick r:id="" action="ppaction://noaction" highlightClick="1"/>
            <a:hlinkHover r:id="" action="ppaction://noaction" highlightClick="1"/>
          </p:cNvPr>
          <p:cNvSpPr txBox="1"/>
          <p:nvPr/>
        </p:nvSpPr>
        <p:spPr>
          <a:xfrm>
            <a:off x="7789863" y="149225"/>
            <a:ext cx="1403350" cy="276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ea typeface="+mn-ea"/>
                <a:cs typeface="+mn-cs"/>
              </a:rPr>
              <a:t>论文总结</a:t>
            </a:r>
            <a:endParaRPr kumimoji="0" lang="zh-CN" altLang="en-US" sz="1200" b="0" i="0" u="none" strike="noStrike" kern="1200" cap="none" spc="0" normalizeH="0" baseline="0" noProof="0" dirty="0">
              <a:ln>
                <a:noFill/>
              </a:ln>
              <a:solidFill>
                <a:schemeClr val="bg1"/>
              </a:solidFill>
              <a:effectLst/>
              <a:uLnTx/>
              <a:uFillTx/>
              <a:latin typeface="+mn-ea"/>
              <a:ea typeface="+mn-ea"/>
              <a:cs typeface="+mn-cs"/>
            </a:endParaRPr>
          </a:p>
        </p:txBody>
      </p:sp>
      <p:cxnSp>
        <p:nvCxnSpPr>
          <p:cNvPr id="17" name="直接连接符 16"/>
          <p:cNvCxnSpPr/>
          <p:nvPr/>
        </p:nvCxnSpPr>
        <p:spPr>
          <a:xfrm>
            <a:off x="3340100"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11277" name="图片 17"/>
          <p:cNvPicPr>
            <a:picLocks noChangeAspect="1"/>
          </p:cNvPicPr>
          <p:nvPr userDrawn="1"/>
        </p:nvPicPr>
        <p:blipFill>
          <a:blip r:embed="rId2"/>
          <a:stretch>
            <a:fillRect/>
          </a:stretch>
        </p:blipFill>
        <p:spPr>
          <a:xfrm>
            <a:off x="273050" y="57150"/>
            <a:ext cx="1243013" cy="420688"/>
          </a:xfrm>
          <a:prstGeom prst="rect">
            <a:avLst/>
          </a:prstGeom>
          <a:noFill/>
          <a:ln w="9525">
            <a:noFill/>
          </a:ln>
        </p:spPr>
      </p:pic>
      <p:cxnSp>
        <p:nvCxnSpPr>
          <p:cNvPr id="19" name="直接连接符 18"/>
          <p:cNvCxnSpPr/>
          <p:nvPr/>
        </p:nvCxnSpPr>
        <p:spPr>
          <a:xfrm>
            <a:off x="1849438" y="-1587"/>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602163"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176963" y="0"/>
            <a:ext cx="0" cy="5222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50" y="273844"/>
            <a:ext cx="5800725" cy="4358879"/>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67263"/>
            <a:ext cx="2057400" cy="274638"/>
          </a:xfrm>
          <a:prstGeom prst="rect">
            <a:avLst/>
          </a:prstGeom>
        </p:spPr>
        <p:txBody>
          <a:bodyPr vert="horz" lIns="91440" tIns="45720" rIns="91440" bIns="45720" rtlCol="0" anchor="ct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a:xfrm>
            <a:off x="3028950" y="4767263"/>
            <a:ext cx="3086100" cy="274638"/>
          </a:xfrm>
          <a:prstGeom prst="rect">
            <a:avLst/>
          </a:prstGeom>
        </p:spPr>
        <p:txBody>
          <a:bodyPr vert="horz"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a:xfrm>
            <a:off x="6457950" y="4767263"/>
            <a:ext cx="2057400" cy="274638"/>
          </a:xfrm>
          <a:prstGeom prst="rect">
            <a:avLst/>
          </a:prstGeom>
        </p:spPr>
        <p:txBody>
          <a:bodyPr vert="horz" wrap="square" lIns="91440" tIns="45720" rIns="91440" bIns="45720" numCol="1" anchor="ctr" anchorCtr="0" compatLnSpc="1"/>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8" Type="http://schemas.openxmlformats.org/officeDocument/2006/relationships/theme" Target="../theme/theme2.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274638"/>
            <a:ext cx="7886700" cy="993775"/>
          </a:xfrm>
          <a:prstGeom prst="rect">
            <a:avLst/>
          </a:prstGeom>
          <a:noFill/>
          <a:ln w="9525">
            <a:noFill/>
          </a:ln>
        </p:spPr>
        <p:txBody>
          <a:bodyPr anchor="ctr" anchorCtr="0"/>
          <a:lstStyle/>
          <a:p>
            <a:pPr lvl="0"/>
            <a:r>
              <a:rPr lang="zh-CN" altLang="en-US" dirty="0"/>
              <a:t>单击此处编辑母版标题样式</a:t>
            </a:r>
            <a:endParaRPr lang="en-US" altLang="zh-CN" dirty="0"/>
          </a:p>
        </p:txBody>
      </p:sp>
      <p:sp>
        <p:nvSpPr>
          <p:cNvPr id="1027" name="Text Placeholder 2"/>
          <p:cNvSpPr>
            <a:spLocks noGrp="1"/>
          </p:cNvSpPr>
          <p:nvPr>
            <p:ph type="body"/>
          </p:nvPr>
        </p:nvSpPr>
        <p:spPr>
          <a:xfrm>
            <a:off x="628650" y="1370013"/>
            <a:ext cx="7886700" cy="3262312"/>
          </a:xfrm>
          <a:prstGeom prst="rect">
            <a:avLst/>
          </a:prstGeom>
          <a:noFill/>
          <a:ln w="9525">
            <a:noFill/>
          </a:ln>
        </p:spPr>
        <p:txBody>
          <a:bodyPr anchor="t" anchorCtr="0"/>
          <a:lstStyle/>
          <a:p>
            <a:pPr lvl="0"/>
            <a:r>
              <a:rPr lang="zh-CN" altLang="en-US" dirty="0"/>
              <a:t>单击此处编辑母版文本样式</a:t>
            </a:r>
            <a:endParaRPr lang="zh-CN" altLang="en-US" dirty="0"/>
          </a:p>
          <a:p>
            <a:pPr lvl="1" indent="-171450"/>
            <a:r>
              <a:rPr lang="zh-CN" altLang="en-US" dirty="0"/>
              <a:t>第二级</a:t>
            </a:r>
            <a:endParaRPr lang="zh-CN" altLang="en-US" dirty="0"/>
          </a:p>
          <a:p>
            <a:pPr lvl="2" indent="-171450"/>
            <a:r>
              <a:rPr lang="zh-CN" altLang="en-US" dirty="0"/>
              <a:t>第三级</a:t>
            </a:r>
            <a:endParaRPr lang="zh-CN" altLang="en-US" dirty="0"/>
          </a:p>
          <a:p>
            <a:pPr lvl="3" indent="-171450"/>
            <a:r>
              <a:rPr lang="zh-CN" altLang="en-US" dirty="0"/>
              <a:t>第四级</a:t>
            </a:r>
            <a:endParaRPr lang="zh-CN" altLang="en-US" dirty="0"/>
          </a:p>
          <a:p>
            <a:pPr lvl="4" indent="-171450"/>
            <a:r>
              <a:rPr lang="zh-CN" altLang="en-US" dirty="0"/>
              <a:t>第五级</a:t>
            </a:r>
            <a:endParaRPr lang="en-US" altLang="zh-CN" dirty="0"/>
          </a:p>
        </p:txBody>
      </p:sp>
      <p:sp>
        <p:nvSpPr>
          <p:cNvPr id="4" name="Date Placeholder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a:defRPr sz="900">
                <a:solidFill>
                  <a:srgbClr val="898989"/>
                </a:solidFill>
              </a:defRPr>
            </a:lvl1p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274638"/>
            <a:ext cx="7886700" cy="993775"/>
          </a:xfrm>
          <a:prstGeom prst="rect">
            <a:avLst/>
          </a:prstGeom>
          <a:noFill/>
          <a:ln w="9525">
            <a:noFill/>
          </a:ln>
        </p:spPr>
        <p:txBody>
          <a:bodyPr anchor="ctr" anchorCtr="0"/>
          <a:lstStyle/>
          <a:p>
            <a:pPr lvl="0"/>
            <a:r>
              <a:rPr lang="zh-CN" altLang="en-US" dirty="0"/>
              <a:t>单击此处编辑母版标题样式</a:t>
            </a:r>
            <a:endParaRPr lang="en-US" altLang="zh-CN" dirty="0"/>
          </a:p>
        </p:txBody>
      </p:sp>
      <p:sp>
        <p:nvSpPr>
          <p:cNvPr id="1027" name="Text Placeholder 2"/>
          <p:cNvSpPr>
            <a:spLocks noGrp="1"/>
          </p:cNvSpPr>
          <p:nvPr>
            <p:ph type="body"/>
          </p:nvPr>
        </p:nvSpPr>
        <p:spPr>
          <a:xfrm>
            <a:off x="628650" y="1370013"/>
            <a:ext cx="7886700" cy="3262312"/>
          </a:xfrm>
          <a:prstGeom prst="rect">
            <a:avLst/>
          </a:prstGeom>
          <a:noFill/>
          <a:ln w="9525">
            <a:noFill/>
          </a:ln>
        </p:spPr>
        <p:txBody>
          <a:bodyPr anchor="t" anchorCtr="0"/>
          <a:lstStyle/>
          <a:p>
            <a:pPr lvl="0"/>
            <a:r>
              <a:rPr lang="zh-CN" altLang="en-US" dirty="0"/>
              <a:t>单击此处编辑母版文本样式</a:t>
            </a:r>
            <a:endParaRPr lang="zh-CN" altLang="en-US" dirty="0"/>
          </a:p>
          <a:p>
            <a:pPr lvl="1" indent="-171450"/>
            <a:r>
              <a:rPr lang="zh-CN" altLang="en-US" dirty="0"/>
              <a:t>第二级</a:t>
            </a:r>
            <a:endParaRPr lang="zh-CN" altLang="en-US" dirty="0"/>
          </a:p>
          <a:p>
            <a:pPr lvl="2" indent="-171450"/>
            <a:r>
              <a:rPr lang="zh-CN" altLang="en-US" dirty="0"/>
              <a:t>第三级</a:t>
            </a:r>
            <a:endParaRPr lang="zh-CN" altLang="en-US" dirty="0"/>
          </a:p>
          <a:p>
            <a:pPr lvl="3" indent="-171450"/>
            <a:r>
              <a:rPr lang="zh-CN" altLang="en-US" dirty="0"/>
              <a:t>第四级</a:t>
            </a:r>
            <a:endParaRPr lang="zh-CN" altLang="en-US" dirty="0"/>
          </a:p>
          <a:p>
            <a:pPr lvl="4" indent="-171450"/>
            <a:r>
              <a:rPr lang="zh-CN" altLang="en-US" dirty="0"/>
              <a:t>第五级</a:t>
            </a:r>
            <a:endParaRPr lang="en-US" altLang="zh-CN" dirty="0"/>
          </a:p>
        </p:txBody>
      </p:sp>
      <p:sp>
        <p:nvSpPr>
          <p:cNvPr id="4" name="Date Placeholder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marL="0" marR="0" lvl="0" indent="0" algn="l" defTabSz="685800" rtl="0" eaLnBrk="1" fontAlgn="auto" latinLnBrk="0" hangingPunct="1">
              <a:lnSpc>
                <a:spcPct val="100000"/>
              </a:lnSpc>
              <a:spcBef>
                <a:spcPts val="0"/>
              </a:spcBef>
              <a:spcAft>
                <a:spcPts val="0"/>
              </a:spcAft>
              <a:buClrTx/>
              <a:buSzTx/>
              <a:buFontTx/>
              <a:buNone/>
              <a:defRPr/>
            </a:pPr>
            <a:fld id="{12630240-B26D-466E-A4B4-30CEF0A62E4D}" type="datetimeFigureOut">
              <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a:defRPr sz="900">
                <a:solidFill>
                  <a:srgbClr val="898989"/>
                </a:solidFill>
              </a:defRPr>
            </a:lvl1pPr>
          </a:lstStyle>
          <a:p>
            <a:pPr lvl="0" eaLnBrk="1" fontAlgn="base" hangingPunct="1"/>
            <a:fld id="{9A0DB2DC-4C9A-4742-B13C-FB6460FD3503}" type="slidenum">
              <a:rPr lang="zh-CN" altLang="en-US" strike="noStrike" noProof="1" dirty="0">
                <a:latin typeface="Arial" panose="020B0604020202020204" pitchFamily="34" charset="0"/>
                <a:ea typeface="微软雅黑" panose="020B0503020204020204" pitchFamily="34"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ea typeface="微软雅黑" panose="020B0503020204020204" pitchFamily="34"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slideLayout" Target="../slideLayouts/slideLayout17.xml"/><Relationship Id="rId2" Type="http://schemas.openxmlformats.org/officeDocument/2006/relationships/tags" Target="../tags/tag2.xml"/><Relationship Id="rId19" Type="http://schemas.openxmlformats.org/officeDocument/2006/relationships/image" Target="../media/image2.png"/><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8.xml"/><Relationship Id="rId7" Type="http://schemas.openxmlformats.org/officeDocument/2006/relationships/image" Target="../media/image2.png"/><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8.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image" Target="../media/image4.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7.xml"/><Relationship Id="rId2" Type="http://schemas.openxmlformats.org/officeDocument/2006/relationships/image" Target="../media/image7.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7.xml"/><Relationship Id="rId2" Type="http://schemas.openxmlformats.org/officeDocument/2006/relationships/image" Target="../media/image8.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7.xml"/><Relationship Id="rId5" Type="http://schemas.openxmlformats.org/officeDocument/2006/relationships/image" Target="../media/image9.png"/><Relationship Id="rId4" Type="http://schemas.openxmlformats.org/officeDocument/2006/relationships/image" Target="../media/image2.png"/><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7.xml"/><Relationship Id="rId2" Type="http://schemas.openxmlformats.org/officeDocument/2006/relationships/image" Target="../media/image12.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8.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26"/>
          <p:cNvSpPr txBox="1"/>
          <p:nvPr/>
        </p:nvSpPr>
        <p:spPr>
          <a:xfrm>
            <a:off x="485140" y="1484630"/>
            <a:ext cx="8252460" cy="1169035"/>
          </a:xfrm>
          <a:prstGeom prst="rect">
            <a:avLst/>
          </a:prstGeom>
          <a:noFill/>
          <a:ln w="9525">
            <a:noFill/>
          </a:ln>
        </p:spPr>
        <p:txBody>
          <a:bodyPr wrap="square" anchor="t" anchorCtr="0">
            <a:noAutofit/>
          </a:bodyPr>
          <a:lstStyle/>
          <a:p>
            <a:pPr marR="0" algn="ctr" defTabSz="685800" rtl="0" eaLnBrk="1" fontAlgn="auto" latinLnBrk="0" hangingPunct="1">
              <a:lnSpc>
                <a:spcPct val="100000"/>
              </a:lnSpc>
              <a:spcBef>
                <a:spcPts val="0"/>
              </a:spcBef>
              <a:spcAft>
                <a:spcPts val="0"/>
              </a:spcAft>
            </a:pPr>
            <a:r>
              <a:rPr lang="en-US" altLang="zh-CN" sz="4400" spc="280">
                <a:solidFill>
                  <a:schemeClr val="accent1"/>
                </a:solidFill>
                <a:uFillTx/>
                <a:latin typeface="宋体" panose="02010600030101010101" pitchFamily="2" charset="-122"/>
                <a:ea typeface="宋体" panose="02010600030101010101" pitchFamily="2" charset="-122"/>
                <a:cs typeface="+mj-cs"/>
                <a:sym typeface="+mn-ea"/>
              </a:rPr>
              <a:t> </a:t>
            </a:r>
            <a:r>
              <a:rPr lang="en-US" altLang="zh-CN" sz="2400" spc="280" dirty="0">
                <a:solidFill>
                  <a:schemeClr val="tx1"/>
                </a:solidFill>
                <a:effectLst>
                  <a:outerShdw blurRad="38100" dist="19050" dir="2700000" algn="tl" rotWithShape="0">
                    <a:schemeClr val="dk1">
                      <a:alpha val="40000"/>
                    </a:schemeClr>
                  </a:outerShdw>
                </a:effectLst>
                <a:uFillTx/>
                <a:latin typeface="宋体" panose="02010600030101010101" pitchFamily="2" charset="-122"/>
                <a:ea typeface="宋体" panose="02010600030101010101" pitchFamily="2" charset="-122"/>
                <a:cs typeface="+mj-cs"/>
                <a:sym typeface="+mn-ea"/>
              </a:rPr>
              <a:t>An Input-Aware Mimic Defense Theory and its Practice</a:t>
            </a:r>
            <a:endParaRPr lang="en-US" altLang="zh-CN" sz="2400" spc="280" dirty="0">
              <a:solidFill>
                <a:schemeClr val="tx1"/>
              </a:solidFill>
              <a:effectLst>
                <a:outerShdw blurRad="38100" dist="19050" dir="2700000" algn="tl" rotWithShape="0">
                  <a:schemeClr val="dk1">
                    <a:alpha val="40000"/>
                  </a:schemeClr>
                </a:outerShdw>
              </a:effectLst>
              <a:uFillTx/>
              <a:latin typeface="宋体" panose="02010600030101010101" pitchFamily="2" charset="-122"/>
              <a:ea typeface="宋体" panose="02010600030101010101" pitchFamily="2" charset="-122"/>
              <a:cs typeface="+mj-cs"/>
              <a:sym typeface="+mn-ea"/>
            </a:endParaRPr>
          </a:p>
        </p:txBody>
      </p:sp>
      <p:sp>
        <p:nvSpPr>
          <p:cNvPr id="2" name="文本框 1"/>
          <p:cNvSpPr txBox="1"/>
          <p:nvPr/>
        </p:nvSpPr>
        <p:spPr>
          <a:xfrm>
            <a:off x="6326505" y="4365625"/>
            <a:ext cx="2371725" cy="398780"/>
          </a:xfrm>
          <a:prstGeom prst="rect">
            <a:avLst/>
          </a:prstGeom>
          <a:noFill/>
        </p:spPr>
        <p:txBody>
          <a:bodyPr>
            <a:spAutoFit/>
          </a:bodyPr>
          <a:lstStyle/>
          <a:p>
            <a:pPr marR="0" defTabSz="685800" fontAlgn="auto">
              <a:spcBef>
                <a:spcPts val="0"/>
              </a:spcBef>
              <a:spcAft>
                <a:spcPts val="0"/>
              </a:spcAft>
              <a:buClrTx/>
              <a:buSzTx/>
              <a:buFontTx/>
              <a:buNone/>
              <a:defRPr/>
            </a:pPr>
            <a:r>
              <a:rPr kumimoji="0" lang="zh-CN" altLang="en-US" sz="2000" kern="1200" cap="none" spc="0" normalizeH="0" baseline="0" noProof="0" dirty="0">
                <a:latin typeface="+mn-lt"/>
                <a:ea typeface="+mn-ea"/>
                <a:cs typeface="+mn-cs"/>
              </a:rPr>
              <a:t>汇报人：</a:t>
            </a:r>
            <a:r>
              <a:rPr kumimoji="0" lang="zh-CN" altLang="en-US" sz="2000" kern="1200" cap="none" spc="0" normalizeH="0" baseline="0" noProof="0" dirty="0">
                <a:latin typeface="+mn-lt"/>
                <a:ea typeface="+mn-ea"/>
                <a:cs typeface="+mn-cs"/>
              </a:rPr>
              <a:t>梁振江</a:t>
            </a:r>
            <a:endParaRPr kumimoji="0" lang="zh-CN" altLang="en-US" sz="2000" kern="1200" cap="none" spc="0" normalizeH="0" baseline="0" noProof="0" dirty="0">
              <a:latin typeface="+mn-lt"/>
              <a:ea typeface="+mn-ea"/>
              <a:cs typeface="+mn-cs"/>
            </a:endParaRPr>
          </a:p>
        </p:txBody>
      </p:sp>
      <p:pic>
        <p:nvPicPr>
          <p:cNvPr id="4" name="new-add-image" descr="C:\Users\许昊\Desktop\7C2002C534020EAD7036D42F848_DB67C5F8_AC59 (1).png7C2002C534020EAD7036D42F848_DB67C5F8_AC59 (1)"/>
          <p:cNvPicPr/>
          <p:nvPr/>
        </p:nvPicPr>
        <p:blipFill>
          <a:blip r:embed="rId1"/>
          <a:srcRect/>
          <a:stretch>
            <a:fillRect/>
          </a:stretch>
        </p:blipFill>
        <p:spPr>
          <a:xfrm>
            <a:off x="3413125" y="-64770"/>
            <a:ext cx="2197100" cy="2081530"/>
          </a:xfrm>
          <a:prstGeom prst="rect">
            <a:avLst/>
          </a:prstGeom>
        </p:spPr>
      </p:pic>
      <p:sp>
        <p:nvSpPr>
          <p:cNvPr id="3" name="文本框 2"/>
          <p:cNvSpPr txBox="1"/>
          <p:nvPr/>
        </p:nvSpPr>
        <p:spPr>
          <a:xfrm>
            <a:off x="169545" y="4009390"/>
            <a:ext cx="5224145" cy="926465"/>
          </a:xfrm>
          <a:prstGeom prst="rect">
            <a:avLst/>
          </a:prstGeom>
          <a:noFill/>
        </p:spPr>
        <p:txBody>
          <a:bodyPr wrap="square" rtlCol="0">
            <a:noAutofit/>
          </a:bodyPr>
          <a:lstStyle/>
          <a:p>
            <a:r>
              <a:rPr lang="en-US" altLang="zh-CN"/>
              <a:t>arXiv:2208.10276v1 [cs.CR] 22 Aug 2022</a:t>
            </a:r>
            <a:endParaRPr lang="en-US" altLang="zh-CN"/>
          </a:p>
          <a:p>
            <a:r>
              <a:rPr lang="zh-CN" altLang="en-US"/>
              <a:t>东南大学</a:t>
            </a:r>
            <a:endParaRPr lang="zh-CN" altLang="en-US"/>
          </a:p>
          <a:p>
            <a:r>
              <a:rPr lang="en-US" altLang="zh-CN"/>
              <a:t>Jiale Fu†, Yali Yuan‡∗, Jiajun He </a:t>
            </a:r>
            <a:endParaRPr lang="en-US" altLang="zh-CN"/>
          </a:p>
        </p:txBody>
      </p:sp>
      <p:sp>
        <p:nvSpPr>
          <p:cNvPr id="5" name="文本框 4"/>
          <p:cNvSpPr txBox="1"/>
          <p:nvPr/>
        </p:nvSpPr>
        <p:spPr>
          <a:xfrm>
            <a:off x="2169160" y="2788920"/>
            <a:ext cx="6204585" cy="368300"/>
          </a:xfrm>
          <a:prstGeom prst="rect">
            <a:avLst/>
          </a:prstGeom>
          <a:noFill/>
        </p:spPr>
        <p:txBody>
          <a:bodyPr wrap="square" rtlCol="0">
            <a:spAutoFit/>
          </a:bodyPr>
          <a:p>
            <a:r>
              <a:rPr lang="zh-CN" altLang="en-US" sz="1800"/>
              <a:t>一种基于输入感知的</a:t>
            </a:r>
            <a:r>
              <a:rPr lang="zh-CN" altLang="en-US" sz="1800"/>
              <a:t>拟态防御理论及其应用</a:t>
            </a:r>
            <a:endParaRPr lang="zh-CN"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0"/>
            <a:ext cx="2771775" cy="51435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22541" name="文本框 1"/>
          <p:cNvSpPr txBox="1">
            <a:spLocks noChangeArrowheads="1"/>
          </p:cNvSpPr>
          <p:nvPr/>
        </p:nvSpPr>
        <p:spPr bwMode="auto">
          <a:xfrm>
            <a:off x="103188" y="2527300"/>
            <a:ext cx="2505075" cy="461963"/>
          </a:xfrm>
          <a:prstGeom prst="rect">
            <a:avLst/>
          </a:prstGeom>
          <a:noFill/>
          <a:ln>
            <a:noFill/>
          </a:ln>
        </p:spPr>
        <p:txBody>
          <a:bodyP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9p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rPr>
              <a:t>目录 </a:t>
            </a:r>
            <a:r>
              <a:rPr kumimoji="0" lang="en-US" altLang="zh-CN" sz="240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rPr>
              <a:t>/ </a:t>
            </a:r>
            <a:r>
              <a:rPr kumimoji="0" lang="en-US" altLang="zh-CN" sz="200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rPr>
              <a:t>CONTENTS</a:t>
            </a:r>
            <a:endParaRPr kumimoji="0" lang="zh-CN" altLang="en-US" sz="200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sp>
        <p:nvSpPr>
          <p:cNvPr id="16" name="矩形 15"/>
          <p:cNvSpPr/>
          <p:nvPr/>
        </p:nvSpPr>
        <p:spPr>
          <a:xfrm>
            <a:off x="5178425" y="1281113"/>
            <a:ext cx="1163320" cy="368300"/>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800" spc="130">
                <a:solidFill>
                  <a:schemeClr val="dk1">
                    <a:lumMod val="85000"/>
                    <a:lumOff val="15000"/>
                  </a:schemeClr>
                </a:solidFill>
                <a:uFillTx/>
                <a:latin typeface="微软雅黑" panose="020B0503020204020204" pitchFamily="34" charset="-122"/>
                <a:sym typeface="+mn-ea"/>
              </a:rPr>
              <a:t>研究背景</a:t>
            </a:r>
            <a:endParaRPr kumimoji="0" lang="zh-CN" altLang="en-US" sz="18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17"/>
          <p:cNvSpPr/>
          <p:nvPr/>
        </p:nvSpPr>
        <p:spPr>
          <a:xfrm>
            <a:off x="5178425" y="1849438"/>
            <a:ext cx="1239520" cy="368300"/>
          </a:xfrm>
          <a:prstGeom prst="rect">
            <a:avLst/>
          </a:prstGeom>
        </p:spPr>
        <p:txBody>
          <a:bodyPr wrap="none">
            <a:spAutoFit/>
          </a:bodyPr>
          <a:lstStyle/>
          <a:p>
            <a:pPr marL="0" lvl="0" indent="0" algn="l" fontAlgn="base">
              <a:lnSpc>
                <a:spcPct val="100000"/>
              </a:lnSpc>
              <a:spcBef>
                <a:spcPts val="0"/>
              </a:spcBef>
              <a:spcAft>
                <a:spcPts val="800"/>
              </a:spcAft>
              <a:buSzPct val="100000"/>
            </a:pPr>
            <a:r>
              <a:rPr lang="zh-CN" altLang="en-US" sz="1800" spc="280" dirty="0">
                <a:effectLst/>
                <a:uFillTx/>
                <a:latin typeface="+mn-ea"/>
                <a:ea typeface="+mn-ea"/>
                <a:cs typeface="+mj-cs"/>
                <a:sym typeface="+mn-ea"/>
              </a:rPr>
              <a:t>系统概述</a:t>
            </a:r>
            <a:endParaRPr lang="zh-CN" altLang="en-US" sz="1800" spc="280" dirty="0">
              <a:effectLst/>
              <a:uFillTx/>
              <a:latin typeface="+mn-ea"/>
              <a:ea typeface="+mn-ea"/>
              <a:cs typeface="+mj-cs"/>
              <a:sym typeface="+mn-ea"/>
            </a:endParaRPr>
          </a:p>
        </p:txBody>
      </p:sp>
      <p:sp>
        <p:nvSpPr>
          <p:cNvPr id="20" name="矩形 19"/>
          <p:cNvSpPr/>
          <p:nvPr>
            <p:custDataLst>
              <p:tags r:id="rId1"/>
            </p:custDataLst>
          </p:nvPr>
        </p:nvSpPr>
        <p:spPr>
          <a:xfrm>
            <a:off x="5178425" y="2417763"/>
            <a:ext cx="662940" cy="423545"/>
          </a:xfrm>
          <a:prstGeom prst="rect">
            <a:avLst/>
          </a:prstGeom>
        </p:spPr>
        <p:txBody>
          <a:bodyPr wrap="none">
            <a:spAutoFit/>
          </a:bodyPr>
          <a:lstStyle/>
          <a:p>
            <a:pPr marL="0" lvl="0" indent="0" algn="l" fontAlgn="base">
              <a:lnSpc>
                <a:spcPct val="120000"/>
              </a:lnSpc>
              <a:spcBef>
                <a:spcPts val="0"/>
              </a:spcBef>
              <a:spcAft>
                <a:spcPts val="800"/>
              </a:spcAft>
              <a:buSzPct val="100000"/>
            </a:pPr>
            <a:r>
              <a:rPr lang="zh-CN" altLang="en-US" sz="1800" spc="90">
                <a:solidFill>
                  <a:schemeClr val="dk1">
                    <a:lumMod val="85000"/>
                    <a:lumOff val="15000"/>
                  </a:schemeClr>
                </a:solidFill>
                <a:uFillTx/>
                <a:latin typeface="微软雅黑" panose="020B0503020204020204" pitchFamily="34" charset="-122"/>
                <a:sym typeface="+mn-ea"/>
              </a:rPr>
              <a:t>实验</a:t>
            </a:r>
            <a:endParaRPr lang="zh-CN" altLang="en-US" sz="1800" spc="90">
              <a:solidFill>
                <a:schemeClr val="dk1">
                  <a:lumMod val="85000"/>
                  <a:lumOff val="15000"/>
                </a:schemeClr>
              </a:solidFill>
              <a:uFillTx/>
              <a:latin typeface="微软雅黑" panose="020B0503020204020204" pitchFamily="34" charset="-122"/>
              <a:sym typeface="+mn-ea"/>
            </a:endParaRPr>
          </a:p>
        </p:txBody>
      </p:sp>
      <p:sp>
        <p:nvSpPr>
          <p:cNvPr id="22" name="矩形 21"/>
          <p:cNvSpPr/>
          <p:nvPr>
            <p:custDataLst>
              <p:tags r:id="rId2"/>
            </p:custDataLst>
          </p:nvPr>
        </p:nvSpPr>
        <p:spPr>
          <a:xfrm>
            <a:off x="5178425" y="2989263"/>
            <a:ext cx="1383030" cy="423545"/>
          </a:xfrm>
          <a:prstGeom prst="rect">
            <a:avLst/>
          </a:prstGeom>
        </p:spPr>
        <p:txBody>
          <a:bodyPr wrap="none">
            <a:spAutoFit/>
          </a:bodyPr>
          <a:lstStyle/>
          <a:p>
            <a:pPr marL="0" lvl="0" indent="0" algn="l" fontAlgn="base">
              <a:lnSpc>
                <a:spcPct val="120000"/>
              </a:lnSpc>
              <a:spcBef>
                <a:spcPts val="0"/>
              </a:spcBef>
              <a:spcAft>
                <a:spcPts val="800"/>
              </a:spcAft>
              <a:buSzPct val="100000"/>
            </a:pPr>
            <a:r>
              <a:rPr lang="zh-CN" altLang="en-US" sz="1800" spc="90">
                <a:solidFill>
                  <a:schemeClr val="dk1">
                    <a:lumMod val="85000"/>
                    <a:lumOff val="15000"/>
                  </a:schemeClr>
                </a:solidFill>
                <a:uFillTx/>
                <a:latin typeface="微软雅黑" panose="020B0503020204020204" pitchFamily="34" charset="-122"/>
                <a:sym typeface="+mn-ea"/>
              </a:rPr>
              <a:t>评估与总结</a:t>
            </a:r>
            <a:endParaRPr lang="zh-CN" altLang="en-US" sz="1800" spc="90">
              <a:solidFill>
                <a:schemeClr val="dk1">
                  <a:lumMod val="85000"/>
                  <a:lumOff val="15000"/>
                </a:schemeClr>
              </a:solidFill>
              <a:uFillTx/>
              <a:latin typeface="微软雅黑" panose="020B0503020204020204" pitchFamily="34" charset="-122"/>
              <a:sym typeface="+mn-ea"/>
            </a:endParaRPr>
          </a:p>
        </p:txBody>
      </p:sp>
      <p:grpSp>
        <p:nvGrpSpPr>
          <p:cNvPr id="15368" name="组合 25"/>
          <p:cNvGrpSpPr/>
          <p:nvPr/>
        </p:nvGrpSpPr>
        <p:grpSpPr>
          <a:xfrm>
            <a:off x="4665663" y="1276350"/>
            <a:ext cx="360362" cy="360363"/>
            <a:chOff x="2558424" y="1401428"/>
            <a:chExt cx="1318727" cy="1318727"/>
          </a:xfrm>
        </p:grpSpPr>
        <p:sp>
          <p:nvSpPr>
            <p:cNvPr id="27" name="椭圆 26"/>
            <p:cNvSpPr/>
            <p:nvPr/>
          </p:nvSpPr>
          <p:spPr>
            <a:xfrm>
              <a:off x="2558424" y="1401428"/>
              <a:ext cx="1318727" cy="1318727"/>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29" name="Freeform 11"/>
            <p:cNvSpPr/>
            <p:nvPr/>
          </p:nvSpPr>
          <p:spPr bwMode="auto">
            <a:xfrm>
              <a:off x="2674612" y="1813895"/>
              <a:ext cx="1086352" cy="598362"/>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grpSp>
      <p:grpSp>
        <p:nvGrpSpPr>
          <p:cNvPr id="15371" name="组合 29"/>
          <p:cNvGrpSpPr>
            <a:grpSpLocks noChangeAspect="1"/>
          </p:cNvGrpSpPr>
          <p:nvPr/>
        </p:nvGrpSpPr>
        <p:grpSpPr>
          <a:xfrm>
            <a:off x="4665663" y="1882775"/>
            <a:ext cx="360362" cy="358775"/>
            <a:chOff x="1928879" y="1944350"/>
            <a:chExt cx="1129689" cy="1129689"/>
          </a:xfrm>
        </p:grpSpPr>
        <p:sp>
          <p:nvSpPr>
            <p:cNvPr id="31" name="椭圆 30"/>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2" name="Freeform 7"/>
            <p:cNvSpPr>
              <a:spLocks noEditPoints="1"/>
            </p:cNvSpPr>
            <p:nvPr/>
          </p:nvSpPr>
          <p:spPr bwMode="auto">
            <a:xfrm>
              <a:off x="2108037" y="2229273"/>
              <a:ext cx="751467" cy="614829"/>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15374" name="组合 32"/>
          <p:cNvGrpSpPr>
            <a:grpSpLocks noChangeAspect="1"/>
          </p:cNvGrpSpPr>
          <p:nvPr>
            <p:custDataLst>
              <p:tags r:id="rId3"/>
            </p:custDataLst>
          </p:nvPr>
        </p:nvGrpSpPr>
        <p:grpSpPr>
          <a:xfrm>
            <a:off x="4665663" y="2439988"/>
            <a:ext cx="360362" cy="360362"/>
            <a:chOff x="1928879" y="1944350"/>
            <a:chExt cx="1129689" cy="1129689"/>
          </a:xfrm>
        </p:grpSpPr>
        <p:sp>
          <p:nvSpPr>
            <p:cNvPr id="34" name="椭圆 33"/>
            <p:cNvSpPr/>
            <p:nvPr>
              <p:custDataLst>
                <p:tags r:id="rId4"/>
              </p:custDataLst>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18"/>
            <p:cNvSpPr>
              <a:spLocks noEditPoints="1"/>
            </p:cNvSpPr>
            <p:nvPr>
              <p:custDataLst>
                <p:tags r:id="rId5"/>
              </p:custDataLst>
            </p:nvPr>
          </p:nvSpPr>
          <p:spPr bwMode="auto">
            <a:xfrm>
              <a:off x="2152825" y="2103602"/>
              <a:ext cx="661891" cy="791279"/>
            </a:xfrm>
            <a:custGeom>
              <a:avLst/>
              <a:gdLst>
                <a:gd name="T0" fmla="*/ 456 w 456"/>
                <a:gd name="T1" fmla="*/ 528 h 548"/>
                <a:gd name="T2" fmla="*/ 436 w 456"/>
                <a:gd name="T3" fmla="*/ 548 h 548"/>
                <a:gd name="T4" fmla="*/ 84 w 456"/>
                <a:gd name="T5" fmla="*/ 548 h 548"/>
                <a:gd name="T6" fmla="*/ 0 w 456"/>
                <a:gd name="T7" fmla="*/ 464 h 548"/>
                <a:gd name="T8" fmla="*/ 84 w 456"/>
                <a:gd name="T9" fmla="*/ 380 h 548"/>
                <a:gd name="T10" fmla="*/ 436 w 456"/>
                <a:gd name="T11" fmla="*/ 380 h 548"/>
                <a:gd name="T12" fmla="*/ 456 w 456"/>
                <a:gd name="T13" fmla="*/ 399 h 548"/>
                <a:gd name="T14" fmla="*/ 436 w 456"/>
                <a:gd name="T15" fmla="*/ 419 h 548"/>
                <a:gd name="T16" fmla="*/ 90 w 456"/>
                <a:gd name="T17" fmla="*/ 419 h 548"/>
                <a:gd name="T18" fmla="*/ 45 w 456"/>
                <a:gd name="T19" fmla="*/ 464 h 548"/>
                <a:gd name="T20" fmla="*/ 90 w 456"/>
                <a:gd name="T21" fmla="*/ 509 h 548"/>
                <a:gd name="T22" fmla="*/ 436 w 456"/>
                <a:gd name="T23" fmla="*/ 509 h 548"/>
                <a:gd name="T24" fmla="*/ 456 w 456"/>
                <a:gd name="T25" fmla="*/ 528 h 548"/>
                <a:gd name="T26" fmla="*/ 235 w 456"/>
                <a:gd name="T27" fmla="*/ 78 h 548"/>
                <a:gd name="T28" fmla="*/ 309 w 456"/>
                <a:gd name="T29" fmla="*/ 6 h 548"/>
                <a:gd name="T30" fmla="*/ 309 w 456"/>
                <a:gd name="T31" fmla="*/ 0 h 548"/>
                <a:gd name="T32" fmla="*/ 303 w 456"/>
                <a:gd name="T33" fmla="*/ 0 h 548"/>
                <a:gd name="T34" fmla="*/ 228 w 456"/>
                <a:gd name="T35" fmla="*/ 72 h 548"/>
                <a:gd name="T36" fmla="*/ 229 w 456"/>
                <a:gd name="T37" fmla="*/ 77 h 548"/>
                <a:gd name="T38" fmla="*/ 235 w 456"/>
                <a:gd name="T39" fmla="*/ 78 h 548"/>
                <a:gd name="T40" fmla="*/ 372 w 456"/>
                <a:gd name="T41" fmla="*/ 137 h 548"/>
                <a:gd name="T42" fmla="*/ 295 w 456"/>
                <a:gd name="T43" fmla="*/ 85 h 548"/>
                <a:gd name="T44" fmla="*/ 232 w 456"/>
                <a:gd name="T45" fmla="*/ 98 h 548"/>
                <a:gd name="T46" fmla="*/ 170 w 456"/>
                <a:gd name="T47" fmla="*/ 85 h 548"/>
                <a:gd name="T48" fmla="*/ 93 w 456"/>
                <a:gd name="T49" fmla="*/ 137 h 548"/>
                <a:gd name="T50" fmla="*/ 175 w 456"/>
                <a:gd name="T51" fmla="*/ 341 h 548"/>
                <a:gd name="T52" fmla="*/ 232 w 456"/>
                <a:gd name="T53" fmla="*/ 328 h 548"/>
                <a:gd name="T54" fmla="*/ 290 w 456"/>
                <a:gd name="T55" fmla="*/ 341 h 548"/>
                <a:gd name="T56" fmla="*/ 372 w 456"/>
                <a:gd name="T57" fmla="*/ 137 h 548"/>
                <a:gd name="T58" fmla="*/ 172 w 456"/>
                <a:gd name="T59" fmla="*/ 126 h 548"/>
                <a:gd name="T60" fmla="*/ 168 w 456"/>
                <a:gd name="T61" fmla="*/ 126 h 548"/>
                <a:gd name="T62" fmla="*/ 128 w 456"/>
                <a:gd name="T63" fmla="*/ 161 h 548"/>
                <a:gd name="T64" fmla="*/ 119 w 456"/>
                <a:gd name="T65" fmla="*/ 169 h 548"/>
                <a:gd name="T66" fmla="*/ 118 w 456"/>
                <a:gd name="T67" fmla="*/ 169 h 548"/>
                <a:gd name="T68" fmla="*/ 116 w 456"/>
                <a:gd name="T69" fmla="*/ 168 h 548"/>
                <a:gd name="T70" fmla="*/ 109 w 456"/>
                <a:gd name="T71" fmla="*/ 157 h 548"/>
                <a:gd name="T72" fmla="*/ 168 w 456"/>
                <a:gd name="T73" fmla="*/ 106 h 548"/>
                <a:gd name="T74" fmla="*/ 173 w 456"/>
                <a:gd name="T75" fmla="*/ 106 h 548"/>
                <a:gd name="T76" fmla="*/ 181 w 456"/>
                <a:gd name="T77" fmla="*/ 117 h 548"/>
                <a:gd name="T78" fmla="*/ 172 w 456"/>
                <a:gd name="T79" fmla="*/ 12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6" h="548">
                  <a:moveTo>
                    <a:pt x="456" y="528"/>
                  </a:moveTo>
                  <a:cubicBezTo>
                    <a:pt x="456" y="539"/>
                    <a:pt x="447" y="548"/>
                    <a:pt x="436" y="548"/>
                  </a:cubicBezTo>
                  <a:cubicBezTo>
                    <a:pt x="84" y="548"/>
                    <a:pt x="84" y="548"/>
                    <a:pt x="84" y="548"/>
                  </a:cubicBezTo>
                  <a:cubicBezTo>
                    <a:pt x="38" y="548"/>
                    <a:pt x="0" y="510"/>
                    <a:pt x="0" y="464"/>
                  </a:cubicBezTo>
                  <a:cubicBezTo>
                    <a:pt x="0" y="417"/>
                    <a:pt x="38" y="380"/>
                    <a:pt x="84" y="380"/>
                  </a:cubicBezTo>
                  <a:cubicBezTo>
                    <a:pt x="436" y="380"/>
                    <a:pt x="436" y="380"/>
                    <a:pt x="436" y="380"/>
                  </a:cubicBezTo>
                  <a:cubicBezTo>
                    <a:pt x="447" y="380"/>
                    <a:pt x="456" y="389"/>
                    <a:pt x="456" y="399"/>
                  </a:cubicBezTo>
                  <a:cubicBezTo>
                    <a:pt x="456" y="410"/>
                    <a:pt x="447" y="419"/>
                    <a:pt x="436" y="419"/>
                  </a:cubicBezTo>
                  <a:cubicBezTo>
                    <a:pt x="90" y="419"/>
                    <a:pt x="90" y="419"/>
                    <a:pt x="90" y="419"/>
                  </a:cubicBezTo>
                  <a:cubicBezTo>
                    <a:pt x="65" y="419"/>
                    <a:pt x="45" y="439"/>
                    <a:pt x="45" y="464"/>
                  </a:cubicBezTo>
                  <a:cubicBezTo>
                    <a:pt x="45" y="488"/>
                    <a:pt x="65" y="509"/>
                    <a:pt x="90" y="509"/>
                  </a:cubicBezTo>
                  <a:cubicBezTo>
                    <a:pt x="436" y="509"/>
                    <a:pt x="436" y="509"/>
                    <a:pt x="436" y="509"/>
                  </a:cubicBezTo>
                  <a:cubicBezTo>
                    <a:pt x="447" y="509"/>
                    <a:pt x="456" y="518"/>
                    <a:pt x="456" y="528"/>
                  </a:cubicBezTo>
                  <a:close/>
                  <a:moveTo>
                    <a:pt x="235" y="78"/>
                  </a:moveTo>
                  <a:cubicBezTo>
                    <a:pt x="276" y="78"/>
                    <a:pt x="309" y="45"/>
                    <a:pt x="309" y="6"/>
                  </a:cubicBezTo>
                  <a:cubicBezTo>
                    <a:pt x="309" y="4"/>
                    <a:pt x="309" y="2"/>
                    <a:pt x="309" y="0"/>
                  </a:cubicBezTo>
                  <a:cubicBezTo>
                    <a:pt x="307" y="0"/>
                    <a:pt x="305" y="0"/>
                    <a:pt x="303" y="0"/>
                  </a:cubicBezTo>
                  <a:cubicBezTo>
                    <a:pt x="262" y="0"/>
                    <a:pt x="228" y="32"/>
                    <a:pt x="228" y="72"/>
                  </a:cubicBezTo>
                  <a:cubicBezTo>
                    <a:pt x="228" y="74"/>
                    <a:pt x="228" y="76"/>
                    <a:pt x="229" y="77"/>
                  </a:cubicBezTo>
                  <a:cubicBezTo>
                    <a:pt x="231" y="78"/>
                    <a:pt x="233" y="78"/>
                    <a:pt x="235" y="78"/>
                  </a:cubicBezTo>
                  <a:close/>
                  <a:moveTo>
                    <a:pt x="372" y="137"/>
                  </a:moveTo>
                  <a:cubicBezTo>
                    <a:pt x="357" y="102"/>
                    <a:pt x="321" y="85"/>
                    <a:pt x="295" y="85"/>
                  </a:cubicBezTo>
                  <a:cubicBezTo>
                    <a:pt x="263" y="85"/>
                    <a:pt x="257" y="98"/>
                    <a:pt x="232" y="98"/>
                  </a:cubicBezTo>
                  <a:cubicBezTo>
                    <a:pt x="208" y="98"/>
                    <a:pt x="202" y="85"/>
                    <a:pt x="170" y="85"/>
                  </a:cubicBezTo>
                  <a:cubicBezTo>
                    <a:pt x="143" y="85"/>
                    <a:pt x="108" y="102"/>
                    <a:pt x="93" y="137"/>
                  </a:cubicBezTo>
                  <a:cubicBezTo>
                    <a:pt x="62" y="207"/>
                    <a:pt x="114" y="341"/>
                    <a:pt x="175" y="341"/>
                  </a:cubicBezTo>
                  <a:cubicBezTo>
                    <a:pt x="199" y="341"/>
                    <a:pt x="210" y="328"/>
                    <a:pt x="232" y="328"/>
                  </a:cubicBezTo>
                  <a:cubicBezTo>
                    <a:pt x="255" y="328"/>
                    <a:pt x="265" y="341"/>
                    <a:pt x="290" y="341"/>
                  </a:cubicBezTo>
                  <a:cubicBezTo>
                    <a:pt x="351" y="341"/>
                    <a:pt x="403" y="207"/>
                    <a:pt x="372" y="137"/>
                  </a:cubicBezTo>
                  <a:close/>
                  <a:moveTo>
                    <a:pt x="172" y="126"/>
                  </a:moveTo>
                  <a:cubicBezTo>
                    <a:pt x="170" y="126"/>
                    <a:pt x="169" y="126"/>
                    <a:pt x="168" y="126"/>
                  </a:cubicBezTo>
                  <a:cubicBezTo>
                    <a:pt x="154" y="126"/>
                    <a:pt x="132" y="138"/>
                    <a:pt x="128" y="161"/>
                  </a:cubicBezTo>
                  <a:cubicBezTo>
                    <a:pt x="127" y="165"/>
                    <a:pt x="123" y="169"/>
                    <a:pt x="119" y="169"/>
                  </a:cubicBezTo>
                  <a:cubicBezTo>
                    <a:pt x="118" y="169"/>
                    <a:pt x="118" y="169"/>
                    <a:pt x="118" y="169"/>
                  </a:cubicBezTo>
                  <a:cubicBezTo>
                    <a:pt x="118" y="169"/>
                    <a:pt x="117" y="169"/>
                    <a:pt x="116" y="168"/>
                  </a:cubicBezTo>
                  <a:cubicBezTo>
                    <a:pt x="111" y="167"/>
                    <a:pt x="108" y="162"/>
                    <a:pt x="109" y="157"/>
                  </a:cubicBezTo>
                  <a:cubicBezTo>
                    <a:pt x="115" y="125"/>
                    <a:pt x="144" y="106"/>
                    <a:pt x="168" y="106"/>
                  </a:cubicBezTo>
                  <a:cubicBezTo>
                    <a:pt x="170" y="106"/>
                    <a:pt x="171" y="106"/>
                    <a:pt x="173" y="106"/>
                  </a:cubicBezTo>
                  <a:cubicBezTo>
                    <a:pt x="178" y="107"/>
                    <a:pt x="182" y="112"/>
                    <a:pt x="181" y="117"/>
                  </a:cubicBezTo>
                  <a:cubicBezTo>
                    <a:pt x="181" y="122"/>
                    <a:pt x="177" y="126"/>
                    <a:pt x="172" y="126"/>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15377" name="组合 35"/>
          <p:cNvGrpSpPr>
            <a:grpSpLocks noChangeAspect="1"/>
          </p:cNvGrpSpPr>
          <p:nvPr>
            <p:custDataLst>
              <p:tags r:id="rId6"/>
            </p:custDataLst>
          </p:nvPr>
        </p:nvGrpSpPr>
        <p:grpSpPr>
          <a:xfrm>
            <a:off x="4665663" y="2997200"/>
            <a:ext cx="360362" cy="360363"/>
            <a:chOff x="1928879" y="1944350"/>
            <a:chExt cx="1129689" cy="1129689"/>
          </a:xfrm>
        </p:grpSpPr>
        <p:sp>
          <p:nvSpPr>
            <p:cNvPr id="39" name="椭圆 38"/>
            <p:cNvSpPr/>
            <p:nvPr>
              <p:custDataLst>
                <p:tags r:id="rId7"/>
              </p:custDataLst>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grpSp>
          <p:nvGrpSpPr>
            <p:cNvPr id="6" name="组合 39"/>
            <p:cNvGrpSpPr/>
            <p:nvPr/>
          </p:nvGrpSpPr>
          <p:grpSpPr>
            <a:xfrm>
              <a:off x="2119073" y="2251134"/>
              <a:ext cx="749300" cy="509588"/>
              <a:chOff x="3897313" y="2016126"/>
              <a:chExt cx="749300" cy="509588"/>
            </a:xfrm>
            <a:solidFill>
              <a:schemeClr val="bg1"/>
            </a:solidFill>
          </p:grpSpPr>
          <p:sp>
            <p:nvSpPr>
              <p:cNvPr id="41" name="Freeform 8"/>
              <p:cNvSpPr>
                <a:spLocks noEditPoints="1"/>
              </p:cNvSpPr>
              <p:nvPr>
                <p:custDataLst>
                  <p:tags r:id="rId8"/>
                </p:custDataLst>
              </p:nvPr>
            </p:nvSpPr>
            <p:spPr bwMode="auto">
              <a:xfrm>
                <a:off x="3897313" y="2016126"/>
                <a:ext cx="749300" cy="509588"/>
              </a:xfrm>
              <a:custGeom>
                <a:avLst/>
                <a:gdLst>
                  <a:gd name="T0" fmla="*/ 627 w 631"/>
                  <a:gd name="T1" fmla="*/ 44 h 429"/>
                  <a:gd name="T2" fmla="*/ 469 w 631"/>
                  <a:gd name="T3" fmla="*/ 0 h 429"/>
                  <a:gd name="T4" fmla="*/ 315 w 631"/>
                  <a:gd name="T5" fmla="*/ 41 h 429"/>
                  <a:gd name="T6" fmla="*/ 168 w 631"/>
                  <a:gd name="T7" fmla="*/ 0 h 429"/>
                  <a:gd name="T8" fmla="*/ 3 w 631"/>
                  <a:gd name="T9" fmla="*/ 44 h 429"/>
                  <a:gd name="T10" fmla="*/ 0 w 631"/>
                  <a:gd name="T11" fmla="*/ 52 h 429"/>
                  <a:gd name="T12" fmla="*/ 0 w 631"/>
                  <a:gd name="T13" fmla="*/ 412 h 429"/>
                  <a:gd name="T14" fmla="*/ 23 w 631"/>
                  <a:gd name="T15" fmla="*/ 429 h 429"/>
                  <a:gd name="T16" fmla="*/ 313 w 631"/>
                  <a:gd name="T17" fmla="*/ 429 h 429"/>
                  <a:gd name="T18" fmla="*/ 608 w 631"/>
                  <a:gd name="T19" fmla="*/ 429 h 429"/>
                  <a:gd name="T20" fmla="*/ 631 w 631"/>
                  <a:gd name="T21" fmla="*/ 413 h 429"/>
                  <a:gd name="T22" fmla="*/ 631 w 631"/>
                  <a:gd name="T23" fmla="*/ 52 h 429"/>
                  <a:gd name="T24" fmla="*/ 627 w 631"/>
                  <a:gd name="T25" fmla="*/ 44 h 429"/>
                  <a:gd name="T26" fmla="*/ 304 w 631"/>
                  <a:gd name="T27" fmla="*/ 60 h 429"/>
                  <a:gd name="T28" fmla="*/ 304 w 631"/>
                  <a:gd name="T29" fmla="*/ 393 h 429"/>
                  <a:gd name="T30" fmla="*/ 167 w 631"/>
                  <a:gd name="T31" fmla="*/ 355 h 429"/>
                  <a:gd name="T32" fmla="*/ 40 w 631"/>
                  <a:gd name="T33" fmla="*/ 380 h 429"/>
                  <a:gd name="T34" fmla="*/ 40 w 631"/>
                  <a:gd name="T35" fmla="*/ 46 h 429"/>
                  <a:gd name="T36" fmla="*/ 169 w 631"/>
                  <a:gd name="T37" fmla="*/ 21 h 429"/>
                  <a:gd name="T38" fmla="*/ 304 w 631"/>
                  <a:gd name="T39" fmla="*/ 60 h 429"/>
                  <a:gd name="T40" fmla="*/ 590 w 631"/>
                  <a:gd name="T41" fmla="*/ 45 h 429"/>
                  <a:gd name="T42" fmla="*/ 590 w 631"/>
                  <a:gd name="T43" fmla="*/ 381 h 429"/>
                  <a:gd name="T44" fmla="*/ 462 w 631"/>
                  <a:gd name="T45" fmla="*/ 359 h 429"/>
                  <a:gd name="T46" fmla="*/ 323 w 631"/>
                  <a:gd name="T47" fmla="*/ 394 h 429"/>
                  <a:gd name="T48" fmla="*/ 323 w 631"/>
                  <a:gd name="T49" fmla="*/ 61 h 429"/>
                  <a:gd name="T50" fmla="*/ 469 w 631"/>
                  <a:gd name="T51" fmla="*/ 21 h 429"/>
                  <a:gd name="T52" fmla="*/ 590 w 631"/>
                  <a:gd name="T53" fmla="*/ 45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31" h="429">
                    <a:moveTo>
                      <a:pt x="627" y="44"/>
                    </a:moveTo>
                    <a:cubicBezTo>
                      <a:pt x="593" y="16"/>
                      <a:pt x="534" y="0"/>
                      <a:pt x="469" y="0"/>
                    </a:cubicBezTo>
                    <a:cubicBezTo>
                      <a:pt x="407" y="0"/>
                      <a:pt x="350" y="15"/>
                      <a:pt x="315" y="41"/>
                    </a:cubicBezTo>
                    <a:cubicBezTo>
                      <a:pt x="288" y="15"/>
                      <a:pt x="234" y="0"/>
                      <a:pt x="168" y="0"/>
                    </a:cubicBezTo>
                    <a:cubicBezTo>
                      <a:pt x="100" y="0"/>
                      <a:pt x="37" y="17"/>
                      <a:pt x="3" y="44"/>
                    </a:cubicBezTo>
                    <a:cubicBezTo>
                      <a:pt x="1" y="46"/>
                      <a:pt x="0" y="49"/>
                      <a:pt x="0" y="52"/>
                    </a:cubicBezTo>
                    <a:cubicBezTo>
                      <a:pt x="0" y="412"/>
                      <a:pt x="0" y="412"/>
                      <a:pt x="0" y="412"/>
                    </a:cubicBezTo>
                    <a:cubicBezTo>
                      <a:pt x="0" y="419"/>
                      <a:pt x="9" y="429"/>
                      <a:pt x="23" y="429"/>
                    </a:cubicBezTo>
                    <a:cubicBezTo>
                      <a:pt x="313" y="429"/>
                      <a:pt x="313" y="429"/>
                      <a:pt x="313" y="429"/>
                    </a:cubicBezTo>
                    <a:cubicBezTo>
                      <a:pt x="314" y="429"/>
                      <a:pt x="608" y="429"/>
                      <a:pt x="608" y="429"/>
                    </a:cubicBezTo>
                    <a:cubicBezTo>
                      <a:pt x="618" y="429"/>
                      <a:pt x="631" y="424"/>
                      <a:pt x="631" y="413"/>
                    </a:cubicBezTo>
                    <a:cubicBezTo>
                      <a:pt x="631" y="52"/>
                      <a:pt x="631" y="52"/>
                      <a:pt x="631" y="52"/>
                    </a:cubicBezTo>
                    <a:cubicBezTo>
                      <a:pt x="631" y="49"/>
                      <a:pt x="630" y="46"/>
                      <a:pt x="627" y="44"/>
                    </a:cubicBezTo>
                    <a:close/>
                    <a:moveTo>
                      <a:pt x="304" y="60"/>
                    </a:moveTo>
                    <a:cubicBezTo>
                      <a:pt x="304" y="66"/>
                      <a:pt x="304" y="393"/>
                      <a:pt x="304" y="393"/>
                    </a:cubicBezTo>
                    <a:cubicBezTo>
                      <a:pt x="275" y="369"/>
                      <a:pt x="227" y="355"/>
                      <a:pt x="167" y="355"/>
                    </a:cubicBezTo>
                    <a:cubicBezTo>
                      <a:pt x="120" y="355"/>
                      <a:pt x="75" y="364"/>
                      <a:pt x="40" y="380"/>
                    </a:cubicBezTo>
                    <a:cubicBezTo>
                      <a:pt x="40" y="46"/>
                      <a:pt x="40" y="46"/>
                      <a:pt x="40" y="46"/>
                    </a:cubicBezTo>
                    <a:cubicBezTo>
                      <a:pt x="40" y="46"/>
                      <a:pt x="85" y="21"/>
                      <a:pt x="169" y="21"/>
                    </a:cubicBezTo>
                    <a:cubicBezTo>
                      <a:pt x="266" y="21"/>
                      <a:pt x="304" y="58"/>
                      <a:pt x="304" y="60"/>
                    </a:cubicBezTo>
                    <a:close/>
                    <a:moveTo>
                      <a:pt x="590" y="45"/>
                    </a:moveTo>
                    <a:cubicBezTo>
                      <a:pt x="590" y="381"/>
                      <a:pt x="590" y="381"/>
                      <a:pt x="590" y="381"/>
                    </a:cubicBezTo>
                    <a:cubicBezTo>
                      <a:pt x="554" y="366"/>
                      <a:pt x="505" y="359"/>
                      <a:pt x="462" y="359"/>
                    </a:cubicBezTo>
                    <a:cubicBezTo>
                      <a:pt x="401" y="359"/>
                      <a:pt x="352" y="371"/>
                      <a:pt x="323" y="394"/>
                    </a:cubicBezTo>
                    <a:cubicBezTo>
                      <a:pt x="323" y="61"/>
                      <a:pt x="323" y="61"/>
                      <a:pt x="323" y="61"/>
                    </a:cubicBezTo>
                    <a:cubicBezTo>
                      <a:pt x="323" y="61"/>
                      <a:pt x="368" y="21"/>
                      <a:pt x="469" y="21"/>
                    </a:cubicBezTo>
                    <a:cubicBezTo>
                      <a:pt x="547" y="21"/>
                      <a:pt x="590" y="45"/>
                      <a:pt x="590" y="45"/>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2" name="Freeform 24"/>
              <p:cNvSpPr/>
              <p:nvPr>
                <p:custDataLst>
                  <p:tags r:id="rId9"/>
                </p:custDataLst>
              </p:nvPr>
            </p:nvSpPr>
            <p:spPr bwMode="auto">
              <a:xfrm>
                <a:off x="3992563" y="2085976"/>
                <a:ext cx="228600" cy="52388"/>
              </a:xfrm>
              <a:custGeom>
                <a:avLst/>
                <a:gdLst>
                  <a:gd name="T0" fmla="*/ 184 w 192"/>
                  <a:gd name="T1" fmla="*/ 44 h 44"/>
                  <a:gd name="T2" fmla="*/ 180 w 192"/>
                  <a:gd name="T3" fmla="*/ 43 h 44"/>
                  <a:gd name="T4" fmla="*/ 10 w 192"/>
                  <a:gd name="T5" fmla="*/ 32 h 44"/>
                  <a:gd name="T6" fmla="*/ 1 w 192"/>
                  <a:gd name="T7" fmla="*/ 27 h 44"/>
                  <a:gd name="T8" fmla="*/ 6 w 192"/>
                  <a:gd name="T9" fmla="*/ 19 h 44"/>
                  <a:gd name="T10" fmla="*/ 188 w 192"/>
                  <a:gd name="T11" fmla="*/ 31 h 44"/>
                  <a:gd name="T12" fmla="*/ 190 w 192"/>
                  <a:gd name="T13" fmla="*/ 41 h 44"/>
                  <a:gd name="T14" fmla="*/ 184 w 192"/>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44">
                    <a:moveTo>
                      <a:pt x="184" y="44"/>
                    </a:moveTo>
                    <a:cubicBezTo>
                      <a:pt x="183" y="44"/>
                      <a:pt x="181" y="44"/>
                      <a:pt x="180" y="43"/>
                    </a:cubicBezTo>
                    <a:cubicBezTo>
                      <a:pt x="150" y="23"/>
                      <a:pt x="83" y="12"/>
                      <a:pt x="10" y="32"/>
                    </a:cubicBezTo>
                    <a:cubicBezTo>
                      <a:pt x="6" y="33"/>
                      <a:pt x="2" y="31"/>
                      <a:pt x="1" y="27"/>
                    </a:cubicBezTo>
                    <a:cubicBezTo>
                      <a:pt x="0" y="23"/>
                      <a:pt x="2" y="20"/>
                      <a:pt x="6" y="19"/>
                    </a:cubicBezTo>
                    <a:cubicBezTo>
                      <a:pt x="73" y="0"/>
                      <a:pt x="148" y="5"/>
                      <a:pt x="188" y="31"/>
                    </a:cubicBezTo>
                    <a:cubicBezTo>
                      <a:pt x="191" y="33"/>
                      <a:pt x="192" y="38"/>
                      <a:pt x="190" y="41"/>
                    </a:cubicBezTo>
                    <a:cubicBezTo>
                      <a:pt x="189" y="43"/>
                      <a:pt x="186" y="44"/>
                      <a:pt x="184" y="44"/>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3" name="Freeform 25"/>
              <p:cNvSpPr/>
              <p:nvPr>
                <p:custDataLst>
                  <p:tags r:id="rId10"/>
                </p:custDataLst>
              </p:nvPr>
            </p:nvSpPr>
            <p:spPr bwMode="auto">
              <a:xfrm>
                <a:off x="3992563" y="2151063"/>
                <a:ext cx="228600" cy="50800"/>
              </a:xfrm>
              <a:custGeom>
                <a:avLst/>
                <a:gdLst>
                  <a:gd name="T0" fmla="*/ 184 w 192"/>
                  <a:gd name="T1" fmla="*/ 43 h 43"/>
                  <a:gd name="T2" fmla="*/ 180 w 192"/>
                  <a:gd name="T3" fmla="*/ 42 h 43"/>
                  <a:gd name="T4" fmla="*/ 10 w 192"/>
                  <a:gd name="T5" fmla="*/ 32 h 43"/>
                  <a:gd name="T6" fmla="*/ 1 w 192"/>
                  <a:gd name="T7" fmla="*/ 27 h 43"/>
                  <a:gd name="T8" fmla="*/ 6 w 192"/>
                  <a:gd name="T9" fmla="*/ 19 h 43"/>
                  <a:gd name="T10" fmla="*/ 188 w 192"/>
                  <a:gd name="T11" fmla="*/ 30 h 43"/>
                  <a:gd name="T12" fmla="*/ 190 w 192"/>
                  <a:gd name="T13" fmla="*/ 40 h 43"/>
                  <a:gd name="T14" fmla="*/ 184 w 192"/>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43">
                    <a:moveTo>
                      <a:pt x="184" y="43"/>
                    </a:moveTo>
                    <a:cubicBezTo>
                      <a:pt x="183" y="43"/>
                      <a:pt x="181" y="43"/>
                      <a:pt x="180" y="42"/>
                    </a:cubicBezTo>
                    <a:cubicBezTo>
                      <a:pt x="150" y="23"/>
                      <a:pt x="84" y="11"/>
                      <a:pt x="10" y="32"/>
                    </a:cubicBezTo>
                    <a:cubicBezTo>
                      <a:pt x="6" y="33"/>
                      <a:pt x="2" y="31"/>
                      <a:pt x="1" y="27"/>
                    </a:cubicBezTo>
                    <a:cubicBezTo>
                      <a:pt x="0" y="23"/>
                      <a:pt x="2" y="20"/>
                      <a:pt x="6" y="19"/>
                    </a:cubicBezTo>
                    <a:cubicBezTo>
                      <a:pt x="73" y="0"/>
                      <a:pt x="148" y="4"/>
                      <a:pt x="188" y="30"/>
                    </a:cubicBezTo>
                    <a:cubicBezTo>
                      <a:pt x="191" y="32"/>
                      <a:pt x="192" y="37"/>
                      <a:pt x="190" y="40"/>
                    </a:cubicBezTo>
                    <a:cubicBezTo>
                      <a:pt x="188" y="42"/>
                      <a:pt x="186" y="43"/>
                      <a:pt x="184" y="43"/>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4" name="Freeform 26"/>
              <p:cNvSpPr/>
              <p:nvPr>
                <p:custDataLst>
                  <p:tags r:id="rId11"/>
                </p:custDataLst>
              </p:nvPr>
            </p:nvSpPr>
            <p:spPr bwMode="auto">
              <a:xfrm>
                <a:off x="3992563" y="2214563"/>
                <a:ext cx="230187" cy="50800"/>
              </a:xfrm>
              <a:custGeom>
                <a:avLst/>
                <a:gdLst>
                  <a:gd name="T0" fmla="*/ 185 w 193"/>
                  <a:gd name="T1" fmla="*/ 43 h 43"/>
                  <a:gd name="T2" fmla="*/ 181 w 193"/>
                  <a:gd name="T3" fmla="*/ 42 h 43"/>
                  <a:gd name="T4" fmla="*/ 10 w 193"/>
                  <a:gd name="T5" fmla="*/ 32 h 43"/>
                  <a:gd name="T6" fmla="*/ 1 w 193"/>
                  <a:gd name="T7" fmla="*/ 27 h 43"/>
                  <a:gd name="T8" fmla="*/ 6 w 193"/>
                  <a:gd name="T9" fmla="*/ 18 h 43"/>
                  <a:gd name="T10" fmla="*/ 189 w 193"/>
                  <a:gd name="T11" fmla="*/ 30 h 43"/>
                  <a:gd name="T12" fmla="*/ 191 w 193"/>
                  <a:gd name="T13" fmla="*/ 40 h 43"/>
                  <a:gd name="T14" fmla="*/ 185 w 19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3" h="43">
                    <a:moveTo>
                      <a:pt x="185" y="43"/>
                    </a:moveTo>
                    <a:cubicBezTo>
                      <a:pt x="184" y="43"/>
                      <a:pt x="182" y="43"/>
                      <a:pt x="181" y="42"/>
                    </a:cubicBezTo>
                    <a:cubicBezTo>
                      <a:pt x="151" y="22"/>
                      <a:pt x="85" y="11"/>
                      <a:pt x="10" y="32"/>
                    </a:cubicBezTo>
                    <a:cubicBezTo>
                      <a:pt x="6" y="33"/>
                      <a:pt x="2" y="31"/>
                      <a:pt x="1" y="27"/>
                    </a:cubicBezTo>
                    <a:cubicBezTo>
                      <a:pt x="0" y="23"/>
                      <a:pt x="2" y="20"/>
                      <a:pt x="6" y="18"/>
                    </a:cubicBezTo>
                    <a:cubicBezTo>
                      <a:pt x="74" y="0"/>
                      <a:pt x="149" y="4"/>
                      <a:pt x="189" y="30"/>
                    </a:cubicBezTo>
                    <a:cubicBezTo>
                      <a:pt x="192" y="32"/>
                      <a:pt x="193" y="37"/>
                      <a:pt x="191" y="40"/>
                    </a:cubicBezTo>
                    <a:cubicBezTo>
                      <a:pt x="190" y="42"/>
                      <a:pt x="187" y="43"/>
                      <a:pt x="185" y="43"/>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5" name="Freeform 27"/>
              <p:cNvSpPr/>
              <p:nvPr>
                <p:custDataLst>
                  <p:tags r:id="rId12"/>
                </p:custDataLst>
              </p:nvPr>
            </p:nvSpPr>
            <p:spPr bwMode="auto">
              <a:xfrm>
                <a:off x="3992563" y="2278063"/>
                <a:ext cx="230187" cy="52388"/>
              </a:xfrm>
              <a:custGeom>
                <a:avLst/>
                <a:gdLst>
                  <a:gd name="T0" fmla="*/ 186 w 194"/>
                  <a:gd name="T1" fmla="*/ 44 h 44"/>
                  <a:gd name="T2" fmla="*/ 182 w 194"/>
                  <a:gd name="T3" fmla="*/ 43 h 44"/>
                  <a:gd name="T4" fmla="*/ 10 w 194"/>
                  <a:gd name="T5" fmla="*/ 34 h 44"/>
                  <a:gd name="T6" fmla="*/ 1 w 194"/>
                  <a:gd name="T7" fmla="*/ 30 h 44"/>
                  <a:gd name="T8" fmla="*/ 6 w 194"/>
                  <a:gd name="T9" fmla="*/ 21 h 44"/>
                  <a:gd name="T10" fmla="*/ 190 w 194"/>
                  <a:gd name="T11" fmla="*/ 31 h 44"/>
                  <a:gd name="T12" fmla="*/ 192 w 194"/>
                  <a:gd name="T13" fmla="*/ 41 h 44"/>
                  <a:gd name="T14" fmla="*/ 186 w 194"/>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4">
                    <a:moveTo>
                      <a:pt x="186" y="44"/>
                    </a:moveTo>
                    <a:cubicBezTo>
                      <a:pt x="185" y="44"/>
                      <a:pt x="183" y="44"/>
                      <a:pt x="182" y="43"/>
                    </a:cubicBezTo>
                    <a:cubicBezTo>
                      <a:pt x="144" y="19"/>
                      <a:pt x="78" y="15"/>
                      <a:pt x="10" y="34"/>
                    </a:cubicBezTo>
                    <a:cubicBezTo>
                      <a:pt x="6" y="35"/>
                      <a:pt x="2" y="33"/>
                      <a:pt x="1" y="30"/>
                    </a:cubicBezTo>
                    <a:cubicBezTo>
                      <a:pt x="0" y="26"/>
                      <a:pt x="2" y="22"/>
                      <a:pt x="6" y="21"/>
                    </a:cubicBezTo>
                    <a:cubicBezTo>
                      <a:pt x="79" y="0"/>
                      <a:pt x="148" y="4"/>
                      <a:pt x="190" y="31"/>
                    </a:cubicBezTo>
                    <a:cubicBezTo>
                      <a:pt x="193" y="34"/>
                      <a:pt x="194" y="38"/>
                      <a:pt x="192" y="41"/>
                    </a:cubicBezTo>
                    <a:cubicBezTo>
                      <a:pt x="191" y="43"/>
                      <a:pt x="188" y="44"/>
                      <a:pt x="186" y="44"/>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6" name="Freeform 28"/>
              <p:cNvSpPr/>
              <p:nvPr>
                <p:custDataLst>
                  <p:tags r:id="rId13"/>
                </p:custDataLst>
              </p:nvPr>
            </p:nvSpPr>
            <p:spPr bwMode="auto">
              <a:xfrm>
                <a:off x="3992563" y="2339976"/>
                <a:ext cx="230187" cy="55563"/>
              </a:xfrm>
              <a:custGeom>
                <a:avLst/>
                <a:gdLst>
                  <a:gd name="T0" fmla="*/ 186 w 194"/>
                  <a:gd name="T1" fmla="*/ 47 h 47"/>
                  <a:gd name="T2" fmla="*/ 182 w 194"/>
                  <a:gd name="T3" fmla="*/ 46 h 47"/>
                  <a:gd name="T4" fmla="*/ 10 w 194"/>
                  <a:gd name="T5" fmla="*/ 38 h 47"/>
                  <a:gd name="T6" fmla="*/ 1 w 194"/>
                  <a:gd name="T7" fmla="*/ 34 h 47"/>
                  <a:gd name="T8" fmla="*/ 5 w 194"/>
                  <a:gd name="T9" fmla="*/ 25 h 47"/>
                  <a:gd name="T10" fmla="*/ 190 w 194"/>
                  <a:gd name="T11" fmla="*/ 34 h 47"/>
                  <a:gd name="T12" fmla="*/ 192 w 194"/>
                  <a:gd name="T13" fmla="*/ 44 h 47"/>
                  <a:gd name="T14" fmla="*/ 186 w 194"/>
                  <a:gd name="T15" fmla="*/ 47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7">
                    <a:moveTo>
                      <a:pt x="186" y="47"/>
                    </a:moveTo>
                    <a:cubicBezTo>
                      <a:pt x="185" y="47"/>
                      <a:pt x="183" y="46"/>
                      <a:pt x="182" y="46"/>
                    </a:cubicBezTo>
                    <a:cubicBezTo>
                      <a:pt x="148" y="23"/>
                      <a:pt x="67" y="15"/>
                      <a:pt x="10" y="38"/>
                    </a:cubicBezTo>
                    <a:cubicBezTo>
                      <a:pt x="7" y="39"/>
                      <a:pt x="3" y="37"/>
                      <a:pt x="1" y="34"/>
                    </a:cubicBezTo>
                    <a:cubicBezTo>
                      <a:pt x="0" y="30"/>
                      <a:pt x="1" y="26"/>
                      <a:pt x="5" y="25"/>
                    </a:cubicBezTo>
                    <a:cubicBezTo>
                      <a:pt x="67" y="0"/>
                      <a:pt x="152" y="10"/>
                      <a:pt x="190" y="34"/>
                    </a:cubicBezTo>
                    <a:cubicBezTo>
                      <a:pt x="193" y="36"/>
                      <a:pt x="194" y="40"/>
                      <a:pt x="192" y="44"/>
                    </a:cubicBezTo>
                    <a:cubicBezTo>
                      <a:pt x="190" y="46"/>
                      <a:pt x="188" y="47"/>
                      <a:pt x="186" y="47"/>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7" name="Freeform 29"/>
              <p:cNvSpPr/>
              <p:nvPr>
                <p:custDataLst>
                  <p:tags r:id="rId14"/>
                </p:custDataLst>
              </p:nvPr>
            </p:nvSpPr>
            <p:spPr bwMode="auto">
              <a:xfrm>
                <a:off x="4321175" y="2085976"/>
                <a:ext cx="230187" cy="52388"/>
              </a:xfrm>
              <a:custGeom>
                <a:avLst/>
                <a:gdLst>
                  <a:gd name="T0" fmla="*/ 8 w 194"/>
                  <a:gd name="T1" fmla="*/ 44 h 44"/>
                  <a:gd name="T2" fmla="*/ 2 w 194"/>
                  <a:gd name="T3" fmla="*/ 41 h 44"/>
                  <a:gd name="T4" fmla="*/ 4 w 194"/>
                  <a:gd name="T5" fmla="*/ 31 h 44"/>
                  <a:gd name="T6" fmla="*/ 188 w 194"/>
                  <a:gd name="T7" fmla="*/ 19 h 44"/>
                  <a:gd name="T8" fmla="*/ 193 w 194"/>
                  <a:gd name="T9" fmla="*/ 27 h 44"/>
                  <a:gd name="T10" fmla="*/ 185 w 194"/>
                  <a:gd name="T11" fmla="*/ 32 h 44"/>
                  <a:gd name="T12" fmla="*/ 12 w 194"/>
                  <a:gd name="T13" fmla="*/ 43 h 44"/>
                  <a:gd name="T14" fmla="*/ 8 w 194"/>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4">
                    <a:moveTo>
                      <a:pt x="8" y="44"/>
                    </a:moveTo>
                    <a:cubicBezTo>
                      <a:pt x="6" y="44"/>
                      <a:pt x="4" y="43"/>
                      <a:pt x="2" y="41"/>
                    </a:cubicBezTo>
                    <a:cubicBezTo>
                      <a:pt x="0" y="38"/>
                      <a:pt x="1" y="33"/>
                      <a:pt x="4" y="31"/>
                    </a:cubicBezTo>
                    <a:cubicBezTo>
                      <a:pt x="45" y="5"/>
                      <a:pt x="121" y="0"/>
                      <a:pt x="188" y="19"/>
                    </a:cubicBezTo>
                    <a:cubicBezTo>
                      <a:pt x="192" y="20"/>
                      <a:pt x="194" y="23"/>
                      <a:pt x="193" y="27"/>
                    </a:cubicBezTo>
                    <a:cubicBezTo>
                      <a:pt x="192" y="31"/>
                      <a:pt x="188" y="33"/>
                      <a:pt x="185" y="32"/>
                    </a:cubicBezTo>
                    <a:cubicBezTo>
                      <a:pt x="113" y="12"/>
                      <a:pt x="44" y="23"/>
                      <a:pt x="12" y="43"/>
                    </a:cubicBezTo>
                    <a:cubicBezTo>
                      <a:pt x="11" y="44"/>
                      <a:pt x="10" y="44"/>
                      <a:pt x="8" y="44"/>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8" name="Freeform 30"/>
              <p:cNvSpPr/>
              <p:nvPr>
                <p:custDataLst>
                  <p:tags r:id="rId15"/>
                </p:custDataLst>
              </p:nvPr>
            </p:nvSpPr>
            <p:spPr bwMode="auto">
              <a:xfrm>
                <a:off x="4321175" y="2149476"/>
                <a:ext cx="230187" cy="53975"/>
              </a:xfrm>
              <a:custGeom>
                <a:avLst/>
                <a:gdLst>
                  <a:gd name="T0" fmla="*/ 8 w 194"/>
                  <a:gd name="T1" fmla="*/ 45 h 45"/>
                  <a:gd name="T2" fmla="*/ 2 w 194"/>
                  <a:gd name="T3" fmla="*/ 42 h 45"/>
                  <a:gd name="T4" fmla="*/ 5 w 194"/>
                  <a:gd name="T5" fmla="*/ 32 h 45"/>
                  <a:gd name="T6" fmla="*/ 189 w 194"/>
                  <a:gd name="T7" fmla="*/ 19 h 45"/>
                  <a:gd name="T8" fmla="*/ 193 w 194"/>
                  <a:gd name="T9" fmla="*/ 28 h 45"/>
                  <a:gd name="T10" fmla="*/ 185 w 194"/>
                  <a:gd name="T11" fmla="*/ 33 h 45"/>
                  <a:gd name="T12" fmla="*/ 12 w 194"/>
                  <a:gd name="T13" fmla="*/ 44 h 45"/>
                  <a:gd name="T14" fmla="*/ 8 w 194"/>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5">
                    <a:moveTo>
                      <a:pt x="8" y="45"/>
                    </a:moveTo>
                    <a:cubicBezTo>
                      <a:pt x="6" y="45"/>
                      <a:pt x="4" y="44"/>
                      <a:pt x="2" y="42"/>
                    </a:cubicBezTo>
                    <a:cubicBezTo>
                      <a:pt x="0" y="38"/>
                      <a:pt x="1" y="34"/>
                      <a:pt x="5" y="32"/>
                    </a:cubicBezTo>
                    <a:cubicBezTo>
                      <a:pt x="45" y="6"/>
                      <a:pt x="121" y="0"/>
                      <a:pt x="189" y="19"/>
                    </a:cubicBezTo>
                    <a:cubicBezTo>
                      <a:pt x="192" y="20"/>
                      <a:pt x="194" y="24"/>
                      <a:pt x="193" y="28"/>
                    </a:cubicBezTo>
                    <a:cubicBezTo>
                      <a:pt x="192" y="32"/>
                      <a:pt x="189" y="34"/>
                      <a:pt x="185" y="33"/>
                    </a:cubicBezTo>
                    <a:cubicBezTo>
                      <a:pt x="113" y="13"/>
                      <a:pt x="44" y="23"/>
                      <a:pt x="12" y="44"/>
                    </a:cubicBezTo>
                    <a:cubicBezTo>
                      <a:pt x="11" y="44"/>
                      <a:pt x="10" y="45"/>
                      <a:pt x="8" y="45"/>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49" name="Freeform 31"/>
              <p:cNvSpPr/>
              <p:nvPr>
                <p:custDataLst>
                  <p:tags r:id="rId16"/>
                </p:custDataLst>
              </p:nvPr>
            </p:nvSpPr>
            <p:spPr bwMode="auto">
              <a:xfrm>
                <a:off x="4321175" y="2214563"/>
                <a:ext cx="230187" cy="53975"/>
              </a:xfrm>
              <a:custGeom>
                <a:avLst/>
                <a:gdLst>
                  <a:gd name="T0" fmla="*/ 8 w 195"/>
                  <a:gd name="T1" fmla="*/ 45 h 45"/>
                  <a:gd name="T2" fmla="*/ 3 w 195"/>
                  <a:gd name="T3" fmla="*/ 41 h 45"/>
                  <a:gd name="T4" fmla="*/ 5 w 195"/>
                  <a:gd name="T5" fmla="*/ 32 h 45"/>
                  <a:gd name="T6" fmla="*/ 189 w 195"/>
                  <a:gd name="T7" fmla="*/ 19 h 45"/>
                  <a:gd name="T8" fmla="*/ 193 w 195"/>
                  <a:gd name="T9" fmla="*/ 28 h 45"/>
                  <a:gd name="T10" fmla="*/ 185 w 195"/>
                  <a:gd name="T11" fmla="*/ 32 h 45"/>
                  <a:gd name="T12" fmla="*/ 12 w 195"/>
                  <a:gd name="T13" fmla="*/ 43 h 45"/>
                  <a:gd name="T14" fmla="*/ 8 w 195"/>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45">
                    <a:moveTo>
                      <a:pt x="8" y="45"/>
                    </a:moveTo>
                    <a:cubicBezTo>
                      <a:pt x="6" y="45"/>
                      <a:pt x="4" y="43"/>
                      <a:pt x="3" y="41"/>
                    </a:cubicBezTo>
                    <a:cubicBezTo>
                      <a:pt x="0" y="38"/>
                      <a:pt x="1" y="34"/>
                      <a:pt x="5" y="32"/>
                    </a:cubicBezTo>
                    <a:cubicBezTo>
                      <a:pt x="45" y="5"/>
                      <a:pt x="121" y="0"/>
                      <a:pt x="189" y="19"/>
                    </a:cubicBezTo>
                    <a:cubicBezTo>
                      <a:pt x="192" y="20"/>
                      <a:pt x="195" y="24"/>
                      <a:pt x="193" y="28"/>
                    </a:cubicBezTo>
                    <a:cubicBezTo>
                      <a:pt x="192" y="31"/>
                      <a:pt x="189" y="33"/>
                      <a:pt x="185" y="32"/>
                    </a:cubicBezTo>
                    <a:cubicBezTo>
                      <a:pt x="113" y="12"/>
                      <a:pt x="44" y="23"/>
                      <a:pt x="12" y="43"/>
                    </a:cubicBezTo>
                    <a:cubicBezTo>
                      <a:pt x="11" y="44"/>
                      <a:pt x="10" y="45"/>
                      <a:pt x="8" y="45"/>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50" name="Freeform 32"/>
              <p:cNvSpPr/>
              <p:nvPr>
                <p:custDataLst>
                  <p:tags r:id="rId17"/>
                </p:custDataLst>
              </p:nvPr>
            </p:nvSpPr>
            <p:spPr bwMode="auto">
              <a:xfrm>
                <a:off x="4321175" y="2278063"/>
                <a:ext cx="230187" cy="52388"/>
              </a:xfrm>
              <a:custGeom>
                <a:avLst/>
                <a:gdLst>
                  <a:gd name="T0" fmla="*/ 8 w 195"/>
                  <a:gd name="T1" fmla="*/ 45 h 45"/>
                  <a:gd name="T2" fmla="*/ 3 w 195"/>
                  <a:gd name="T3" fmla="*/ 42 h 45"/>
                  <a:gd name="T4" fmla="*/ 5 w 195"/>
                  <a:gd name="T5" fmla="*/ 32 h 45"/>
                  <a:gd name="T6" fmla="*/ 189 w 195"/>
                  <a:gd name="T7" fmla="*/ 20 h 45"/>
                  <a:gd name="T8" fmla="*/ 194 w 195"/>
                  <a:gd name="T9" fmla="*/ 28 h 45"/>
                  <a:gd name="T10" fmla="*/ 185 w 195"/>
                  <a:gd name="T11" fmla="*/ 33 h 45"/>
                  <a:gd name="T12" fmla="*/ 12 w 195"/>
                  <a:gd name="T13" fmla="*/ 44 h 45"/>
                  <a:gd name="T14" fmla="*/ 8 w 195"/>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45">
                    <a:moveTo>
                      <a:pt x="8" y="45"/>
                    </a:moveTo>
                    <a:cubicBezTo>
                      <a:pt x="6" y="45"/>
                      <a:pt x="4" y="44"/>
                      <a:pt x="3" y="42"/>
                    </a:cubicBezTo>
                    <a:cubicBezTo>
                      <a:pt x="0" y="39"/>
                      <a:pt x="1" y="34"/>
                      <a:pt x="5" y="32"/>
                    </a:cubicBezTo>
                    <a:cubicBezTo>
                      <a:pt x="38" y="11"/>
                      <a:pt x="118" y="0"/>
                      <a:pt x="189" y="20"/>
                    </a:cubicBezTo>
                    <a:cubicBezTo>
                      <a:pt x="192" y="21"/>
                      <a:pt x="195" y="25"/>
                      <a:pt x="194" y="28"/>
                    </a:cubicBezTo>
                    <a:cubicBezTo>
                      <a:pt x="192" y="32"/>
                      <a:pt x="189" y="34"/>
                      <a:pt x="185" y="33"/>
                    </a:cubicBezTo>
                    <a:cubicBezTo>
                      <a:pt x="120" y="15"/>
                      <a:pt x="43" y="24"/>
                      <a:pt x="12" y="44"/>
                    </a:cubicBezTo>
                    <a:cubicBezTo>
                      <a:pt x="11" y="45"/>
                      <a:pt x="10" y="45"/>
                      <a:pt x="8" y="45"/>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sp>
            <p:nvSpPr>
              <p:cNvPr id="51" name="Freeform 33"/>
              <p:cNvSpPr/>
              <p:nvPr>
                <p:custDataLst>
                  <p:tags r:id="rId18"/>
                </p:custDataLst>
              </p:nvPr>
            </p:nvSpPr>
            <p:spPr bwMode="auto">
              <a:xfrm>
                <a:off x="4321175" y="2343151"/>
                <a:ext cx="230187" cy="53975"/>
              </a:xfrm>
              <a:custGeom>
                <a:avLst/>
                <a:gdLst>
                  <a:gd name="T0" fmla="*/ 8 w 194"/>
                  <a:gd name="T1" fmla="*/ 45 h 45"/>
                  <a:gd name="T2" fmla="*/ 2 w 194"/>
                  <a:gd name="T3" fmla="*/ 42 h 45"/>
                  <a:gd name="T4" fmla="*/ 4 w 194"/>
                  <a:gd name="T5" fmla="*/ 32 h 45"/>
                  <a:gd name="T6" fmla="*/ 188 w 194"/>
                  <a:gd name="T7" fmla="*/ 19 h 45"/>
                  <a:gd name="T8" fmla="*/ 193 w 194"/>
                  <a:gd name="T9" fmla="*/ 28 h 45"/>
                  <a:gd name="T10" fmla="*/ 184 w 194"/>
                  <a:gd name="T11" fmla="*/ 33 h 45"/>
                  <a:gd name="T12" fmla="*/ 11 w 194"/>
                  <a:gd name="T13" fmla="*/ 44 h 45"/>
                  <a:gd name="T14" fmla="*/ 8 w 194"/>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5">
                    <a:moveTo>
                      <a:pt x="8" y="45"/>
                    </a:moveTo>
                    <a:cubicBezTo>
                      <a:pt x="5" y="45"/>
                      <a:pt x="3" y="44"/>
                      <a:pt x="2" y="42"/>
                    </a:cubicBezTo>
                    <a:cubicBezTo>
                      <a:pt x="0" y="38"/>
                      <a:pt x="0" y="34"/>
                      <a:pt x="4" y="32"/>
                    </a:cubicBezTo>
                    <a:cubicBezTo>
                      <a:pt x="44" y="6"/>
                      <a:pt x="120" y="0"/>
                      <a:pt x="188" y="19"/>
                    </a:cubicBezTo>
                    <a:cubicBezTo>
                      <a:pt x="191" y="20"/>
                      <a:pt x="194" y="24"/>
                      <a:pt x="193" y="28"/>
                    </a:cubicBezTo>
                    <a:cubicBezTo>
                      <a:pt x="192" y="32"/>
                      <a:pt x="188" y="34"/>
                      <a:pt x="184" y="33"/>
                    </a:cubicBezTo>
                    <a:cubicBezTo>
                      <a:pt x="113" y="13"/>
                      <a:pt x="43" y="23"/>
                      <a:pt x="11" y="44"/>
                    </a:cubicBezTo>
                    <a:cubicBezTo>
                      <a:pt x="10" y="45"/>
                      <a:pt x="9" y="45"/>
                      <a:pt x="8" y="45"/>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grpSp>
      <p:pic>
        <p:nvPicPr>
          <p:cNvPr id="10" name="new-add-image" descr="C:\Users\许昊\Desktop\7C2002C534020EAD7036D42F848_DB67C5F8_AC59 (1).png7C2002C534020EAD7036D42F848_DB67C5F8_AC59 (1)"/>
          <p:cNvPicPr/>
          <p:nvPr/>
        </p:nvPicPr>
        <p:blipFill>
          <a:blip r:embed="rId19"/>
          <a:srcRect/>
          <a:stretch>
            <a:fillRect/>
          </a:stretch>
        </p:blipFill>
        <p:spPr>
          <a:xfrm>
            <a:off x="8127365" y="72390"/>
            <a:ext cx="1069975" cy="10560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48" name="组合 24"/>
          <p:cNvGrpSpPr/>
          <p:nvPr/>
        </p:nvGrpSpPr>
        <p:grpSpPr>
          <a:xfrm>
            <a:off x="739458" y="735330"/>
            <a:ext cx="7496175" cy="776970"/>
            <a:chOff x="2954339" y="1349947"/>
            <a:chExt cx="7162269" cy="731828"/>
          </a:xfrm>
        </p:grpSpPr>
        <p:sp>
          <p:nvSpPr>
            <p:cNvPr id="18449" name="矩形 25"/>
            <p:cNvSpPr/>
            <p:nvPr/>
          </p:nvSpPr>
          <p:spPr>
            <a:xfrm>
              <a:off x="2954339" y="1694800"/>
              <a:ext cx="7162269" cy="386975"/>
            </a:xfrm>
            <a:prstGeom prst="rect">
              <a:avLst/>
            </a:prstGeom>
            <a:noFill/>
            <a:ln w="9525">
              <a:noFill/>
            </a:ln>
          </p:spPr>
          <p:txBody>
            <a:bodyPr anchor="t" anchorCtr="0">
              <a:spAutoFit/>
            </a:bodyPr>
            <a:lstStyle/>
            <a:p>
              <a:pPr>
                <a:lnSpc>
                  <a:spcPct val="130000"/>
                </a:lnSpc>
              </a:pPr>
              <a:endParaRPr sz="1600" dirty="0">
                <a:solidFill>
                  <a:srgbClr val="000000"/>
                </a:solidFill>
                <a:latin typeface="微软雅黑" panose="020B0503020204020204" pitchFamily="34" charset="-122"/>
                <a:ea typeface="微软雅黑" panose="020B0503020204020204" pitchFamily="34" charset="-122"/>
              </a:endParaRPr>
            </a:p>
          </p:txBody>
        </p:sp>
        <p:sp>
          <p:nvSpPr>
            <p:cNvPr id="18450" name="矩形 26"/>
            <p:cNvSpPr/>
            <p:nvPr/>
          </p:nvSpPr>
          <p:spPr>
            <a:xfrm>
              <a:off x="2963100" y="1349947"/>
              <a:ext cx="296077" cy="317594"/>
            </a:xfrm>
            <a:prstGeom prst="rect">
              <a:avLst/>
            </a:prstGeom>
            <a:noFill/>
            <a:ln w="9525">
              <a:noFill/>
            </a:ln>
          </p:spPr>
          <p:txBody>
            <a:bodyPr wrap="none" anchor="t" anchorCtr="0">
              <a:spAutoFit/>
            </a:bodyPr>
            <a:lstStyle/>
            <a:p>
              <a:endParaRPr lang="zh-CN" altLang="en-US" sz="1600" dirty="0">
                <a:latin typeface="微软雅黑" panose="020B0503020204020204" pitchFamily="34" charset="-122"/>
                <a:ea typeface="微软雅黑" panose="020B0503020204020204" pitchFamily="34" charset="-122"/>
              </a:endParaRPr>
            </a:p>
          </p:txBody>
        </p:sp>
      </p:grpSp>
      <p:sp>
        <p:nvSpPr>
          <p:cNvPr id="18453" name="矩形 29"/>
          <p:cNvSpPr/>
          <p:nvPr/>
        </p:nvSpPr>
        <p:spPr>
          <a:xfrm>
            <a:off x="3926840" y="3335655"/>
            <a:ext cx="730885" cy="378460"/>
          </a:xfrm>
          <a:prstGeom prst="rect">
            <a:avLst/>
          </a:prstGeom>
          <a:noFill/>
          <a:ln w="9525">
            <a:noFill/>
          </a:ln>
        </p:spPr>
        <p:txBody>
          <a:bodyPr wrap="none" anchor="t" anchorCtr="0">
            <a:noAutofit/>
          </a:bodyPr>
          <a:lstStyle/>
          <a:p>
            <a:r>
              <a:rPr lang="zh-CN" altLang="en-US" sz="1500" dirty="0">
                <a:solidFill>
                  <a:schemeClr val="bg1"/>
                </a:solidFill>
                <a:latin typeface="微软雅黑" panose="020B0503020204020204" pitchFamily="34" charset="-122"/>
                <a:ea typeface="微软雅黑" panose="020B0503020204020204" pitchFamily="34" charset="-122"/>
              </a:rPr>
              <a:t>车联网</a:t>
            </a:r>
            <a:endParaRPr lang="zh-CN" altLang="en-US" sz="1500" dirty="0">
              <a:solidFill>
                <a:schemeClr val="bg1"/>
              </a:solidFill>
              <a:latin typeface="微软雅黑" panose="020B0503020204020204" pitchFamily="34" charset="-122"/>
              <a:ea typeface="微软雅黑" panose="020B0503020204020204" pitchFamily="34" charset="-122"/>
            </a:endParaRPr>
          </a:p>
          <a:p>
            <a:r>
              <a:rPr lang="zh-CN" altLang="en-US" sz="1500" dirty="0">
                <a:solidFill>
                  <a:schemeClr val="bg1"/>
                </a:solidFill>
                <a:latin typeface="微软雅黑" panose="020B0503020204020204" pitchFamily="34" charset="-122"/>
                <a:ea typeface="微软雅黑" panose="020B0503020204020204" pitchFamily="34" charset="-122"/>
              </a:rPr>
              <a:t>演进</a:t>
            </a:r>
            <a:endParaRPr lang="zh-CN" altLang="en-US" sz="1500" dirty="0">
              <a:solidFill>
                <a:schemeClr val="bg1"/>
              </a:solidFill>
              <a:latin typeface="微软雅黑" panose="020B0503020204020204" pitchFamily="34" charset="-122"/>
              <a:ea typeface="微软雅黑" panose="020B0503020204020204" pitchFamily="34" charset="-122"/>
            </a:endParaRPr>
          </a:p>
        </p:txBody>
      </p:sp>
      <p:grpSp>
        <p:nvGrpSpPr>
          <p:cNvPr id="18454" name="组合 30"/>
          <p:cNvGrpSpPr/>
          <p:nvPr>
            <p:custDataLst>
              <p:tags r:id="rId1"/>
            </p:custDataLst>
          </p:nvPr>
        </p:nvGrpSpPr>
        <p:grpSpPr>
          <a:xfrm>
            <a:off x="5502275" y="2447925"/>
            <a:ext cx="2055813" cy="675640"/>
            <a:chOff x="811896" y="3505487"/>
            <a:chExt cx="1963212" cy="635647"/>
          </a:xfrm>
        </p:grpSpPr>
        <p:sp>
          <p:nvSpPr>
            <p:cNvPr id="32" name="TextBox 23"/>
            <p:cNvSpPr txBox="1"/>
            <p:nvPr>
              <p:custDataLst>
                <p:tags r:id="rId2"/>
              </p:custDataLst>
            </p:nvPr>
          </p:nvSpPr>
          <p:spPr>
            <a:xfrm>
              <a:off x="827966" y="3505487"/>
              <a:ext cx="295922" cy="281381"/>
            </a:xfrm>
            <a:prstGeom prst="rect">
              <a:avLst/>
            </a:prstGeom>
            <a:noFill/>
          </p:spPr>
          <p:txBody>
            <a:bodyPr wrap="none">
              <a:spAutoFit/>
            </a:bodyPr>
            <a:lstStyle/>
            <a:p>
              <a:pPr marR="0" defTabSz="685800" fontAlgn="auto">
                <a:spcBef>
                  <a:spcPts val="0"/>
                </a:spcBef>
                <a:spcAft>
                  <a:spcPts val="0"/>
                </a:spcAft>
                <a:buClrTx/>
                <a:buSzTx/>
                <a:buFontTx/>
                <a:buNone/>
                <a:defRPr/>
              </a:pPr>
              <a:endParaRPr kumimoji="0" lang="zh-CN" altLang="en-US" sz="1350"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33" name="矩形 32"/>
            <p:cNvSpPr/>
            <p:nvPr>
              <p:custDataLst>
                <p:tags r:id="rId3"/>
              </p:custDataLst>
            </p:nvPr>
          </p:nvSpPr>
          <p:spPr>
            <a:xfrm>
              <a:off x="811896" y="3801206"/>
              <a:ext cx="1963212" cy="339928"/>
            </a:xfrm>
            <a:prstGeom prst="rect">
              <a:avLst/>
            </a:prstGeom>
          </p:spPr>
          <p:txBody>
            <a:bodyPr>
              <a:spAutoFit/>
            </a:bodyPr>
            <a:lstStyle/>
            <a:p>
              <a:pPr marL="0" marR="0" lvl="0" indent="0" algn="l" defTabSz="685800" rtl="0" eaLnBrk="1" fontAlgn="auto" latinLnBrk="0" hangingPunct="1">
                <a:lnSpc>
                  <a:spcPts val="2105"/>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grpSp>
      <p:grpSp>
        <p:nvGrpSpPr>
          <p:cNvPr id="18457" name="组合 33"/>
          <p:cNvGrpSpPr/>
          <p:nvPr>
            <p:custDataLst>
              <p:tags r:id="rId4"/>
            </p:custDataLst>
          </p:nvPr>
        </p:nvGrpSpPr>
        <p:grpSpPr>
          <a:xfrm>
            <a:off x="748348" y="2447608"/>
            <a:ext cx="2256790" cy="664210"/>
            <a:chOff x="734234" y="3514973"/>
            <a:chExt cx="2156143" cy="625416"/>
          </a:xfrm>
        </p:grpSpPr>
        <p:sp>
          <p:nvSpPr>
            <p:cNvPr id="35" name="TextBox 26"/>
            <p:cNvSpPr txBox="1"/>
            <p:nvPr>
              <p:custDataLst>
                <p:tags r:id="rId5"/>
              </p:custDataLst>
            </p:nvPr>
          </p:nvSpPr>
          <p:spPr>
            <a:xfrm>
              <a:off x="734234" y="3514973"/>
              <a:ext cx="296060" cy="281616"/>
            </a:xfrm>
            <a:prstGeom prst="rect">
              <a:avLst/>
            </a:prstGeom>
            <a:noFill/>
          </p:spPr>
          <p:txBody>
            <a:bodyPr wrap="none">
              <a:spAutoFit/>
            </a:bodyPr>
            <a:lstStyle/>
            <a:p>
              <a:pPr marR="0" defTabSz="685800" fontAlgn="auto">
                <a:spcBef>
                  <a:spcPts val="0"/>
                </a:spcBef>
                <a:spcAft>
                  <a:spcPts val="0"/>
                </a:spcAft>
                <a:buClrTx/>
                <a:buSzTx/>
                <a:buFontTx/>
                <a:buNone/>
                <a:defRPr/>
              </a:pPr>
              <a:endParaRPr kumimoji="0" lang="zh-CN" altLang="en-US" sz="1350"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36" name="矩形 35"/>
            <p:cNvSpPr/>
            <p:nvPr>
              <p:custDataLst>
                <p:tags r:id="rId6"/>
              </p:custDataLst>
            </p:nvPr>
          </p:nvSpPr>
          <p:spPr>
            <a:xfrm>
              <a:off x="812496" y="3800177"/>
              <a:ext cx="2077881" cy="340212"/>
            </a:xfrm>
            <a:prstGeom prst="rect">
              <a:avLst/>
            </a:prstGeom>
          </p:spPr>
          <p:txBody>
            <a:bodyPr wrap="square">
              <a:spAutoFit/>
            </a:bodyPr>
            <a:lstStyle/>
            <a:p>
              <a:pPr marL="0" marR="0" lvl="0" indent="0" algn="l" defTabSz="685800" rtl="0" eaLnBrk="1" fontAlgn="auto" latinLnBrk="0" hangingPunct="1">
                <a:lnSpc>
                  <a:spcPts val="2105"/>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grpSp>
      <p:grpSp>
        <p:nvGrpSpPr>
          <p:cNvPr id="18460" name="组合 36"/>
          <p:cNvGrpSpPr>
            <a:grpSpLocks noChangeAspect="1"/>
          </p:cNvGrpSpPr>
          <p:nvPr/>
        </p:nvGrpSpPr>
        <p:grpSpPr>
          <a:xfrm>
            <a:off x="271463" y="266700"/>
            <a:ext cx="468312" cy="468313"/>
            <a:chOff x="2558424" y="1401428"/>
            <a:chExt cx="1318727" cy="1318727"/>
          </a:xfrm>
        </p:grpSpPr>
        <p:sp>
          <p:nvSpPr>
            <p:cNvPr id="38" name="椭圆 37"/>
            <p:cNvSpPr/>
            <p:nvPr/>
          </p:nvSpPr>
          <p:spPr>
            <a:xfrm>
              <a:off x="2558424" y="1401428"/>
              <a:ext cx="1318727" cy="1318727"/>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9" name="Freeform 11"/>
            <p:cNvSpPr/>
            <p:nvPr/>
          </p:nvSpPr>
          <p:spPr bwMode="auto">
            <a:xfrm>
              <a:off x="2674651" y="1817163"/>
              <a:ext cx="1086273" cy="594543"/>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grpSp>
      <p:sp>
        <p:nvSpPr>
          <p:cNvPr id="18463" name="文本框 39"/>
          <p:cNvSpPr txBox="1"/>
          <p:nvPr/>
        </p:nvSpPr>
        <p:spPr>
          <a:xfrm>
            <a:off x="782955" y="257175"/>
            <a:ext cx="3403600" cy="368300"/>
          </a:xfrm>
          <a:prstGeom prst="rect">
            <a:avLst/>
          </a:prstGeom>
          <a:noFill/>
          <a:ln w="9525">
            <a:noFill/>
          </a:ln>
        </p:spPr>
        <p:txBody>
          <a:bodyPr wrap="square" anchor="t" anchorCtr="0">
            <a:spAutoFit/>
          </a:bodyPr>
          <a:lstStyle/>
          <a:p>
            <a:r>
              <a:rPr lang="zh-CN" altLang="en-US" sz="1800" b="1" spc="130">
                <a:solidFill>
                  <a:schemeClr val="dk1">
                    <a:lumMod val="85000"/>
                    <a:lumOff val="15000"/>
                  </a:schemeClr>
                </a:solidFill>
                <a:uFillTx/>
                <a:latin typeface="微软雅黑" panose="020B0503020204020204" pitchFamily="34" charset="-122"/>
                <a:sym typeface="+mn-ea"/>
              </a:rPr>
              <a:t>研究背景</a:t>
            </a:r>
            <a:endParaRPr lang="zh-CN" altLang="en-US" sz="1800" b="1" spc="130">
              <a:solidFill>
                <a:schemeClr val="dk1">
                  <a:lumMod val="85000"/>
                  <a:lumOff val="15000"/>
                </a:schemeClr>
              </a:solidFill>
              <a:uFillTx/>
              <a:latin typeface="微软雅黑" panose="020B0503020204020204" pitchFamily="34" charset="-122"/>
              <a:sym typeface="+mn-ea"/>
            </a:endParaRPr>
          </a:p>
        </p:txBody>
      </p:sp>
      <p:pic>
        <p:nvPicPr>
          <p:cNvPr id="10" name="new-add-image" descr="C:\Users\许昊\Desktop\7C2002C534020EAD7036D42F848_DB67C5F8_AC59 (1).png7C2002C534020EAD7036D42F848_DB67C5F8_AC59 (1)"/>
          <p:cNvPicPr/>
          <p:nvPr/>
        </p:nvPicPr>
        <p:blipFill>
          <a:blip r:embed="rId7"/>
          <a:srcRect/>
          <a:stretch>
            <a:fillRect/>
          </a:stretch>
        </p:blipFill>
        <p:spPr>
          <a:xfrm>
            <a:off x="8127365" y="64770"/>
            <a:ext cx="1069975" cy="1056005"/>
          </a:xfrm>
          <a:prstGeom prst="rect">
            <a:avLst/>
          </a:prstGeom>
        </p:spPr>
      </p:pic>
      <p:sp>
        <p:nvSpPr>
          <p:cNvPr id="2" name="文本框 1"/>
          <p:cNvSpPr txBox="1"/>
          <p:nvPr/>
        </p:nvSpPr>
        <p:spPr>
          <a:xfrm>
            <a:off x="629920" y="735330"/>
            <a:ext cx="7884795" cy="2133600"/>
          </a:xfrm>
          <a:prstGeom prst="rect">
            <a:avLst/>
          </a:prstGeom>
          <a:noFill/>
        </p:spPr>
        <p:txBody>
          <a:bodyPr wrap="square" rtlCol="0">
            <a:noAutofit/>
          </a:bodyPr>
          <a:lstStyle/>
          <a:p>
            <a:pPr indent="457200" algn="l">
              <a:buClrTx/>
              <a:buSzTx/>
              <a:buFontTx/>
            </a:pPr>
            <a:r>
              <a:rPr lang="zh-CN" altLang="en-US" sz="1600"/>
              <a:t>在面对持续演化、成本受控的高级攻击（如 APT）时，如何</a:t>
            </a:r>
            <a:r>
              <a:rPr lang="zh-CN" altLang="en-US" sz="1600">
                <a:solidFill>
                  <a:srgbClr val="FF0000"/>
                </a:solidFill>
              </a:rPr>
              <a:t>动态地、低成本</a:t>
            </a:r>
            <a:r>
              <a:rPr lang="zh-CN" altLang="en-US" sz="1600"/>
              <a:t>地保护关键数据。</a:t>
            </a:r>
            <a:endParaRPr lang="zh-CN" altLang="en-US" sz="1600"/>
          </a:p>
          <a:p>
            <a:pPr indent="457200" algn="l">
              <a:buClrTx/>
              <a:buSzTx/>
              <a:buFontTx/>
            </a:pPr>
            <a:endParaRPr lang="zh-CN" altLang="en-US" sz="1600"/>
          </a:p>
          <a:p>
            <a:pPr indent="457200" algn="l">
              <a:buClrTx/>
              <a:buSzTx/>
              <a:buFontTx/>
            </a:pPr>
            <a:r>
              <a:rPr lang="en-US" altLang="zh-CN" sz="1600"/>
              <a:t>1.</a:t>
            </a:r>
            <a:r>
              <a:rPr lang="zh-CN" altLang="en-US" sz="1600"/>
              <a:t>传统防御（防火墙、入侵检测、沙箱）都是事后补救，只能防已知攻击。</a:t>
            </a:r>
            <a:endParaRPr lang="zh-CN" altLang="en-US" sz="1600"/>
          </a:p>
          <a:p>
            <a:pPr indent="457200" algn="l">
              <a:buClrTx/>
              <a:buSzTx/>
              <a:buFontTx/>
            </a:pPr>
            <a:endParaRPr lang="zh-CN" altLang="en-US" sz="1600"/>
          </a:p>
          <a:p>
            <a:pPr indent="457200" algn="l">
              <a:buClrTx/>
              <a:buSzTx/>
              <a:buFontTx/>
            </a:pPr>
            <a:r>
              <a:rPr lang="en-US" altLang="zh-CN" sz="1600"/>
              <a:t>2.</a:t>
            </a:r>
            <a:r>
              <a:rPr lang="zh-CN" altLang="en-US" sz="1600"/>
              <a:t>现有拟态防御有三个关键缺陷：</a:t>
            </a:r>
            <a:endParaRPr lang="zh-CN" altLang="en-US" sz="1600"/>
          </a:p>
          <a:p>
            <a:pPr indent="457200" algn="l">
              <a:buClrTx/>
              <a:buSzTx/>
              <a:buFontTx/>
            </a:pPr>
            <a:r>
              <a:rPr lang="zh-CN" altLang="en-US" sz="1600"/>
              <a:t>（</a:t>
            </a:r>
            <a:r>
              <a:rPr lang="en-US" altLang="zh-CN" sz="1600"/>
              <a:t>1</a:t>
            </a:r>
            <a:r>
              <a:rPr lang="zh-CN" altLang="en-US" sz="1600"/>
              <a:t>）漏洞定义太简单，不同执行体没法统一比较。</a:t>
            </a:r>
            <a:endParaRPr lang="zh-CN" altLang="en-US" sz="1600"/>
          </a:p>
          <a:p>
            <a:pPr indent="457200" algn="l">
              <a:buClrTx/>
              <a:buSzTx/>
              <a:buFontTx/>
            </a:pPr>
            <a:endParaRPr lang="zh-CN" altLang="en-US" sz="1600"/>
          </a:p>
          <a:p>
            <a:pPr indent="457200" algn="l">
              <a:buClrTx/>
              <a:buSzTx/>
              <a:buFontTx/>
            </a:pPr>
            <a:r>
              <a:rPr lang="zh-CN" altLang="en-US" sz="1600">
                <a:sym typeface="+mn-ea"/>
              </a:rPr>
              <a:t>（</a:t>
            </a:r>
            <a:r>
              <a:rPr lang="en-US" altLang="zh-CN" sz="1600">
                <a:sym typeface="+mn-ea"/>
              </a:rPr>
              <a:t>2</a:t>
            </a:r>
            <a:r>
              <a:rPr lang="zh-CN" altLang="en-US" sz="1600">
                <a:sym typeface="+mn-ea"/>
              </a:rPr>
              <a:t>）</a:t>
            </a:r>
            <a:r>
              <a:rPr lang="zh-CN" altLang="en-US" sz="1600"/>
              <a:t>执行体异构是静态的，不利用历史攻击信息。</a:t>
            </a:r>
            <a:endParaRPr lang="zh-CN" altLang="en-US" sz="1600"/>
          </a:p>
          <a:p>
            <a:pPr indent="457200" algn="l">
              <a:buClrTx/>
              <a:buSzTx/>
              <a:buFontTx/>
            </a:pPr>
            <a:endParaRPr lang="zh-CN" altLang="en-US" sz="1600"/>
          </a:p>
          <a:p>
            <a:pPr indent="457200" algn="l">
              <a:buClrTx/>
              <a:buSzTx/>
              <a:buFontTx/>
            </a:pPr>
            <a:r>
              <a:rPr lang="zh-CN" altLang="en-US" sz="1600">
                <a:sym typeface="+mn-ea"/>
              </a:rPr>
              <a:t>（</a:t>
            </a:r>
            <a:r>
              <a:rPr lang="en-US" altLang="zh-CN" sz="1600">
                <a:sym typeface="+mn-ea"/>
              </a:rPr>
              <a:t>3</a:t>
            </a:r>
            <a:r>
              <a:rPr lang="zh-CN" altLang="en-US" sz="1600">
                <a:sym typeface="+mn-ea"/>
              </a:rPr>
              <a:t>）</a:t>
            </a:r>
            <a:r>
              <a:rPr lang="zh-CN" altLang="en-US" sz="1600"/>
              <a:t>调度只看空间，不看时间，会出现</a:t>
            </a:r>
            <a:r>
              <a:rPr lang="en-US" altLang="zh-CN" sz="1600"/>
              <a:t> “</a:t>
            </a:r>
            <a:r>
              <a:rPr lang="zh-CN" altLang="en-US" sz="1600"/>
              <a:t>漏洞一直不变</a:t>
            </a:r>
            <a:r>
              <a:rPr lang="en-US" altLang="zh-CN" sz="1600"/>
              <a:t>” </a:t>
            </a:r>
            <a:r>
              <a:rPr lang="zh-CN" altLang="en-US" sz="1600"/>
              <a:t>的情况。</a:t>
            </a:r>
            <a:endParaRPr lang="zh-CN" altLang="en-US" sz="1600"/>
          </a:p>
        </p:txBody>
      </p:sp>
      <p:sp>
        <p:nvSpPr>
          <p:cNvPr id="4" name="文本框 3"/>
          <p:cNvSpPr txBox="1"/>
          <p:nvPr/>
        </p:nvSpPr>
        <p:spPr>
          <a:xfrm>
            <a:off x="739775" y="3681730"/>
            <a:ext cx="7141210" cy="1322070"/>
          </a:xfrm>
          <a:prstGeom prst="rect">
            <a:avLst/>
          </a:prstGeom>
        </p:spPr>
        <p:txBody>
          <a:bodyPr wrap="square">
            <a:spAutoFit/>
          </a:bodyPr>
          <a:p>
            <a:pPr marL="0" indent="457200" algn="l">
              <a:lnSpc>
                <a:spcPct val="100000"/>
              </a:lnSpc>
              <a:buClrTx/>
              <a:buSzTx/>
              <a:buFontTx/>
            </a:pPr>
            <a:r>
              <a:rPr lang="zh-CN" altLang="en-US" sz="1600" b="0"/>
              <a:t>异构执行体选择</a:t>
            </a:r>
            <a:r>
              <a:rPr lang="zh-CN" altLang="en-US" sz="1600"/>
              <a:t>不看输入风险；</a:t>
            </a:r>
            <a:r>
              <a:rPr lang="zh-CN" altLang="en-US" sz="1600" b="0"/>
              <a:t>调度</a:t>
            </a:r>
            <a:r>
              <a:rPr lang="zh-CN" altLang="en-US" sz="1600"/>
              <a:t>只看空间、不看时间</a:t>
            </a:r>
            <a:r>
              <a:rPr lang="zh-CN" altLang="en-US" sz="1600" b="0"/>
              <a:t>，漏洞会残留</a:t>
            </a:r>
            <a:endParaRPr lang="zh-CN" altLang="en-US" sz="1600" b="0"/>
          </a:p>
          <a:p>
            <a:pPr marL="0" indent="457200" algn="l">
              <a:lnSpc>
                <a:spcPct val="100000"/>
              </a:lnSpc>
              <a:buClrTx/>
              <a:buSzTx/>
              <a:buFontTx/>
            </a:pPr>
            <a:r>
              <a:rPr lang="zh-CN" altLang="en-US" sz="1600" b="0"/>
              <a:t>这篇论文提出：</a:t>
            </a:r>
            <a:endParaRPr lang="zh-CN" altLang="en-US" sz="1600" b="0"/>
          </a:p>
          <a:p>
            <a:pPr marL="0" indent="457200" algn="l">
              <a:lnSpc>
                <a:spcPct val="100000"/>
              </a:lnSpc>
              <a:buClrTx/>
              <a:buSzTx/>
              <a:buFontTx/>
            </a:pPr>
            <a:r>
              <a:rPr lang="zh-CN" altLang="en-US" sz="1600">
                <a:solidFill>
                  <a:srgbClr val="FF0000"/>
                </a:solidFill>
              </a:rPr>
              <a:t>从输入空间重新定义漏洞</a:t>
            </a:r>
            <a:r>
              <a:rPr lang="en-US" altLang="zh-CN" sz="1600">
                <a:solidFill>
                  <a:srgbClr val="FF0000"/>
                </a:solidFill>
              </a:rPr>
              <a:t> + </a:t>
            </a:r>
            <a:r>
              <a:rPr lang="zh-CN" altLang="en-US" sz="1600">
                <a:solidFill>
                  <a:srgbClr val="FF0000"/>
                </a:solidFill>
              </a:rPr>
              <a:t>动态更新</a:t>
            </a:r>
            <a:r>
              <a:rPr lang="en-US" altLang="zh-CN" sz="1600">
                <a:solidFill>
                  <a:srgbClr val="FF0000"/>
                </a:solidFill>
              </a:rPr>
              <a:t> + </a:t>
            </a:r>
            <a:r>
              <a:rPr lang="zh-CN" altLang="en-US" sz="1600">
                <a:solidFill>
                  <a:srgbClr val="FF0000"/>
                </a:solidFill>
              </a:rPr>
              <a:t>时空联合调度，解决传统拟态防御的短板。</a:t>
            </a:r>
            <a:endParaRPr lang="zh-CN" altLang="en-US" sz="1600">
              <a:solidFill>
                <a:srgbClr val="FF0000"/>
              </a:solidFill>
            </a:endParaRPr>
          </a:p>
          <a:p>
            <a:pPr marL="0" indent="457200" algn="l">
              <a:lnSpc>
                <a:spcPct val="100000"/>
              </a:lnSpc>
              <a:buClrTx/>
              <a:buSzTx/>
              <a:buFontTx/>
            </a:pPr>
            <a:endParaRPr lang="zh-CN" altLang="en-US" sz="16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0" name="文本框 57"/>
          <p:cNvSpPr txBox="1"/>
          <p:nvPr/>
        </p:nvSpPr>
        <p:spPr>
          <a:xfrm>
            <a:off x="448310" y="281305"/>
            <a:ext cx="7145020" cy="460375"/>
          </a:xfrm>
          <a:prstGeom prst="rect">
            <a:avLst/>
          </a:prstGeom>
          <a:noFill/>
          <a:ln w="9525">
            <a:noFill/>
          </a:ln>
        </p:spPr>
        <p:txBody>
          <a:bodyPr wrap="square" anchor="t" anchorCtr="0">
            <a:spAutoFit/>
          </a:bodyPr>
          <a:lstStyle/>
          <a:p>
            <a:r>
              <a:rPr lang="zh-CN" altLang="en-US" sz="2400" b="1" dirty="0">
                <a:latin typeface="Arial" panose="020B0604020202020204" pitchFamily="34" charset="0"/>
                <a:ea typeface="微软雅黑" panose="020B0503020204020204" pitchFamily="34" charset="-122"/>
              </a:rPr>
              <a:t>基于上述挑战，本研究重点做出以下核心</a:t>
            </a:r>
            <a:r>
              <a:rPr lang="zh-CN" altLang="en-US" sz="2400" b="1" dirty="0">
                <a:latin typeface="Arial" panose="020B0604020202020204" pitchFamily="34" charset="0"/>
                <a:ea typeface="微软雅黑" panose="020B0503020204020204" pitchFamily="34" charset="-122"/>
              </a:rPr>
              <a:t>解决方法：</a:t>
            </a:r>
            <a:endParaRPr lang="zh-CN" altLang="en-US" sz="2400" b="1" dirty="0">
              <a:latin typeface="Arial" panose="020B0604020202020204" pitchFamily="34" charset="0"/>
              <a:ea typeface="微软雅黑" panose="020B0503020204020204" pitchFamily="34" charset="-122"/>
            </a:endParaRPr>
          </a:p>
        </p:txBody>
      </p:sp>
      <p:pic>
        <p:nvPicPr>
          <p:cNvPr id="43" name="new-add-image" descr="C:\Users\许昊\Desktop\7C2002C534020EAD7036D42F848_DB67C5F8_AC59 (1).png7C2002C534020EAD7036D42F848_DB67C5F8_AC59 (1)"/>
          <p:cNvPicPr/>
          <p:nvPr/>
        </p:nvPicPr>
        <p:blipFill>
          <a:blip r:embed="rId1"/>
          <a:srcRect/>
          <a:stretch>
            <a:fillRect/>
          </a:stretch>
        </p:blipFill>
        <p:spPr>
          <a:xfrm>
            <a:off x="8074025" y="64770"/>
            <a:ext cx="1069975" cy="1056005"/>
          </a:xfrm>
          <a:prstGeom prst="rect">
            <a:avLst/>
          </a:prstGeom>
        </p:spPr>
      </p:pic>
      <p:sp>
        <p:nvSpPr>
          <p:cNvPr id="4" name="文本框 3"/>
          <p:cNvSpPr txBox="1"/>
          <p:nvPr/>
        </p:nvSpPr>
        <p:spPr>
          <a:xfrm>
            <a:off x="1344930" y="1111250"/>
            <a:ext cx="6802120" cy="3399790"/>
          </a:xfrm>
          <a:prstGeom prst="rect">
            <a:avLst/>
          </a:prstGeom>
          <a:noFill/>
        </p:spPr>
        <p:txBody>
          <a:bodyPr wrap="square" rtlCol="0">
            <a:noAutofit/>
          </a:bodyPr>
          <a:lstStyle/>
          <a:p>
            <a:r>
              <a:rPr lang="zh-CN" altLang="en-US" sz="1600"/>
              <a:t>本文首次从输入的角度构建了一个模拟防御的理论模型，并提出了一个名为 SIDMD 的新模拟防御框架</a:t>
            </a:r>
            <a:endParaRPr lang="zh-CN" altLang="en-US" sz="1600">
              <a:solidFill>
                <a:srgbClr val="FF0000"/>
              </a:solidFill>
            </a:endParaRPr>
          </a:p>
          <a:p>
            <a:pPr indent="457200">
              <a:lnSpc>
                <a:spcPct val="150000"/>
              </a:lnSpc>
            </a:pPr>
            <a:r>
              <a:rPr lang="en-US" altLang="en-US" sz="1600">
                <a:solidFill>
                  <a:srgbClr val="FF0000"/>
                </a:solidFill>
              </a:rPr>
              <a:t>①</a:t>
            </a:r>
            <a:r>
              <a:rPr lang="en-US" altLang="zh-CN" sz="1600">
                <a:solidFill>
                  <a:srgbClr val="FF0000"/>
                </a:solidFill>
              </a:rPr>
              <a:t> </a:t>
            </a:r>
            <a:r>
              <a:rPr lang="zh-CN" altLang="en-US" sz="1600">
                <a:solidFill>
                  <a:srgbClr val="FF0000"/>
                </a:solidFill>
              </a:rPr>
              <a:t>采从输入空间的角度给出了一个易于理解和实际应用的漏洞确切定义，让不同执行体能统一量化异构性。并引入了</a:t>
            </a:r>
            <a:r>
              <a:rPr lang="en-US" altLang="zh-CN" sz="1600">
                <a:solidFill>
                  <a:srgbClr val="FF0000"/>
                </a:solidFill>
              </a:rPr>
              <a:t> k </a:t>
            </a:r>
            <a:r>
              <a:rPr lang="zh-CN" altLang="en-US" sz="1600">
                <a:solidFill>
                  <a:srgbClr val="FF0000"/>
                </a:solidFill>
              </a:rPr>
              <a:t>阶异质性计算方法。</a:t>
            </a:r>
            <a:endParaRPr lang="zh-CN" altLang="en-US" sz="1600">
              <a:solidFill>
                <a:srgbClr val="FF0000"/>
              </a:solidFill>
            </a:endParaRPr>
          </a:p>
          <a:p>
            <a:pPr indent="457200">
              <a:lnSpc>
                <a:spcPct val="150000"/>
              </a:lnSpc>
            </a:pPr>
            <a:r>
              <a:rPr lang="en-US" altLang="en-US" sz="1600">
                <a:solidFill>
                  <a:srgbClr val="FF0000"/>
                </a:solidFill>
              </a:rPr>
              <a:t>②</a:t>
            </a:r>
            <a:r>
              <a:rPr lang="en-US" altLang="zh-CN" sz="1600">
                <a:solidFill>
                  <a:srgbClr val="FF0000"/>
                </a:solidFill>
              </a:rPr>
              <a:t> </a:t>
            </a:r>
            <a:r>
              <a:rPr lang="zh-CN" altLang="en-US" sz="1600">
                <a:solidFill>
                  <a:srgbClr val="FF0000"/>
                </a:solidFill>
              </a:rPr>
              <a:t>提设计了一种针对执行器漏洞的动态更新算法，该算法能够利用历史攻击信息；</a:t>
            </a:r>
            <a:endParaRPr lang="zh-CN" altLang="en-US" sz="1600">
              <a:solidFill>
                <a:srgbClr val="FF0000"/>
              </a:solidFill>
            </a:endParaRPr>
          </a:p>
          <a:p>
            <a:pPr indent="457200">
              <a:lnSpc>
                <a:spcPct val="150000"/>
              </a:lnSpc>
            </a:pPr>
            <a:r>
              <a:rPr lang="en-US" altLang="zh-CN" sz="1600">
                <a:solidFill>
                  <a:srgbClr val="FF0000"/>
                </a:solidFill>
              </a:rPr>
              <a:t>3.</a:t>
            </a:r>
            <a:r>
              <a:rPr lang="zh-CN" altLang="en-US" sz="1600">
                <a:solidFill>
                  <a:srgbClr val="FF0000"/>
                </a:solidFill>
              </a:rPr>
              <a:t>首次基于时空</a:t>
            </a:r>
            <a:r>
              <a:rPr lang="zh-CN" altLang="en-US" sz="1600">
                <a:solidFill>
                  <a:srgbClr val="FF0000"/>
                </a:solidFill>
              </a:rPr>
              <a:t>异构性提出了针对执行器的动态调度策略，该策略同时考虑了时间和空间维度，显著降低了系统暴露漏洞的可能性；</a:t>
            </a:r>
            <a:endParaRPr lang="zh-CN" altLang="en-US" sz="1600">
              <a:solidFill>
                <a:srgbClr val="FF0000"/>
              </a:solidFill>
            </a:endParaRPr>
          </a:p>
          <a:p>
            <a:pPr indent="457200">
              <a:lnSpc>
                <a:spcPct val="150000"/>
              </a:lnSpc>
            </a:pPr>
            <a:endParaRPr lang="zh-CN" altLang="en-US" sz="16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0" name="文本框 57"/>
          <p:cNvSpPr txBox="1"/>
          <p:nvPr/>
        </p:nvSpPr>
        <p:spPr>
          <a:xfrm>
            <a:off x="448310" y="281305"/>
            <a:ext cx="7145020" cy="460375"/>
          </a:xfrm>
          <a:prstGeom prst="rect">
            <a:avLst/>
          </a:prstGeom>
          <a:noFill/>
          <a:ln w="9525">
            <a:noFill/>
          </a:ln>
        </p:spPr>
        <p:txBody>
          <a:bodyPr wrap="square" anchor="t" anchorCtr="0">
            <a:spAutoFit/>
          </a:bodyPr>
          <a:lstStyle/>
          <a:p>
            <a:r>
              <a:rPr lang="zh-CN" altLang="en-US" sz="2400" b="1" dirty="0">
                <a:latin typeface="Arial" panose="020B0604020202020204" pitchFamily="34" charset="0"/>
                <a:ea typeface="微软雅黑" panose="020B0503020204020204" pitchFamily="34" charset="-122"/>
              </a:rPr>
              <a:t>输入感知拟态防御：</a:t>
            </a:r>
            <a:endParaRPr lang="zh-CN" altLang="en-US" sz="2400" b="1" dirty="0">
              <a:latin typeface="Arial" panose="020B0604020202020204" pitchFamily="34" charset="0"/>
              <a:ea typeface="微软雅黑" panose="020B0503020204020204" pitchFamily="34" charset="-122"/>
            </a:endParaRPr>
          </a:p>
        </p:txBody>
      </p:sp>
      <p:pic>
        <p:nvPicPr>
          <p:cNvPr id="43" name="new-add-image" descr="C:\Users\许昊\Desktop\7C2002C534020EAD7036D42F848_DB67C5F8_AC59 (1).png7C2002C534020EAD7036D42F848_DB67C5F8_AC59 (1)"/>
          <p:cNvPicPr/>
          <p:nvPr/>
        </p:nvPicPr>
        <p:blipFill>
          <a:blip r:embed="rId1"/>
          <a:srcRect/>
          <a:stretch>
            <a:fillRect/>
          </a:stretch>
        </p:blipFill>
        <p:spPr>
          <a:xfrm>
            <a:off x="8074025" y="64770"/>
            <a:ext cx="1069975" cy="1056005"/>
          </a:xfrm>
          <a:prstGeom prst="rect">
            <a:avLst/>
          </a:prstGeom>
        </p:spPr>
      </p:pic>
      <p:sp>
        <p:nvSpPr>
          <p:cNvPr id="4" name="文本框 3"/>
          <p:cNvSpPr txBox="1"/>
          <p:nvPr/>
        </p:nvSpPr>
        <p:spPr>
          <a:xfrm>
            <a:off x="448310" y="1111250"/>
            <a:ext cx="7347585" cy="3399790"/>
          </a:xfrm>
          <a:prstGeom prst="rect">
            <a:avLst/>
          </a:prstGeom>
          <a:noFill/>
        </p:spPr>
        <p:txBody>
          <a:bodyPr wrap="square" rtlCol="0">
            <a:noAutofit/>
          </a:bodyPr>
          <a:lstStyle/>
          <a:p>
            <a:r>
              <a:rPr lang="en-US" altLang="zh-CN" sz="1600"/>
              <a:t>1.</a:t>
            </a:r>
            <a:r>
              <a:rPr lang="zh-CN" altLang="en-US" sz="1600">
                <a:solidFill>
                  <a:srgbClr val="FF0000"/>
                </a:solidFill>
              </a:rPr>
              <a:t>从输入空间重新定义漏洞：</a:t>
            </a:r>
            <a:r>
              <a:rPr lang="zh-CN" altLang="en-US" sz="1600"/>
              <a:t>相似的输入会触发同一个漏洞，把漏洞变成可量化、可计算、可聚类的数学对象</a:t>
            </a:r>
            <a:endParaRPr lang="zh-CN" altLang="en-US" sz="1600"/>
          </a:p>
          <a:p>
            <a:r>
              <a:rPr lang="en-US" altLang="zh-CN" sz="1600"/>
              <a:t>2.</a:t>
            </a:r>
            <a:r>
              <a:rPr lang="zh-CN" altLang="en-US" sz="1600">
                <a:solidFill>
                  <a:srgbClr val="FF0000"/>
                </a:solidFill>
              </a:rPr>
              <a:t>FPS 聚类自动学习漏洞：</a:t>
            </a:r>
            <a:r>
              <a:rPr lang="zh-CN" altLang="en-US" sz="1600"/>
              <a:t>把异常输入聚类成 “漏洞簇”，自动实现：漏洞发现 → 合并 → 更新 → 遗忘</a:t>
            </a:r>
            <a:endParaRPr lang="zh-CN" altLang="en-US" sz="1600"/>
          </a:p>
          <a:p>
            <a:r>
              <a:rPr lang="en-US" altLang="zh-CN" sz="1600"/>
              <a:t>3.</a:t>
            </a:r>
            <a:r>
              <a:rPr lang="zh-CN" altLang="en-US" sz="1600">
                <a:solidFill>
                  <a:srgbClr val="FF0000"/>
                </a:solidFill>
              </a:rPr>
              <a:t>重新定义漏洞：</a:t>
            </a:r>
            <a:r>
              <a:rPr lang="zh-CN" altLang="en-US" sz="1600"/>
              <a:t>把输入空间看作度量空间，异常输入距离足够近</a:t>
            </a:r>
            <a:r>
              <a:rPr lang="en-US" altLang="zh-CN" sz="1600"/>
              <a:t> </a:t>
            </a:r>
            <a:r>
              <a:rPr lang="en-US" altLang="en-US" sz="1600"/>
              <a:t>→</a:t>
            </a:r>
            <a:r>
              <a:rPr lang="en-US" altLang="zh-CN" sz="1600"/>
              <a:t> </a:t>
            </a:r>
            <a:r>
              <a:rPr lang="zh-CN" altLang="en-US" sz="1600"/>
              <a:t>视为同一个漏洞，用等价类划分漏洞，实现可计算、可比较</a:t>
            </a:r>
            <a:endParaRPr lang="zh-CN" altLang="en-US" sz="1600"/>
          </a:p>
          <a:p>
            <a:r>
              <a:rPr lang="en-US" altLang="zh-CN" sz="1600"/>
              <a:t>4.</a:t>
            </a:r>
            <a:r>
              <a:rPr lang="zh-CN" altLang="en-US" sz="1600">
                <a:solidFill>
                  <a:srgbClr val="FF0000"/>
                </a:solidFill>
              </a:rPr>
              <a:t>时空异构联合调度：</a:t>
            </a:r>
            <a:endParaRPr lang="zh-CN" altLang="en-US" sz="1600">
              <a:solidFill>
                <a:srgbClr val="FF0000"/>
              </a:solidFill>
            </a:endParaRPr>
          </a:p>
          <a:p>
            <a:r>
              <a:rPr lang="zh-CN" altLang="en-US" sz="1600"/>
              <a:t>空间异构：减少多个执行体同时出错</a:t>
            </a:r>
            <a:endParaRPr lang="zh-CN" altLang="en-US" sz="1600"/>
          </a:p>
          <a:p>
            <a:r>
              <a:rPr lang="zh-CN" altLang="en-US" sz="1600"/>
              <a:t>时间异构：减少攻击在时间上残留</a:t>
            </a:r>
            <a:endParaRPr lang="zh-CN" altLang="en-US" sz="1600"/>
          </a:p>
          <a:p>
            <a:r>
              <a:rPr lang="zh-CN" altLang="en-US" sz="1600"/>
              <a:t>最终目标：最小化攻击成功率；</a:t>
            </a:r>
            <a:endParaRPr lang="zh-CN" altLang="en-US" sz="1600"/>
          </a:p>
          <a:p>
            <a:pPr indent="457200">
              <a:lnSpc>
                <a:spcPct val="150000"/>
              </a:lnSpc>
            </a:pPr>
            <a:endParaRPr lang="zh-CN" altLang="en-US" sz="160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4578" name="文本框 2"/>
          <p:cNvSpPr txBox="1"/>
          <p:nvPr/>
        </p:nvSpPr>
        <p:spPr>
          <a:xfrm>
            <a:off x="3484245" y="2227580"/>
            <a:ext cx="4348163" cy="706755"/>
          </a:xfrm>
          <a:prstGeom prst="rect">
            <a:avLst/>
          </a:prstGeom>
          <a:noFill/>
          <a:ln w="9525">
            <a:noFill/>
          </a:ln>
        </p:spPr>
        <p:txBody>
          <a:bodyPr anchor="t" anchorCtr="0">
            <a:spAutoFit/>
          </a:bodyPr>
          <a:lstStyle/>
          <a:p>
            <a:pPr marL="0" lvl="0" indent="0" algn="l" fontAlgn="base">
              <a:lnSpc>
                <a:spcPct val="100000"/>
              </a:lnSpc>
              <a:spcBef>
                <a:spcPts val="0"/>
              </a:spcBef>
              <a:spcAft>
                <a:spcPts val="800"/>
              </a:spcAft>
              <a:buSzPct val="100000"/>
            </a:pPr>
            <a:r>
              <a:rPr lang="zh-CN" altLang="en-US" sz="4000" spc="280" dirty="0">
                <a:effectLst>
                  <a:outerShdw blurRad="38100" dist="19050" dir="2700000" algn="tl" rotWithShape="0">
                    <a:schemeClr val="dk1">
                      <a:alpha val="40000"/>
                    </a:schemeClr>
                  </a:outerShdw>
                </a:effectLst>
                <a:uFillTx/>
                <a:latin typeface="宋体" panose="02010600030101010101" pitchFamily="2" charset="-122"/>
                <a:ea typeface="宋体" panose="02010600030101010101" pitchFamily="2" charset="-122"/>
                <a:cs typeface="+mj-cs"/>
                <a:sym typeface="+mn-ea"/>
              </a:rPr>
              <a:t>系统概述</a:t>
            </a:r>
            <a:endParaRPr lang="zh-CN" altLang="en-US" sz="4000" spc="280" dirty="0">
              <a:effectLst>
                <a:outerShdw blurRad="38100" dist="19050" dir="2700000" algn="tl" rotWithShape="0">
                  <a:schemeClr val="dk1">
                    <a:alpha val="40000"/>
                  </a:schemeClr>
                </a:outerShdw>
              </a:effectLst>
              <a:uFillTx/>
              <a:latin typeface="宋体" panose="02010600030101010101" pitchFamily="2" charset="-122"/>
              <a:ea typeface="宋体" panose="02010600030101010101" pitchFamily="2" charset="-122"/>
              <a:cs typeface="+mj-cs"/>
              <a:sym typeface="+mn-ea"/>
            </a:endParaRPr>
          </a:p>
        </p:txBody>
      </p:sp>
      <p:sp>
        <p:nvSpPr>
          <p:cNvPr id="24579" name="文本框 4"/>
          <p:cNvSpPr txBox="1"/>
          <p:nvPr/>
        </p:nvSpPr>
        <p:spPr>
          <a:xfrm>
            <a:off x="3537585" y="2019300"/>
            <a:ext cx="1331913" cy="307975"/>
          </a:xfrm>
          <a:prstGeom prst="rect">
            <a:avLst/>
          </a:prstGeom>
          <a:noFill/>
          <a:ln w="9525">
            <a:noFill/>
          </a:ln>
        </p:spPr>
        <p:txBody>
          <a:bodyPr anchor="t" anchorCtr="0">
            <a:spAutoFit/>
          </a:bodyPr>
          <a:lstStyle/>
          <a:p>
            <a:r>
              <a:rPr lang="en-US" altLang="zh-CN" sz="1400" dirty="0">
                <a:latin typeface="Arial" panose="020B0604020202020204" pitchFamily="34" charset="0"/>
                <a:ea typeface="微软雅黑" panose="020B0503020204020204" pitchFamily="34" charset="-122"/>
              </a:rPr>
              <a:t>PART TWO</a:t>
            </a:r>
            <a:endParaRPr lang="zh-CN" altLang="en-US" sz="1400" dirty="0">
              <a:latin typeface="Arial" panose="020B0604020202020204" pitchFamily="34" charset="0"/>
              <a:ea typeface="微软雅黑" panose="020B0503020204020204" pitchFamily="34" charset="-122"/>
            </a:endParaRPr>
          </a:p>
        </p:txBody>
      </p:sp>
      <p:grpSp>
        <p:nvGrpSpPr>
          <p:cNvPr id="24580" name="组合 8"/>
          <p:cNvGrpSpPr/>
          <p:nvPr/>
        </p:nvGrpSpPr>
        <p:grpSpPr>
          <a:xfrm>
            <a:off x="1928813" y="1944688"/>
            <a:ext cx="1130300" cy="1128712"/>
            <a:chOff x="1928879" y="1944350"/>
            <a:chExt cx="1129689" cy="1129689"/>
          </a:xfrm>
        </p:grpSpPr>
        <p:sp>
          <p:nvSpPr>
            <p:cNvPr id="2" name="椭圆 1"/>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8" name="Freeform 7"/>
            <p:cNvSpPr>
              <a:spLocks noEditPoints="1"/>
            </p:cNvSpPr>
            <p:nvPr/>
          </p:nvSpPr>
          <p:spPr bwMode="auto">
            <a:xfrm>
              <a:off x="2109756" y="2227170"/>
              <a:ext cx="750481" cy="614894"/>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Box 29"/>
          <p:cNvSpPr txBox="1"/>
          <p:nvPr/>
        </p:nvSpPr>
        <p:spPr>
          <a:xfrm>
            <a:off x="942340" y="1009650"/>
            <a:ext cx="2548255" cy="410845"/>
          </a:xfrm>
          <a:prstGeom prst="rect">
            <a:avLst/>
          </a:prstGeom>
          <a:noFill/>
          <a:ln w="9525">
            <a:noFill/>
          </a:ln>
        </p:spPr>
        <p:txBody>
          <a:bodyPr wrap="square" anchor="t" anchorCtr="0">
            <a:spAutoFit/>
          </a:bodyPr>
          <a:lstStyle/>
          <a:p>
            <a:pPr>
              <a:lnSpc>
                <a:spcPct val="130000"/>
              </a:lnSpc>
              <a:buSzTx/>
            </a:pPr>
            <a:r>
              <a:rPr lang="en-US" altLang="zh-CN" sz="1600" dirty="0">
                <a:solidFill>
                  <a:srgbClr val="0D0D0D"/>
                </a:solidFill>
                <a:latin typeface="微软雅黑" panose="020B0503020204020204" pitchFamily="34" charset="-122"/>
                <a:ea typeface="微软雅黑" panose="020B0503020204020204" pitchFamily="34" charset="-122"/>
              </a:rPr>
              <a:t> </a:t>
            </a:r>
            <a:endParaRPr lang="zh-CN" altLang="en-US" sz="1600" dirty="0">
              <a:solidFill>
                <a:srgbClr val="0D0D0D"/>
              </a:solidFill>
              <a:latin typeface="微软雅黑" panose="020B0503020204020204" pitchFamily="34" charset="-122"/>
              <a:ea typeface="微软雅黑" panose="020B0503020204020204" pitchFamily="34" charset="-122"/>
            </a:endParaRPr>
          </a:p>
        </p:txBody>
      </p:sp>
      <p:sp>
        <p:nvSpPr>
          <p:cNvPr id="26683" name="文本框 6"/>
          <p:cNvSpPr txBox="1"/>
          <p:nvPr/>
        </p:nvSpPr>
        <p:spPr>
          <a:xfrm>
            <a:off x="782955" y="281305"/>
            <a:ext cx="3710940" cy="460375"/>
          </a:xfrm>
          <a:prstGeom prst="rect">
            <a:avLst/>
          </a:prstGeom>
          <a:noFill/>
          <a:ln w="9525">
            <a:noFill/>
          </a:ln>
        </p:spPr>
        <p:txBody>
          <a:bodyPr wrap="square" anchor="t" anchorCtr="0">
            <a:spAutoFit/>
          </a:bodyPr>
          <a:lstStyle/>
          <a:p>
            <a:pPr marL="0" lvl="0" indent="0" algn="l" fontAlgn="base">
              <a:lnSpc>
                <a:spcPct val="100000"/>
              </a:lnSpc>
              <a:spcBef>
                <a:spcPts val="0"/>
              </a:spcBef>
              <a:spcAft>
                <a:spcPts val="800"/>
              </a:spcAft>
              <a:buSzPct val="100000"/>
            </a:pPr>
            <a:r>
              <a:rPr lang="zh-CN" altLang="en-US" sz="2400" b="1" dirty="0">
                <a:latin typeface="Arial" panose="020B0604020202020204" pitchFamily="34" charset="0"/>
                <a:ea typeface="微软雅黑" panose="020B0503020204020204" pitchFamily="34" charset="-122"/>
              </a:rPr>
              <a:t>模拟攻击和防御场景</a:t>
            </a:r>
            <a:endParaRPr lang="zh-CN" altLang="en-US" sz="2400" b="1" dirty="0">
              <a:latin typeface="Arial" panose="020B0604020202020204" pitchFamily="34" charset="0"/>
              <a:ea typeface="微软雅黑" panose="020B0503020204020204" pitchFamily="34" charset="-122"/>
            </a:endParaRPr>
          </a:p>
        </p:txBody>
      </p:sp>
      <p:grpSp>
        <p:nvGrpSpPr>
          <p:cNvPr id="26684" name="组合 7"/>
          <p:cNvGrpSpPr>
            <a:grpSpLocks noChangeAspect="1"/>
          </p:cNvGrpSpPr>
          <p:nvPr/>
        </p:nvGrpSpPr>
        <p:grpSpPr>
          <a:xfrm>
            <a:off x="314325" y="290513"/>
            <a:ext cx="468313" cy="468312"/>
            <a:chOff x="1928879" y="1944350"/>
            <a:chExt cx="1129689" cy="1129689"/>
          </a:xfrm>
        </p:grpSpPr>
        <p:sp>
          <p:nvSpPr>
            <p:cNvPr id="9" name="椭圆 8"/>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10"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2"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sp>
        <p:nvSpPr>
          <p:cNvPr id="11" name="文本框 10"/>
          <p:cNvSpPr txBox="1"/>
          <p:nvPr/>
        </p:nvSpPr>
        <p:spPr>
          <a:xfrm>
            <a:off x="1132205" y="3282950"/>
            <a:ext cx="7084695" cy="583565"/>
          </a:xfrm>
          <a:prstGeom prst="rect">
            <a:avLst/>
          </a:prstGeom>
        </p:spPr>
        <p:txBody>
          <a:bodyPr wrap="square">
            <a:spAutoFit/>
          </a:bodyPr>
          <a:p>
            <a:pPr marL="0" indent="0"/>
            <a:r>
              <a:rPr lang="zh-CN" altLang="en-US" sz="1600" b="0" i="0">
                <a:latin typeface="-apple-system"/>
                <a:ea typeface="-apple-system"/>
              </a:rPr>
              <a:t>系统中的每个加密算法都被抽象为异构执行器，反映了增强不可预测性和弹性所需的多样性</a:t>
            </a:r>
            <a:endParaRPr lang="zh-CN" altLang="en-US" sz="1600" b="0" i="0">
              <a:latin typeface="-apple-system"/>
              <a:ea typeface="-apple-system"/>
            </a:endParaRPr>
          </a:p>
        </p:txBody>
      </p:sp>
      <p:sp>
        <p:nvSpPr>
          <p:cNvPr id="13" name="文本框 12"/>
          <p:cNvSpPr txBox="1"/>
          <p:nvPr/>
        </p:nvSpPr>
        <p:spPr>
          <a:xfrm>
            <a:off x="1101090" y="3959225"/>
            <a:ext cx="6937375" cy="615315"/>
          </a:xfrm>
          <a:prstGeom prst="rect">
            <a:avLst/>
          </a:prstGeom>
        </p:spPr>
        <p:txBody>
          <a:bodyPr wrap="square">
            <a:noAutofit/>
          </a:bodyPr>
          <a:p>
            <a:pPr marL="0" indent="0">
              <a:lnSpc>
                <a:spcPts val="1650"/>
              </a:lnSpc>
              <a:spcBef>
                <a:spcPct val="0"/>
              </a:spcBef>
              <a:spcAft>
                <a:spcPts val="1200"/>
              </a:spcAft>
            </a:pPr>
            <a:r>
              <a:rPr lang="zh-CN" altLang="en-US" sz="1600" b="0" i="0">
                <a:latin typeface="宋体" panose="02010600030101010101" pitchFamily="2" charset="-122"/>
                <a:ea typeface="宋体" panose="02010600030101010101" pitchFamily="2" charset="-122"/>
                <a:cs typeface="宋体" panose="02010600030101010101" pitchFamily="2" charset="-122"/>
              </a:rPr>
              <a:t>系统维护包含DES、3DES、AES等多种加密算法的资源池，RL代理通过策略调度机制（如PPO算法）从池中选择最优加密配置</a:t>
            </a:r>
            <a:r>
              <a:rPr lang="zh-CN" altLang="en-US" sz="1600" b="0" i="0">
                <a:solidFill>
                  <a:srgbClr val="FFFFFF"/>
                </a:solidFill>
                <a:latin typeface="宋体" panose="02010600030101010101" pitchFamily="2" charset="-122"/>
                <a:ea typeface="宋体" panose="02010600030101010101" pitchFamily="2" charset="-122"/>
                <a:cs typeface="宋体" panose="02010600030101010101" pitchFamily="2" charset="-122"/>
              </a:rPr>
              <a:t>实</a:t>
            </a:r>
            <a:r>
              <a:rPr lang="zh-CN" altLang="en-US" sz="1600" b="0" i="0">
                <a:solidFill>
                  <a:srgbClr val="FFFFFF"/>
                </a:solidFill>
                <a:latin typeface="-apple-system"/>
                <a:ea typeface="-apple-system"/>
              </a:rPr>
              <a:t>现加密层动态切换。</a:t>
            </a:r>
            <a:endParaRPr lang="zh-CN" altLang="en-US" sz="1600" b="0" i="0">
              <a:solidFill>
                <a:srgbClr val="FFFFFF"/>
              </a:solidFill>
              <a:latin typeface="-apple-system"/>
              <a:ea typeface="-apple-system"/>
            </a:endParaRPr>
          </a:p>
          <a:p>
            <a:pPr marL="0" indent="0">
              <a:lnSpc>
                <a:spcPts val="1650"/>
              </a:lnSpc>
              <a:spcBef>
                <a:spcPct val="0"/>
              </a:spcBef>
              <a:spcAft>
                <a:spcPct val="0"/>
              </a:spcAft>
            </a:pPr>
            <a:r>
              <a:rPr lang="zh-CN" altLang="en-US" sz="1600" b="0" i="0">
                <a:solidFill>
                  <a:srgbClr val="FFFFFF"/>
                </a:solidFill>
                <a:latin typeface="-apple-system"/>
                <a:ea typeface="-apple-system"/>
              </a:rPr>
              <a:t>该机制通过</a:t>
            </a:r>
            <a:endParaRPr lang="zh-CN" altLang="en-US" sz="1600" b="0" i="0">
              <a:solidFill>
                <a:srgbClr val="FFFFFF"/>
              </a:solidFill>
              <a:latin typeface="-apple-system"/>
              <a:ea typeface="-apple-system"/>
            </a:endParaRPr>
          </a:p>
        </p:txBody>
      </p:sp>
      <p:pic>
        <p:nvPicPr>
          <p:cNvPr id="4" name="图片 3"/>
          <p:cNvPicPr>
            <a:picLocks noChangeAspect="1"/>
          </p:cNvPicPr>
          <p:nvPr/>
        </p:nvPicPr>
        <p:blipFill>
          <a:blip r:embed="rId2"/>
          <a:stretch>
            <a:fillRect/>
          </a:stretch>
        </p:blipFill>
        <p:spPr>
          <a:xfrm>
            <a:off x="1417955" y="657225"/>
            <a:ext cx="6303010" cy="25863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709" name="组合 40"/>
          <p:cNvGrpSpPr>
            <a:grpSpLocks noChangeAspect="1"/>
          </p:cNvGrpSpPr>
          <p:nvPr/>
        </p:nvGrpSpPr>
        <p:grpSpPr>
          <a:xfrm>
            <a:off x="314325" y="290513"/>
            <a:ext cx="468313" cy="468312"/>
            <a:chOff x="1928879" y="1944350"/>
            <a:chExt cx="1129689" cy="1129689"/>
          </a:xfrm>
        </p:grpSpPr>
        <p:sp>
          <p:nvSpPr>
            <p:cNvPr id="42" name="椭圆 41"/>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43"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sp>
        <p:nvSpPr>
          <p:cNvPr id="4" name="文本框 3"/>
          <p:cNvSpPr txBox="1"/>
          <p:nvPr/>
        </p:nvSpPr>
        <p:spPr>
          <a:xfrm>
            <a:off x="897255" y="298450"/>
            <a:ext cx="3048000" cy="460375"/>
          </a:xfrm>
          <a:prstGeom prst="rect">
            <a:avLst/>
          </a:prstGeom>
          <a:noFill/>
        </p:spPr>
        <p:txBody>
          <a:bodyPr wrap="square" rtlCol="0">
            <a:spAutoFit/>
          </a:bodyPr>
          <a:p>
            <a:r>
              <a:rPr lang="zh-CN" altLang="en-US" sz="2400" b="1" dirty="0"/>
              <a:t>SIDMD 框架概述</a:t>
            </a:r>
            <a:endParaRPr lang="zh-CN" altLang="en-US" sz="2400" b="1" dirty="0"/>
          </a:p>
        </p:txBody>
      </p:sp>
      <p:pic>
        <p:nvPicPr>
          <p:cNvPr id="7" name="图片 6"/>
          <p:cNvPicPr>
            <a:picLocks noChangeAspect="1"/>
          </p:cNvPicPr>
          <p:nvPr/>
        </p:nvPicPr>
        <p:blipFill>
          <a:blip r:embed="rId2"/>
          <a:srcRect b="14596"/>
          <a:stretch>
            <a:fillRect/>
          </a:stretch>
        </p:blipFill>
        <p:spPr>
          <a:xfrm>
            <a:off x="314325" y="1174115"/>
            <a:ext cx="8252460" cy="1924685"/>
          </a:xfrm>
          <a:prstGeom prst="rect">
            <a:avLst/>
          </a:prstGeom>
        </p:spPr>
      </p:pic>
      <p:sp>
        <p:nvSpPr>
          <p:cNvPr id="8" name="文本框 7"/>
          <p:cNvSpPr txBox="1"/>
          <p:nvPr/>
        </p:nvSpPr>
        <p:spPr>
          <a:xfrm>
            <a:off x="718820" y="3344545"/>
            <a:ext cx="7408545" cy="829945"/>
          </a:xfrm>
          <a:prstGeom prst="rect">
            <a:avLst/>
          </a:prstGeom>
        </p:spPr>
        <p:txBody>
          <a:bodyPr wrap="square">
            <a:spAutoFit/>
          </a:bodyPr>
          <a:p>
            <a:pPr marL="0" indent="0"/>
            <a:r>
              <a:rPr lang="zh-CN" altLang="en-US" sz="1600" b="0" i="0">
                <a:latin typeface="-apple-system"/>
                <a:ea typeface="-apple-system"/>
              </a:rPr>
              <a:t>输入进来，先判断每个执行体是否异常；异常输入聚类，得到块摘要</a:t>
            </a:r>
            <a:r>
              <a:rPr lang="en-US" altLang="zh-CN" sz="1600" b="0" i="0">
                <a:latin typeface="宋体" panose="02010600030101010101" pitchFamily="2" charset="-122"/>
                <a:ea typeface="宋体" panose="02010600030101010101" pitchFamily="2" charset="-122"/>
              </a:rPr>
              <a:t>CHS</a:t>
            </a:r>
            <a:r>
              <a:rPr lang="zh-CN" altLang="en-US" sz="1600" b="0" i="0">
                <a:latin typeface="-apple-system"/>
                <a:ea typeface="-apple-system"/>
              </a:rPr>
              <a:t>（短期漏洞）；用块摘要更新流摘要</a:t>
            </a:r>
            <a:r>
              <a:rPr lang="en-US" altLang="zh-CN" sz="1600" b="0" i="0">
                <a:latin typeface="宋体" panose="02010600030101010101" pitchFamily="2" charset="-122"/>
                <a:ea typeface="宋体" panose="02010600030101010101" pitchFamily="2" charset="-122"/>
              </a:rPr>
              <a:t> ISS</a:t>
            </a:r>
            <a:r>
              <a:rPr lang="zh-CN" altLang="en-US" sz="1600" b="0" i="0">
                <a:latin typeface="-apple-system"/>
                <a:ea typeface="-apple-system"/>
              </a:rPr>
              <a:t>（长期漏洞库）；调度器用时空信息选最优执行体，根据当前</a:t>
            </a:r>
            <a:r>
              <a:rPr lang="en-US" altLang="zh-CN" sz="1600" b="0" i="0">
                <a:latin typeface="-apple-system"/>
                <a:ea typeface="-apple-system"/>
              </a:rPr>
              <a:t> + </a:t>
            </a:r>
            <a:r>
              <a:rPr lang="zh-CN" altLang="en-US" sz="1600" b="0" i="0">
                <a:latin typeface="-apple-system"/>
                <a:ea typeface="-apple-system"/>
              </a:rPr>
              <a:t>历史漏洞选择最优执行体，最小化共同漏洞、最小化攻击危害</a:t>
            </a:r>
            <a:endParaRPr lang="zh-CN" altLang="en-US" sz="1600" b="0" i="0">
              <a:latin typeface="-apple-system"/>
              <a:ea typeface="-apple-system"/>
            </a:endParaRPr>
          </a:p>
        </p:txBody>
      </p:sp>
      <p:sp>
        <p:nvSpPr>
          <p:cNvPr id="10" name="文本框 9"/>
          <p:cNvSpPr txBox="1"/>
          <p:nvPr/>
        </p:nvSpPr>
        <p:spPr>
          <a:xfrm>
            <a:off x="2820035" y="888365"/>
            <a:ext cx="2171065" cy="337185"/>
          </a:xfrm>
          <a:prstGeom prst="rect">
            <a:avLst/>
          </a:prstGeom>
        </p:spPr>
        <p:txBody>
          <a:bodyPr wrap="square">
            <a:spAutoFit/>
          </a:bodyPr>
          <a:p>
            <a:r>
              <a:rPr lang="zh-CN" altLang="en-US" sz="1600"/>
              <a:t>整篇论文的架构总图</a:t>
            </a:r>
            <a:endParaRPr lang="zh-CN" altLang="en-US" sz="1600"/>
          </a:p>
        </p:txBody>
      </p:sp>
      <p:sp>
        <p:nvSpPr>
          <p:cNvPr id="2" name="文本框 1"/>
          <p:cNvSpPr txBox="1"/>
          <p:nvPr/>
        </p:nvSpPr>
        <p:spPr>
          <a:xfrm>
            <a:off x="1882775" y="4174173"/>
            <a:ext cx="5080000" cy="337185"/>
          </a:xfrm>
          <a:prstGeom prst="rect">
            <a:avLst/>
          </a:prstGeom>
        </p:spPr>
        <p:txBody>
          <a:bodyPr>
            <a:spAutoFit/>
          </a:bodyPr>
          <a:p>
            <a:r>
              <a:rPr lang="zh-CN" altLang="en-US" sz="1600">
                <a:solidFill>
                  <a:srgbClr val="FF0000"/>
                </a:solidFill>
              </a:rPr>
              <a:t>边运行、边学习、边更新漏洞、边做更安全的调度。</a:t>
            </a:r>
            <a:endParaRPr lang="zh-CN" altLang="en-US" sz="160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3" name="组合 32"/>
          <p:cNvGrpSpPr>
            <a:grpSpLocks noChangeAspect="1"/>
          </p:cNvGrpSpPr>
          <p:nvPr/>
        </p:nvGrpSpPr>
        <p:grpSpPr>
          <a:xfrm>
            <a:off x="314325" y="29051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sp>
        <p:nvSpPr>
          <p:cNvPr id="7" name="文本框 6"/>
          <p:cNvSpPr txBox="1"/>
          <p:nvPr/>
        </p:nvSpPr>
        <p:spPr>
          <a:xfrm>
            <a:off x="782955" y="298450"/>
            <a:ext cx="4572000" cy="460375"/>
          </a:xfrm>
          <a:prstGeom prst="rect">
            <a:avLst/>
          </a:prstGeom>
          <a:noFill/>
        </p:spPr>
        <p:txBody>
          <a:bodyPr wrap="square" rtlCol="0" anchor="t">
            <a:spAutoFit/>
          </a:bodyPr>
          <a:p>
            <a:r>
              <a:rPr lang="zh-CN" altLang="en-US" sz="2400" b="1" dirty="0">
                <a:sym typeface="+mn-ea"/>
              </a:rPr>
              <a:t>SIDMD</a:t>
            </a:r>
            <a:r>
              <a:rPr lang="zh-CN" altLang="en-US" sz="2400" b="1" dirty="0">
                <a:sym typeface="+mn-ea"/>
              </a:rPr>
              <a:t>算法</a:t>
            </a:r>
            <a:endParaRPr lang="zh-CN" altLang="en-US" sz="2400" b="1" dirty="0">
              <a:sym typeface="+mn-ea"/>
            </a:endParaRPr>
          </a:p>
        </p:txBody>
      </p:sp>
      <p:pic>
        <p:nvPicPr>
          <p:cNvPr id="3" name="图片 2"/>
          <p:cNvPicPr>
            <a:picLocks noChangeAspect="1"/>
          </p:cNvPicPr>
          <p:nvPr/>
        </p:nvPicPr>
        <p:blipFill>
          <a:blip r:embed="rId2"/>
          <a:stretch>
            <a:fillRect/>
          </a:stretch>
        </p:blipFill>
        <p:spPr>
          <a:xfrm>
            <a:off x="700405" y="1415415"/>
            <a:ext cx="6924675" cy="3228975"/>
          </a:xfrm>
          <a:prstGeom prst="rect">
            <a:avLst/>
          </a:prstGeom>
        </p:spPr>
      </p:pic>
      <p:pic>
        <p:nvPicPr>
          <p:cNvPr id="4" name="图片 3"/>
          <p:cNvPicPr>
            <a:picLocks noChangeAspect="1"/>
          </p:cNvPicPr>
          <p:nvPr/>
        </p:nvPicPr>
        <p:blipFill>
          <a:blip r:embed="rId3"/>
          <a:stretch>
            <a:fillRect/>
          </a:stretch>
        </p:blipFill>
        <p:spPr>
          <a:xfrm>
            <a:off x="948055" y="820420"/>
            <a:ext cx="4095750" cy="533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3" name="组合 32"/>
          <p:cNvGrpSpPr>
            <a:grpSpLocks noChangeAspect="1"/>
          </p:cNvGrpSpPr>
          <p:nvPr/>
        </p:nvGrpSpPr>
        <p:grpSpPr>
          <a:xfrm>
            <a:off x="314325" y="29051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sp>
        <p:nvSpPr>
          <p:cNvPr id="7" name="文本框 6"/>
          <p:cNvSpPr txBox="1"/>
          <p:nvPr/>
        </p:nvSpPr>
        <p:spPr>
          <a:xfrm>
            <a:off x="782955" y="298450"/>
            <a:ext cx="4572000" cy="460375"/>
          </a:xfrm>
          <a:prstGeom prst="rect">
            <a:avLst/>
          </a:prstGeom>
          <a:noFill/>
        </p:spPr>
        <p:txBody>
          <a:bodyPr wrap="square" rtlCol="0" anchor="t">
            <a:spAutoFit/>
          </a:bodyPr>
          <a:p>
            <a:r>
              <a:rPr lang="zh-CN" altLang="en-US" sz="2400" b="1" dirty="0">
                <a:sym typeface="+mn-ea"/>
              </a:rPr>
              <a:t>动态漏洞发现</a:t>
            </a:r>
            <a:endParaRPr lang="zh-CN" altLang="en-US" sz="2400" b="1" dirty="0">
              <a:sym typeface="+mn-ea"/>
            </a:endParaRPr>
          </a:p>
        </p:txBody>
      </p:sp>
      <p:pic>
        <p:nvPicPr>
          <p:cNvPr id="5" name="图片 4"/>
          <p:cNvPicPr>
            <a:picLocks noChangeAspect="1"/>
          </p:cNvPicPr>
          <p:nvPr/>
        </p:nvPicPr>
        <p:blipFill>
          <a:blip r:embed="rId2"/>
          <a:stretch>
            <a:fillRect/>
          </a:stretch>
        </p:blipFill>
        <p:spPr>
          <a:xfrm>
            <a:off x="389255" y="819785"/>
            <a:ext cx="6096000" cy="3209925"/>
          </a:xfrm>
          <a:prstGeom prst="rect">
            <a:avLst/>
          </a:prstGeom>
        </p:spPr>
      </p:pic>
      <p:sp>
        <p:nvSpPr>
          <p:cNvPr id="6" name="文本框 5"/>
          <p:cNvSpPr txBox="1"/>
          <p:nvPr/>
        </p:nvSpPr>
        <p:spPr>
          <a:xfrm>
            <a:off x="4868545" y="1658620"/>
            <a:ext cx="4136390" cy="337185"/>
          </a:xfrm>
          <a:prstGeom prst="rect">
            <a:avLst/>
          </a:prstGeom>
        </p:spPr>
        <p:txBody>
          <a:bodyPr wrap="square">
            <a:spAutoFit/>
          </a:bodyPr>
          <a:p>
            <a:r>
              <a:rPr lang="zh-CN" altLang="en-US" sz="1600"/>
              <a:t>目标：把一堆异常输入压缩成少数 “漏洞簇”</a:t>
            </a:r>
            <a:endParaRPr lang="zh-CN" altLang="en-US" sz="1600"/>
          </a:p>
        </p:txBody>
      </p:sp>
      <p:sp>
        <p:nvSpPr>
          <p:cNvPr id="11" name="文本框 10"/>
          <p:cNvSpPr txBox="1"/>
          <p:nvPr/>
        </p:nvSpPr>
        <p:spPr>
          <a:xfrm>
            <a:off x="6249670" y="2388235"/>
            <a:ext cx="2647315" cy="1706880"/>
          </a:xfrm>
          <a:prstGeom prst="rect">
            <a:avLst/>
          </a:prstGeom>
        </p:spPr>
        <p:txBody>
          <a:bodyPr wrap="square">
            <a:spAutoFit/>
          </a:bodyPr>
          <a:p>
            <a:pPr marL="0" indent="0">
              <a:lnSpc>
                <a:spcPts val="1800"/>
              </a:lnSpc>
              <a:spcBef>
                <a:spcPct val="0"/>
              </a:spcBef>
              <a:spcAft>
                <a:spcPct val="0"/>
              </a:spcAft>
              <a:buAutoNum type="arabicPeriod"/>
            </a:pPr>
            <a:r>
              <a:rPr lang="zh-CN" altLang="en-US" sz="1400" b="0">
                <a:solidFill>
                  <a:srgbClr val="000000"/>
                </a:solidFill>
              </a:rPr>
              <a:t>随机选候选中心点</a:t>
            </a:r>
            <a:endParaRPr lang="zh-CN" altLang="en-US" sz="1400" b="0">
              <a:solidFill>
                <a:srgbClr val="000000"/>
              </a:solidFill>
            </a:endParaRPr>
          </a:p>
          <a:p>
            <a:pPr marL="0" indent="0">
              <a:lnSpc>
                <a:spcPts val="1800"/>
              </a:lnSpc>
              <a:spcBef>
                <a:spcPct val="0"/>
              </a:spcBef>
              <a:spcAft>
                <a:spcPct val="0"/>
              </a:spcAft>
              <a:buAutoNum type="arabicPeriod"/>
            </a:pPr>
            <a:r>
              <a:rPr lang="zh-CN" altLang="en-US" sz="1400" b="0">
                <a:solidFill>
                  <a:srgbClr val="000000"/>
                </a:solidFill>
              </a:rPr>
              <a:t>计算每个点的密度（适应度）</a:t>
            </a:r>
            <a:endParaRPr lang="zh-CN" altLang="en-US" sz="1400" b="0">
              <a:solidFill>
                <a:srgbClr val="000000"/>
              </a:solidFill>
            </a:endParaRPr>
          </a:p>
          <a:p>
            <a:pPr marL="0" indent="0">
              <a:lnSpc>
                <a:spcPts val="1800"/>
              </a:lnSpc>
              <a:spcBef>
                <a:spcPct val="0"/>
              </a:spcBef>
              <a:spcAft>
                <a:spcPct val="0"/>
              </a:spcAft>
              <a:buAutoNum type="arabicPeriod"/>
            </a:pPr>
            <a:r>
              <a:rPr lang="zh-CN" altLang="en-US" sz="1400" b="0">
                <a:solidFill>
                  <a:srgbClr val="000000"/>
                </a:solidFill>
              </a:rPr>
              <a:t>选密度最高的作为簇中心</a:t>
            </a:r>
            <a:endParaRPr lang="zh-CN" altLang="en-US" sz="1400" b="0">
              <a:solidFill>
                <a:srgbClr val="000000"/>
              </a:solidFill>
            </a:endParaRPr>
          </a:p>
          <a:p>
            <a:pPr marL="0" indent="0">
              <a:lnSpc>
                <a:spcPts val="1800"/>
              </a:lnSpc>
              <a:spcBef>
                <a:spcPct val="0"/>
              </a:spcBef>
              <a:spcAft>
                <a:spcPct val="0"/>
              </a:spcAft>
              <a:buAutoNum type="arabicPeriod"/>
            </a:pPr>
            <a:r>
              <a:rPr lang="zh-CN" altLang="en-US" sz="1400" b="0">
                <a:solidFill>
                  <a:srgbClr val="000000"/>
                </a:solidFill>
              </a:rPr>
              <a:t>把附近的异常点归入同一簇</a:t>
            </a:r>
            <a:endParaRPr lang="zh-CN" altLang="en-US" sz="1400" b="0">
              <a:solidFill>
                <a:srgbClr val="000000"/>
              </a:solidFill>
            </a:endParaRPr>
          </a:p>
          <a:p>
            <a:pPr marL="0" indent="0">
              <a:lnSpc>
                <a:spcPts val="1800"/>
              </a:lnSpc>
              <a:spcBef>
                <a:spcPct val="0"/>
              </a:spcBef>
              <a:spcAft>
                <a:spcPct val="0"/>
              </a:spcAft>
              <a:buAutoNum type="arabicPeriod"/>
            </a:pPr>
            <a:r>
              <a:rPr lang="zh-CN" altLang="en-US" sz="1400" b="0">
                <a:solidFill>
                  <a:srgbClr val="000000"/>
                </a:solidFill>
              </a:rPr>
              <a:t>适应度共享，避免簇重叠</a:t>
            </a:r>
            <a:endParaRPr lang="zh-CN" altLang="en-US" sz="1400" b="0">
              <a:solidFill>
                <a:srgbClr val="000000"/>
              </a:solidFill>
            </a:endParaRPr>
          </a:p>
          <a:p>
            <a:pPr marL="0" indent="0">
              <a:lnSpc>
                <a:spcPts val="1800"/>
              </a:lnSpc>
              <a:spcBef>
                <a:spcPct val="0"/>
              </a:spcBef>
              <a:spcAft>
                <a:spcPct val="0"/>
              </a:spcAft>
            </a:pPr>
            <a:r>
              <a:rPr lang="zh-CN" altLang="en-US" sz="1400" b="0">
                <a:solidFill>
                  <a:srgbClr val="000000"/>
                </a:solidFill>
              </a:rPr>
              <a:t>输出：</a:t>
            </a:r>
            <a:r>
              <a:rPr lang="zh-CN" altLang="en-US" sz="1400" b="1">
                <a:solidFill>
                  <a:srgbClr val="000000"/>
                </a:solidFill>
              </a:rPr>
              <a:t>块摘要 </a:t>
            </a:r>
            <a:r>
              <a:rPr lang="en-US" altLang="zh-CN" sz="1400" b="1">
                <a:solidFill>
                  <a:srgbClr val="000000"/>
                </a:solidFill>
              </a:rPr>
              <a:t>CHS = </a:t>
            </a:r>
            <a:r>
              <a:rPr lang="zh-CN" altLang="en-US" sz="1400" b="1">
                <a:solidFill>
                  <a:srgbClr val="000000"/>
                </a:solidFill>
              </a:rPr>
              <a:t>簇中心 </a:t>
            </a:r>
            <a:r>
              <a:rPr lang="en-US" altLang="zh-CN" sz="1400" b="1">
                <a:solidFill>
                  <a:srgbClr val="000000"/>
                </a:solidFill>
              </a:rPr>
              <a:t>+ </a:t>
            </a:r>
            <a:r>
              <a:rPr lang="zh-CN" altLang="en-US" sz="1400" b="1">
                <a:solidFill>
                  <a:srgbClr val="000000"/>
                </a:solidFill>
              </a:rPr>
              <a:t>密度</a:t>
            </a:r>
            <a:endParaRPr lang="zh-CN" altLang="en-US" sz="1400" b="1">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3" name="组合 32"/>
          <p:cNvGrpSpPr>
            <a:grpSpLocks noChangeAspect="1"/>
          </p:cNvGrpSpPr>
          <p:nvPr/>
        </p:nvGrpSpPr>
        <p:grpSpPr>
          <a:xfrm>
            <a:off x="314325" y="29051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sp>
        <p:nvSpPr>
          <p:cNvPr id="7" name="文本框 6"/>
          <p:cNvSpPr txBox="1"/>
          <p:nvPr/>
        </p:nvSpPr>
        <p:spPr>
          <a:xfrm>
            <a:off x="782955" y="298450"/>
            <a:ext cx="4572000" cy="460375"/>
          </a:xfrm>
          <a:prstGeom prst="rect">
            <a:avLst/>
          </a:prstGeom>
          <a:noFill/>
        </p:spPr>
        <p:txBody>
          <a:bodyPr wrap="square" rtlCol="0" anchor="t">
            <a:spAutoFit/>
          </a:bodyPr>
          <a:p>
            <a:r>
              <a:rPr lang="zh-CN" altLang="en-US" sz="2400" b="1" dirty="0">
                <a:sym typeface="+mn-ea"/>
              </a:rPr>
              <a:t>动态漏洞发现</a:t>
            </a:r>
            <a:endParaRPr lang="zh-CN" altLang="en-US" sz="2400" b="1" dirty="0">
              <a:sym typeface="+mn-ea"/>
            </a:endParaRPr>
          </a:p>
        </p:txBody>
      </p:sp>
      <p:pic>
        <p:nvPicPr>
          <p:cNvPr id="2" name="图片 1"/>
          <p:cNvPicPr>
            <a:picLocks noChangeAspect="1"/>
          </p:cNvPicPr>
          <p:nvPr/>
        </p:nvPicPr>
        <p:blipFill>
          <a:blip r:embed="rId2"/>
          <a:stretch>
            <a:fillRect/>
          </a:stretch>
        </p:blipFill>
        <p:spPr>
          <a:xfrm>
            <a:off x="314325" y="862965"/>
            <a:ext cx="5105400" cy="1495425"/>
          </a:xfrm>
          <a:prstGeom prst="rect">
            <a:avLst/>
          </a:prstGeom>
        </p:spPr>
      </p:pic>
      <p:sp>
        <p:nvSpPr>
          <p:cNvPr id="3" name="文本框 2"/>
          <p:cNvSpPr txBox="1"/>
          <p:nvPr/>
        </p:nvSpPr>
        <p:spPr>
          <a:xfrm>
            <a:off x="854075" y="2358390"/>
            <a:ext cx="3833495" cy="337185"/>
          </a:xfrm>
          <a:prstGeom prst="rect">
            <a:avLst/>
          </a:prstGeom>
        </p:spPr>
        <p:txBody>
          <a:bodyPr wrap="square">
            <a:spAutoFit/>
          </a:bodyPr>
          <a:p>
            <a:r>
              <a:rPr lang="zh-CN" altLang="en-US" sz="1600"/>
              <a:t>目标：动态维护长期漏洞库</a:t>
            </a:r>
            <a:endParaRPr lang="zh-CN" altLang="en-US" sz="1600"/>
          </a:p>
        </p:txBody>
      </p:sp>
      <p:sp>
        <p:nvSpPr>
          <p:cNvPr id="8" name="文本框 7"/>
          <p:cNvSpPr txBox="1"/>
          <p:nvPr/>
        </p:nvSpPr>
        <p:spPr>
          <a:xfrm>
            <a:off x="782955" y="2695258"/>
            <a:ext cx="5080000" cy="1245235"/>
          </a:xfrm>
          <a:prstGeom prst="rect">
            <a:avLst/>
          </a:prstGeom>
        </p:spPr>
        <p:txBody>
          <a:bodyPr>
            <a:spAutoFit/>
          </a:bodyPr>
          <a:p>
            <a:pPr marL="0" indent="0">
              <a:lnSpc>
                <a:spcPts val="1800"/>
              </a:lnSpc>
              <a:spcBef>
                <a:spcPct val="0"/>
              </a:spcBef>
              <a:spcAft>
                <a:spcPct val="0"/>
              </a:spcAft>
            </a:pPr>
            <a:r>
              <a:rPr lang="zh-CN" altLang="en-US" sz="1400" b="0">
                <a:solidFill>
                  <a:srgbClr val="000000"/>
                </a:solidFill>
              </a:rPr>
              <a:t>新块摘要 </a:t>
            </a:r>
            <a:r>
              <a:rPr lang="en-US" altLang="zh-CN" sz="1400" b="0">
                <a:solidFill>
                  <a:srgbClr val="000000"/>
                </a:solidFill>
              </a:rPr>
              <a:t>+ </a:t>
            </a:r>
            <a:r>
              <a:rPr lang="zh-CN" altLang="en-US" sz="1400" b="0">
                <a:solidFill>
                  <a:srgbClr val="000000"/>
                </a:solidFill>
              </a:rPr>
              <a:t>历史流摘要</a:t>
            </a:r>
            <a:endParaRPr lang="zh-CN" altLang="en-US" sz="1400" b="0">
              <a:solidFill>
                <a:srgbClr val="000000"/>
              </a:solidFill>
            </a:endParaRPr>
          </a:p>
          <a:p>
            <a:pPr marL="0" indent="0">
              <a:lnSpc>
                <a:spcPts val="1800"/>
              </a:lnSpc>
              <a:spcBef>
                <a:spcPct val="0"/>
              </a:spcBef>
              <a:spcAft>
                <a:spcPct val="0"/>
              </a:spcAft>
            </a:pPr>
            <a:r>
              <a:rPr lang="zh-CN" altLang="en-US" sz="1400" b="0">
                <a:solidFill>
                  <a:srgbClr val="000000"/>
                </a:solidFill>
              </a:rPr>
              <a:t>距离近 </a:t>
            </a:r>
            <a:r>
              <a:rPr lang="en-US" altLang="zh-CN" sz="1400" b="0">
                <a:solidFill>
                  <a:srgbClr val="000000"/>
                </a:solidFill>
              </a:rPr>
              <a:t>→ </a:t>
            </a:r>
            <a:r>
              <a:rPr lang="zh-CN" altLang="en-US" sz="1400" b="0">
                <a:solidFill>
                  <a:srgbClr val="000000"/>
                </a:solidFill>
              </a:rPr>
              <a:t>判定为同一漏洞，进行合并</a:t>
            </a:r>
            <a:endParaRPr lang="zh-CN" altLang="en-US" sz="1400" b="0">
              <a:solidFill>
                <a:srgbClr val="000000"/>
              </a:solidFill>
            </a:endParaRPr>
          </a:p>
          <a:p>
            <a:pPr marL="0" indent="0">
              <a:lnSpc>
                <a:spcPts val="1800"/>
              </a:lnSpc>
              <a:spcBef>
                <a:spcPct val="0"/>
              </a:spcBef>
              <a:spcAft>
                <a:spcPct val="0"/>
              </a:spcAft>
            </a:pPr>
            <a:r>
              <a:rPr lang="zh-CN" altLang="en-US" sz="1400" b="0">
                <a:solidFill>
                  <a:srgbClr val="000000"/>
                </a:solidFill>
              </a:rPr>
              <a:t>密度叠加，增强高风险漏洞权重</a:t>
            </a:r>
            <a:endParaRPr lang="zh-CN" altLang="en-US" sz="1400" b="0">
              <a:solidFill>
                <a:srgbClr val="000000"/>
              </a:solidFill>
            </a:endParaRPr>
          </a:p>
          <a:p>
            <a:pPr marL="0" indent="0">
              <a:lnSpc>
                <a:spcPts val="1800"/>
              </a:lnSpc>
              <a:spcBef>
                <a:spcPct val="0"/>
              </a:spcBef>
              <a:spcAft>
                <a:spcPct val="0"/>
              </a:spcAft>
            </a:pPr>
            <a:r>
              <a:rPr lang="zh-CN" altLang="en-US" sz="1400" b="0">
                <a:solidFill>
                  <a:srgbClr val="000000"/>
                </a:solidFill>
              </a:rPr>
              <a:t>自动遗忘低密度、老旧漏洞</a:t>
            </a:r>
            <a:endParaRPr lang="zh-CN" altLang="en-US" sz="1400" b="0">
              <a:solidFill>
                <a:srgbClr val="000000"/>
              </a:solidFill>
            </a:endParaRPr>
          </a:p>
          <a:p>
            <a:pPr marL="0" indent="0">
              <a:lnSpc>
                <a:spcPts val="1800"/>
              </a:lnSpc>
              <a:spcBef>
                <a:spcPct val="0"/>
              </a:spcBef>
              <a:spcAft>
                <a:spcPct val="0"/>
              </a:spcAft>
            </a:pPr>
            <a:r>
              <a:rPr lang="zh-CN" altLang="en-US" sz="1400" b="0">
                <a:solidFill>
                  <a:srgbClr val="000000"/>
                </a:solidFill>
              </a:rPr>
              <a:t>最终实现：</a:t>
            </a:r>
            <a:r>
              <a:rPr lang="zh-CN" altLang="en-US" sz="1400">
                <a:solidFill>
                  <a:srgbClr val="000000"/>
                </a:solidFill>
              </a:rPr>
              <a:t>漏洞自动进化、自动更新</a:t>
            </a:r>
            <a:endParaRPr lang="zh-CN" altLang="en-US" sz="1400">
              <a:solidFill>
                <a:srgbClr val="000000"/>
              </a:solidFill>
            </a:endParaRPr>
          </a:p>
        </p:txBody>
      </p:sp>
      <p:sp>
        <p:nvSpPr>
          <p:cNvPr id="4" name="文本框 3"/>
          <p:cNvSpPr txBox="1"/>
          <p:nvPr/>
        </p:nvSpPr>
        <p:spPr>
          <a:xfrm>
            <a:off x="4687570" y="2358390"/>
            <a:ext cx="5080000" cy="1706880"/>
          </a:xfrm>
          <a:prstGeom prst="rect">
            <a:avLst/>
          </a:prstGeom>
        </p:spPr>
        <p:txBody>
          <a:bodyPr>
            <a:spAutoFit/>
          </a:bodyPr>
          <a:p>
            <a:pPr marL="0" indent="0">
              <a:lnSpc>
                <a:spcPts val="1800"/>
              </a:lnSpc>
              <a:spcBef>
                <a:spcPct val="0"/>
              </a:spcBef>
              <a:spcAft>
                <a:spcPct val="0"/>
              </a:spcAft>
            </a:pPr>
            <a:r>
              <a:rPr lang="zh-CN" altLang="en-US" sz="1600" b="0">
                <a:solidFill>
                  <a:srgbClr val="000000"/>
                </a:solidFill>
              </a:rPr>
              <a:t>传统调度只关心：</a:t>
            </a:r>
            <a:endParaRPr lang="zh-CN" altLang="en-US" sz="1600" b="0">
              <a:solidFill>
                <a:srgbClr val="000000"/>
              </a:solidFill>
            </a:endParaRPr>
          </a:p>
          <a:p>
            <a:pPr marL="0" indent="0">
              <a:lnSpc>
                <a:spcPts val="1800"/>
              </a:lnSpc>
              <a:spcBef>
                <a:spcPct val="0"/>
              </a:spcBef>
              <a:spcAft>
                <a:spcPct val="0"/>
              </a:spcAft>
            </a:pPr>
            <a:r>
              <a:rPr lang="zh-CN" altLang="en-US" sz="1600" b="1">
                <a:solidFill>
                  <a:srgbClr val="000000"/>
                </a:solidFill>
              </a:rPr>
              <a:t>当前时刻共同漏洞越少越好</a:t>
            </a:r>
            <a:endParaRPr lang="zh-CN" altLang="en-US" sz="1600" b="1">
              <a:solidFill>
                <a:srgbClr val="000000"/>
              </a:solidFill>
            </a:endParaRPr>
          </a:p>
          <a:p>
            <a:pPr marL="0" indent="0">
              <a:lnSpc>
                <a:spcPts val="1800"/>
              </a:lnSpc>
              <a:spcBef>
                <a:spcPct val="0"/>
              </a:spcBef>
              <a:spcAft>
                <a:spcPct val="0"/>
              </a:spcAft>
            </a:pPr>
            <a:r>
              <a:rPr lang="zh-CN" altLang="en-US" sz="1600" b="0">
                <a:solidFill>
                  <a:srgbClr val="000000"/>
                </a:solidFill>
              </a:rPr>
              <a:t>本文调度同时关心：</a:t>
            </a:r>
            <a:endParaRPr lang="zh-CN" altLang="en-US" sz="1600" b="0">
              <a:solidFill>
                <a:srgbClr val="000000"/>
              </a:solidFill>
            </a:endParaRPr>
          </a:p>
          <a:p>
            <a:pPr marL="0" indent="0">
              <a:lnSpc>
                <a:spcPts val="1800"/>
              </a:lnSpc>
              <a:spcBef>
                <a:spcPct val="0"/>
              </a:spcBef>
              <a:spcAft>
                <a:spcPct val="0"/>
              </a:spcAft>
              <a:buAutoNum type="arabicPeriod"/>
            </a:pPr>
            <a:r>
              <a:rPr lang="zh-CN" altLang="en-US" sz="1600" b="0">
                <a:solidFill>
                  <a:srgbClr val="000000"/>
                </a:solidFill>
              </a:rPr>
              <a:t>当前空间异构要高</a:t>
            </a:r>
            <a:endParaRPr lang="zh-CN" altLang="en-US" sz="1600" b="0">
              <a:solidFill>
                <a:srgbClr val="000000"/>
              </a:solidFill>
            </a:endParaRPr>
          </a:p>
          <a:p>
            <a:pPr marL="0" indent="0">
              <a:lnSpc>
                <a:spcPts val="1800"/>
              </a:lnSpc>
              <a:spcBef>
                <a:spcPct val="0"/>
              </a:spcBef>
              <a:spcAft>
                <a:spcPct val="0"/>
              </a:spcAft>
              <a:buAutoNum type="arabicPeriod"/>
            </a:pPr>
            <a:r>
              <a:rPr lang="zh-CN" altLang="en-US" sz="1600" b="1">
                <a:solidFill>
                  <a:srgbClr val="000000"/>
                </a:solidFill>
              </a:rPr>
              <a:t>相邻调度的漏洞交集要尽可能小</a:t>
            </a:r>
            <a:endParaRPr lang="zh-CN" altLang="en-US" sz="1600" b="1">
              <a:solidFill>
                <a:srgbClr val="000000"/>
              </a:solidFill>
            </a:endParaRPr>
          </a:p>
          <a:p>
            <a:pPr marL="0" indent="0">
              <a:lnSpc>
                <a:spcPts val="1800"/>
              </a:lnSpc>
              <a:spcBef>
                <a:spcPct val="0"/>
              </a:spcBef>
              <a:spcAft>
                <a:spcPct val="0"/>
              </a:spcAft>
            </a:pPr>
            <a:r>
              <a:rPr lang="zh-CN" altLang="en-US" sz="1600" b="0">
                <a:solidFill>
                  <a:srgbClr val="000000"/>
                </a:solidFill>
              </a:rPr>
              <a:t>避免 “漏洞一直暴露”，让攻击无法持续生效</a:t>
            </a:r>
            <a:endParaRPr lang="zh-CN" altLang="en-US" sz="1600" b="0">
              <a:solidFill>
                <a:srgbClr val="000000"/>
              </a:solidFill>
            </a:endParaRPr>
          </a:p>
          <a:p>
            <a:pPr marL="0" indent="0">
              <a:lnSpc>
                <a:spcPts val="1800"/>
              </a:lnSpc>
              <a:spcBef>
                <a:spcPct val="0"/>
              </a:spcBef>
              <a:spcAft>
                <a:spcPct val="0"/>
              </a:spcAft>
            </a:pPr>
            <a:r>
              <a:rPr lang="zh-CN" altLang="en-US" sz="1600" b="0">
                <a:solidFill>
                  <a:srgbClr val="000000"/>
                </a:solidFill>
              </a:rPr>
              <a:t>最终目标：</a:t>
            </a:r>
            <a:r>
              <a:rPr lang="zh-CN" altLang="en-US" sz="1600" b="1">
                <a:solidFill>
                  <a:srgbClr val="000000"/>
                </a:solidFill>
              </a:rPr>
              <a:t>最小化攻击期望损失 </a:t>
            </a:r>
            <a:r>
              <a:rPr lang="en-US" altLang="zh-CN" sz="1600" b="1">
                <a:solidFill>
                  <a:srgbClr val="000000"/>
                </a:solidFill>
              </a:rPr>
              <a:t>E (Harm)</a:t>
            </a:r>
            <a:endParaRPr lang="en-US" altLang="zh-CN" sz="1600" b="1">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2770" name="文本框 2"/>
          <p:cNvSpPr txBox="1"/>
          <p:nvPr/>
        </p:nvSpPr>
        <p:spPr>
          <a:xfrm>
            <a:off x="4100830" y="2373630"/>
            <a:ext cx="1625600" cy="521970"/>
          </a:xfrm>
          <a:prstGeom prst="rect">
            <a:avLst/>
          </a:prstGeom>
          <a:noFill/>
          <a:ln w="9525">
            <a:noFill/>
          </a:ln>
        </p:spPr>
        <p:txBody>
          <a:bodyPr wrap="square" anchor="t" anchorCtr="0">
            <a:spAutoFit/>
          </a:bodyPr>
          <a:lstStyle/>
          <a:p>
            <a:pPr algn="ctr">
              <a:buSzTx/>
            </a:pPr>
            <a:r>
              <a:rPr lang="zh-CN" altLang="en-US" sz="2800" b="1" dirty="0">
                <a:solidFill>
                  <a:srgbClr val="262626"/>
                </a:solidFill>
                <a:latin typeface="Arial" panose="020B0604020202020204" pitchFamily="34" charset="0"/>
                <a:ea typeface="微软雅黑" panose="020B0503020204020204" pitchFamily="34" charset="-122"/>
              </a:rPr>
              <a:t>实验</a:t>
            </a:r>
            <a:endParaRPr lang="zh-CN" altLang="en-US" sz="2800" b="1" dirty="0">
              <a:solidFill>
                <a:srgbClr val="262626"/>
              </a:solidFill>
              <a:latin typeface="Arial" panose="020B0604020202020204" pitchFamily="34" charset="0"/>
              <a:ea typeface="微软雅黑" panose="020B0503020204020204" pitchFamily="34" charset="-122"/>
            </a:endParaRPr>
          </a:p>
        </p:txBody>
      </p:sp>
      <p:sp>
        <p:nvSpPr>
          <p:cNvPr id="32771" name="文本框 4"/>
          <p:cNvSpPr txBox="1"/>
          <p:nvPr/>
        </p:nvSpPr>
        <p:spPr>
          <a:xfrm>
            <a:off x="4201160" y="1844675"/>
            <a:ext cx="1331913" cy="307975"/>
          </a:xfrm>
          <a:prstGeom prst="rect">
            <a:avLst/>
          </a:prstGeom>
          <a:noFill/>
          <a:ln w="9525">
            <a:noFill/>
          </a:ln>
        </p:spPr>
        <p:txBody>
          <a:bodyPr anchor="t" anchorCtr="0">
            <a:spAutoFit/>
          </a:bodyPr>
          <a:lstStyle/>
          <a:p>
            <a:r>
              <a:rPr lang="en-US" altLang="zh-CN" sz="1400" dirty="0">
                <a:latin typeface="Arial" panose="020B0604020202020204" pitchFamily="34" charset="0"/>
                <a:ea typeface="微软雅黑" panose="020B0503020204020204" pitchFamily="34" charset="-122"/>
              </a:rPr>
              <a:t>PART THREE</a:t>
            </a:r>
            <a:endParaRPr lang="zh-CN" altLang="en-US" sz="1400" dirty="0">
              <a:latin typeface="Arial" panose="020B0604020202020204" pitchFamily="34" charset="0"/>
              <a:ea typeface="微软雅黑" panose="020B0503020204020204" pitchFamily="34" charset="-122"/>
            </a:endParaRPr>
          </a:p>
        </p:txBody>
      </p:sp>
      <p:grpSp>
        <p:nvGrpSpPr>
          <p:cNvPr id="32772" name="组合 3"/>
          <p:cNvGrpSpPr/>
          <p:nvPr/>
        </p:nvGrpSpPr>
        <p:grpSpPr>
          <a:xfrm>
            <a:off x="2885758" y="1944688"/>
            <a:ext cx="1130300" cy="1128712"/>
            <a:chOff x="1928879" y="1944350"/>
            <a:chExt cx="1129689" cy="1129689"/>
          </a:xfrm>
        </p:grpSpPr>
        <p:sp>
          <p:nvSpPr>
            <p:cNvPr id="2" name="椭圆 1"/>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9" name="Freeform 18"/>
            <p:cNvSpPr>
              <a:spLocks noEditPoints="1"/>
            </p:cNvSpPr>
            <p:nvPr/>
          </p:nvSpPr>
          <p:spPr bwMode="auto">
            <a:xfrm>
              <a:off x="2155768" y="2106415"/>
              <a:ext cx="658457" cy="789670"/>
            </a:xfrm>
            <a:custGeom>
              <a:avLst/>
              <a:gdLst>
                <a:gd name="T0" fmla="*/ 456 w 456"/>
                <a:gd name="T1" fmla="*/ 528 h 548"/>
                <a:gd name="T2" fmla="*/ 436 w 456"/>
                <a:gd name="T3" fmla="*/ 548 h 548"/>
                <a:gd name="T4" fmla="*/ 84 w 456"/>
                <a:gd name="T5" fmla="*/ 548 h 548"/>
                <a:gd name="T6" fmla="*/ 0 w 456"/>
                <a:gd name="T7" fmla="*/ 464 h 548"/>
                <a:gd name="T8" fmla="*/ 84 w 456"/>
                <a:gd name="T9" fmla="*/ 380 h 548"/>
                <a:gd name="T10" fmla="*/ 436 w 456"/>
                <a:gd name="T11" fmla="*/ 380 h 548"/>
                <a:gd name="T12" fmla="*/ 456 w 456"/>
                <a:gd name="T13" fmla="*/ 399 h 548"/>
                <a:gd name="T14" fmla="*/ 436 w 456"/>
                <a:gd name="T15" fmla="*/ 419 h 548"/>
                <a:gd name="T16" fmla="*/ 90 w 456"/>
                <a:gd name="T17" fmla="*/ 419 h 548"/>
                <a:gd name="T18" fmla="*/ 45 w 456"/>
                <a:gd name="T19" fmla="*/ 464 h 548"/>
                <a:gd name="T20" fmla="*/ 90 w 456"/>
                <a:gd name="T21" fmla="*/ 509 h 548"/>
                <a:gd name="T22" fmla="*/ 436 w 456"/>
                <a:gd name="T23" fmla="*/ 509 h 548"/>
                <a:gd name="T24" fmla="*/ 456 w 456"/>
                <a:gd name="T25" fmla="*/ 528 h 548"/>
                <a:gd name="T26" fmla="*/ 235 w 456"/>
                <a:gd name="T27" fmla="*/ 78 h 548"/>
                <a:gd name="T28" fmla="*/ 309 w 456"/>
                <a:gd name="T29" fmla="*/ 6 h 548"/>
                <a:gd name="T30" fmla="*/ 309 w 456"/>
                <a:gd name="T31" fmla="*/ 0 h 548"/>
                <a:gd name="T32" fmla="*/ 303 w 456"/>
                <a:gd name="T33" fmla="*/ 0 h 548"/>
                <a:gd name="T34" fmla="*/ 228 w 456"/>
                <a:gd name="T35" fmla="*/ 72 h 548"/>
                <a:gd name="T36" fmla="*/ 229 w 456"/>
                <a:gd name="T37" fmla="*/ 77 h 548"/>
                <a:gd name="T38" fmla="*/ 235 w 456"/>
                <a:gd name="T39" fmla="*/ 78 h 548"/>
                <a:gd name="T40" fmla="*/ 372 w 456"/>
                <a:gd name="T41" fmla="*/ 137 h 548"/>
                <a:gd name="T42" fmla="*/ 295 w 456"/>
                <a:gd name="T43" fmla="*/ 85 h 548"/>
                <a:gd name="T44" fmla="*/ 232 w 456"/>
                <a:gd name="T45" fmla="*/ 98 h 548"/>
                <a:gd name="T46" fmla="*/ 170 w 456"/>
                <a:gd name="T47" fmla="*/ 85 h 548"/>
                <a:gd name="T48" fmla="*/ 93 w 456"/>
                <a:gd name="T49" fmla="*/ 137 h 548"/>
                <a:gd name="T50" fmla="*/ 175 w 456"/>
                <a:gd name="T51" fmla="*/ 341 h 548"/>
                <a:gd name="T52" fmla="*/ 232 w 456"/>
                <a:gd name="T53" fmla="*/ 328 h 548"/>
                <a:gd name="T54" fmla="*/ 290 w 456"/>
                <a:gd name="T55" fmla="*/ 341 h 548"/>
                <a:gd name="T56" fmla="*/ 372 w 456"/>
                <a:gd name="T57" fmla="*/ 137 h 548"/>
                <a:gd name="T58" fmla="*/ 172 w 456"/>
                <a:gd name="T59" fmla="*/ 126 h 548"/>
                <a:gd name="T60" fmla="*/ 168 w 456"/>
                <a:gd name="T61" fmla="*/ 126 h 548"/>
                <a:gd name="T62" fmla="*/ 128 w 456"/>
                <a:gd name="T63" fmla="*/ 161 h 548"/>
                <a:gd name="T64" fmla="*/ 119 w 456"/>
                <a:gd name="T65" fmla="*/ 169 h 548"/>
                <a:gd name="T66" fmla="*/ 118 w 456"/>
                <a:gd name="T67" fmla="*/ 169 h 548"/>
                <a:gd name="T68" fmla="*/ 116 w 456"/>
                <a:gd name="T69" fmla="*/ 168 h 548"/>
                <a:gd name="T70" fmla="*/ 109 w 456"/>
                <a:gd name="T71" fmla="*/ 157 h 548"/>
                <a:gd name="T72" fmla="*/ 168 w 456"/>
                <a:gd name="T73" fmla="*/ 106 h 548"/>
                <a:gd name="T74" fmla="*/ 173 w 456"/>
                <a:gd name="T75" fmla="*/ 106 h 548"/>
                <a:gd name="T76" fmla="*/ 181 w 456"/>
                <a:gd name="T77" fmla="*/ 117 h 548"/>
                <a:gd name="T78" fmla="*/ 172 w 456"/>
                <a:gd name="T79" fmla="*/ 12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6" h="548">
                  <a:moveTo>
                    <a:pt x="456" y="528"/>
                  </a:moveTo>
                  <a:cubicBezTo>
                    <a:pt x="456" y="539"/>
                    <a:pt x="447" y="548"/>
                    <a:pt x="436" y="548"/>
                  </a:cubicBezTo>
                  <a:cubicBezTo>
                    <a:pt x="84" y="548"/>
                    <a:pt x="84" y="548"/>
                    <a:pt x="84" y="548"/>
                  </a:cubicBezTo>
                  <a:cubicBezTo>
                    <a:pt x="38" y="548"/>
                    <a:pt x="0" y="510"/>
                    <a:pt x="0" y="464"/>
                  </a:cubicBezTo>
                  <a:cubicBezTo>
                    <a:pt x="0" y="417"/>
                    <a:pt x="38" y="380"/>
                    <a:pt x="84" y="380"/>
                  </a:cubicBezTo>
                  <a:cubicBezTo>
                    <a:pt x="436" y="380"/>
                    <a:pt x="436" y="380"/>
                    <a:pt x="436" y="380"/>
                  </a:cubicBezTo>
                  <a:cubicBezTo>
                    <a:pt x="447" y="380"/>
                    <a:pt x="456" y="389"/>
                    <a:pt x="456" y="399"/>
                  </a:cubicBezTo>
                  <a:cubicBezTo>
                    <a:pt x="456" y="410"/>
                    <a:pt x="447" y="419"/>
                    <a:pt x="436" y="419"/>
                  </a:cubicBezTo>
                  <a:cubicBezTo>
                    <a:pt x="90" y="419"/>
                    <a:pt x="90" y="419"/>
                    <a:pt x="90" y="419"/>
                  </a:cubicBezTo>
                  <a:cubicBezTo>
                    <a:pt x="65" y="419"/>
                    <a:pt x="45" y="439"/>
                    <a:pt x="45" y="464"/>
                  </a:cubicBezTo>
                  <a:cubicBezTo>
                    <a:pt x="45" y="488"/>
                    <a:pt x="65" y="509"/>
                    <a:pt x="90" y="509"/>
                  </a:cubicBezTo>
                  <a:cubicBezTo>
                    <a:pt x="436" y="509"/>
                    <a:pt x="436" y="509"/>
                    <a:pt x="436" y="509"/>
                  </a:cubicBezTo>
                  <a:cubicBezTo>
                    <a:pt x="447" y="509"/>
                    <a:pt x="456" y="518"/>
                    <a:pt x="456" y="528"/>
                  </a:cubicBezTo>
                  <a:close/>
                  <a:moveTo>
                    <a:pt x="235" y="78"/>
                  </a:moveTo>
                  <a:cubicBezTo>
                    <a:pt x="276" y="78"/>
                    <a:pt x="309" y="45"/>
                    <a:pt x="309" y="6"/>
                  </a:cubicBezTo>
                  <a:cubicBezTo>
                    <a:pt x="309" y="4"/>
                    <a:pt x="309" y="2"/>
                    <a:pt x="309" y="0"/>
                  </a:cubicBezTo>
                  <a:cubicBezTo>
                    <a:pt x="307" y="0"/>
                    <a:pt x="305" y="0"/>
                    <a:pt x="303" y="0"/>
                  </a:cubicBezTo>
                  <a:cubicBezTo>
                    <a:pt x="262" y="0"/>
                    <a:pt x="228" y="32"/>
                    <a:pt x="228" y="72"/>
                  </a:cubicBezTo>
                  <a:cubicBezTo>
                    <a:pt x="228" y="74"/>
                    <a:pt x="228" y="76"/>
                    <a:pt x="229" y="77"/>
                  </a:cubicBezTo>
                  <a:cubicBezTo>
                    <a:pt x="231" y="78"/>
                    <a:pt x="233" y="78"/>
                    <a:pt x="235" y="78"/>
                  </a:cubicBezTo>
                  <a:close/>
                  <a:moveTo>
                    <a:pt x="372" y="137"/>
                  </a:moveTo>
                  <a:cubicBezTo>
                    <a:pt x="357" y="102"/>
                    <a:pt x="321" y="85"/>
                    <a:pt x="295" y="85"/>
                  </a:cubicBezTo>
                  <a:cubicBezTo>
                    <a:pt x="263" y="85"/>
                    <a:pt x="257" y="98"/>
                    <a:pt x="232" y="98"/>
                  </a:cubicBezTo>
                  <a:cubicBezTo>
                    <a:pt x="208" y="98"/>
                    <a:pt x="202" y="85"/>
                    <a:pt x="170" y="85"/>
                  </a:cubicBezTo>
                  <a:cubicBezTo>
                    <a:pt x="143" y="85"/>
                    <a:pt x="108" y="102"/>
                    <a:pt x="93" y="137"/>
                  </a:cubicBezTo>
                  <a:cubicBezTo>
                    <a:pt x="62" y="207"/>
                    <a:pt x="114" y="341"/>
                    <a:pt x="175" y="341"/>
                  </a:cubicBezTo>
                  <a:cubicBezTo>
                    <a:pt x="199" y="341"/>
                    <a:pt x="210" y="328"/>
                    <a:pt x="232" y="328"/>
                  </a:cubicBezTo>
                  <a:cubicBezTo>
                    <a:pt x="255" y="328"/>
                    <a:pt x="265" y="341"/>
                    <a:pt x="290" y="341"/>
                  </a:cubicBezTo>
                  <a:cubicBezTo>
                    <a:pt x="351" y="341"/>
                    <a:pt x="403" y="207"/>
                    <a:pt x="372" y="137"/>
                  </a:cubicBezTo>
                  <a:close/>
                  <a:moveTo>
                    <a:pt x="172" y="126"/>
                  </a:moveTo>
                  <a:cubicBezTo>
                    <a:pt x="170" y="126"/>
                    <a:pt x="169" y="126"/>
                    <a:pt x="168" y="126"/>
                  </a:cubicBezTo>
                  <a:cubicBezTo>
                    <a:pt x="154" y="126"/>
                    <a:pt x="132" y="138"/>
                    <a:pt x="128" y="161"/>
                  </a:cubicBezTo>
                  <a:cubicBezTo>
                    <a:pt x="127" y="165"/>
                    <a:pt x="123" y="169"/>
                    <a:pt x="119" y="169"/>
                  </a:cubicBezTo>
                  <a:cubicBezTo>
                    <a:pt x="118" y="169"/>
                    <a:pt x="118" y="169"/>
                    <a:pt x="118" y="169"/>
                  </a:cubicBezTo>
                  <a:cubicBezTo>
                    <a:pt x="118" y="169"/>
                    <a:pt x="117" y="169"/>
                    <a:pt x="116" y="168"/>
                  </a:cubicBezTo>
                  <a:cubicBezTo>
                    <a:pt x="111" y="167"/>
                    <a:pt x="108" y="162"/>
                    <a:pt x="109" y="157"/>
                  </a:cubicBezTo>
                  <a:cubicBezTo>
                    <a:pt x="115" y="125"/>
                    <a:pt x="144" y="106"/>
                    <a:pt x="168" y="106"/>
                  </a:cubicBezTo>
                  <a:cubicBezTo>
                    <a:pt x="170" y="106"/>
                    <a:pt x="171" y="106"/>
                    <a:pt x="173" y="106"/>
                  </a:cubicBezTo>
                  <a:cubicBezTo>
                    <a:pt x="178" y="107"/>
                    <a:pt x="182" y="112"/>
                    <a:pt x="181" y="117"/>
                  </a:cubicBezTo>
                  <a:cubicBezTo>
                    <a:pt x="181" y="122"/>
                    <a:pt x="177" y="126"/>
                    <a:pt x="172" y="126"/>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3" name="组合 32"/>
          <p:cNvGrpSpPr>
            <a:grpSpLocks noChangeAspect="1"/>
          </p:cNvGrpSpPr>
          <p:nvPr>
            <p:custDataLst>
              <p:tags r:id="rId1"/>
            </p:custDataLst>
          </p:nvPr>
        </p:nvGrpSpPr>
        <p:grpSpPr>
          <a:xfrm>
            <a:off x="314325" y="290513"/>
            <a:ext cx="468313" cy="468312"/>
            <a:chOff x="1928879" y="1944350"/>
            <a:chExt cx="1129689" cy="1129689"/>
          </a:xfrm>
        </p:grpSpPr>
        <p:sp>
          <p:nvSpPr>
            <p:cNvPr id="34" name="椭圆 33"/>
            <p:cNvSpPr/>
            <p:nvPr>
              <p:custDataLst>
                <p:tags r:id="rId2"/>
              </p:custDataLst>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custDataLst>
                <p:tags r:id="rId3"/>
              </p:custDataLst>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4"/>
          <a:srcRect/>
          <a:stretch>
            <a:fillRect/>
          </a:stretch>
        </p:blipFill>
        <p:spPr>
          <a:xfrm>
            <a:off x="8127365" y="64770"/>
            <a:ext cx="1069975" cy="1056005"/>
          </a:xfrm>
          <a:prstGeom prst="rect">
            <a:avLst/>
          </a:prstGeom>
        </p:spPr>
      </p:pic>
      <p:sp>
        <p:nvSpPr>
          <p:cNvPr id="8" name="文本框 7"/>
          <p:cNvSpPr txBox="1"/>
          <p:nvPr/>
        </p:nvSpPr>
        <p:spPr>
          <a:xfrm>
            <a:off x="904875" y="290830"/>
            <a:ext cx="3048000" cy="460375"/>
          </a:xfrm>
          <a:prstGeom prst="rect">
            <a:avLst/>
          </a:prstGeom>
          <a:noFill/>
        </p:spPr>
        <p:txBody>
          <a:bodyPr wrap="square" rtlCol="0">
            <a:spAutoFit/>
          </a:bodyPr>
          <a:p>
            <a:pPr algn="l">
              <a:buClrTx/>
              <a:buSzTx/>
              <a:buFontTx/>
            </a:pPr>
            <a:r>
              <a:rPr lang="zh-CN" altLang="en-US" sz="2400" b="1" dirty="0"/>
              <a:t>实验数据</a:t>
            </a:r>
            <a:endParaRPr lang="zh-CN" altLang="en-US" sz="2400" b="1" dirty="0"/>
          </a:p>
        </p:txBody>
      </p:sp>
      <p:pic>
        <p:nvPicPr>
          <p:cNvPr id="3" name="图片 2"/>
          <p:cNvPicPr>
            <a:picLocks noChangeAspect="1"/>
          </p:cNvPicPr>
          <p:nvPr/>
        </p:nvPicPr>
        <p:blipFill>
          <a:blip r:embed="rId5"/>
          <a:stretch>
            <a:fillRect/>
          </a:stretch>
        </p:blipFill>
        <p:spPr>
          <a:xfrm>
            <a:off x="314325" y="915035"/>
            <a:ext cx="7715250" cy="34512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5"/>
          <p:cNvSpPr txBox="1"/>
          <p:nvPr/>
        </p:nvSpPr>
        <p:spPr>
          <a:xfrm>
            <a:off x="782955" y="281305"/>
            <a:ext cx="5147310" cy="460375"/>
          </a:xfrm>
          <a:prstGeom prst="rect">
            <a:avLst/>
          </a:prstGeom>
          <a:noFill/>
          <a:ln w="9525">
            <a:noFill/>
          </a:ln>
        </p:spPr>
        <p:txBody>
          <a:bodyPr wrap="square" anchor="t" anchorCtr="0">
            <a:spAutoFit/>
          </a:bodyPr>
          <a:lstStyle/>
          <a:p>
            <a:r>
              <a:rPr lang="zh-CN" altLang="en-US" sz="2400" dirty="0">
                <a:solidFill>
                  <a:srgbClr val="0D0D0D"/>
                </a:solidFill>
                <a:latin typeface="微软雅黑" panose="020B0503020204020204" pitchFamily="34" charset="-122"/>
                <a:sym typeface="+mn-ea"/>
              </a:rPr>
              <a:t>仿真</a:t>
            </a:r>
            <a:r>
              <a:rPr lang="zh-CN" altLang="en-US" sz="2400" dirty="0">
                <a:solidFill>
                  <a:srgbClr val="0D0D0D"/>
                </a:solidFill>
                <a:latin typeface="微软雅黑" panose="020B0503020204020204" pitchFamily="34" charset="-122"/>
                <a:sym typeface="+mn-ea"/>
              </a:rPr>
              <a:t>结果。</a:t>
            </a:r>
            <a:endParaRPr lang="zh-CN" altLang="en-US" sz="2400" dirty="0">
              <a:solidFill>
                <a:srgbClr val="0D0D0D"/>
              </a:solidFill>
              <a:latin typeface="微软雅黑" panose="020B0503020204020204" pitchFamily="34" charset="-122"/>
              <a:sym typeface="+mn-ea"/>
            </a:endParaRPr>
          </a:p>
        </p:txBody>
      </p:sp>
      <p:grpSp>
        <p:nvGrpSpPr>
          <p:cNvPr id="30743" name="组合 32"/>
          <p:cNvGrpSpPr>
            <a:grpSpLocks noChangeAspect="1"/>
          </p:cNvGrpSpPr>
          <p:nvPr/>
        </p:nvGrpSpPr>
        <p:grpSpPr>
          <a:xfrm>
            <a:off x="314325" y="29051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pic>
        <p:nvPicPr>
          <p:cNvPr id="2" name="图片 1"/>
          <p:cNvPicPr>
            <a:picLocks noChangeAspect="1"/>
          </p:cNvPicPr>
          <p:nvPr/>
        </p:nvPicPr>
        <p:blipFill>
          <a:blip r:embed="rId2"/>
          <a:stretch>
            <a:fillRect/>
          </a:stretch>
        </p:blipFill>
        <p:spPr>
          <a:xfrm>
            <a:off x="236220" y="910590"/>
            <a:ext cx="4204335" cy="2001520"/>
          </a:xfrm>
          <a:prstGeom prst="rect">
            <a:avLst/>
          </a:prstGeom>
        </p:spPr>
      </p:pic>
      <p:pic>
        <p:nvPicPr>
          <p:cNvPr id="5" name="图片 4"/>
          <p:cNvPicPr>
            <a:picLocks noChangeAspect="1"/>
          </p:cNvPicPr>
          <p:nvPr/>
        </p:nvPicPr>
        <p:blipFill>
          <a:blip r:embed="rId3"/>
          <a:stretch>
            <a:fillRect/>
          </a:stretch>
        </p:blipFill>
        <p:spPr>
          <a:xfrm>
            <a:off x="4621530" y="1148715"/>
            <a:ext cx="3874770" cy="1695450"/>
          </a:xfrm>
          <a:prstGeom prst="rect">
            <a:avLst/>
          </a:prstGeom>
        </p:spPr>
      </p:pic>
      <p:sp>
        <p:nvSpPr>
          <p:cNvPr id="8" name="文本框 7"/>
          <p:cNvSpPr txBox="1"/>
          <p:nvPr/>
        </p:nvSpPr>
        <p:spPr>
          <a:xfrm>
            <a:off x="314325" y="3210560"/>
            <a:ext cx="3894455" cy="1322070"/>
          </a:xfrm>
          <a:prstGeom prst="rect">
            <a:avLst/>
          </a:prstGeom>
        </p:spPr>
        <p:txBody>
          <a:bodyPr wrap="square">
            <a:spAutoFit/>
          </a:bodyPr>
          <a:p>
            <a:r>
              <a:rPr lang="zh-CN" altLang="en-US" sz="1600">
                <a:latin typeface="宋体" panose="02010600030101010101" pitchFamily="2" charset="-122"/>
                <a:ea typeface="宋体" panose="02010600030101010101" pitchFamily="2" charset="-122"/>
              </a:rPr>
              <a:t>仿真实验在二维欧氏空间上开展，随机生成执行体漏洞区域与输入样本。设置执行体总数、在线执行体数量、调度周期、聚类半径等关键参数，保证实验可复现与对比公平。</a:t>
            </a:r>
            <a:endParaRPr lang="zh-CN" altLang="en-US" sz="1600">
              <a:latin typeface="宋体" panose="02010600030101010101" pitchFamily="2" charset="-122"/>
              <a:ea typeface="宋体" panose="02010600030101010101" pitchFamily="2" charset="-122"/>
            </a:endParaRPr>
          </a:p>
        </p:txBody>
      </p:sp>
      <p:sp>
        <p:nvSpPr>
          <p:cNvPr id="9" name="文本框 8"/>
          <p:cNvSpPr txBox="1"/>
          <p:nvPr/>
        </p:nvSpPr>
        <p:spPr>
          <a:xfrm>
            <a:off x="4705350" y="3124200"/>
            <a:ext cx="4076065" cy="598805"/>
          </a:xfrm>
          <a:prstGeom prst="rect">
            <a:avLst/>
          </a:prstGeom>
        </p:spPr>
        <p:txBody>
          <a:bodyPr wrap="square">
            <a:spAutoFit/>
          </a:bodyPr>
          <a:p>
            <a:r>
              <a:rPr lang="en-US" altLang="zh-CN" sz="1600"/>
              <a:t>SIDMD </a:t>
            </a:r>
            <a:r>
              <a:rPr lang="zh-CN" altLang="en-US" sz="1600"/>
              <a:t>实现</a:t>
            </a:r>
            <a:r>
              <a:rPr lang="zh-CN" altLang="en-US" sz="1700" b="1">
                <a:solidFill>
                  <a:srgbClr val="000000"/>
                </a:solidFill>
              </a:rPr>
              <a:t>调度后攻击完全失效</a:t>
            </a:r>
            <a:r>
              <a:rPr lang="zh-CN" altLang="en-US" sz="1600"/>
              <a:t>，说明时空异构调度能有效阻断漏洞持续暴露。</a:t>
            </a:r>
            <a:endParaRPr lang="zh-CN" altLang="en-US" sz="1600"/>
          </a:p>
        </p:txBody>
      </p:sp>
      <p:sp>
        <p:nvSpPr>
          <p:cNvPr id="3" name="文本框 2"/>
          <p:cNvSpPr txBox="1"/>
          <p:nvPr/>
        </p:nvSpPr>
        <p:spPr>
          <a:xfrm>
            <a:off x="4440555" y="3907790"/>
            <a:ext cx="4244975" cy="337185"/>
          </a:xfrm>
          <a:prstGeom prst="rect">
            <a:avLst/>
          </a:prstGeom>
        </p:spPr>
        <p:txBody>
          <a:bodyPr wrap="square">
            <a:spAutoFit/>
          </a:bodyPr>
          <a:p>
            <a:r>
              <a:rPr lang="zh-CN" altLang="en-US" sz="1600"/>
              <a:t>时空维度一起考虑，才能真正阻断长期威胁</a:t>
            </a:r>
            <a:endParaRPr lang="zh-CN"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5"/>
          <p:cNvSpPr txBox="1"/>
          <p:nvPr/>
        </p:nvSpPr>
        <p:spPr>
          <a:xfrm>
            <a:off x="782955" y="281305"/>
            <a:ext cx="6100445" cy="460375"/>
          </a:xfrm>
          <a:prstGeom prst="rect">
            <a:avLst/>
          </a:prstGeom>
          <a:noFill/>
          <a:ln w="9525">
            <a:noFill/>
          </a:ln>
        </p:spPr>
        <p:txBody>
          <a:bodyPr wrap="square" anchor="t" anchorCtr="0">
            <a:spAutoFit/>
          </a:bodyPr>
          <a:lstStyle/>
          <a:p>
            <a:r>
              <a:rPr lang="en-US" altLang="zh-CN" sz="2400" dirty="0">
                <a:solidFill>
                  <a:srgbClr val="0D0D0D"/>
                </a:solidFill>
                <a:latin typeface="微软雅黑" panose="020B0503020204020204" pitchFamily="34" charset="-122"/>
                <a:sym typeface="+mn-ea"/>
              </a:rPr>
              <a:t>SFA</a:t>
            </a:r>
            <a:r>
              <a:rPr lang="zh-CN" altLang="en-US" sz="2400" dirty="0">
                <a:solidFill>
                  <a:srgbClr val="0D0D0D"/>
                </a:solidFill>
                <a:latin typeface="微软雅黑" panose="020B0503020204020204" pitchFamily="34" charset="-122"/>
                <a:sym typeface="+mn-ea"/>
              </a:rPr>
              <a:t>与执行器数量的</a:t>
            </a:r>
            <a:r>
              <a:rPr lang="zh-CN" altLang="en-US" sz="2400" dirty="0">
                <a:solidFill>
                  <a:srgbClr val="0D0D0D"/>
                </a:solidFill>
                <a:latin typeface="微软雅黑" panose="020B0503020204020204" pitchFamily="34" charset="-122"/>
                <a:sym typeface="+mn-ea"/>
              </a:rPr>
              <a:t>关系</a:t>
            </a:r>
            <a:endParaRPr lang="zh-CN" altLang="en-US" sz="2400" dirty="0">
              <a:solidFill>
                <a:srgbClr val="0D0D0D"/>
              </a:solidFill>
              <a:latin typeface="微软雅黑" panose="020B0503020204020204" pitchFamily="34" charset="-122"/>
              <a:sym typeface="+mn-ea"/>
            </a:endParaRPr>
          </a:p>
        </p:txBody>
      </p:sp>
      <p:grpSp>
        <p:nvGrpSpPr>
          <p:cNvPr id="30743" name="组合 32"/>
          <p:cNvGrpSpPr>
            <a:grpSpLocks noChangeAspect="1"/>
          </p:cNvGrpSpPr>
          <p:nvPr/>
        </p:nvGrpSpPr>
        <p:grpSpPr>
          <a:xfrm>
            <a:off x="314325" y="29051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pic>
        <p:nvPicPr>
          <p:cNvPr id="5" name="图片 4"/>
          <p:cNvPicPr>
            <a:picLocks noChangeAspect="1"/>
          </p:cNvPicPr>
          <p:nvPr/>
        </p:nvPicPr>
        <p:blipFill>
          <a:blip r:embed="rId2"/>
          <a:stretch>
            <a:fillRect/>
          </a:stretch>
        </p:blipFill>
        <p:spPr>
          <a:xfrm>
            <a:off x="314325" y="758825"/>
            <a:ext cx="7867650" cy="2152650"/>
          </a:xfrm>
          <a:prstGeom prst="rect">
            <a:avLst/>
          </a:prstGeom>
        </p:spPr>
      </p:pic>
      <p:sp>
        <p:nvSpPr>
          <p:cNvPr id="7" name="文本框 6"/>
          <p:cNvSpPr txBox="1"/>
          <p:nvPr/>
        </p:nvSpPr>
        <p:spPr>
          <a:xfrm>
            <a:off x="1803400" y="3779837"/>
            <a:ext cx="5080000" cy="614045"/>
          </a:xfrm>
          <a:prstGeom prst="rect">
            <a:avLst/>
          </a:prstGeom>
        </p:spPr>
        <p:txBody>
          <a:bodyPr>
            <a:spAutoFit/>
          </a:bodyPr>
          <a:p>
            <a:r>
              <a:rPr lang="en-US" altLang="zh-CN" sz="1600"/>
              <a:t>SIDMD </a:t>
            </a:r>
            <a:r>
              <a:rPr lang="zh-CN" altLang="en-US" sz="1600"/>
              <a:t>能用</a:t>
            </a:r>
            <a:r>
              <a:rPr lang="zh-CN" altLang="en-US" sz="1700" b="1">
                <a:solidFill>
                  <a:srgbClr val="FF0000"/>
                </a:solidFill>
              </a:rPr>
              <a:t>更少资源</a:t>
            </a:r>
            <a:r>
              <a:rPr lang="zh-CN" altLang="en-US" sz="1600"/>
              <a:t>，达到</a:t>
            </a:r>
            <a:r>
              <a:rPr lang="zh-CN" altLang="en-US" sz="1700" b="1">
                <a:solidFill>
                  <a:srgbClr val="000000"/>
                </a:solidFill>
              </a:rPr>
              <a:t>更高安全</a:t>
            </a:r>
            <a:r>
              <a:rPr lang="zh-CN" altLang="en-US" sz="1600"/>
              <a:t>，</a:t>
            </a:r>
            <a:endParaRPr lang="zh-CN" altLang="en-US" sz="1600"/>
          </a:p>
          <a:p>
            <a:r>
              <a:rPr lang="zh-CN" altLang="en-US" sz="1600"/>
              <a:t>在实际部署中</a:t>
            </a:r>
            <a:r>
              <a:rPr lang="zh-CN" altLang="en-US" sz="1700" b="1">
                <a:solidFill>
                  <a:srgbClr val="FF0000"/>
                </a:solidFill>
              </a:rPr>
              <a:t>成本更低、性价比更高</a:t>
            </a:r>
            <a:r>
              <a:rPr lang="zh-CN" altLang="en-US" sz="1600">
                <a:solidFill>
                  <a:srgbClr val="FF0000"/>
                </a:solidFill>
              </a:rPr>
              <a:t>。</a:t>
            </a:r>
            <a:endParaRPr lang="zh-CN" altLang="en-US" sz="1600">
              <a:solidFill>
                <a:srgbClr val="FF0000"/>
              </a:solidFill>
            </a:endParaRPr>
          </a:p>
        </p:txBody>
      </p:sp>
      <p:sp>
        <p:nvSpPr>
          <p:cNvPr id="8" name="文本框 7"/>
          <p:cNvSpPr txBox="1"/>
          <p:nvPr/>
        </p:nvSpPr>
        <p:spPr>
          <a:xfrm>
            <a:off x="1080770" y="3176905"/>
            <a:ext cx="7101205" cy="337185"/>
          </a:xfrm>
          <a:prstGeom prst="rect">
            <a:avLst/>
          </a:prstGeom>
        </p:spPr>
        <p:txBody>
          <a:bodyPr wrap="square">
            <a:spAutoFit/>
          </a:bodyPr>
          <a:p>
            <a:r>
              <a:rPr lang="zh-CN" altLang="en-US" sz="1600"/>
              <a:t>只用 </a:t>
            </a:r>
            <a:r>
              <a:rPr lang="en-US" altLang="zh-CN" sz="1600"/>
              <a:t>5 </a:t>
            </a:r>
            <a:r>
              <a:rPr lang="zh-CN" altLang="en-US" sz="1600"/>
              <a:t>个执行体的 </a:t>
            </a:r>
            <a:r>
              <a:rPr lang="en-US" altLang="zh-CN" sz="1600"/>
              <a:t>SIDMD</a:t>
            </a:r>
            <a:r>
              <a:rPr lang="zh-CN" altLang="en-US" sz="1600"/>
              <a:t>，安全性能和 </a:t>
            </a:r>
            <a:r>
              <a:rPr lang="en-US" altLang="zh-CN" sz="1600"/>
              <a:t>7 </a:t>
            </a:r>
            <a:r>
              <a:rPr lang="zh-CN" altLang="en-US" sz="1600"/>
              <a:t>个执行体的 </a:t>
            </a:r>
            <a:r>
              <a:rPr lang="en-US" altLang="zh-CN" sz="1600"/>
              <a:t>DHR </a:t>
            </a:r>
            <a:r>
              <a:rPr lang="zh-CN" altLang="en-US" sz="1600"/>
              <a:t>持平甚至更好</a:t>
            </a:r>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new-add-image" descr="C:\Users\许昊\Desktop\7C2002C534020EAD7036D42F848_DB67C5F8_AC59 (1).png7C2002C534020EAD7036D42F848_DB67C5F8_AC59 (1)"/>
          <p:cNvPicPr/>
          <p:nvPr/>
        </p:nvPicPr>
        <p:blipFill>
          <a:blip r:embed="rId1"/>
          <a:srcRect/>
          <a:stretch>
            <a:fillRect/>
          </a:stretch>
        </p:blipFill>
        <p:spPr>
          <a:xfrm>
            <a:off x="8127365" y="64770"/>
            <a:ext cx="1069975" cy="1056005"/>
          </a:xfrm>
          <a:prstGeom prst="rect">
            <a:avLst/>
          </a:prstGeom>
        </p:spPr>
      </p:pic>
      <p:sp>
        <p:nvSpPr>
          <p:cNvPr id="6" name="文本框 5"/>
          <p:cNvSpPr txBox="1"/>
          <p:nvPr/>
        </p:nvSpPr>
        <p:spPr>
          <a:xfrm>
            <a:off x="946785" y="147320"/>
            <a:ext cx="6729730" cy="502920"/>
          </a:xfrm>
          <a:prstGeom prst="rect">
            <a:avLst/>
          </a:prstGeom>
          <a:noFill/>
        </p:spPr>
        <p:txBody>
          <a:bodyPr wrap="square" rtlCol="0">
            <a:noAutofit/>
          </a:bodyPr>
          <a:p>
            <a:r>
              <a:rPr lang="zh-CN" altLang="en-US" sz="2400" dirty="0">
                <a:solidFill>
                  <a:srgbClr val="0D0D0D"/>
                </a:solidFill>
                <a:latin typeface="微软雅黑" panose="020B0503020204020204" pitchFamily="34" charset="-122"/>
                <a:sym typeface="+mn-ea"/>
              </a:rPr>
              <a:t>对比实验</a:t>
            </a:r>
            <a:endParaRPr lang="zh-CN" altLang="en-US" sz="2400" dirty="0">
              <a:solidFill>
                <a:srgbClr val="0D0D0D"/>
              </a:solidFill>
              <a:latin typeface="微软雅黑" panose="020B0503020204020204" pitchFamily="34" charset="-122"/>
              <a:sym typeface="+mn-ea"/>
            </a:endParaRPr>
          </a:p>
          <a:p>
            <a:endParaRPr lang="zh-CN" altLang="en-US"/>
          </a:p>
        </p:txBody>
      </p:sp>
      <p:grpSp>
        <p:nvGrpSpPr>
          <p:cNvPr id="30743" name="组合 32"/>
          <p:cNvGrpSpPr>
            <a:grpSpLocks noChangeAspect="1"/>
          </p:cNvGrpSpPr>
          <p:nvPr/>
        </p:nvGrpSpPr>
        <p:grpSpPr>
          <a:xfrm>
            <a:off x="396875" y="14700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pic>
        <p:nvPicPr>
          <p:cNvPr id="5" name="图片 4"/>
          <p:cNvPicPr>
            <a:picLocks noChangeAspect="1"/>
          </p:cNvPicPr>
          <p:nvPr/>
        </p:nvPicPr>
        <p:blipFill>
          <a:blip r:embed="rId2"/>
          <a:stretch>
            <a:fillRect/>
          </a:stretch>
        </p:blipFill>
        <p:spPr>
          <a:xfrm>
            <a:off x="833755" y="615315"/>
            <a:ext cx="6115050" cy="1552575"/>
          </a:xfrm>
          <a:prstGeom prst="rect">
            <a:avLst/>
          </a:prstGeom>
        </p:spPr>
      </p:pic>
      <p:pic>
        <p:nvPicPr>
          <p:cNvPr id="7" name="图片 6"/>
          <p:cNvPicPr>
            <a:picLocks noChangeAspect="1"/>
          </p:cNvPicPr>
          <p:nvPr/>
        </p:nvPicPr>
        <p:blipFill>
          <a:blip r:embed="rId3"/>
          <a:stretch>
            <a:fillRect/>
          </a:stretch>
        </p:blipFill>
        <p:spPr>
          <a:xfrm>
            <a:off x="709930" y="2167890"/>
            <a:ext cx="6362700" cy="1343025"/>
          </a:xfrm>
          <a:prstGeom prst="rect">
            <a:avLst/>
          </a:prstGeom>
        </p:spPr>
      </p:pic>
      <p:pic>
        <p:nvPicPr>
          <p:cNvPr id="8" name="图片 7"/>
          <p:cNvPicPr>
            <a:picLocks noChangeAspect="1"/>
          </p:cNvPicPr>
          <p:nvPr/>
        </p:nvPicPr>
        <p:blipFill>
          <a:blip r:embed="rId4"/>
          <a:stretch>
            <a:fillRect/>
          </a:stretch>
        </p:blipFill>
        <p:spPr>
          <a:xfrm>
            <a:off x="833755" y="3510915"/>
            <a:ext cx="6696075" cy="1381125"/>
          </a:xfrm>
          <a:prstGeom prst="rect">
            <a:avLst/>
          </a:prstGeom>
        </p:spPr>
      </p:pic>
      <p:sp>
        <p:nvSpPr>
          <p:cNvPr id="9" name="文本框 8"/>
          <p:cNvSpPr txBox="1"/>
          <p:nvPr/>
        </p:nvSpPr>
        <p:spPr>
          <a:xfrm>
            <a:off x="5715000" y="1296035"/>
            <a:ext cx="3482340" cy="321945"/>
          </a:xfrm>
          <a:prstGeom prst="rect">
            <a:avLst/>
          </a:prstGeom>
        </p:spPr>
        <p:txBody>
          <a:bodyPr wrap="square">
            <a:spAutoFit/>
          </a:bodyPr>
          <a:p>
            <a:pPr marL="0" indent="0">
              <a:lnSpc>
                <a:spcPts val="1800"/>
              </a:lnSpc>
              <a:spcBef>
                <a:spcPct val="0"/>
              </a:spcBef>
              <a:spcAft>
                <a:spcPct val="0"/>
              </a:spcAft>
            </a:pPr>
            <a:r>
              <a:rPr lang="zh-CN" altLang="en-US" sz="1700" b="1">
                <a:solidFill>
                  <a:srgbClr val="000000"/>
                </a:solidFill>
              </a:rPr>
              <a:t>暗网流量分类</a:t>
            </a:r>
            <a:r>
              <a:rPr lang="zh-CN" altLang="en-US" sz="1600"/>
              <a:t>真实数据集上的测试</a:t>
            </a:r>
            <a:endParaRPr lang="zh-CN" altLang="en-US" sz="1600"/>
          </a:p>
        </p:txBody>
      </p:sp>
      <p:sp>
        <p:nvSpPr>
          <p:cNvPr id="10" name="文本框 9"/>
          <p:cNvSpPr txBox="1"/>
          <p:nvPr/>
        </p:nvSpPr>
        <p:spPr>
          <a:xfrm>
            <a:off x="6948805" y="1617980"/>
            <a:ext cx="1207135" cy="337185"/>
          </a:xfrm>
          <a:prstGeom prst="rect">
            <a:avLst/>
          </a:prstGeom>
        </p:spPr>
        <p:txBody>
          <a:bodyPr wrap="square">
            <a:spAutoFit/>
          </a:bodyPr>
          <a:p>
            <a:r>
              <a:rPr lang="zh-CN" altLang="en-US" sz="1600"/>
              <a:t>分类准确率</a:t>
            </a:r>
            <a:endParaRPr lang="zh-CN" altLang="en-US" sz="1600"/>
          </a:p>
        </p:txBody>
      </p:sp>
      <p:sp>
        <p:nvSpPr>
          <p:cNvPr id="11" name="文本框 10"/>
          <p:cNvSpPr txBox="1"/>
          <p:nvPr/>
        </p:nvSpPr>
        <p:spPr>
          <a:xfrm>
            <a:off x="7407910" y="2670810"/>
            <a:ext cx="1217295" cy="337185"/>
          </a:xfrm>
          <a:prstGeom prst="rect">
            <a:avLst/>
          </a:prstGeom>
        </p:spPr>
        <p:txBody>
          <a:bodyPr wrap="square">
            <a:spAutoFit/>
          </a:bodyPr>
          <a:p>
            <a:r>
              <a:rPr lang="zh-CN" altLang="en-US" sz="1600"/>
              <a:t>性能保留率</a:t>
            </a:r>
            <a:endParaRPr lang="zh-CN" altLang="en-US" sz="1600"/>
          </a:p>
        </p:txBody>
      </p:sp>
      <p:sp>
        <p:nvSpPr>
          <p:cNvPr id="12" name="文本框 11"/>
          <p:cNvSpPr txBox="1"/>
          <p:nvPr/>
        </p:nvSpPr>
        <p:spPr>
          <a:xfrm>
            <a:off x="6948805" y="4195445"/>
            <a:ext cx="2063750" cy="337185"/>
          </a:xfrm>
          <a:prstGeom prst="rect">
            <a:avLst/>
          </a:prstGeom>
        </p:spPr>
        <p:txBody>
          <a:bodyPr wrap="square">
            <a:spAutoFit/>
          </a:bodyPr>
          <a:p>
            <a:r>
              <a:rPr lang="zh-CN" altLang="en-US" sz="1600"/>
              <a:t>无攻击时的模型精度</a:t>
            </a:r>
            <a:endParaRPr lang="zh-CN" altLang="en-US" sz="1600"/>
          </a:p>
        </p:txBody>
      </p:sp>
      <p:sp>
        <p:nvSpPr>
          <p:cNvPr id="13" name="文本框 12"/>
          <p:cNvSpPr txBox="1"/>
          <p:nvPr/>
        </p:nvSpPr>
        <p:spPr>
          <a:xfrm>
            <a:off x="6540500" y="3082925"/>
            <a:ext cx="2604135" cy="352425"/>
          </a:xfrm>
          <a:prstGeom prst="rect">
            <a:avLst/>
          </a:prstGeom>
        </p:spPr>
        <p:txBody>
          <a:bodyPr wrap="square">
            <a:spAutoFit/>
          </a:bodyPr>
          <a:p>
            <a:r>
              <a:rPr lang="en-US" altLang="zh-CN" sz="1600"/>
              <a:t>SIDMD </a:t>
            </a:r>
            <a:r>
              <a:rPr lang="zh-CN" altLang="en-US" sz="1600"/>
              <a:t>是</a:t>
            </a:r>
            <a:r>
              <a:rPr lang="zh-CN" altLang="en-US" sz="1700" b="1">
                <a:solidFill>
                  <a:srgbClr val="FF0000"/>
                </a:solidFill>
              </a:rPr>
              <a:t>攻击无关</a:t>
            </a:r>
            <a:r>
              <a:rPr lang="zh-CN" altLang="en-US" sz="1600"/>
              <a:t>的防御</a:t>
            </a:r>
            <a:endParaRPr lang="zh-CN" alt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04640" y="2471420"/>
            <a:ext cx="2692400" cy="953135"/>
          </a:xfrm>
          <a:prstGeom prst="rect">
            <a:avLst/>
          </a:prstGeom>
          <a:noFill/>
        </p:spPr>
        <p:txBody>
          <a:bodyPr wrap="square" rtlCol="0">
            <a:spAutoFit/>
          </a:bodyPr>
          <a:lstStyle/>
          <a:p>
            <a:r>
              <a:rPr lang="zh-CN" altLang="en-US" sz="2800" b="1" spc="90">
                <a:solidFill>
                  <a:schemeClr val="dk1">
                    <a:lumMod val="85000"/>
                    <a:lumOff val="15000"/>
                  </a:schemeClr>
                </a:solidFill>
                <a:uFillTx/>
                <a:latin typeface="微软雅黑" panose="020B0503020204020204" pitchFamily="34" charset="-122"/>
                <a:sym typeface="+mn-ea"/>
              </a:rPr>
              <a:t>评估与总结</a:t>
            </a:r>
            <a:endParaRPr lang="zh-CN" altLang="en-US" sz="2800" b="1" spc="90">
              <a:solidFill>
                <a:schemeClr val="dk1">
                  <a:lumMod val="85000"/>
                  <a:lumOff val="15000"/>
                </a:schemeClr>
              </a:solidFill>
              <a:uFillTx/>
              <a:latin typeface="微软雅黑" panose="020B0503020204020204" pitchFamily="34" charset="-122"/>
              <a:sym typeface="+mn-ea"/>
            </a:endParaRPr>
          </a:p>
          <a:p>
            <a:endParaRPr lang="zh-CN" altLang="en-US" sz="2800" b="1"/>
          </a:p>
        </p:txBody>
      </p:sp>
      <p:grpSp>
        <p:nvGrpSpPr>
          <p:cNvPr id="32772" name="组合 3"/>
          <p:cNvGrpSpPr/>
          <p:nvPr/>
        </p:nvGrpSpPr>
        <p:grpSpPr>
          <a:xfrm>
            <a:off x="2885758" y="1944688"/>
            <a:ext cx="1130300" cy="1128712"/>
            <a:chOff x="1928879" y="1944350"/>
            <a:chExt cx="1129689" cy="1129689"/>
          </a:xfrm>
        </p:grpSpPr>
        <p:sp>
          <p:nvSpPr>
            <p:cNvPr id="3" name="椭圆 2"/>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9" name="Freeform 18"/>
            <p:cNvSpPr>
              <a:spLocks noEditPoints="1"/>
            </p:cNvSpPr>
            <p:nvPr/>
          </p:nvSpPr>
          <p:spPr bwMode="auto">
            <a:xfrm>
              <a:off x="2155768" y="2106415"/>
              <a:ext cx="658457" cy="789670"/>
            </a:xfrm>
            <a:custGeom>
              <a:avLst/>
              <a:gdLst>
                <a:gd name="T0" fmla="*/ 456 w 456"/>
                <a:gd name="T1" fmla="*/ 528 h 548"/>
                <a:gd name="T2" fmla="*/ 436 w 456"/>
                <a:gd name="T3" fmla="*/ 548 h 548"/>
                <a:gd name="T4" fmla="*/ 84 w 456"/>
                <a:gd name="T5" fmla="*/ 548 h 548"/>
                <a:gd name="T6" fmla="*/ 0 w 456"/>
                <a:gd name="T7" fmla="*/ 464 h 548"/>
                <a:gd name="T8" fmla="*/ 84 w 456"/>
                <a:gd name="T9" fmla="*/ 380 h 548"/>
                <a:gd name="T10" fmla="*/ 436 w 456"/>
                <a:gd name="T11" fmla="*/ 380 h 548"/>
                <a:gd name="T12" fmla="*/ 456 w 456"/>
                <a:gd name="T13" fmla="*/ 399 h 548"/>
                <a:gd name="T14" fmla="*/ 436 w 456"/>
                <a:gd name="T15" fmla="*/ 419 h 548"/>
                <a:gd name="T16" fmla="*/ 90 w 456"/>
                <a:gd name="T17" fmla="*/ 419 h 548"/>
                <a:gd name="T18" fmla="*/ 45 w 456"/>
                <a:gd name="T19" fmla="*/ 464 h 548"/>
                <a:gd name="T20" fmla="*/ 90 w 456"/>
                <a:gd name="T21" fmla="*/ 509 h 548"/>
                <a:gd name="T22" fmla="*/ 436 w 456"/>
                <a:gd name="T23" fmla="*/ 509 h 548"/>
                <a:gd name="T24" fmla="*/ 456 w 456"/>
                <a:gd name="T25" fmla="*/ 528 h 548"/>
                <a:gd name="T26" fmla="*/ 235 w 456"/>
                <a:gd name="T27" fmla="*/ 78 h 548"/>
                <a:gd name="T28" fmla="*/ 309 w 456"/>
                <a:gd name="T29" fmla="*/ 6 h 548"/>
                <a:gd name="T30" fmla="*/ 309 w 456"/>
                <a:gd name="T31" fmla="*/ 0 h 548"/>
                <a:gd name="T32" fmla="*/ 303 w 456"/>
                <a:gd name="T33" fmla="*/ 0 h 548"/>
                <a:gd name="T34" fmla="*/ 228 w 456"/>
                <a:gd name="T35" fmla="*/ 72 h 548"/>
                <a:gd name="T36" fmla="*/ 229 w 456"/>
                <a:gd name="T37" fmla="*/ 77 h 548"/>
                <a:gd name="T38" fmla="*/ 235 w 456"/>
                <a:gd name="T39" fmla="*/ 78 h 548"/>
                <a:gd name="T40" fmla="*/ 372 w 456"/>
                <a:gd name="T41" fmla="*/ 137 h 548"/>
                <a:gd name="T42" fmla="*/ 295 w 456"/>
                <a:gd name="T43" fmla="*/ 85 h 548"/>
                <a:gd name="T44" fmla="*/ 232 w 456"/>
                <a:gd name="T45" fmla="*/ 98 h 548"/>
                <a:gd name="T46" fmla="*/ 170 w 456"/>
                <a:gd name="T47" fmla="*/ 85 h 548"/>
                <a:gd name="T48" fmla="*/ 93 w 456"/>
                <a:gd name="T49" fmla="*/ 137 h 548"/>
                <a:gd name="T50" fmla="*/ 175 w 456"/>
                <a:gd name="T51" fmla="*/ 341 h 548"/>
                <a:gd name="T52" fmla="*/ 232 w 456"/>
                <a:gd name="T53" fmla="*/ 328 h 548"/>
                <a:gd name="T54" fmla="*/ 290 w 456"/>
                <a:gd name="T55" fmla="*/ 341 h 548"/>
                <a:gd name="T56" fmla="*/ 372 w 456"/>
                <a:gd name="T57" fmla="*/ 137 h 548"/>
                <a:gd name="T58" fmla="*/ 172 w 456"/>
                <a:gd name="T59" fmla="*/ 126 h 548"/>
                <a:gd name="T60" fmla="*/ 168 w 456"/>
                <a:gd name="T61" fmla="*/ 126 h 548"/>
                <a:gd name="T62" fmla="*/ 128 w 456"/>
                <a:gd name="T63" fmla="*/ 161 h 548"/>
                <a:gd name="T64" fmla="*/ 119 w 456"/>
                <a:gd name="T65" fmla="*/ 169 h 548"/>
                <a:gd name="T66" fmla="*/ 118 w 456"/>
                <a:gd name="T67" fmla="*/ 169 h 548"/>
                <a:gd name="T68" fmla="*/ 116 w 456"/>
                <a:gd name="T69" fmla="*/ 168 h 548"/>
                <a:gd name="T70" fmla="*/ 109 w 456"/>
                <a:gd name="T71" fmla="*/ 157 h 548"/>
                <a:gd name="T72" fmla="*/ 168 w 456"/>
                <a:gd name="T73" fmla="*/ 106 h 548"/>
                <a:gd name="T74" fmla="*/ 173 w 456"/>
                <a:gd name="T75" fmla="*/ 106 h 548"/>
                <a:gd name="T76" fmla="*/ 181 w 456"/>
                <a:gd name="T77" fmla="*/ 117 h 548"/>
                <a:gd name="T78" fmla="*/ 172 w 456"/>
                <a:gd name="T79" fmla="*/ 12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6" h="548">
                  <a:moveTo>
                    <a:pt x="456" y="528"/>
                  </a:moveTo>
                  <a:cubicBezTo>
                    <a:pt x="456" y="539"/>
                    <a:pt x="447" y="548"/>
                    <a:pt x="436" y="548"/>
                  </a:cubicBezTo>
                  <a:cubicBezTo>
                    <a:pt x="84" y="548"/>
                    <a:pt x="84" y="548"/>
                    <a:pt x="84" y="548"/>
                  </a:cubicBezTo>
                  <a:cubicBezTo>
                    <a:pt x="38" y="548"/>
                    <a:pt x="0" y="510"/>
                    <a:pt x="0" y="464"/>
                  </a:cubicBezTo>
                  <a:cubicBezTo>
                    <a:pt x="0" y="417"/>
                    <a:pt x="38" y="380"/>
                    <a:pt x="84" y="380"/>
                  </a:cubicBezTo>
                  <a:cubicBezTo>
                    <a:pt x="436" y="380"/>
                    <a:pt x="436" y="380"/>
                    <a:pt x="436" y="380"/>
                  </a:cubicBezTo>
                  <a:cubicBezTo>
                    <a:pt x="447" y="380"/>
                    <a:pt x="456" y="389"/>
                    <a:pt x="456" y="399"/>
                  </a:cubicBezTo>
                  <a:cubicBezTo>
                    <a:pt x="456" y="410"/>
                    <a:pt x="447" y="419"/>
                    <a:pt x="436" y="419"/>
                  </a:cubicBezTo>
                  <a:cubicBezTo>
                    <a:pt x="90" y="419"/>
                    <a:pt x="90" y="419"/>
                    <a:pt x="90" y="419"/>
                  </a:cubicBezTo>
                  <a:cubicBezTo>
                    <a:pt x="65" y="419"/>
                    <a:pt x="45" y="439"/>
                    <a:pt x="45" y="464"/>
                  </a:cubicBezTo>
                  <a:cubicBezTo>
                    <a:pt x="45" y="488"/>
                    <a:pt x="65" y="509"/>
                    <a:pt x="90" y="509"/>
                  </a:cubicBezTo>
                  <a:cubicBezTo>
                    <a:pt x="436" y="509"/>
                    <a:pt x="436" y="509"/>
                    <a:pt x="436" y="509"/>
                  </a:cubicBezTo>
                  <a:cubicBezTo>
                    <a:pt x="447" y="509"/>
                    <a:pt x="456" y="518"/>
                    <a:pt x="456" y="528"/>
                  </a:cubicBezTo>
                  <a:close/>
                  <a:moveTo>
                    <a:pt x="235" y="78"/>
                  </a:moveTo>
                  <a:cubicBezTo>
                    <a:pt x="276" y="78"/>
                    <a:pt x="309" y="45"/>
                    <a:pt x="309" y="6"/>
                  </a:cubicBezTo>
                  <a:cubicBezTo>
                    <a:pt x="309" y="4"/>
                    <a:pt x="309" y="2"/>
                    <a:pt x="309" y="0"/>
                  </a:cubicBezTo>
                  <a:cubicBezTo>
                    <a:pt x="307" y="0"/>
                    <a:pt x="305" y="0"/>
                    <a:pt x="303" y="0"/>
                  </a:cubicBezTo>
                  <a:cubicBezTo>
                    <a:pt x="262" y="0"/>
                    <a:pt x="228" y="32"/>
                    <a:pt x="228" y="72"/>
                  </a:cubicBezTo>
                  <a:cubicBezTo>
                    <a:pt x="228" y="74"/>
                    <a:pt x="228" y="76"/>
                    <a:pt x="229" y="77"/>
                  </a:cubicBezTo>
                  <a:cubicBezTo>
                    <a:pt x="231" y="78"/>
                    <a:pt x="233" y="78"/>
                    <a:pt x="235" y="78"/>
                  </a:cubicBezTo>
                  <a:close/>
                  <a:moveTo>
                    <a:pt x="372" y="137"/>
                  </a:moveTo>
                  <a:cubicBezTo>
                    <a:pt x="357" y="102"/>
                    <a:pt x="321" y="85"/>
                    <a:pt x="295" y="85"/>
                  </a:cubicBezTo>
                  <a:cubicBezTo>
                    <a:pt x="263" y="85"/>
                    <a:pt x="257" y="98"/>
                    <a:pt x="232" y="98"/>
                  </a:cubicBezTo>
                  <a:cubicBezTo>
                    <a:pt x="208" y="98"/>
                    <a:pt x="202" y="85"/>
                    <a:pt x="170" y="85"/>
                  </a:cubicBezTo>
                  <a:cubicBezTo>
                    <a:pt x="143" y="85"/>
                    <a:pt x="108" y="102"/>
                    <a:pt x="93" y="137"/>
                  </a:cubicBezTo>
                  <a:cubicBezTo>
                    <a:pt x="62" y="207"/>
                    <a:pt x="114" y="341"/>
                    <a:pt x="175" y="341"/>
                  </a:cubicBezTo>
                  <a:cubicBezTo>
                    <a:pt x="199" y="341"/>
                    <a:pt x="210" y="328"/>
                    <a:pt x="232" y="328"/>
                  </a:cubicBezTo>
                  <a:cubicBezTo>
                    <a:pt x="255" y="328"/>
                    <a:pt x="265" y="341"/>
                    <a:pt x="290" y="341"/>
                  </a:cubicBezTo>
                  <a:cubicBezTo>
                    <a:pt x="351" y="341"/>
                    <a:pt x="403" y="207"/>
                    <a:pt x="372" y="137"/>
                  </a:cubicBezTo>
                  <a:close/>
                  <a:moveTo>
                    <a:pt x="172" y="126"/>
                  </a:moveTo>
                  <a:cubicBezTo>
                    <a:pt x="170" y="126"/>
                    <a:pt x="169" y="126"/>
                    <a:pt x="168" y="126"/>
                  </a:cubicBezTo>
                  <a:cubicBezTo>
                    <a:pt x="154" y="126"/>
                    <a:pt x="132" y="138"/>
                    <a:pt x="128" y="161"/>
                  </a:cubicBezTo>
                  <a:cubicBezTo>
                    <a:pt x="127" y="165"/>
                    <a:pt x="123" y="169"/>
                    <a:pt x="119" y="169"/>
                  </a:cubicBezTo>
                  <a:cubicBezTo>
                    <a:pt x="118" y="169"/>
                    <a:pt x="118" y="169"/>
                    <a:pt x="118" y="169"/>
                  </a:cubicBezTo>
                  <a:cubicBezTo>
                    <a:pt x="118" y="169"/>
                    <a:pt x="117" y="169"/>
                    <a:pt x="116" y="168"/>
                  </a:cubicBezTo>
                  <a:cubicBezTo>
                    <a:pt x="111" y="167"/>
                    <a:pt x="108" y="162"/>
                    <a:pt x="109" y="157"/>
                  </a:cubicBezTo>
                  <a:cubicBezTo>
                    <a:pt x="115" y="125"/>
                    <a:pt x="144" y="106"/>
                    <a:pt x="168" y="106"/>
                  </a:cubicBezTo>
                  <a:cubicBezTo>
                    <a:pt x="170" y="106"/>
                    <a:pt x="171" y="106"/>
                    <a:pt x="173" y="106"/>
                  </a:cubicBezTo>
                  <a:cubicBezTo>
                    <a:pt x="178" y="107"/>
                    <a:pt x="182" y="112"/>
                    <a:pt x="181" y="117"/>
                  </a:cubicBezTo>
                  <a:cubicBezTo>
                    <a:pt x="181" y="122"/>
                    <a:pt x="177" y="126"/>
                    <a:pt x="172" y="126"/>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sp>
        <p:nvSpPr>
          <p:cNvPr id="4" name="文本框 3"/>
          <p:cNvSpPr txBox="1"/>
          <p:nvPr/>
        </p:nvSpPr>
        <p:spPr>
          <a:xfrm>
            <a:off x="4227830" y="1991360"/>
            <a:ext cx="3048000" cy="398780"/>
          </a:xfrm>
          <a:prstGeom prst="rect">
            <a:avLst/>
          </a:prstGeom>
          <a:noFill/>
        </p:spPr>
        <p:txBody>
          <a:bodyPr wrap="square" rtlCol="0">
            <a:noAutofit/>
          </a:bodyPr>
          <a:lstStyle/>
          <a:p>
            <a:r>
              <a:rPr lang="en-US" altLang="zh-CN" dirty="0">
                <a:sym typeface="+mn-ea"/>
              </a:rPr>
              <a:t>PART FOUR</a:t>
            </a:r>
            <a:endParaRPr lang="zh-CN" altLang="en-US" dirty="0">
              <a:latin typeface="Arial" panose="020B0604020202020204" pitchFamily="34" charset="0"/>
              <a:ea typeface="微软雅黑" panose="020B0503020204020204" pitchFamily="34" charset="-122"/>
            </a:endParaRPr>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95045" y="184150"/>
            <a:ext cx="3048000" cy="460375"/>
          </a:xfrm>
          <a:prstGeom prst="rect">
            <a:avLst/>
          </a:prstGeom>
          <a:noFill/>
        </p:spPr>
        <p:txBody>
          <a:bodyPr wrap="square" rtlCol="0">
            <a:spAutoFit/>
          </a:bodyPr>
          <a:lstStyle/>
          <a:p>
            <a:r>
              <a:rPr lang="zh-CN" altLang="en-US" sz="2400"/>
              <a:t>总结</a:t>
            </a:r>
            <a:endParaRPr lang="zh-CN" altLang="en-US" sz="2400"/>
          </a:p>
        </p:txBody>
      </p:sp>
      <p:grpSp>
        <p:nvGrpSpPr>
          <p:cNvPr id="30743" name="组合 32"/>
          <p:cNvGrpSpPr>
            <a:grpSpLocks noChangeAspect="1"/>
          </p:cNvGrpSpPr>
          <p:nvPr/>
        </p:nvGrpSpPr>
        <p:grpSpPr>
          <a:xfrm>
            <a:off x="357505" y="18383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sp>
        <p:nvSpPr>
          <p:cNvPr id="5" name="文本框 4"/>
          <p:cNvSpPr txBox="1"/>
          <p:nvPr/>
        </p:nvSpPr>
        <p:spPr>
          <a:xfrm>
            <a:off x="1598295" y="1004570"/>
            <a:ext cx="6424295" cy="1014730"/>
          </a:xfrm>
          <a:prstGeom prst="rect">
            <a:avLst/>
          </a:prstGeom>
        </p:spPr>
        <p:txBody>
          <a:bodyPr wrap="square">
            <a:spAutoFit/>
          </a:bodyPr>
          <a:p>
            <a:pPr marL="0" indent="0">
              <a:lnSpc>
                <a:spcPts val="1800"/>
              </a:lnSpc>
              <a:spcBef>
                <a:spcPct val="0"/>
              </a:spcBef>
              <a:spcAft>
                <a:spcPct val="0"/>
              </a:spcAft>
            </a:pPr>
            <a:r>
              <a:rPr lang="zh-CN" altLang="en-US" sz="1600" b="0">
                <a:solidFill>
                  <a:srgbClr val="000000"/>
                </a:solidFill>
              </a:rPr>
              <a:t>本文核心工作</a:t>
            </a:r>
            <a:endParaRPr lang="zh-CN" altLang="en-US"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从</a:t>
            </a:r>
            <a:r>
              <a:rPr lang="zh-CN" altLang="en-US" sz="1600" b="1">
                <a:solidFill>
                  <a:srgbClr val="000000"/>
                </a:solidFill>
              </a:rPr>
              <a:t>输入空间</a:t>
            </a:r>
            <a:r>
              <a:rPr lang="zh-CN" altLang="en-US" sz="1600" b="0">
                <a:solidFill>
                  <a:srgbClr val="000000"/>
                </a:solidFill>
              </a:rPr>
              <a:t>重新定义漏洞，实现异构性统一度量</a:t>
            </a:r>
            <a:endParaRPr lang="zh-CN" altLang="en-US"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设计</a:t>
            </a:r>
            <a:r>
              <a:rPr lang="zh-CN" altLang="en-US" sz="1600" b="1">
                <a:solidFill>
                  <a:srgbClr val="000000"/>
                </a:solidFill>
              </a:rPr>
              <a:t>动态漏洞更新</a:t>
            </a:r>
            <a:r>
              <a:rPr lang="zh-CN" altLang="en-US" sz="1600" b="0">
                <a:solidFill>
                  <a:srgbClr val="000000"/>
                </a:solidFill>
              </a:rPr>
              <a:t>算法，自适应学习新型漏洞</a:t>
            </a:r>
            <a:endParaRPr lang="zh-CN" altLang="en-US"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首次提出</a:t>
            </a:r>
            <a:r>
              <a:rPr lang="zh-CN" altLang="en-US" sz="1600" b="1">
                <a:solidFill>
                  <a:srgbClr val="000000"/>
                </a:solidFill>
              </a:rPr>
              <a:t>时空联合调度</a:t>
            </a:r>
            <a:r>
              <a:rPr lang="zh-CN" altLang="en-US" sz="1600" b="0">
                <a:solidFill>
                  <a:srgbClr val="000000"/>
                </a:solidFill>
              </a:rPr>
              <a:t>，同时保证当前安全 </a:t>
            </a:r>
            <a:r>
              <a:rPr lang="en-US" altLang="zh-CN" sz="1600" b="0">
                <a:solidFill>
                  <a:srgbClr val="000000"/>
                </a:solidFill>
              </a:rPr>
              <a:t>+ </a:t>
            </a:r>
            <a:r>
              <a:rPr lang="zh-CN" altLang="en-US" sz="1600" b="0">
                <a:solidFill>
                  <a:srgbClr val="000000"/>
                </a:solidFill>
              </a:rPr>
              <a:t>阻断长期攻击</a:t>
            </a:r>
            <a:endParaRPr lang="zh-CN" altLang="en-US" sz="1600" b="0">
              <a:solidFill>
                <a:srgbClr val="000000"/>
              </a:solidFill>
            </a:endParaRPr>
          </a:p>
        </p:txBody>
      </p:sp>
      <p:sp>
        <p:nvSpPr>
          <p:cNvPr id="7" name="文本框 6"/>
          <p:cNvSpPr txBox="1"/>
          <p:nvPr/>
        </p:nvSpPr>
        <p:spPr>
          <a:xfrm>
            <a:off x="1715135" y="2571750"/>
            <a:ext cx="6233795" cy="1476375"/>
          </a:xfrm>
          <a:prstGeom prst="rect">
            <a:avLst/>
          </a:prstGeom>
        </p:spPr>
        <p:txBody>
          <a:bodyPr wrap="square">
            <a:spAutoFit/>
          </a:bodyPr>
          <a:p>
            <a:pPr marL="0" indent="0">
              <a:lnSpc>
                <a:spcPts val="1800"/>
              </a:lnSpc>
              <a:spcBef>
                <a:spcPct val="0"/>
              </a:spcBef>
              <a:spcAft>
                <a:spcPct val="0"/>
              </a:spcAft>
            </a:pPr>
            <a:r>
              <a:rPr lang="zh-CN" altLang="en-US" sz="1600" b="0">
                <a:solidFill>
                  <a:srgbClr val="000000"/>
                </a:solidFill>
              </a:rPr>
              <a:t>核心贡献</a:t>
            </a:r>
            <a:endParaRPr lang="zh-CN" altLang="en-US" sz="1600" b="0">
              <a:solidFill>
                <a:srgbClr val="000000"/>
              </a:solidFill>
            </a:endParaRPr>
          </a:p>
          <a:p>
            <a:pPr marL="0" indent="0">
              <a:lnSpc>
                <a:spcPts val="1800"/>
              </a:lnSpc>
              <a:spcBef>
                <a:spcPct val="0"/>
              </a:spcBef>
              <a:spcAft>
                <a:spcPct val="0"/>
              </a:spcAft>
            </a:pPr>
            <a:r>
              <a:rPr lang="zh-CN" altLang="en-US" sz="1600" b="0">
                <a:solidFill>
                  <a:srgbClr val="000000"/>
                </a:solidFill>
              </a:rPr>
              <a:t>构建了</a:t>
            </a:r>
            <a:r>
              <a:rPr lang="zh-CN" altLang="en-US" sz="1600" b="1">
                <a:solidFill>
                  <a:srgbClr val="000000"/>
                </a:solidFill>
              </a:rPr>
              <a:t>输入感知、动态更新、时空异构</a:t>
            </a:r>
            <a:r>
              <a:rPr lang="zh-CN" altLang="en-US" sz="1600" b="0">
                <a:solidFill>
                  <a:srgbClr val="000000"/>
                </a:solidFill>
              </a:rPr>
              <a:t>的新一代拟态防御 </a:t>
            </a:r>
            <a:r>
              <a:rPr lang="en-US" altLang="zh-CN" sz="1600" b="0">
                <a:solidFill>
                  <a:srgbClr val="000000"/>
                </a:solidFill>
              </a:rPr>
              <a:t>SIDMD</a:t>
            </a:r>
            <a:endParaRPr lang="en-US" altLang="zh-CN"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攻击成功率大幅降低</a:t>
            </a:r>
            <a:endParaRPr lang="zh-CN" altLang="en-US"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攻击无法跨调度持续生效</a:t>
            </a:r>
            <a:endParaRPr lang="zh-CN" altLang="en-US"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更少执行体实现更高安全</a:t>
            </a:r>
            <a:endParaRPr lang="zh-CN" altLang="en-US" sz="1600" b="0">
              <a:solidFill>
                <a:srgbClr val="000000"/>
              </a:solidFill>
            </a:endParaRPr>
          </a:p>
          <a:p>
            <a:pPr marL="0" indent="0">
              <a:lnSpc>
                <a:spcPts val="1800"/>
              </a:lnSpc>
              <a:spcBef>
                <a:spcPct val="0"/>
              </a:spcBef>
              <a:spcAft>
                <a:spcPct val="0"/>
              </a:spcAft>
              <a:buFont typeface="Arial" panose="020B0604020202020204"/>
              <a:buChar char="•"/>
            </a:pPr>
            <a:r>
              <a:rPr lang="zh-CN" altLang="en-US" sz="1600" b="0">
                <a:solidFill>
                  <a:srgbClr val="000000"/>
                </a:solidFill>
              </a:rPr>
              <a:t>真实场景鲁棒性强、可直接部署</a:t>
            </a:r>
            <a:endParaRPr lang="zh-CN" altLang="en-US" sz="1600" b="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54100" y="184150"/>
            <a:ext cx="3048000" cy="460375"/>
          </a:xfrm>
          <a:prstGeom prst="rect">
            <a:avLst/>
          </a:prstGeom>
          <a:noFill/>
        </p:spPr>
        <p:txBody>
          <a:bodyPr wrap="square" rtlCol="0">
            <a:spAutoFit/>
          </a:bodyPr>
          <a:lstStyle/>
          <a:p>
            <a:r>
              <a:rPr lang="zh-CN" altLang="en-US" sz="2400">
                <a:sym typeface="+mn-ea"/>
              </a:rPr>
              <a:t>总结</a:t>
            </a:r>
            <a:endParaRPr lang="zh-CN" altLang="en-US" sz="2400">
              <a:sym typeface="+mn-ea"/>
            </a:endParaRPr>
          </a:p>
        </p:txBody>
      </p:sp>
      <p:grpSp>
        <p:nvGrpSpPr>
          <p:cNvPr id="30743" name="组合 32"/>
          <p:cNvGrpSpPr>
            <a:grpSpLocks noChangeAspect="1"/>
          </p:cNvGrpSpPr>
          <p:nvPr/>
        </p:nvGrpSpPr>
        <p:grpSpPr>
          <a:xfrm>
            <a:off x="357505" y="183833"/>
            <a:ext cx="468313" cy="468312"/>
            <a:chOff x="1928879" y="1944350"/>
            <a:chExt cx="1129689" cy="1129689"/>
          </a:xfrm>
        </p:grpSpPr>
        <p:sp>
          <p:nvSpPr>
            <p:cNvPr id="34" name="椭圆 33"/>
            <p:cNvSpPr/>
            <p:nvPr/>
          </p:nvSpPr>
          <p:spPr>
            <a:xfrm>
              <a:off x="1928879" y="1944350"/>
              <a:ext cx="1129689" cy="1129689"/>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Text" lastClr="000000"/>
                </a:solidFill>
                <a:effectLst/>
                <a:uLnTx/>
                <a:uFillTx/>
                <a:latin typeface="+mn-lt"/>
                <a:ea typeface="+mn-ea"/>
                <a:cs typeface="+mn-cs"/>
              </a:endParaRPr>
            </a:p>
          </p:txBody>
        </p:sp>
        <p:sp>
          <p:nvSpPr>
            <p:cNvPr id="35" name="Freeform 7"/>
            <p:cNvSpPr>
              <a:spLocks noEditPoints="1"/>
            </p:cNvSpPr>
            <p:nvPr/>
          </p:nvSpPr>
          <p:spPr bwMode="auto">
            <a:xfrm>
              <a:off x="2108864" y="2227730"/>
              <a:ext cx="750572" cy="616542"/>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mn-ea"/>
                <a:cs typeface="+mn-cs"/>
              </a:endParaRPr>
            </a:p>
          </p:txBody>
        </p:sp>
      </p:grpSp>
      <p:sp>
        <p:nvSpPr>
          <p:cNvPr id="4" name="文本框 3"/>
          <p:cNvSpPr txBox="1"/>
          <p:nvPr/>
        </p:nvSpPr>
        <p:spPr>
          <a:xfrm>
            <a:off x="1054100" y="1520825"/>
            <a:ext cx="6815455" cy="583565"/>
          </a:xfrm>
          <a:prstGeom prst="rect">
            <a:avLst/>
          </a:prstGeom>
        </p:spPr>
        <p:txBody>
          <a:bodyPr wrap="square">
            <a:spAutoFit/>
          </a:bodyPr>
          <a:p>
            <a:r>
              <a:rPr lang="zh-CN" altLang="en-US" sz="1600"/>
              <a:t>传统拟态防御只看 “空间异构”，这篇</a:t>
            </a:r>
            <a:r>
              <a:rPr lang="zh-CN" altLang="en-US" sz="1600">
                <a:solidFill>
                  <a:srgbClr val="FF0000"/>
                </a:solidFill>
              </a:rPr>
              <a:t>从 “输入视角” 补上 “时间异构”</a:t>
            </a:r>
            <a:r>
              <a:rPr lang="zh-CN" altLang="en-US" sz="1600"/>
              <a:t>，做出更安全、更鲁棒、可落地的拟态防御 </a:t>
            </a:r>
            <a:r>
              <a:rPr lang="en-US" altLang="zh-CN" sz="1600"/>
              <a:t>SIDMD</a:t>
            </a:r>
            <a:r>
              <a:rPr lang="zh-CN" altLang="en-US" sz="1600"/>
              <a:t>。</a:t>
            </a:r>
            <a:endParaRPr lang="zh-CN" altLang="en-US" sz="1600"/>
          </a:p>
        </p:txBody>
      </p:sp>
      <p:sp>
        <p:nvSpPr>
          <p:cNvPr id="7" name="文本框 6"/>
          <p:cNvSpPr txBox="1"/>
          <p:nvPr/>
        </p:nvSpPr>
        <p:spPr>
          <a:xfrm>
            <a:off x="1185545" y="2571750"/>
            <a:ext cx="6222365" cy="783590"/>
          </a:xfrm>
          <a:prstGeom prst="rect">
            <a:avLst/>
          </a:prstGeom>
        </p:spPr>
        <p:txBody>
          <a:bodyPr wrap="square">
            <a:spAutoFit/>
          </a:bodyPr>
          <a:p>
            <a:pPr marL="0" indent="0">
              <a:lnSpc>
                <a:spcPts val="1800"/>
              </a:lnSpc>
              <a:spcBef>
                <a:spcPct val="0"/>
              </a:spcBef>
              <a:spcAft>
                <a:spcPct val="0"/>
              </a:spcAft>
            </a:pPr>
            <a:r>
              <a:rPr lang="zh-CN" altLang="en-US" sz="1600" b="0">
                <a:solidFill>
                  <a:srgbClr val="000000"/>
                </a:solidFill>
              </a:rPr>
              <a:t>痛点：传统拟态防御 </a:t>
            </a:r>
            <a:r>
              <a:rPr lang="zh-CN" altLang="en-US" sz="1600" b="1">
                <a:solidFill>
                  <a:srgbClr val="FF0000"/>
                </a:solidFill>
              </a:rPr>
              <a:t>缺输入感知、缺动态更新、缺时间维度</a:t>
            </a:r>
            <a:endParaRPr lang="zh-CN" altLang="en-US" sz="1600" b="1">
              <a:solidFill>
                <a:srgbClr val="000000"/>
              </a:solidFill>
            </a:endParaRPr>
          </a:p>
          <a:p>
            <a:pPr marL="0" indent="0">
              <a:lnSpc>
                <a:spcPts val="1800"/>
              </a:lnSpc>
              <a:spcBef>
                <a:spcPct val="0"/>
              </a:spcBef>
              <a:spcAft>
                <a:spcPct val="0"/>
              </a:spcAft>
            </a:pPr>
            <a:r>
              <a:rPr lang="zh-CN" altLang="en-US" sz="1600" b="0">
                <a:solidFill>
                  <a:srgbClr val="000000"/>
                </a:solidFill>
              </a:rPr>
              <a:t>方法：</a:t>
            </a:r>
            <a:r>
              <a:rPr lang="zh-CN" altLang="en-US" sz="1600" b="1">
                <a:solidFill>
                  <a:srgbClr val="FF0000"/>
                </a:solidFill>
              </a:rPr>
              <a:t>输入感知 </a:t>
            </a:r>
            <a:r>
              <a:rPr lang="en-US" altLang="zh-CN" sz="1600" b="1">
                <a:solidFill>
                  <a:srgbClr val="FF0000"/>
                </a:solidFill>
              </a:rPr>
              <a:t>+ </a:t>
            </a:r>
            <a:r>
              <a:rPr lang="zh-CN" altLang="en-US" sz="1600" b="1">
                <a:solidFill>
                  <a:srgbClr val="FF0000"/>
                </a:solidFill>
              </a:rPr>
              <a:t>动态漏洞发现 </a:t>
            </a:r>
            <a:r>
              <a:rPr lang="en-US" altLang="zh-CN" sz="1600" b="1">
                <a:solidFill>
                  <a:srgbClr val="FF0000"/>
                </a:solidFill>
              </a:rPr>
              <a:t>+ </a:t>
            </a:r>
            <a:r>
              <a:rPr lang="zh-CN" altLang="en-US" sz="1600" b="1">
                <a:solidFill>
                  <a:srgbClr val="FF0000"/>
                </a:solidFill>
              </a:rPr>
              <a:t>时空异构调度</a:t>
            </a:r>
            <a:endParaRPr lang="zh-CN" altLang="en-US" sz="1600" b="1">
              <a:solidFill>
                <a:srgbClr val="FF0000"/>
              </a:solidFill>
            </a:endParaRPr>
          </a:p>
          <a:p>
            <a:pPr marL="0" indent="0">
              <a:lnSpc>
                <a:spcPts val="1800"/>
              </a:lnSpc>
              <a:spcBef>
                <a:spcPct val="0"/>
              </a:spcBef>
              <a:spcAft>
                <a:spcPct val="0"/>
              </a:spcAft>
            </a:pPr>
            <a:r>
              <a:rPr lang="zh-CN" altLang="en-US" sz="1600" b="0">
                <a:solidFill>
                  <a:srgbClr val="000000"/>
                </a:solidFill>
              </a:rPr>
              <a:t>效果：</a:t>
            </a:r>
            <a:r>
              <a:rPr lang="zh-CN" altLang="en-US" sz="1600" b="1">
                <a:solidFill>
                  <a:srgbClr val="FF0000"/>
                </a:solidFill>
              </a:rPr>
              <a:t>更安全、更鲁棒、成本更低、可落地</a:t>
            </a:r>
            <a:endParaRPr lang="zh-CN" altLang="en-US" sz="1600" b="1">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916238" y="555625"/>
            <a:ext cx="3551238" cy="1409700"/>
          </a:xfrm>
          <a:prstGeom prst="rect">
            <a:avLst/>
          </a:prstGeom>
        </p:spPr>
        <p:txBody>
          <a:bodyPr>
            <a:spAutoFit/>
          </a:bodyPr>
          <a:lstStyle/>
          <a:p>
            <a:pPr marL="0" marR="0" lvl="0" indent="0" algn="l" defTabSz="685800" rtl="0" eaLnBrk="1" fontAlgn="auto" latinLnBrk="0" hangingPunct="1">
              <a:lnSpc>
                <a:spcPct val="15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6">
                    <a:lumMod val="75000"/>
                  </a:schemeClr>
                </a:solidFill>
                <a:effectLst/>
                <a:uLnTx/>
                <a:uFillTx/>
                <a:latin typeface="Impact" panose="020B0806030902050204" pitchFamily="34" charset="0"/>
                <a:ea typeface="微软雅黑" panose="020B0503020204020204" pitchFamily="34" charset="-122"/>
                <a:cs typeface="+mn-cs"/>
              </a:rPr>
              <a:t>THANKS!</a:t>
            </a:r>
            <a:endParaRPr kumimoji="0" lang="zh-CN" altLang="en-US" sz="6600" b="0" i="0" u="none" strike="noStrike" kern="1200" cap="none" spc="0" normalizeH="0" baseline="0" noProof="0" dirty="0">
              <a:ln>
                <a:noFill/>
              </a:ln>
              <a:solidFill>
                <a:schemeClr val="accent6">
                  <a:lumMod val="75000"/>
                </a:schemeClr>
              </a:solidFill>
              <a:effectLst/>
              <a:uLnTx/>
              <a:uFillTx/>
              <a:latin typeface="Impact" panose="020B0806030902050204" pitchFamily="34" charset="0"/>
              <a:ea typeface="微软雅黑" panose="020B0503020204020204" pitchFamily="34" charset="-122"/>
              <a:cs typeface="+mn-cs"/>
            </a:endParaRPr>
          </a:p>
        </p:txBody>
      </p:sp>
      <p:sp>
        <p:nvSpPr>
          <p:cNvPr id="3" name="矩形 2"/>
          <p:cNvSpPr/>
          <p:nvPr/>
        </p:nvSpPr>
        <p:spPr>
          <a:xfrm>
            <a:off x="1122998" y="2571433"/>
            <a:ext cx="6435725" cy="1014730"/>
          </a:xfrm>
          <a:prstGeom prst="rect">
            <a:avLst/>
          </a:prstGeom>
        </p:spPr>
        <p:txBody>
          <a:bodyPr>
            <a:spAutoFit/>
          </a:bodyPr>
          <a:lstStyle/>
          <a:p>
            <a:pPr marL="0" marR="0" lvl="0" indent="0" algn="ctr" defTabSz="685800" rtl="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accent6">
                    <a:lumMod val="75000"/>
                  </a:schemeClr>
                </a:solidFill>
                <a:effectLst/>
                <a:uLnTx/>
                <a:uFillTx/>
                <a:latin typeface="微软雅黑" panose="020B0503020204020204" pitchFamily="34" charset="-122"/>
                <a:ea typeface="微软雅黑" panose="020B0503020204020204" pitchFamily="34" charset="-122"/>
                <a:cs typeface="+mn-cs"/>
              </a:rPr>
              <a:t> </a:t>
            </a:r>
            <a:r>
              <a:rPr kumimoji="0" lang="zh-CN" altLang="en-US" sz="4000" b="0" i="0" u="none" strike="noStrike" kern="0" cap="none" spc="0" normalizeH="0" baseline="0" noProof="0" dirty="0">
                <a:ln>
                  <a:noFill/>
                </a:ln>
                <a:solidFill>
                  <a:schemeClr val="accent6">
                    <a:lumMod val="75000"/>
                  </a:schemeClr>
                </a:solidFill>
                <a:effectLst/>
                <a:uLnTx/>
                <a:uFillTx/>
                <a:latin typeface="+mj-ea"/>
                <a:ea typeface="+mj-ea"/>
                <a:cs typeface="+mj-ea"/>
              </a:rPr>
              <a:t>      请</a:t>
            </a:r>
            <a:r>
              <a:rPr lang="zh-CN" altLang="en-US" sz="4000">
                <a:latin typeface="+mj-ea"/>
                <a:ea typeface="+mj-ea"/>
                <a:cs typeface="+mj-ea"/>
                <a:sym typeface="+mn-ea"/>
              </a:rPr>
              <a:t>批评指正！！！</a:t>
            </a:r>
            <a:endParaRPr kumimoji="0" lang="zh-CN" altLang="en-US" sz="4000" b="0" i="0" u="none" strike="noStrike" kern="0" cap="none" spc="0" normalizeH="0" baseline="0" noProof="0" dirty="0">
              <a:ln>
                <a:noFill/>
              </a:ln>
              <a:solidFill>
                <a:schemeClr val="accent6">
                  <a:lumMod val="75000"/>
                </a:schemeClr>
              </a:solidFill>
              <a:effectLst/>
              <a:uLnTx/>
              <a:uFillTx/>
              <a:latin typeface="+mj-ea"/>
              <a:ea typeface="+mj-ea"/>
              <a:cs typeface="+mj-ea"/>
            </a:endParaRPr>
          </a:p>
        </p:txBody>
      </p:sp>
      <p:sp>
        <p:nvSpPr>
          <p:cNvPr id="4" name="矩形 3"/>
          <p:cNvSpPr/>
          <p:nvPr/>
        </p:nvSpPr>
        <p:spPr>
          <a:xfrm>
            <a:off x="3070225" y="4087813"/>
            <a:ext cx="3048000" cy="552450"/>
          </a:xfrm>
          <a:prstGeom prst="rect">
            <a:avLst/>
          </a:prstGeom>
        </p:spPr>
        <p:txBody>
          <a:bodyPr>
            <a:spAutoFit/>
          </a:bodyPr>
          <a:lstStyle/>
          <a:p>
            <a:pPr marL="0" marR="0" lvl="0" indent="0" algn="ctr" defTabSz="685800" rtl="0" eaLnBrk="1" fontAlgn="auto" latinLnBrk="0" hangingPunct="1">
              <a:lnSpc>
                <a:spcPct val="15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chemeClr val="accent6">
                  <a:lumMod val="75000"/>
                </a:scheme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KSO_WM_DIAGRAM_VIRTUALLY_FRAME" val="{&quot;height&quot;:122.35,&quot;left&quot;:367.37503937007875,&quot;top&quot;:190.37503937007872,&quot;width&quot;:319.37496062992125}"/>
</p:tagLst>
</file>

<file path=ppt/tags/tag2.xml><?xml version="1.0" encoding="utf-8"?>
<p:tagLst xmlns:p="http://schemas.openxmlformats.org/presentationml/2006/main">
  <p:tag name="KSO_WM_DIAGRAM_VIRTUALLY_FRAME" val="{&quot;height&quot;:122.35,&quot;left&quot;:367.37503937007875,&quot;top&quot;:190.37503937007872,&quot;width&quot;:319.37496062992125}"/>
</p:tagLst>
</file>

<file path=ppt/tags/tag3.xml><?xml version="1.0" encoding="utf-8"?>
<p:tagLst xmlns:p="http://schemas.openxmlformats.org/presentationml/2006/main">
  <p:tag name="KSO_WM_DIAGRAM_VIRTUALLY_FRAME" val="{&quot;height&quot;:122.35,&quot;left&quot;:367.37503937007875,&quot;top&quot;:190.37503937007872,&quot;width&quot;:319.37496062992125}"/>
</p:tagLst>
</file>

<file path=ppt/tags/tag4.xml><?xml version="1.0" encoding="utf-8"?>
<p:tagLst xmlns:p="http://schemas.openxmlformats.org/presentationml/2006/main">
  <p:tag name="KSO_WM_DIAGRAM_VIRTUALLY_FRAME" val="{&quot;height&quot;:122.35,&quot;left&quot;:367.37503937007875,&quot;top&quot;:190.37503937007872,&quot;width&quot;:319.37496062992125}"/>
</p:tagLst>
</file>

<file path=ppt/tags/tag5.xml><?xml version="1.0" encoding="utf-8"?>
<p:tagLst xmlns:p="http://schemas.openxmlformats.org/presentationml/2006/main">
  <p:tag name="KSO_WM_DIAGRAM_VIRTUALLY_FRAME" val="{&quot;height&quot;:122.35,&quot;left&quot;:367.37503937007875,&quot;top&quot;:190.37503937007872,&quot;width&quot;:319.37496062992125}"/>
</p:tagLst>
</file>

<file path=ppt/tags/tag6.xml><?xml version="1.0" encoding="utf-8"?>
<p:tagLst xmlns:p="http://schemas.openxmlformats.org/presentationml/2006/main">
  <p:tag name="KSO_WM_DIAGRAM_VIRTUALLY_FRAME" val="{&quot;height&quot;:122.35,&quot;left&quot;:367.37503937007875,&quot;top&quot;:190.37503937007872,&quot;width&quot;:319.37496062992125}"/>
</p:tagLst>
</file>

<file path=ppt/tags/tag7.xml><?xml version="1.0" encoding="utf-8"?>
<p:tagLst xmlns:p="http://schemas.openxmlformats.org/presentationml/2006/main">
  <p:tag name="KSO_WM_DIAGRAM_VIRTUALLY_FRAME" val="{&quot;height&quot;:122.35,&quot;left&quot;:367.37503937007875,&quot;top&quot;:190.37503937007872,&quot;width&quot;:319.37496062992125}"/>
</p:tagLst>
</file>

<file path=ppt/tags/tag8.xml><?xml version="1.0" encoding="utf-8"?>
<p:tagLst xmlns:p="http://schemas.openxmlformats.org/presentationml/2006/main">
  <p:tag name="KSO_WM_DIAGRAM_VIRTUALLY_FRAME" val="{&quot;height&quot;:122.35,&quot;left&quot;:367.37503937007875,&quot;top&quot;:190.37503937007872,&quot;width&quot;:319.37496062992125}"/>
</p:tagLst>
</file>

<file path=ppt/tags/tag9.xml><?xml version="1.0" encoding="utf-8"?>
<p:tagLst xmlns:p="http://schemas.openxmlformats.org/presentationml/2006/main">
  <p:tag name="KSO_WM_DIAGRAM_VIRTUALLY_FRAME" val="{&quot;height&quot;:122.35,&quot;left&quot;:367.37503937007875,&quot;top&quot;:190.37503937007872,&quot;width&quot;:319.37496062992125}"/>
</p:tagLst>
</file>

<file path=ppt/tags/tag10.xml><?xml version="1.0" encoding="utf-8"?>
<p:tagLst xmlns:p="http://schemas.openxmlformats.org/presentationml/2006/main">
  <p:tag name="KSO_WM_DIAGRAM_VIRTUALLY_FRAME" val="{&quot;height&quot;:122.35,&quot;left&quot;:367.37503937007875,&quot;top&quot;:190.37503937007872,&quot;width&quot;:319.37496062992125}"/>
</p:tagLst>
</file>

<file path=ppt/tags/tag11.xml><?xml version="1.0" encoding="utf-8"?>
<p:tagLst xmlns:p="http://schemas.openxmlformats.org/presentationml/2006/main">
  <p:tag name="KSO_WM_DIAGRAM_VIRTUALLY_FRAME" val="{&quot;height&quot;:122.35,&quot;left&quot;:367.37503937007875,&quot;top&quot;:190.37503937007872,&quot;width&quot;:319.37496062992125}"/>
</p:tagLst>
</file>

<file path=ppt/tags/tag12.xml><?xml version="1.0" encoding="utf-8"?>
<p:tagLst xmlns:p="http://schemas.openxmlformats.org/presentationml/2006/main">
  <p:tag name="KSO_WM_DIAGRAM_VIRTUALLY_FRAME" val="{&quot;height&quot;:122.35,&quot;left&quot;:367.37503937007875,&quot;top&quot;:190.37503937007872,&quot;width&quot;:319.37496062992125}"/>
</p:tagLst>
</file>

<file path=ppt/tags/tag13.xml><?xml version="1.0" encoding="utf-8"?>
<p:tagLst xmlns:p="http://schemas.openxmlformats.org/presentationml/2006/main">
  <p:tag name="KSO_WM_DIAGRAM_VIRTUALLY_FRAME" val="{&quot;height&quot;:122.35,&quot;left&quot;:367.37503937007875,&quot;top&quot;:190.37503937007872,&quot;width&quot;:319.37496062992125}"/>
</p:tagLst>
</file>

<file path=ppt/tags/tag14.xml><?xml version="1.0" encoding="utf-8"?>
<p:tagLst xmlns:p="http://schemas.openxmlformats.org/presentationml/2006/main">
  <p:tag name="KSO_WM_DIAGRAM_VIRTUALLY_FRAME" val="{&quot;height&quot;:122.35,&quot;left&quot;:367.37503937007875,&quot;top&quot;:190.37503937007872,&quot;width&quot;:319.37496062992125}"/>
</p:tagLst>
</file>

<file path=ppt/tags/tag15.xml><?xml version="1.0" encoding="utf-8"?>
<p:tagLst xmlns:p="http://schemas.openxmlformats.org/presentationml/2006/main">
  <p:tag name="KSO_WM_DIAGRAM_VIRTUALLY_FRAME" val="{&quot;height&quot;:122.35,&quot;left&quot;:367.37503937007875,&quot;top&quot;:190.37503937007872,&quot;width&quot;:319.37496062992125}"/>
</p:tagLst>
</file>

<file path=ppt/tags/tag16.xml><?xml version="1.0" encoding="utf-8"?>
<p:tagLst xmlns:p="http://schemas.openxmlformats.org/presentationml/2006/main">
  <p:tag name="KSO_WM_DIAGRAM_VIRTUALLY_FRAME" val="{&quot;height&quot;:122.35,&quot;left&quot;:367.37503937007875,&quot;top&quot;:190.37503937007872,&quot;width&quot;:319.37496062992125}"/>
</p:tagLst>
</file>

<file path=ppt/tags/tag17.xml><?xml version="1.0" encoding="utf-8"?>
<p:tagLst xmlns:p="http://schemas.openxmlformats.org/presentationml/2006/main">
  <p:tag name="KSO_WM_DIAGRAM_VIRTUALLY_FRAME" val="{&quot;height&quot;:122.35,&quot;left&quot;:367.37503937007875,&quot;top&quot;:190.37503937007872,&quot;width&quot;:319.37496062992125}"/>
</p:tagLst>
</file>

<file path=ppt/tags/tag18.xml><?xml version="1.0" encoding="utf-8"?>
<p:tagLst xmlns:p="http://schemas.openxmlformats.org/presentationml/2006/main">
  <p:tag name="KSO_WM_DIAGRAM_VIRTUALLY_FRAME" val="{&quot;height&quot;:122.35,&quot;left&quot;:367.37503937007875,&quot;top&quot;:190.37503937007872,&quot;width&quot;:319.37496062992125}"/>
</p:tagLst>
</file>

<file path=ppt/tags/tag19.xml><?xml version="1.0" encoding="utf-8"?>
<p:tagLst xmlns:p="http://schemas.openxmlformats.org/presentationml/2006/main">
  <p:tag name="KSO_WM_DIAGRAM_VIRTUALLY_FRAME" val="{&quot;height&quot;:147.37503937007872,&quot;left&quot;:75.12503937007874,&quot;top&quot;:208.25,&quot;width&quot;:520}"/>
</p:tagLst>
</file>

<file path=ppt/tags/tag20.xml><?xml version="1.0" encoding="utf-8"?>
<p:tagLst xmlns:p="http://schemas.openxmlformats.org/presentationml/2006/main">
  <p:tag name="KSO_WM_DIAGRAM_VIRTUALLY_FRAME" val="{&quot;height&quot;:214.1999701001261,&quot;left&quot;:75.12503937007872,&quot;top&quot;:208.25,&quot;width&quot;:520}"/>
</p:tagLst>
</file>

<file path=ppt/tags/tag21.xml><?xml version="1.0" encoding="utf-8"?>
<p:tagLst xmlns:p="http://schemas.openxmlformats.org/presentationml/2006/main">
  <p:tag name="KSO_WM_DIAGRAM_VIRTUALLY_FRAME" val="{&quot;height&quot;:214.1999701001261,&quot;left&quot;:75.12503937007872,&quot;top&quot;:208.25,&quot;width&quot;:520}"/>
</p:tagLst>
</file>

<file path=ppt/tags/tag22.xml><?xml version="1.0" encoding="utf-8"?>
<p:tagLst xmlns:p="http://schemas.openxmlformats.org/presentationml/2006/main">
  <p:tag name="KSO_WM_DIAGRAM_VIRTUALLY_FRAME" val="{&quot;height&quot;:147.37503937007872,&quot;left&quot;:75.12503937007874,&quot;top&quot;:208.25,&quot;width&quot;:520}"/>
</p:tagLst>
</file>

<file path=ppt/tags/tag23.xml><?xml version="1.0" encoding="utf-8"?>
<p:tagLst xmlns:p="http://schemas.openxmlformats.org/presentationml/2006/main">
  <p:tag name="KSO_WM_DIAGRAM_VIRTUALLY_FRAME" val="{&quot;height&quot;:214.1999701001261,&quot;left&quot;:75.12503937007872,&quot;top&quot;:208.25,&quot;width&quot;:520}"/>
</p:tagLst>
</file>

<file path=ppt/tags/tag24.xml><?xml version="1.0" encoding="utf-8"?>
<p:tagLst xmlns:p="http://schemas.openxmlformats.org/presentationml/2006/main">
  <p:tag name="KSO_WM_DIAGRAM_VIRTUALLY_FRAME" val="{&quot;height&quot;:214.1999701001261,&quot;left&quot;:75.12503937007872,&quot;top&quot;:208.25,&quot;width&quot;:520}"/>
</p:tagLst>
</file>

<file path=ppt/tags/tag25.xml><?xml version="1.0" encoding="utf-8"?>
<p:tagLst xmlns:p="http://schemas.openxmlformats.org/presentationml/2006/main">
  <p:tag name="KSO_WM_DIAGRAM_VIRTUALLY_FRAME" val="{&quot;height&quot;:247.27500610351564,&quot;left&quot;:20,&quot;top&quot;:12.05,&quot;width&quot;:704.2}"/>
</p:tagLst>
</file>

<file path=ppt/tags/tag26.xml><?xml version="1.0" encoding="utf-8"?>
<p:tagLst xmlns:p="http://schemas.openxmlformats.org/presentationml/2006/main">
  <p:tag name="KSO_WM_DIAGRAM_VIRTUALLY_FRAME" val="{&quot;height&quot;:281.85,&quot;left&quot;:20,&quot;top&quot;:12.05,&quot;width&quot;:704.2}"/>
</p:tagLst>
</file>

<file path=ppt/tags/tag27.xml><?xml version="1.0" encoding="utf-8"?>
<p:tagLst xmlns:p="http://schemas.openxmlformats.org/presentationml/2006/main">
  <p:tag name="KSO_WM_DIAGRAM_VIRTUALLY_FRAME" val="{&quot;height&quot;:281.85,&quot;left&quot;:20,&quot;top&quot;:12.05,&quot;width&quot;:704.2}"/>
</p:tagLst>
</file>

<file path=ppt/tags/tag28.xml><?xml version="1.0" encoding="utf-8"?>
<p:tagLst xmlns:p="http://schemas.openxmlformats.org/presentationml/2006/main">
  <p:tag name="COMMONDATA" val="eyJoZGlkIjoiZTM3ZTEzMDU0ZmM5Y2U4ZjI3YWYxNTZlMjlkNmIyMjQifQ=="/>
</p:tagLst>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自定义 1">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自定义 1">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2108</Words>
  <Application>WPS 演示</Application>
  <PresentationFormat>全屏显示(16:9)</PresentationFormat>
  <Paragraphs>178</Paragraphs>
  <Slides>20</Slides>
  <Notes>11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20</vt:i4>
      </vt:variant>
    </vt:vector>
  </HeadingPairs>
  <TitlesOfParts>
    <vt:vector size="35" baseType="lpstr">
      <vt:lpstr>Arial</vt:lpstr>
      <vt:lpstr>宋体</vt:lpstr>
      <vt:lpstr>Wingdings</vt:lpstr>
      <vt:lpstr>微软雅黑</vt:lpstr>
      <vt:lpstr>Nexa Light</vt:lpstr>
      <vt:lpstr>Segoe Print</vt:lpstr>
      <vt:lpstr>Calibri</vt:lpstr>
      <vt:lpstr>华文中宋</vt:lpstr>
      <vt:lpstr>Times New Roman</vt:lpstr>
      <vt:lpstr>-apple-system</vt:lpstr>
      <vt:lpstr>Arial Unicode MS</vt:lpstr>
      <vt:lpstr>Impact</vt:lpstr>
      <vt:lpstr>Arial</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iTianKong.com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dreamsummit</dc:creator>
  <cp:lastModifiedBy>梁喆</cp:lastModifiedBy>
  <cp:revision>202</cp:revision>
  <dcterms:created xsi:type="dcterms:W3CDTF">2015-04-27T05:53:00Z</dcterms:created>
  <dcterms:modified xsi:type="dcterms:W3CDTF">2026-04-06T14:06:28Z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F708F68261C5487D8C70798ABAFBC113_13</vt:lpwstr>
  </property>
</Properties>
</file>