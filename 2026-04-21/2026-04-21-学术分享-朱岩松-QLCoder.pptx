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9" r:id="rId9"/>
    <p:sldId id="270" r:id="rId10"/>
    <p:sldId id="271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4" r:id="rId22"/>
    <p:sldId id="286" r:id="rId23"/>
    <p:sldId id="285" r:id="rId24"/>
    <p:sldId id="268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大家好，今天我分享的是一篇发表在</a:t>
            </a:r>
            <a:r>
              <a:rPr lang="en-US" altLang="zh-CN"/>
              <a:t>2026</a:t>
            </a:r>
            <a:r>
              <a:rPr lang="zh-CN" altLang="en-US"/>
              <a:t>年人工智能顶会</a:t>
            </a:r>
            <a:r>
              <a:rPr lang="en-US" altLang="zh-CN"/>
              <a:t>ICLR</a:t>
            </a:r>
            <a:r>
              <a:rPr lang="zh-CN" altLang="en-US"/>
              <a:t>上的论文，</a:t>
            </a:r>
            <a:r>
              <a:rPr lang="en-US" altLang="zh-CN" dirty="0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QLCoder：</a:t>
            </a:r>
            <a:r>
              <a:rPr lang="zh-CN" altLang="en-US" dirty="0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一种用于安全漏洞静态分析的查询合成器。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本次分享共分为如下</a:t>
            </a:r>
            <a:r>
              <a:rPr lang="zh-CN" altLang="en-US"/>
              <a:t>四部分。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下面先看第一部分，问题背景与任务定义。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B7E0-8347-483F-AA51-E52BB9D80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静态分析一直是漏洞检测里非常重要的一类方法，像 </a:t>
            </a:r>
            <a:r>
              <a:rPr lang="en-US" altLang="zh-CN"/>
              <a:t>CodeQL、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Infer</a:t>
            </a:r>
            <a:r>
              <a:rPr lang="zh-CN" altLang="en-US"/>
              <a:t>这些工具，本身能力都很强。真正限制它们落地效率的，很多时候不是分析框架不够强，而是查询规则扩展得太慢。并且，</a:t>
            </a:r>
            <a:r>
              <a:rPr lang="en-US" altLang="zh-CN"/>
              <a:t>CVE </a:t>
            </a:r>
            <a:r>
              <a:rPr lang="zh-CN" altLang="en-US"/>
              <a:t>数量近几年增长非常快，2022 年是 25059 个，2023 年是 28961 个，2024 年已经超过了 40000 个。漏洞增长速度这么快，想靠专家手工把每一类漏洞都翻译成高质量 </a:t>
            </a:r>
            <a:r>
              <a:rPr lang="en-US" altLang="zh-CN"/>
              <a:t>CodeQL </a:t>
            </a:r>
            <a:r>
              <a:rPr lang="zh-CN" altLang="en-US"/>
              <a:t>查询，成本是非常高的。</a:t>
            </a:r>
            <a:endParaRPr lang="zh-CN" altLang="en-US"/>
          </a:p>
          <a:p>
            <a:r>
              <a:rPr lang="zh-CN" altLang="en-US"/>
              <a:t>更麻烦的是，</a:t>
            </a:r>
            <a:r>
              <a:rPr lang="en-US" altLang="zh-CN"/>
              <a:t>CodeQL </a:t>
            </a:r>
            <a:r>
              <a:rPr lang="zh-CN" altLang="en-US"/>
              <a:t>这类查询并不是普通脚本。写一个真正有效的查询，往往要同时理解漏洞原理、程序分析、</a:t>
            </a:r>
            <a:r>
              <a:rPr lang="en-US" altLang="zh-CN"/>
              <a:t>AST</a:t>
            </a:r>
            <a:r>
              <a:rPr lang="zh-CN" altLang="en-US"/>
              <a:t>导航、数据流传播以及特定 </a:t>
            </a:r>
            <a:r>
              <a:rPr lang="en-US" altLang="zh-CN"/>
              <a:t>DSL </a:t>
            </a:r>
            <a:r>
              <a:rPr lang="zh-CN" altLang="en-US"/>
              <a:t>语法。也就是说，它要求的是安全知识、程序分析知识和查询语言经验的交叉。</a:t>
            </a:r>
            <a:endParaRPr lang="zh-CN" altLang="en-US"/>
          </a:p>
          <a:p>
            <a:r>
              <a:rPr lang="zh-CN" altLang="en-US"/>
              <a:t>这就导致了一个核心矛盾：漏洞越来越多，但高质量查询仍然高度依赖人工。查询一旦写偏，要么误报很多，要么直接漏掉真正的漏洞。</a:t>
            </a:r>
            <a:r>
              <a:rPr lang="zh-CN" altLang="en-US"/>
              <a:t>该研究就是在这个背景下提出，要不要直接利用现成的 </a:t>
            </a:r>
            <a:r>
              <a:rPr lang="en-US" altLang="zh-CN"/>
              <a:t>CVE </a:t>
            </a:r>
            <a:r>
              <a:rPr lang="zh-CN" altLang="en-US"/>
              <a:t>信息，自动把漏洞知识转成查询规则。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该研究的目标，不是生成一段“看起来像 </a:t>
            </a:r>
            <a:r>
              <a:rPr lang="en-US" altLang="zh-CN"/>
              <a:t>CodeQL”</a:t>
            </a:r>
            <a:r>
              <a:rPr lang="zh-CN" altLang="en-US"/>
              <a:t>的代码，而是把 </a:t>
            </a:r>
            <a:r>
              <a:rPr lang="en-US" altLang="zh-CN"/>
              <a:t>CVE </a:t>
            </a:r>
            <a:r>
              <a:rPr lang="zh-CN" altLang="en-US"/>
              <a:t>元数据直接转成可执行、可验证、可复用的 </a:t>
            </a:r>
            <a:r>
              <a:rPr lang="en-US" altLang="zh-CN"/>
              <a:t>CodeQL </a:t>
            </a:r>
            <a:r>
              <a:rPr lang="zh-CN" altLang="en-US"/>
              <a:t>查询。这个目标可以结合论文里的图</a:t>
            </a:r>
            <a:r>
              <a:rPr lang="en-US" altLang="zh-CN"/>
              <a:t>1</a:t>
            </a:r>
            <a:r>
              <a:rPr lang="zh-CN" altLang="en-US"/>
              <a:t>来理解。</a:t>
            </a:r>
            <a:endParaRPr lang="zh-CN" altLang="en-US"/>
          </a:p>
          <a:p>
            <a:r>
              <a:rPr lang="zh-CN" altLang="en-US"/>
              <a:t>图</a:t>
            </a:r>
            <a:r>
              <a:rPr lang="en-US" altLang="zh-CN"/>
              <a:t>1</a:t>
            </a:r>
            <a:r>
              <a:rPr lang="zh-CN" altLang="en-US"/>
              <a:t>的结构很清楚：左边输入是 </a:t>
            </a:r>
            <a:r>
              <a:rPr lang="en-US" altLang="zh-CN"/>
              <a:t>CVE </a:t>
            </a:r>
            <a:r>
              <a:rPr lang="zh-CN" altLang="en-US"/>
              <a:t>信息，中间是 </a:t>
            </a:r>
            <a:r>
              <a:rPr lang="en-US" altLang="zh-CN"/>
              <a:t>QLCoder，</a:t>
            </a:r>
            <a:r>
              <a:rPr lang="zh-CN" altLang="en-US"/>
              <a:t>右边输出是一条 </a:t>
            </a:r>
            <a:r>
              <a:rPr lang="en-US" altLang="zh-CN"/>
              <a:t>CodeQL </a:t>
            </a:r>
            <a:r>
              <a:rPr lang="zh-CN" altLang="en-US"/>
              <a:t>查询；再往右延伸，就是这条查询后续可以承担的三类任务。第一类是回归测试；第二类是变体分析；第三类是是补丁验证。</a:t>
            </a:r>
            <a:endParaRPr lang="zh-CN" altLang="en-US"/>
          </a:p>
          <a:p>
            <a:r>
              <a:rPr lang="zh-CN" altLang="en-US"/>
              <a:t>也就是说，在</a:t>
            </a:r>
            <a:r>
              <a:rPr lang="zh-CN" altLang="en-US"/>
              <a:t>该研究里，一条漏洞报告不再只是“描述这个漏洞是什么”，而是能继续转化成一个可以长期复用的检测资产。它既可以回到原仓库里做持续检测，也可以扩展到其他仓库里找相似漏洞，还可以专门拿来判断补丁是否真的切断了危险路径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那么什么样的查询才算成功？</a:t>
            </a:r>
            <a:r>
              <a:rPr lang="zh-CN" altLang="en-US"/>
              <a:t>该研究把这个问题形式化定义为漏洞查询合成。它的输入包括三部分：漏洞版本、修复版本，以及 </a:t>
            </a:r>
            <a:r>
              <a:rPr lang="en-US" altLang="zh-CN"/>
              <a:t>CVE </a:t>
            </a:r>
            <a:r>
              <a:rPr lang="zh-CN" altLang="en-US"/>
              <a:t>的文本描述。</a:t>
            </a:r>
            <a:endParaRPr lang="zh-CN" altLang="en-US"/>
          </a:p>
          <a:p>
            <a:r>
              <a:rPr lang="zh-CN" altLang="en-US"/>
              <a:t>在这个定义里，查询 </a:t>
            </a:r>
            <a:r>
              <a:rPr lang="en-US" altLang="zh-CN"/>
              <a:t>Q </a:t>
            </a:r>
            <a:r>
              <a:rPr lang="zh-CN" altLang="en-US"/>
              <a:t>不是随便返回一组结果，而是在程序的数据流图上返回一组路径。真正关键的是，</a:t>
            </a:r>
            <a:r>
              <a:rPr lang="zh-CN" altLang="en-US"/>
              <a:t>该研究对“成功查询”给了一个非常严格的标准，一共三条。</a:t>
            </a:r>
            <a:endParaRPr lang="zh-CN" altLang="en-US"/>
          </a:p>
          <a:p>
            <a:r>
              <a:rPr lang="zh-CN" altLang="en-US"/>
              <a:t>第一条是查询本身必须语法正确、能够在当前 </a:t>
            </a:r>
            <a:r>
              <a:rPr lang="en-US" altLang="zh-CN"/>
              <a:t>CodeQL </a:t>
            </a:r>
            <a:r>
              <a:rPr lang="zh-CN" altLang="en-US"/>
              <a:t>环境里编译执行。</a:t>
            </a:r>
            <a:endParaRPr lang="zh-CN" altLang="en-US"/>
          </a:p>
          <a:p>
            <a:r>
              <a:rPr lang="zh-CN" altLang="en-US"/>
              <a:t>第二条是在漏洞版本中，查询至少要命中一条穿过补丁相关区域的路径。换句话说，它不能只是报到一个模糊的风险点，而是要真的抓住和漏洞修复相关的那条行为链。</a:t>
            </a:r>
            <a:endParaRPr lang="zh-CN" altLang="en-US"/>
          </a:p>
          <a:p>
            <a:r>
              <a:rPr lang="zh-CN" altLang="en-US"/>
              <a:t>第三条是到了修复版本中，不应该继续把补丁位置识别成同类漏洞。</a:t>
            </a:r>
            <a:endParaRPr lang="zh-CN" altLang="en-US"/>
          </a:p>
          <a:p>
            <a:r>
              <a:rPr lang="zh-CN" altLang="en-US"/>
              <a:t>这一点非常重要，因为它说明本研究追求的不是“能报结果”就行，而是要能区分修复前后行为差异。所以它生成的查询，本质上更像是一个可验证的漏洞语义表达，而不是一个宽泛的漏洞模板。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为了说明这个任务到底难在哪里，</a:t>
            </a:r>
            <a:r>
              <a:rPr lang="zh-CN" altLang="en-US"/>
              <a:t>该研究专门拿 </a:t>
            </a:r>
            <a:r>
              <a:rPr lang="en-US" altLang="zh-CN"/>
              <a:t>CVE-2025-27136 </a:t>
            </a:r>
            <a:r>
              <a:rPr lang="zh-CN" altLang="en-US"/>
              <a:t>做了一个 </a:t>
            </a:r>
            <a:r>
              <a:rPr lang="en-US" altLang="zh-CN"/>
              <a:t>XXE </a:t>
            </a:r>
            <a:r>
              <a:rPr lang="zh-CN" altLang="en-US"/>
              <a:t>漏洞示例。</a:t>
            </a:r>
            <a:endParaRPr lang="zh-CN" altLang="en-US"/>
          </a:p>
          <a:p>
            <a:r>
              <a:rPr lang="zh-CN" altLang="en-US"/>
              <a:t>这个漏洞的核心问题是：</a:t>
            </a:r>
            <a:r>
              <a:rPr lang="en-US" altLang="zh-CN"/>
              <a:t>HTTP </a:t>
            </a:r>
            <a:r>
              <a:rPr lang="zh-CN" altLang="en-US"/>
              <a:t>请求体被交给 </a:t>
            </a:r>
            <a:r>
              <a:rPr lang="en-US" altLang="zh-CN"/>
              <a:t>XmlMapper.readValue </a:t>
            </a:r>
            <a:r>
              <a:rPr lang="zh-CN" altLang="en-US"/>
              <a:t>去解析 </a:t>
            </a:r>
            <a:r>
              <a:rPr lang="en-US" altLang="zh-CN"/>
              <a:t>XML，</a:t>
            </a:r>
            <a:r>
              <a:rPr lang="zh-CN" altLang="en-US"/>
              <a:t>但是解析前没有关闭 </a:t>
            </a:r>
            <a:r>
              <a:rPr lang="en-US" altLang="zh-CN"/>
              <a:t>DTD </a:t>
            </a:r>
            <a:r>
              <a:rPr lang="zh-CN" altLang="en-US"/>
              <a:t>支持。这样一来，攻击者就可能通过外部实体注入触发 </a:t>
            </a:r>
            <a:r>
              <a:rPr lang="en-US" altLang="zh-CN"/>
              <a:t>XXE </a:t>
            </a:r>
            <a:r>
              <a:rPr lang="zh-CN" altLang="en-US"/>
              <a:t>相关风险。对应的补丁也不是把解析逻辑删掉，而是给底层 </a:t>
            </a:r>
            <a:r>
              <a:rPr lang="en-US" altLang="zh-CN"/>
              <a:t>XMLInputFactory </a:t>
            </a:r>
            <a:r>
              <a:rPr lang="zh-CN" altLang="en-US"/>
              <a:t>增加了一个配置，把 </a:t>
            </a:r>
            <a:r>
              <a:rPr lang="en-US" altLang="zh-CN"/>
              <a:t>SUPPORT_DTD </a:t>
            </a:r>
            <a:r>
              <a:rPr lang="zh-CN" altLang="en-US"/>
              <a:t>设为 </a:t>
            </a:r>
            <a:r>
              <a:rPr lang="en-US" altLang="zh-CN"/>
              <a:t>false。</a:t>
            </a:r>
            <a:endParaRPr lang="en-US" altLang="zh-CN"/>
          </a:p>
          <a:p>
            <a:r>
              <a:rPr lang="zh-CN" altLang="en-US"/>
              <a:t>这就意味着，系统要自动生成一个有效查询，至少得恢复四类关键语义。</a:t>
            </a:r>
            <a:endParaRPr lang="zh-CN" altLang="en-US"/>
          </a:p>
          <a:p>
            <a:r>
              <a:rPr lang="zh-CN" altLang="en-US"/>
              <a:t>第一类是 </a:t>
            </a:r>
            <a:r>
              <a:rPr lang="en-US" altLang="zh-CN"/>
              <a:t>Source，</a:t>
            </a:r>
            <a:r>
              <a:rPr lang="zh-CN" altLang="en-US"/>
              <a:t>也就是不可信输入从哪里进入程序，比如这里的 </a:t>
            </a:r>
            <a:r>
              <a:rPr lang="en-US" altLang="zh-CN"/>
              <a:t>HTTP </a:t>
            </a:r>
            <a:r>
              <a:rPr lang="zh-CN" altLang="en-US"/>
              <a:t>请求体。</a:t>
            </a:r>
            <a:endParaRPr lang="zh-CN" altLang="en-US"/>
          </a:p>
          <a:p>
            <a:r>
              <a:rPr lang="zh-CN" altLang="en-US"/>
              <a:t>第二类是 </a:t>
            </a:r>
            <a:r>
              <a:rPr lang="en-US" altLang="zh-CN"/>
              <a:t>Sink，</a:t>
            </a:r>
            <a:r>
              <a:rPr lang="zh-CN" altLang="en-US"/>
              <a:t>也就是漏洞真正被触发的位置，比如这里的 </a:t>
            </a:r>
            <a:r>
              <a:rPr lang="en-US" altLang="zh-CN"/>
              <a:t>XmlMapper.readValue。</a:t>
            </a:r>
            <a:endParaRPr lang="en-US" altLang="zh-CN"/>
          </a:p>
          <a:p>
            <a:r>
              <a:rPr lang="zh-CN" altLang="en-US"/>
              <a:t>第三类是 </a:t>
            </a:r>
            <a:r>
              <a:rPr lang="en-US" altLang="zh-CN"/>
              <a:t>Additional taint steps，</a:t>
            </a:r>
            <a:r>
              <a:rPr lang="zh-CN" altLang="en-US"/>
              <a:t>因为输入不会直接一步走到 </a:t>
            </a:r>
            <a:r>
              <a:rPr lang="en-US" altLang="zh-CN"/>
              <a:t>sink，</a:t>
            </a:r>
            <a:r>
              <a:rPr lang="zh-CN" altLang="en-US"/>
              <a:t>中间还会经过对象传递、注册、获取、封装等跨组件传播。</a:t>
            </a:r>
            <a:endParaRPr lang="zh-CN" altLang="en-US"/>
          </a:p>
          <a:p>
            <a:r>
              <a:rPr lang="zh-CN" altLang="en-US"/>
              <a:t>第四类是 </a:t>
            </a:r>
            <a:r>
              <a:rPr lang="en-US" altLang="zh-CN"/>
              <a:t>Sanitizer，</a:t>
            </a:r>
            <a:r>
              <a:rPr lang="zh-CN" altLang="en-US"/>
              <a:t>也就是补丁中新增加的安全约束，这里就是关闭 </a:t>
            </a:r>
            <a:r>
              <a:rPr lang="en-US" altLang="zh-CN"/>
              <a:t>DTD </a:t>
            </a:r>
            <a:r>
              <a:rPr lang="zh-CN" altLang="en-US"/>
              <a:t>支持。</a:t>
            </a:r>
            <a:endParaRPr lang="zh-CN" altLang="en-US"/>
          </a:p>
          <a:p>
            <a:r>
              <a:rPr lang="zh-CN" altLang="en-US"/>
              <a:t>所以这里的难点不是识别一个危险 </a:t>
            </a:r>
            <a:r>
              <a:rPr lang="en-US" altLang="zh-CN"/>
              <a:t>API，</a:t>
            </a:r>
            <a:r>
              <a:rPr lang="zh-CN" altLang="en-US"/>
              <a:t>而是要把整条漏洞路径，包括修复条件，一起恢复出来。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这一页是论文里很关键的图</a:t>
            </a:r>
            <a:r>
              <a:rPr lang="en-US" altLang="zh-CN"/>
              <a:t>2，</a:t>
            </a:r>
            <a:r>
              <a:rPr lang="zh-CN" altLang="en-US"/>
              <a:t>这张图其实把</a:t>
            </a:r>
            <a:r>
              <a:rPr lang="zh-CN" altLang="en-US"/>
              <a:t>该研究要解决的问题画得非常清楚。</a:t>
            </a:r>
            <a:endParaRPr lang="zh-CN" altLang="en-US"/>
          </a:p>
          <a:p>
            <a:r>
              <a:rPr lang="zh-CN" altLang="en-US"/>
              <a:t>先看左</a:t>
            </a:r>
            <a:r>
              <a:rPr lang="zh-CN" altLang="en-US"/>
              <a:t>侧这部分，这里展示的是漏洞代码片段和补丁片段。图里可以看到，请求体先进入程序，后面流到了 </a:t>
            </a:r>
            <a:r>
              <a:rPr lang="en-US" altLang="zh-CN"/>
              <a:t>XmlMapper.readValue </a:t>
            </a:r>
            <a:r>
              <a:rPr lang="zh-CN" altLang="en-US"/>
              <a:t>这个 </a:t>
            </a:r>
            <a:r>
              <a:rPr lang="en-US" altLang="zh-CN"/>
              <a:t>XML </a:t>
            </a:r>
            <a:r>
              <a:rPr lang="zh-CN" altLang="en-US"/>
              <a:t>解析位置；补丁则是在 </a:t>
            </a:r>
            <a:r>
              <a:rPr lang="en-US" altLang="zh-CN"/>
              <a:t>LocalS3.java </a:t>
            </a:r>
            <a:r>
              <a:rPr lang="zh-CN" altLang="en-US"/>
              <a:t>里，对 </a:t>
            </a:r>
            <a:r>
              <a:rPr lang="en-US" altLang="zh-CN"/>
              <a:t>XMLInputFactory </a:t>
            </a:r>
            <a:r>
              <a:rPr lang="zh-CN" altLang="en-US"/>
              <a:t>新增了一句 </a:t>
            </a:r>
            <a:r>
              <a:rPr lang="en-US" altLang="zh-CN"/>
              <a:t>input.setProperty(SUPPORT_DTD, false)。</a:t>
            </a:r>
            <a:r>
              <a:rPr lang="zh-CN" altLang="en-US"/>
              <a:t>这说明修复不是删除 </a:t>
            </a:r>
            <a:r>
              <a:rPr lang="en-US" altLang="zh-CN"/>
              <a:t>sink，</a:t>
            </a:r>
            <a:r>
              <a:rPr lang="zh-CN" altLang="en-US"/>
              <a:t>而是增加了一个 </a:t>
            </a:r>
            <a:r>
              <a:rPr lang="en-US" altLang="zh-CN"/>
              <a:t>sanitizer。</a:t>
            </a:r>
            <a:endParaRPr lang="en-US" altLang="zh-CN"/>
          </a:p>
          <a:p>
            <a:r>
              <a:rPr lang="zh-CN" altLang="en-US"/>
              <a:t>再看右侧部分，这里分块展示了合成出来的几个查询组件：有 </a:t>
            </a:r>
            <a:r>
              <a:rPr lang="en-US" altLang="zh-CN"/>
              <a:t>source query，</a:t>
            </a:r>
            <a:r>
              <a:rPr lang="zh-CN" altLang="en-US"/>
              <a:t>有 </a:t>
            </a:r>
            <a:r>
              <a:rPr lang="en-US" altLang="zh-CN"/>
              <a:t>sink query，</a:t>
            </a:r>
            <a:r>
              <a:rPr lang="zh-CN" altLang="en-US"/>
              <a:t>有 </a:t>
            </a:r>
            <a:r>
              <a:rPr lang="en-US" altLang="zh-CN"/>
              <a:t>sanitizer query，</a:t>
            </a:r>
            <a:r>
              <a:rPr lang="zh-CN" altLang="en-US"/>
              <a:t>还有 </a:t>
            </a:r>
            <a:r>
              <a:rPr lang="en-US" altLang="zh-CN"/>
              <a:t>taint steps</a:t>
            </a:r>
            <a:r>
              <a:rPr lang="zh-CN" altLang="en-US"/>
              <a:t>。比如 </a:t>
            </a:r>
            <a:r>
              <a:rPr lang="en-US" altLang="zh-CN"/>
              <a:t>sanitizer query </a:t>
            </a:r>
            <a:r>
              <a:rPr lang="zh-CN" altLang="en-US"/>
              <a:t>不是简单匹配一个字符串，而是要识别 </a:t>
            </a:r>
            <a:r>
              <a:rPr lang="en-US" altLang="zh-CN"/>
              <a:t>setProperty </a:t>
            </a:r>
            <a:r>
              <a:rPr lang="zh-CN" altLang="en-US"/>
              <a:t>调用、参数位置，以及参数对应的字段语义；</a:t>
            </a:r>
            <a:r>
              <a:rPr lang="en-US" altLang="zh-CN"/>
              <a:t>taint steps </a:t>
            </a:r>
            <a:r>
              <a:rPr lang="zh-CN" altLang="en-US"/>
              <a:t>也不是默认就有的，而是系统根据代码结构补出来的传播谓词，用来把服务注册、工厂对象获取这些跨组件流动接起来。</a:t>
            </a:r>
            <a:endParaRPr lang="zh-CN" altLang="en-US"/>
          </a:p>
          <a:p>
            <a:r>
              <a:rPr lang="zh-CN" altLang="en-US"/>
              <a:t>最后看下面这部分，这一</a:t>
            </a:r>
            <a:r>
              <a:rPr lang="zh-CN" altLang="en-US"/>
              <a:t>部分就是最终整合后的 </a:t>
            </a:r>
            <a:r>
              <a:rPr lang="en-US" altLang="zh-CN"/>
              <a:t>CodeQL path query。</a:t>
            </a:r>
            <a:r>
              <a:rPr lang="zh-CN" altLang="en-US"/>
              <a:t>它把前面的 </a:t>
            </a:r>
            <a:r>
              <a:rPr lang="en-US" altLang="zh-CN"/>
              <a:t>source、sink、sanitizer </a:t>
            </a:r>
            <a:r>
              <a:rPr lang="zh-CN" altLang="en-US"/>
              <a:t>和 </a:t>
            </a:r>
            <a:r>
              <a:rPr lang="en-US" altLang="zh-CN"/>
              <a:t>taint step </a:t>
            </a:r>
            <a:r>
              <a:rPr lang="zh-CN" altLang="en-US"/>
              <a:t>全部组合起来，形成一个全局污点跟踪查询。</a:t>
            </a:r>
            <a:endParaRPr lang="zh-CN" altLang="en-US"/>
          </a:p>
          <a:p>
            <a:r>
              <a:rPr lang="zh-CN" altLang="en-US"/>
              <a:t>该研究不是只靠大模型去猜一个查询模板，而是要恢复一个完整的漏洞语义结构，最后把它拼成一个真正能在漏洞版本命中、又能在修复版本沉默的路径查询。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接下来进入第二部分，也就是方法框架与系统设计。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B7E0-8347-483F-AA51-E52BB9D80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QLCoder </a:t>
            </a:r>
            <a:r>
              <a:rPr lang="zh-CN" altLang="en-US"/>
              <a:t>最核心的思想，不是让大模型一次性把查询写完，而是让它在一个执行反馈驱动的闭环里不断修正。</a:t>
            </a:r>
            <a:endParaRPr lang="zh-CN" altLang="en-US"/>
          </a:p>
          <a:p>
            <a:r>
              <a:rPr lang="zh-CN" altLang="en-US"/>
              <a:t>结合论文里的图</a:t>
            </a:r>
            <a:r>
              <a:rPr lang="en-US" altLang="zh-CN"/>
              <a:t>3</a:t>
            </a:r>
            <a:r>
              <a:rPr lang="zh-CN" altLang="en-US"/>
              <a:t>来看，这个框架可以分成两侧。左边是基于大语言模型的查询生成端；右边是基于 </a:t>
            </a:r>
            <a:r>
              <a:rPr lang="en-US" altLang="zh-CN"/>
              <a:t>CodeQL </a:t>
            </a:r>
            <a:r>
              <a:rPr lang="zh-CN" altLang="en-US"/>
              <a:t>的验证端。生成端先给出一个候选查询，然后验证端会在漏洞版本和修复版本上真实编译和执行这个查询，再把结果反馈回来。</a:t>
            </a:r>
            <a:endParaRPr lang="zh-CN" altLang="en-US"/>
          </a:p>
          <a:p>
            <a:r>
              <a:rPr lang="zh-CN" altLang="en-US"/>
              <a:t>这个反馈不是一句模糊的“对了”或者“错了”，而是结构化的，里面会包含编译结果、漏洞版和修复版的命中数量、覆盖情况、哪些目标方法命中了、哪些没命中、修复版是否还有误报等等。模型就根据这些信息，继续修改下一轮查询。</a:t>
            </a:r>
            <a:endParaRPr lang="zh-CN" altLang="en-US"/>
          </a:p>
          <a:p>
            <a:r>
              <a:rPr lang="zh-CN" altLang="en-US"/>
              <a:t>所以从本质上看，</a:t>
            </a:r>
            <a:r>
              <a:rPr lang="zh-CN" altLang="en-US"/>
              <a:t>该研究做的不是自由代码生成，而是一个带外部验证器的搜索过程。它把“写查询”变成了“围绕 </a:t>
            </a:r>
            <a:r>
              <a:rPr lang="en-US" altLang="zh-CN"/>
              <a:t>success </a:t>
            </a:r>
            <a:r>
              <a:rPr lang="zh-CN" altLang="en-US"/>
              <a:t>条件不断收敛”的过程，这也是它能比单轮生成更稳定的关键。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如果把系统进一步拆开来看，它实际上是一个双层循环。</a:t>
            </a:r>
            <a:endParaRPr lang="zh-CN" altLang="en-US"/>
          </a:p>
          <a:p>
            <a:r>
              <a:rPr lang="zh-CN" altLang="en-US"/>
              <a:t>外层循环比较容易理解：先生成候选查询 </a:t>
            </a:r>
            <a:r>
              <a:rPr lang="en-US" altLang="zh-CN"/>
              <a:t>Qi</a:t>
            </a:r>
            <a:r>
              <a:rPr lang="zh-CN" altLang="en-US"/>
              <a:t>，再交给验证器执行。如果满足前面说的 </a:t>
            </a:r>
            <a:r>
              <a:rPr lang="en-US" altLang="zh-CN"/>
              <a:t>success </a:t>
            </a:r>
            <a:r>
              <a:rPr lang="zh-CN" altLang="en-US"/>
              <a:t>条件，就停止并输出；如果不满足，就根据反馈继续生成下一轮 </a:t>
            </a:r>
            <a:r>
              <a:rPr lang="en-US" altLang="zh-CN"/>
              <a:t>Qi+1​</a:t>
            </a:r>
            <a:r>
              <a:rPr lang="zh-CN" altLang="en-US"/>
              <a:t>。论文里把外层迭代上限设成了 10 轮。</a:t>
            </a:r>
            <a:endParaRPr lang="zh-CN" altLang="en-US"/>
          </a:p>
          <a:p>
            <a:r>
              <a:rPr lang="zh-CN" altLang="en-US"/>
              <a:t>内层循环发生在单轮生成过程中。模型并不是接到任务后立刻输出一个完整查询，而是可以在这一轮里多次调用工具，去查文档、查定义、查 </a:t>
            </a:r>
            <a:r>
              <a:rPr lang="en-US" altLang="zh-CN"/>
              <a:t>AST </a:t>
            </a:r>
            <a:r>
              <a:rPr lang="zh-CN" altLang="en-US"/>
              <a:t>片段、查示例查询，然后逐步拼出候选查询。论文里给的上限是单轮最多 50 次工具交互。</a:t>
            </a:r>
            <a:endParaRPr lang="zh-CN" altLang="en-US"/>
          </a:p>
          <a:p>
            <a:r>
              <a:rPr lang="zh-CN" altLang="en-US"/>
              <a:t>配合图</a:t>
            </a:r>
            <a:r>
              <a:rPr lang="en-US" altLang="zh-CN"/>
              <a:t>4</a:t>
            </a:r>
            <a:r>
              <a:rPr lang="zh-CN" altLang="en-US"/>
              <a:t>来理解，这个过程会更直观。图</a:t>
            </a:r>
            <a:r>
              <a:rPr lang="en-US" altLang="zh-CN"/>
              <a:t>4 </a:t>
            </a:r>
            <a:r>
              <a:rPr lang="zh-CN" altLang="en-US"/>
              <a:t>展示的是一次具体的对话轨迹：模型先去检索和 </a:t>
            </a:r>
            <a:r>
              <a:rPr lang="en-US" altLang="zh-CN"/>
              <a:t>XML </a:t>
            </a:r>
            <a:r>
              <a:rPr lang="zh-CN" altLang="en-US"/>
              <a:t>外部实体相关的漏洞知识，再去查 </a:t>
            </a:r>
            <a:r>
              <a:rPr lang="en-US" altLang="zh-CN"/>
              <a:t>CodeQL </a:t>
            </a:r>
            <a:r>
              <a:rPr lang="zh-CN" altLang="en-US"/>
              <a:t>里现有的相关查询和 </a:t>
            </a:r>
            <a:r>
              <a:rPr lang="en-US" altLang="zh-CN"/>
              <a:t>API，</a:t>
            </a:r>
            <a:r>
              <a:rPr lang="zh-CN" altLang="en-US"/>
              <a:t>然后开始写查询文件，最后把这个文件交给验证器执行。执行后如果发现“漏洞版 0、修复版 0”，那就说明查询太弱；如果出现“漏洞版 2、修复版 0”，那就接近成功。</a:t>
            </a:r>
            <a:endParaRPr lang="zh-CN" altLang="en-US"/>
          </a:p>
          <a:p>
            <a:r>
              <a:rPr lang="zh-CN" altLang="en-US"/>
              <a:t>还有一个很有意思的设计是：</a:t>
            </a:r>
            <a:r>
              <a:rPr lang="zh-CN" altLang="en-US"/>
              <a:t>该研究不保留跨轮的完整长历史，而是让每一轮尽量只围绕当前候选查询和当前错误展开，避免上下文越来越乱。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该研究里一个非常关键的概念是上下文工程。它的出发点是：在这种低资源、强约束的查询语言场景下，大模型不是拿到越多信息越好，而是要在合适的时刻拿到最精确、最相关的信息。</a:t>
            </a:r>
            <a:endParaRPr lang="zh-CN" altLang="en-US"/>
          </a:p>
          <a:p>
            <a:r>
              <a:rPr lang="zh-CN" altLang="en-US"/>
              <a:t>所以系统重点只提供两类 </a:t>
            </a:r>
            <a:r>
              <a:rPr lang="en-US" altLang="zh-CN"/>
              <a:t>MCP </a:t>
            </a:r>
            <a:r>
              <a:rPr lang="zh-CN" altLang="en-US"/>
              <a:t>工具。</a:t>
            </a:r>
            <a:endParaRPr lang="zh-CN" altLang="en-US"/>
          </a:p>
          <a:p>
            <a:r>
              <a:rPr lang="zh-CN" altLang="en-US"/>
              <a:t>第一类是 向量数据库 / </a:t>
            </a:r>
            <a:r>
              <a:rPr lang="en-US" altLang="zh-CN"/>
              <a:t>RAG。</a:t>
            </a:r>
            <a:r>
              <a:rPr lang="zh-CN" altLang="en-US"/>
              <a:t>这里面存的不是泛泛的资料，而是和当前任务直接相关的内容，包括 </a:t>
            </a:r>
            <a:r>
              <a:rPr lang="en-US" altLang="zh-CN"/>
              <a:t>CWE </a:t>
            </a:r>
            <a:r>
              <a:rPr lang="zh-CN" altLang="en-US"/>
              <a:t>定义、</a:t>
            </a:r>
            <a:r>
              <a:rPr lang="en-US" altLang="zh-CN"/>
              <a:t>CodeQL </a:t>
            </a:r>
            <a:r>
              <a:rPr lang="zh-CN" altLang="en-US"/>
              <a:t>文档、示例查询、漏洞 </a:t>
            </a:r>
            <a:r>
              <a:rPr lang="en-US" altLang="zh-CN"/>
              <a:t>diff </a:t>
            </a:r>
            <a:r>
              <a:rPr lang="zh-CN" altLang="en-US"/>
              <a:t>和分析笔记、以及相关 </a:t>
            </a:r>
            <a:r>
              <a:rPr lang="en-US" altLang="zh-CN"/>
              <a:t>AST </a:t>
            </a:r>
            <a:r>
              <a:rPr lang="zh-CN" altLang="en-US"/>
              <a:t>片段。这样模型在写某个漏洞查询时，可以直接去拿对应 </a:t>
            </a:r>
            <a:r>
              <a:rPr lang="en-US" altLang="zh-CN"/>
              <a:t>CWE </a:t>
            </a:r>
            <a:r>
              <a:rPr lang="zh-CN" altLang="en-US"/>
              <a:t>的模式说明、现有 </a:t>
            </a:r>
            <a:r>
              <a:rPr lang="en-US" altLang="zh-CN"/>
              <a:t>CodeQL </a:t>
            </a:r>
            <a:r>
              <a:rPr lang="zh-CN" altLang="en-US"/>
              <a:t>查询范式、补丁语义以及代码结构线索。</a:t>
            </a:r>
            <a:endParaRPr lang="zh-CN" altLang="en-US"/>
          </a:p>
          <a:p>
            <a:r>
              <a:rPr lang="zh-CN" altLang="en-US"/>
              <a:t>第二类是 </a:t>
            </a:r>
            <a:r>
              <a:rPr lang="en-US" altLang="zh-CN"/>
              <a:t>CodeQL </a:t>
            </a:r>
            <a:r>
              <a:rPr lang="zh-CN" altLang="en-US"/>
              <a:t>语言服务器。它提供的能力包括自动补全、实时诊断和跳转到定义。这个部分很重要，因为 </a:t>
            </a:r>
            <a:r>
              <a:rPr lang="en-US" altLang="zh-CN"/>
              <a:t>CodeQL </a:t>
            </a:r>
            <a:r>
              <a:rPr lang="zh-CN" altLang="en-US"/>
              <a:t>这种 </a:t>
            </a:r>
            <a:r>
              <a:rPr lang="en-US" altLang="zh-CN"/>
              <a:t>DSL </a:t>
            </a:r>
            <a:r>
              <a:rPr lang="zh-CN" altLang="en-US"/>
              <a:t>很容易写出语法似乎没问题、但语义完全不对的查询。</a:t>
            </a:r>
            <a:r>
              <a:rPr lang="en-US" altLang="zh-CN"/>
              <a:t>LSP </a:t>
            </a:r>
            <a:r>
              <a:rPr lang="zh-CN" altLang="en-US"/>
              <a:t>（语言服务器</a:t>
            </a:r>
            <a:r>
              <a:rPr lang="zh-CN" altLang="en-US"/>
              <a:t>协议）的作用就是让模型在当前 </a:t>
            </a:r>
            <a:r>
              <a:rPr lang="en-US" altLang="zh-CN"/>
              <a:t>CodeQL </a:t>
            </a:r>
            <a:r>
              <a:rPr lang="zh-CN" altLang="en-US"/>
              <a:t>版本下拿到更准确的谓词名、类型信息和定义关系。</a:t>
            </a:r>
            <a:endParaRPr lang="zh-CN" altLang="en-US"/>
          </a:p>
          <a:p>
            <a:r>
              <a:rPr lang="zh-CN" altLang="en-US"/>
              <a:t>所以这里的重点不是“信息越多越好”，而是“要让模型按需拿到对当前错误最有帮助的信息”。这也是为什么</a:t>
            </a:r>
            <a:r>
              <a:rPr lang="zh-CN" altLang="en-US"/>
              <a:t>该研究后面在消融实验里会发现，</a:t>
            </a:r>
            <a:r>
              <a:rPr lang="en-US" altLang="zh-CN"/>
              <a:t>LSP </a:t>
            </a:r>
            <a:r>
              <a:rPr lang="zh-CN" altLang="en-US"/>
              <a:t>和文档检索对性能影响非常明显。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同时，</a:t>
            </a:r>
            <a:r>
              <a:rPr lang="zh-CN" altLang="en-US"/>
              <a:t>该研究还有一点很值得注意，就是它没有把系统做成“工具越多越自由”的样子，反而做了很多约束。</a:t>
            </a:r>
            <a:endParaRPr lang="zh-CN" altLang="en-US"/>
          </a:p>
          <a:p>
            <a:r>
              <a:rPr lang="zh-CN" altLang="en-US"/>
              <a:t>第一，不开放无限制的 </a:t>
            </a:r>
            <a:r>
              <a:rPr lang="en-US" altLang="zh-CN"/>
              <a:t>compile-and-run。</a:t>
            </a:r>
            <a:r>
              <a:rPr lang="zh-CN" altLang="en-US"/>
              <a:t>原因很直接，完整编译和执行 </a:t>
            </a:r>
            <a:r>
              <a:rPr lang="en-US" altLang="zh-CN"/>
              <a:t>CodeQL </a:t>
            </a:r>
            <a:r>
              <a:rPr lang="zh-CN" altLang="en-US"/>
              <a:t>本身开销大，如果把这个能力随时交给模型，它很容易过度调用，反而拖垮整体效率。</a:t>
            </a:r>
            <a:endParaRPr lang="zh-CN" altLang="en-US"/>
          </a:p>
          <a:p>
            <a:r>
              <a:rPr lang="zh-CN" altLang="en-US"/>
              <a:t>第二，不鼓励 </a:t>
            </a:r>
            <a:r>
              <a:rPr lang="en-US" altLang="zh-CN"/>
              <a:t>web search。</a:t>
            </a:r>
            <a:r>
              <a:rPr lang="zh-CN" altLang="en-US"/>
              <a:t>因为网页信息来源杂、噪声多，而且和当前漏洞未必强相关，一旦引进来，很容易把工作上下文带偏。</a:t>
            </a:r>
            <a:endParaRPr lang="zh-CN" altLang="en-US"/>
          </a:p>
          <a:p>
            <a:r>
              <a:rPr lang="zh-CN" altLang="en-US"/>
              <a:t>第三，不保留跨轮长历史。论文专门提到一个问题叫 </a:t>
            </a:r>
            <a:r>
              <a:rPr lang="en-US" altLang="zh-CN"/>
              <a:t>context rot，</a:t>
            </a:r>
            <a:r>
              <a:rPr lang="zh-CN" altLang="en-US"/>
              <a:t>也就是随着对话越来越长，早期已经不相关的信息还留在上下文里，反而干扰当前修正。</a:t>
            </a:r>
            <a:endParaRPr lang="zh-CN" altLang="en-US"/>
          </a:p>
          <a:p>
            <a:r>
              <a:rPr lang="zh-CN" altLang="en-US"/>
              <a:t>第四，工具箱保持小而专。也就是说，本研究宁可给模型少而精准的工具，也不愿意给一个大而杂的环境。</a:t>
            </a:r>
            <a:endParaRPr lang="zh-CN" altLang="en-US"/>
          </a:p>
          <a:p>
            <a:r>
              <a:rPr lang="zh-CN" altLang="en-US"/>
              <a:t>这些设计取舍其实说明了一个经验：做 </a:t>
            </a:r>
            <a:r>
              <a:rPr lang="en-US" altLang="zh-CN"/>
              <a:t>agent </a:t>
            </a:r>
            <a:r>
              <a:rPr lang="zh-CN" altLang="en-US"/>
              <a:t>系统时，性能不只取决于底层模型，也很取决于工具怎么供给、反馈放在哪个环节、上下文怎么组织。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下面进入第三部分，也就是实验设计与结果分析。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B7E0-8347-483F-AA51-E52BB9D80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实验使用的是 </a:t>
            </a:r>
            <a:r>
              <a:rPr lang="en-US" altLang="zh-CN"/>
              <a:t>CWE-Bench-Java </a:t>
            </a:r>
            <a:r>
              <a:rPr lang="zh-CN" altLang="en-US"/>
              <a:t>以及它在 2025 年的更新版本。总共覆盖了 176 个 </a:t>
            </a:r>
            <a:r>
              <a:rPr lang="en-US" altLang="zh-CN"/>
              <a:t>CVE、111 </a:t>
            </a:r>
            <a:r>
              <a:rPr lang="zh-CN" altLang="en-US"/>
              <a:t>个 </a:t>
            </a:r>
            <a:r>
              <a:rPr lang="en-US" altLang="zh-CN"/>
              <a:t>Java </a:t>
            </a:r>
            <a:r>
              <a:rPr lang="zh-CN" altLang="en-US"/>
              <a:t>项目、42 类 </a:t>
            </a:r>
            <a:r>
              <a:rPr lang="en-US" altLang="zh-CN"/>
              <a:t>CWE，</a:t>
            </a:r>
            <a:r>
              <a:rPr lang="zh-CN" altLang="en-US"/>
              <a:t>其中还专门纳入了 65 个 2025 年 </a:t>
            </a:r>
            <a:r>
              <a:rPr lang="en-US" altLang="zh-CN"/>
              <a:t>CVE，</a:t>
            </a:r>
            <a:r>
              <a:rPr lang="zh-CN" altLang="en-US"/>
              <a:t>使用的 </a:t>
            </a:r>
            <a:r>
              <a:rPr lang="en-US" altLang="zh-CN"/>
              <a:t>CodeQL </a:t>
            </a:r>
            <a:r>
              <a:rPr lang="zh-CN" altLang="en-US"/>
              <a:t>版本是 2.22.2。</a:t>
            </a:r>
            <a:endParaRPr lang="zh-CN" altLang="en-US"/>
          </a:p>
          <a:p>
            <a:r>
              <a:rPr lang="zh-CN" altLang="en-US"/>
              <a:t>这里有两个点值得强调。第一，数据规模不小，不是只在少数案例上展示的工作。第二点则是，</a:t>
            </a:r>
            <a:r>
              <a:rPr lang="zh-CN" altLang="en-US"/>
              <a:t>纳入了训练截断之后的 2025 年 </a:t>
            </a:r>
            <a:r>
              <a:rPr lang="en-US" altLang="zh-CN"/>
              <a:t>CVE，</a:t>
            </a:r>
            <a:r>
              <a:rPr lang="zh-CN" altLang="en-US"/>
              <a:t>这样才能看出它是不是只依赖模型记忆旧漏洞。</a:t>
            </a:r>
            <a:endParaRPr lang="zh-CN" altLang="en-US"/>
          </a:p>
          <a:p>
            <a:r>
              <a:rPr lang="zh-CN" altLang="en-US"/>
              <a:t>基线方面也分两类。一类是静态分析基线，也就是 </a:t>
            </a:r>
            <a:r>
              <a:rPr lang="en-US" altLang="zh-CN"/>
              <a:t>IRIS </a:t>
            </a:r>
            <a:r>
              <a:rPr lang="zh-CN" altLang="en-US"/>
              <a:t>和通用 </a:t>
            </a:r>
            <a:r>
              <a:rPr lang="en-US" altLang="zh-CN"/>
              <a:t>CodeQL </a:t>
            </a:r>
            <a:r>
              <a:rPr lang="zh-CN" altLang="en-US"/>
              <a:t>查询集；另一类是 </a:t>
            </a:r>
            <a:r>
              <a:rPr lang="en-US" altLang="zh-CN"/>
              <a:t>agent </a:t>
            </a:r>
            <a:r>
              <a:rPr lang="zh-CN" altLang="en-US"/>
              <a:t>基线，包括 </a:t>
            </a:r>
            <a:r>
              <a:rPr lang="en-US" altLang="zh-CN"/>
              <a:t>Gemini CLI </a:t>
            </a:r>
            <a:r>
              <a:rPr lang="zh-CN" altLang="en-US"/>
              <a:t>和 </a:t>
            </a:r>
            <a:r>
              <a:rPr lang="en-US" altLang="zh-CN"/>
              <a:t>Codex。</a:t>
            </a:r>
            <a:endParaRPr lang="en-US" altLang="zh-CN"/>
          </a:p>
          <a:p>
            <a:r>
              <a:rPr lang="zh-CN" altLang="en-US"/>
              <a:t>评价指标上，该研究没有只看“能不能编译通过”，而是同时考察召回率</a:t>
            </a:r>
            <a:r>
              <a:rPr lang="en-US" altLang="zh-CN"/>
              <a:t>、</a:t>
            </a:r>
            <a:r>
              <a:rPr lang="zh-CN" altLang="en-US"/>
              <a:t>精确率</a:t>
            </a:r>
            <a:r>
              <a:rPr lang="en-US" altLang="zh-CN"/>
              <a:t>、F1</a:t>
            </a:r>
            <a:r>
              <a:rPr lang="zh-CN" altLang="en-US"/>
              <a:t>值</a:t>
            </a:r>
            <a:r>
              <a:rPr lang="en-US" altLang="zh-CN"/>
              <a:t>，</a:t>
            </a:r>
            <a:r>
              <a:rPr lang="zh-CN" altLang="en-US"/>
              <a:t>以及最关键的 </a:t>
            </a:r>
            <a:r>
              <a:rPr lang="en-US" altLang="zh-CN"/>
              <a:t>successful query </a:t>
            </a:r>
            <a:r>
              <a:rPr lang="zh-CN" altLang="en-US"/>
              <a:t>条件，</a:t>
            </a:r>
            <a:r>
              <a:rPr lang="zh-CN" altLang="en-US"/>
              <a:t>其关心的不是生成的代码像不像，而是查询到底能不能既命中漏洞，又区分修复版本。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</a:t>
            </a:r>
            <a:r>
              <a:rPr lang="zh-CN" altLang="en-US"/>
              <a:t>展示该研究最核心的实验结果。</a:t>
            </a:r>
            <a:endParaRPr lang="zh-CN" altLang="en-US"/>
          </a:p>
          <a:p>
            <a:r>
              <a:rPr lang="zh-CN" altLang="en-US"/>
              <a:t>先看总体数字，它在 176 个 </a:t>
            </a:r>
            <a:r>
              <a:rPr lang="en-US" altLang="zh-CN"/>
              <a:t>CVE </a:t>
            </a:r>
            <a:r>
              <a:rPr lang="zh-CN" altLang="en-US"/>
              <a:t>上成功合成了 94 个查询，总成功率是 53.4%。如果只看这一项，其实已经说明系统不是在少数案例上偶然成功。</a:t>
            </a:r>
            <a:endParaRPr lang="zh-CN" altLang="en-US"/>
          </a:p>
          <a:p>
            <a:pPr marL="0" lvl="1"/>
            <a:r>
              <a:rPr lang="zh-CN" altLang="en-US"/>
              <a:t>更关键的是和基线的对比。论文在共享的 130 个 </a:t>
            </a:r>
            <a:r>
              <a:rPr lang="en-US" altLang="zh-CN"/>
              <a:t>CVE </a:t>
            </a:r>
            <a:r>
              <a:rPr lang="zh-CN" altLang="en-US"/>
              <a:t>上比较了 </a:t>
            </a:r>
            <a:r>
              <a:rPr lang="en-US" altLang="zh-CN"/>
              <a:t>CodeQL、IRIS </a:t>
            </a:r>
            <a:r>
              <a:rPr lang="zh-CN" altLang="en-US"/>
              <a:t>和 </a:t>
            </a:r>
            <a:r>
              <a:rPr lang="en-US" altLang="zh-CN"/>
              <a:t>QLCoder</a:t>
            </a:r>
            <a:r>
              <a:rPr lang="zh-CN" altLang="en-US"/>
              <a:t>，如下所示，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QLCoder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的召回率是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80.0%，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精确率是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0.672，F1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值是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0.700</a:t>
            </a:r>
            <a:endParaRPr lang="zh-CN" altLang="en-US"/>
          </a:p>
          <a:p>
            <a:r>
              <a:rPr lang="zh-CN" altLang="en-US"/>
              <a:t>这个提升非常明显，尤其是 </a:t>
            </a:r>
            <a:r>
              <a:rPr lang="en-US" altLang="zh-CN"/>
              <a:t>F1，</a:t>
            </a:r>
            <a:r>
              <a:rPr lang="zh-CN" altLang="en-US"/>
              <a:t>从 0.048 和 0.073 提高到 0.700，说明它不是单纯“报得更多”，而是在召回和误报控制之间取得了更好的平衡。</a:t>
            </a:r>
            <a:endParaRPr lang="zh-CN" altLang="en-US"/>
          </a:p>
          <a:p>
            <a:r>
              <a:rPr lang="zh-CN" altLang="en-US"/>
              <a:t>结合论文里的图表来看，表</a:t>
            </a:r>
            <a:r>
              <a:rPr lang="en-US" altLang="zh-CN"/>
              <a:t>1</a:t>
            </a:r>
            <a:r>
              <a:rPr lang="zh-CN" altLang="en-US"/>
              <a:t>展示了不同 </a:t>
            </a:r>
            <a:r>
              <a:rPr lang="en-US" altLang="zh-CN"/>
              <a:t>CWE </a:t>
            </a:r>
            <a:r>
              <a:rPr lang="zh-CN" altLang="en-US"/>
              <a:t>类型下的成功率，可以看到它在路径遍历、反序列化等多个类别上都有不错表现；图</a:t>
            </a:r>
            <a:r>
              <a:rPr lang="en-US" altLang="zh-CN"/>
              <a:t>5</a:t>
            </a:r>
            <a:r>
              <a:rPr lang="zh-CN" altLang="en-US"/>
              <a:t>则从图形上展示了不同 </a:t>
            </a:r>
            <a:r>
              <a:rPr lang="en-US" altLang="zh-CN"/>
              <a:t>CWE </a:t>
            </a:r>
            <a:r>
              <a:rPr lang="zh-CN" altLang="en-US"/>
              <a:t>下召回的变化，</a:t>
            </a:r>
            <a:r>
              <a:rPr lang="zh-CN" altLang="en-US"/>
              <a:t>可以看到，绿色柱状条对应的 </a:t>
            </a:r>
            <a:r>
              <a:rPr lang="en-US" altLang="zh-CN"/>
              <a:t>QLCoder </a:t>
            </a:r>
            <a:r>
              <a:rPr lang="zh-CN" altLang="en-US"/>
              <a:t>在多个漏洞类型上都明显更高。</a:t>
            </a:r>
            <a:endParaRPr lang="zh-CN" altLang="en-US"/>
          </a:p>
          <a:p>
            <a:r>
              <a:rPr lang="zh-CN" altLang="en-US"/>
              <a:t>论文中对这个结果的解释也比较清楚：通用 </a:t>
            </a:r>
            <a:r>
              <a:rPr lang="en-US" altLang="zh-CN"/>
              <a:t>CodeQL </a:t>
            </a:r>
            <a:r>
              <a:rPr lang="zh-CN" altLang="en-US"/>
              <a:t>查询往往更偏宽泛模板，</a:t>
            </a:r>
            <a:r>
              <a:rPr lang="en-US" altLang="zh-CN"/>
              <a:t>IRIS </a:t>
            </a:r>
            <a:r>
              <a:rPr lang="zh-CN" altLang="en-US"/>
              <a:t>更偏 </a:t>
            </a:r>
            <a:r>
              <a:rPr lang="en-US" altLang="zh-CN"/>
              <a:t>source </a:t>
            </a:r>
            <a:r>
              <a:rPr lang="zh-CN" altLang="en-US"/>
              <a:t>和 </a:t>
            </a:r>
            <a:r>
              <a:rPr lang="en-US" altLang="zh-CN"/>
              <a:t>sink </a:t>
            </a:r>
            <a:r>
              <a:rPr lang="zh-CN" altLang="en-US"/>
              <a:t>的识别，而 </a:t>
            </a:r>
            <a:r>
              <a:rPr lang="en-US" altLang="zh-CN"/>
              <a:t>QLCoder </a:t>
            </a:r>
            <a:r>
              <a:rPr lang="zh-CN" altLang="en-US"/>
              <a:t>会进一步合成 </a:t>
            </a:r>
            <a:r>
              <a:rPr lang="en-US" altLang="zh-CN"/>
              <a:t>sanitizer </a:t>
            </a:r>
            <a:r>
              <a:rPr lang="zh-CN" altLang="en-US"/>
              <a:t>和额外 </a:t>
            </a:r>
            <a:r>
              <a:rPr lang="en-US" altLang="zh-CN"/>
              <a:t>taint steps，</a:t>
            </a:r>
            <a:r>
              <a:rPr lang="zh-CN" altLang="en-US"/>
              <a:t>所以在“漏洞版命中、修复版沉默”这个目标上更占优势。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为了说明效果到底来自哪里，论文做了一个很重要的消融实验，结果在表</a:t>
            </a:r>
            <a:r>
              <a:rPr lang="en-US" altLang="zh-CN"/>
              <a:t>4</a:t>
            </a:r>
            <a:r>
              <a:rPr lang="zh-CN" altLang="en-US"/>
              <a:t>里。</a:t>
            </a:r>
            <a:endParaRPr lang="zh-CN" altLang="en-US"/>
          </a:p>
          <a:p>
            <a:r>
              <a:rPr lang="zh-CN" altLang="en-US"/>
              <a:t>先看完整系统，在 20 个 </a:t>
            </a:r>
            <a:r>
              <a:rPr lang="en-US" altLang="zh-CN"/>
              <a:t>CVE </a:t>
            </a:r>
            <a:r>
              <a:rPr lang="zh-CN" altLang="en-US"/>
              <a:t>子集上，它的 </a:t>
            </a:r>
            <a:r>
              <a:rPr lang="en-US" altLang="zh-CN"/>
              <a:t>Success </a:t>
            </a:r>
            <a:r>
              <a:rPr lang="zh-CN" altLang="en-US"/>
              <a:t>是 55%，</a:t>
            </a:r>
            <a:r>
              <a:rPr lang="en-US" altLang="zh-CN"/>
              <a:t>Recall </a:t>
            </a:r>
            <a:r>
              <a:rPr lang="zh-CN" altLang="en-US"/>
              <a:t>是 80%，</a:t>
            </a:r>
            <a:r>
              <a:rPr lang="en-US" altLang="zh-CN"/>
              <a:t>Precision </a:t>
            </a:r>
            <a:r>
              <a:rPr lang="zh-CN" altLang="en-US"/>
              <a:t>是 0.67，</a:t>
            </a:r>
            <a:r>
              <a:rPr lang="en-US" altLang="zh-CN"/>
              <a:t>F1 </a:t>
            </a:r>
            <a:r>
              <a:rPr lang="zh-CN" altLang="en-US"/>
              <a:t>是 0.69。这个结果可以作为基准。</a:t>
            </a:r>
            <a:endParaRPr lang="zh-CN" altLang="en-US"/>
          </a:p>
          <a:p>
            <a:r>
              <a:rPr lang="zh-CN" altLang="en-US"/>
              <a:t>然后逐项去掉组件。去掉 </a:t>
            </a:r>
            <a:r>
              <a:rPr lang="en-US" altLang="zh-CN"/>
              <a:t>LSP </a:t>
            </a:r>
            <a:r>
              <a:rPr lang="zh-CN" altLang="en-US"/>
              <a:t>之后，</a:t>
            </a:r>
            <a:r>
              <a:rPr lang="en-US" altLang="zh-CN"/>
              <a:t>Success </a:t>
            </a:r>
            <a:r>
              <a:rPr lang="zh-CN" altLang="en-US"/>
              <a:t>直接掉到 25%，</a:t>
            </a:r>
            <a:r>
              <a:rPr lang="en-US" altLang="zh-CN"/>
              <a:t>F1 </a:t>
            </a:r>
            <a:r>
              <a:rPr lang="zh-CN" altLang="en-US"/>
              <a:t>掉到 0.36；去掉 文档和参考检索 之后，</a:t>
            </a:r>
            <a:r>
              <a:rPr lang="en-US" altLang="zh-CN"/>
              <a:t>Success </a:t>
            </a:r>
            <a:r>
              <a:rPr lang="zh-CN" altLang="en-US"/>
              <a:t>进一步降到 20%，</a:t>
            </a:r>
            <a:r>
              <a:rPr lang="en-US" altLang="zh-CN"/>
              <a:t>F1 </a:t>
            </a:r>
            <a:r>
              <a:rPr lang="zh-CN" altLang="en-US"/>
              <a:t>也是 0.36；去掉 </a:t>
            </a:r>
            <a:r>
              <a:rPr lang="en-US" altLang="zh-CN"/>
              <a:t>AST </a:t>
            </a:r>
            <a:r>
              <a:rPr lang="zh-CN" altLang="en-US"/>
              <a:t>后，</a:t>
            </a:r>
            <a:r>
              <a:rPr lang="en-US" altLang="zh-CN"/>
              <a:t>Success </a:t>
            </a:r>
            <a:r>
              <a:rPr lang="zh-CN" altLang="en-US"/>
              <a:t>是 25%，</a:t>
            </a:r>
            <a:r>
              <a:rPr lang="en-US" altLang="zh-CN"/>
              <a:t>F1 </a:t>
            </a:r>
            <a:r>
              <a:rPr lang="zh-CN" altLang="en-US"/>
              <a:t>是 0.47；如果只保留 </a:t>
            </a:r>
            <a:r>
              <a:rPr lang="en-US" altLang="zh-CN"/>
              <a:t>Claude Code，</a:t>
            </a:r>
            <a:r>
              <a:rPr lang="zh-CN" altLang="en-US"/>
              <a:t>不用这套完整框架，</a:t>
            </a:r>
            <a:r>
              <a:rPr lang="en-US" altLang="zh-CN"/>
              <a:t>Success </a:t>
            </a:r>
            <a:r>
              <a:rPr lang="zh-CN" altLang="en-US"/>
              <a:t>只有 10%，</a:t>
            </a:r>
            <a:r>
              <a:rPr lang="en-US" altLang="zh-CN"/>
              <a:t>F1 </a:t>
            </a:r>
            <a:r>
              <a:rPr lang="zh-CN" altLang="en-US"/>
              <a:t>也是 0.36。</a:t>
            </a:r>
            <a:endParaRPr lang="zh-CN" altLang="en-US"/>
          </a:p>
          <a:p>
            <a:r>
              <a:rPr lang="zh-CN" altLang="en-US"/>
              <a:t>这个表能说明</a:t>
            </a:r>
            <a:r>
              <a:rPr lang="zh-CN" altLang="en-US"/>
              <a:t>很多问题。第一，</a:t>
            </a:r>
            <a:r>
              <a:rPr lang="en-US" altLang="zh-CN"/>
              <a:t>LSP </a:t>
            </a:r>
            <a:r>
              <a:rPr lang="zh-CN" altLang="en-US"/>
              <a:t>和文档检索的作用尤其关键，它们分别从语法约束和语义参考两侧支撑了查询合成。第二，</a:t>
            </a:r>
            <a:r>
              <a:rPr lang="en-US" altLang="zh-CN"/>
              <a:t>AST </a:t>
            </a:r>
            <a:r>
              <a:rPr lang="zh-CN" altLang="en-US"/>
              <a:t>片段也有帮助，但相对前两者来说略弱一些。第三，单靠一个较强的大模型并不够，它可能能写出一些像样的查询，但很难同时把 </a:t>
            </a:r>
            <a:r>
              <a:rPr lang="en-US" altLang="zh-CN"/>
              <a:t>precision </a:t>
            </a:r>
            <a:r>
              <a:rPr lang="zh-CN" altLang="en-US"/>
              <a:t>和 </a:t>
            </a:r>
            <a:r>
              <a:rPr lang="en-US" altLang="zh-CN"/>
              <a:t>success </a:t>
            </a:r>
            <a:r>
              <a:rPr lang="zh-CN" altLang="en-US"/>
              <a:t>做上去。</a:t>
            </a:r>
            <a:endParaRPr lang="zh-CN" altLang="en-US"/>
          </a:p>
          <a:p>
            <a:r>
              <a:rPr lang="zh-CN" altLang="en-US"/>
              <a:t>上述可以得到一个明确的结论：</a:t>
            </a:r>
            <a:r>
              <a:rPr lang="zh-CN" altLang="en-US"/>
              <a:t>该研究的主要增益，不是“模型本身更强”，而是“模型被放进了一个带上下文工程和执行反馈的结构里”。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这一页主要看两个问题：这套方法能不能迁移，以及代价大不大。</a:t>
            </a:r>
            <a:endParaRPr lang="zh-CN" altLang="en-US"/>
          </a:p>
          <a:p>
            <a:r>
              <a:rPr lang="zh-CN" altLang="en-US"/>
              <a:t>论文在 表</a:t>
            </a:r>
            <a:r>
              <a:rPr lang="en-US" altLang="zh-CN"/>
              <a:t>5 </a:t>
            </a:r>
            <a:r>
              <a:rPr lang="zh-CN" altLang="en-US"/>
              <a:t>里比较了不同 </a:t>
            </a:r>
            <a:r>
              <a:rPr lang="en-US" altLang="zh-CN"/>
              <a:t>agent baseline </a:t>
            </a:r>
            <a:r>
              <a:rPr lang="zh-CN" altLang="en-US"/>
              <a:t>在接入 </a:t>
            </a:r>
            <a:r>
              <a:rPr lang="en-US" altLang="zh-CN"/>
              <a:t>QLCoder </a:t>
            </a:r>
            <a:r>
              <a:rPr lang="zh-CN" altLang="en-US"/>
              <a:t>前后的变化。比如 </a:t>
            </a:r>
            <a:r>
              <a:rPr lang="en-US" altLang="zh-CN"/>
              <a:t>Codex </a:t>
            </a:r>
            <a:r>
              <a:rPr lang="zh-CN" altLang="en-US"/>
              <a:t>加 </a:t>
            </a:r>
            <a:r>
              <a:rPr lang="en-US" altLang="zh-CN"/>
              <a:t>GPT-5 medium reasoning，</a:t>
            </a:r>
            <a:r>
              <a:rPr lang="zh-CN" altLang="en-US"/>
              <a:t>原本 </a:t>
            </a:r>
            <a:r>
              <a:rPr lang="en-US" altLang="zh-CN"/>
              <a:t>success </a:t>
            </a:r>
            <a:r>
              <a:rPr lang="zh-CN" altLang="en-US"/>
              <a:t>是 0%，接入 </a:t>
            </a:r>
            <a:r>
              <a:rPr lang="en-US" altLang="zh-CN"/>
              <a:t>QLCoder </a:t>
            </a:r>
            <a:r>
              <a:rPr lang="zh-CN" altLang="en-US"/>
              <a:t>后提升到 20%；</a:t>
            </a:r>
            <a:r>
              <a:rPr lang="en-US" altLang="zh-CN"/>
              <a:t>Claude Code Sonnet 4 </a:t>
            </a:r>
            <a:r>
              <a:rPr lang="zh-CN" altLang="en-US"/>
              <a:t>则从 10% 提升到 35%。这说明 </a:t>
            </a:r>
            <a:r>
              <a:rPr lang="en-US" altLang="zh-CN"/>
              <a:t>QLCoder </a:t>
            </a:r>
            <a:r>
              <a:rPr lang="zh-CN" altLang="en-US"/>
              <a:t>不是只能绑定某一种 </a:t>
            </a:r>
            <a:r>
              <a:rPr lang="en-US" altLang="zh-CN"/>
              <a:t>agent，</a:t>
            </a:r>
            <a:r>
              <a:rPr lang="zh-CN" altLang="en-US"/>
              <a:t>而是一套可以迁移的方法框架。</a:t>
            </a:r>
            <a:endParaRPr lang="zh-CN" altLang="en-US"/>
          </a:p>
          <a:p>
            <a:r>
              <a:rPr lang="zh-CN" altLang="en-US"/>
              <a:t>再看代价，总体来看，平均每个查询合成过程耗时是 3712 秒，平均成本是 2.90 美元。</a:t>
            </a:r>
            <a:endParaRPr lang="zh-CN" altLang="en-US"/>
          </a:p>
          <a:p>
            <a:r>
              <a:rPr lang="zh-CN" altLang="en-US"/>
              <a:t>论文</a:t>
            </a:r>
            <a:r>
              <a:rPr lang="zh-CN" altLang="en-US"/>
              <a:t>中还给了一个很有意思的观察：如果一个查询能在 3000 秒内完成合成，它的成功率大约能达到 97%。这说明后续还有优化空间，比如做更好的 </a:t>
            </a:r>
            <a:r>
              <a:rPr lang="en-US" altLang="zh-CN"/>
              <a:t>early-stop </a:t>
            </a:r>
            <a:r>
              <a:rPr lang="zh-CN" altLang="en-US"/>
              <a:t>策略或者更合理的资源调度。</a:t>
            </a:r>
            <a:endParaRPr lang="zh-CN" altLang="en-US"/>
          </a:p>
          <a:p>
            <a:r>
              <a:rPr lang="zh-CN" altLang="en-US"/>
              <a:t>所以从价值上看，这个成本当然不算特别低，但如果对比人工编写和调试一条高质量 </a:t>
            </a:r>
            <a:r>
              <a:rPr lang="en-US" altLang="zh-CN"/>
              <a:t>CodeQL </a:t>
            </a:r>
            <a:r>
              <a:rPr lang="zh-CN" altLang="en-US"/>
              <a:t>查询所需要的专家时间，它其实已经具备现实意义了。</a:t>
            </a:r>
            <a:endParaRPr lang="zh-CN" altLang="en-US"/>
          </a:p>
          <a:p>
            <a:r>
              <a:rPr lang="zh-CN" altLang="en-US">
                <a:sym typeface="+mn-ea"/>
              </a:rPr>
              <a:t> 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early-stop </a:t>
            </a:r>
            <a:r>
              <a:rPr lang="zh-CN" altLang="en-US">
                <a:sym typeface="+mn-ea"/>
              </a:rPr>
              <a:t>策略：</a:t>
            </a:r>
            <a:r>
              <a:rPr lang="zh-CN" altLang="en-US"/>
              <a:t>在合成查询的过程中，如果当前查询的合成时间已经超过某个阈值（例如 3000 秒），则提前终止该 </a:t>
            </a:r>
            <a:r>
              <a:rPr lang="en-US" altLang="zh-CN"/>
              <a:t>CVE </a:t>
            </a:r>
            <a:r>
              <a:rPr lang="zh-CN" altLang="en-US"/>
              <a:t>的查询生成尝试，不再继续迭代。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最后进入第四部分，也就是应用价值与总结。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B1B7E0-8347-483F-AA51-E52BB9D80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先看应用价值。论文强调了三类非常明确的下游场景。</a:t>
            </a:r>
            <a:endParaRPr lang="zh-CN" altLang="en-US"/>
          </a:p>
          <a:p>
            <a:r>
              <a:rPr lang="zh-CN" altLang="en-US"/>
              <a:t>第一类是 变体分析。也就是把一个已经学到的漏洞模式迁移到其他仓库里，查找同类或近似的漏洞。论文里还提到，基于合成出来的查询，已经报告出了两个未知漏洞。</a:t>
            </a:r>
            <a:endParaRPr lang="zh-CN" altLang="en-US"/>
          </a:p>
          <a:p>
            <a:r>
              <a:rPr lang="zh-CN" altLang="en-US"/>
              <a:t>第二类是 回归测试。如果一个仓库历史上出现过某类漏洞，那么对应的查询可以直接放进 </a:t>
            </a:r>
            <a:r>
              <a:rPr lang="en-US" altLang="zh-CN"/>
              <a:t>CI </a:t>
            </a:r>
            <a:r>
              <a:rPr lang="zh-CN" altLang="en-US"/>
              <a:t>流水线里持续运行，后续代码一旦又引入相似行为，就能及时报警。</a:t>
            </a:r>
            <a:endParaRPr lang="zh-CN" altLang="en-US"/>
          </a:p>
          <a:p>
            <a:r>
              <a:rPr lang="zh-CN" altLang="en-US"/>
              <a:t>第三类是 补丁验证。这其实和</a:t>
            </a:r>
            <a:r>
              <a:rPr lang="zh-CN" altLang="en-US"/>
              <a:t>该研究的 </a:t>
            </a:r>
            <a:r>
              <a:rPr lang="en-US" altLang="zh-CN"/>
              <a:t>success </a:t>
            </a:r>
            <a:r>
              <a:rPr lang="zh-CN" altLang="en-US"/>
              <a:t>定义是天然一致的，因为它本来就要求查询在漏洞版命中、在修复版沉默，所以很适合专门用来检查补丁是否真的生效。</a:t>
            </a:r>
            <a:endParaRPr lang="zh-CN" altLang="en-US"/>
          </a:p>
          <a:p>
            <a:r>
              <a:rPr lang="zh-CN" altLang="en-US"/>
              <a:t>再看局限性。论文很坦诚地说明，目前主要聚焦 </a:t>
            </a:r>
            <a:r>
              <a:rPr lang="en-US" altLang="zh-CN"/>
              <a:t>Java，</a:t>
            </a:r>
            <a:r>
              <a:rPr lang="zh-CN" altLang="en-US"/>
              <a:t>暂时不覆盖配置文件相关漏洞，也不处理其他语言或跨语言场景。后续可以扩展到其他 </a:t>
            </a:r>
            <a:r>
              <a:rPr lang="en-US" altLang="zh-CN"/>
              <a:t>CodeQL </a:t>
            </a:r>
            <a:r>
              <a:rPr lang="zh-CN" altLang="en-US"/>
              <a:t>支持的语言，还可以和动态分析结合。</a:t>
            </a:r>
            <a:endParaRPr lang="zh-CN" altLang="en-US"/>
          </a:p>
          <a:p>
            <a:r>
              <a:rPr lang="zh-CN" altLang="en-US"/>
              <a:t>最后用一句话来总结，</a:t>
            </a:r>
            <a:r>
              <a:rPr lang="en-US" altLang="zh-CN"/>
              <a:t>QLCoder </a:t>
            </a:r>
            <a:r>
              <a:rPr lang="zh-CN" altLang="en-US"/>
              <a:t>的真正价值，不只是让模型“会写 </a:t>
            </a:r>
            <a:r>
              <a:rPr lang="en-US" altLang="zh-CN"/>
              <a:t>CodeQL”，</a:t>
            </a:r>
            <a:r>
              <a:rPr lang="zh-CN" altLang="en-US"/>
              <a:t>而是把“从 </a:t>
            </a:r>
            <a:r>
              <a:rPr lang="en-US" altLang="zh-CN"/>
              <a:t>CVE </a:t>
            </a:r>
            <a:r>
              <a:rPr lang="zh-CN" altLang="en-US"/>
              <a:t>到静态分析查询”的过程做成了一个可验证、可迭代、可复用的自动化流程。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我的分享到此结束，感谢</a:t>
            </a:r>
            <a:r>
              <a:rPr lang="zh-CN" altLang="en-US"/>
              <a:t>倾听。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/>
    </mc:Choice>
    <mc:Fallback>
      <p:transition spd="slow" advTm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0" y="5666876"/>
            <a:ext cx="12192000" cy="1191125"/>
          </a:xfrm>
          <a:custGeom>
            <a:avLst/>
            <a:gdLst>
              <a:gd name="connsiteX0" fmla="*/ 12191999 w 12192000"/>
              <a:gd name="connsiteY0" fmla="*/ 0 h 2201779"/>
              <a:gd name="connsiteX1" fmla="*/ 12192000 w 12192000"/>
              <a:gd name="connsiteY1" fmla="*/ 0 h 2201779"/>
              <a:gd name="connsiteX2" fmla="*/ 12192000 w 12192000"/>
              <a:gd name="connsiteY2" fmla="*/ 2201779 h 2201779"/>
              <a:gd name="connsiteX3" fmla="*/ 0 w 12192000"/>
              <a:gd name="connsiteY3" fmla="*/ 2201779 h 2201779"/>
              <a:gd name="connsiteX4" fmla="*/ 0 w 12192000"/>
              <a:gd name="connsiteY4" fmla="*/ 430428 h 2201779"/>
              <a:gd name="connsiteX5" fmla="*/ 15110 w 12192000"/>
              <a:gd name="connsiteY5" fmla="*/ 430671 h 2201779"/>
              <a:gd name="connsiteX6" fmla="*/ 6095962 w 12192000"/>
              <a:gd name="connsiteY6" fmla="*/ 1351337 h 2201779"/>
              <a:gd name="connsiteX7" fmla="*/ 6095962 w 12192000"/>
              <a:gd name="connsiteY7" fmla="*/ 1344072 h 2201779"/>
              <a:gd name="connsiteX8" fmla="*/ 6096062 w 12192000"/>
              <a:gd name="connsiteY8" fmla="*/ 1344072 h 2201779"/>
              <a:gd name="connsiteX9" fmla="*/ 6096062 w 12192000"/>
              <a:gd name="connsiteY9" fmla="*/ 1351337 h 2201779"/>
              <a:gd name="connsiteX10" fmla="*/ 12191999 w 12192000"/>
              <a:gd name="connsiteY10" fmla="*/ 430428 h 220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201779">
                <a:moveTo>
                  <a:pt x="12191999" y="0"/>
                </a:moveTo>
                <a:lnTo>
                  <a:pt x="12192000" y="0"/>
                </a:lnTo>
                <a:lnTo>
                  <a:pt x="12192000" y="2201779"/>
                </a:lnTo>
                <a:lnTo>
                  <a:pt x="0" y="2201779"/>
                </a:lnTo>
                <a:lnTo>
                  <a:pt x="0" y="430428"/>
                </a:lnTo>
                <a:lnTo>
                  <a:pt x="15110" y="430671"/>
                </a:lnTo>
                <a:cubicBezTo>
                  <a:pt x="324341" y="435912"/>
                  <a:pt x="5284719" y="532552"/>
                  <a:pt x="6095962" y="1351337"/>
                </a:cubicBezTo>
                <a:lnTo>
                  <a:pt x="6095962" y="1344072"/>
                </a:lnTo>
                <a:lnTo>
                  <a:pt x="6096062" y="1344072"/>
                </a:lnTo>
                <a:lnTo>
                  <a:pt x="6096062" y="1351337"/>
                </a:lnTo>
                <a:cubicBezTo>
                  <a:pt x="6933443" y="506139"/>
                  <a:pt x="12191999" y="430428"/>
                  <a:pt x="12191999" y="430428"/>
                </a:cubicBezTo>
                <a:close/>
              </a:path>
            </a:pathLst>
          </a:custGeom>
          <a:gradFill>
            <a:gsLst>
              <a:gs pos="100000">
                <a:srgbClr val="E6DBC2">
                  <a:alpha val="27000"/>
                </a:srgbClr>
              </a:gs>
              <a:gs pos="0">
                <a:schemeClr val="bg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/>
    </mc:Choice>
    <mc:Fallback>
      <p:transition spd="slow" advTm="0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0" y="5666876"/>
            <a:ext cx="12192000" cy="1191125"/>
          </a:xfrm>
          <a:custGeom>
            <a:avLst/>
            <a:gdLst>
              <a:gd name="connsiteX0" fmla="*/ 12191999 w 12192000"/>
              <a:gd name="connsiteY0" fmla="*/ 0 h 2201779"/>
              <a:gd name="connsiteX1" fmla="*/ 12192000 w 12192000"/>
              <a:gd name="connsiteY1" fmla="*/ 0 h 2201779"/>
              <a:gd name="connsiteX2" fmla="*/ 12192000 w 12192000"/>
              <a:gd name="connsiteY2" fmla="*/ 2201779 h 2201779"/>
              <a:gd name="connsiteX3" fmla="*/ 0 w 12192000"/>
              <a:gd name="connsiteY3" fmla="*/ 2201779 h 2201779"/>
              <a:gd name="connsiteX4" fmla="*/ 0 w 12192000"/>
              <a:gd name="connsiteY4" fmla="*/ 430428 h 2201779"/>
              <a:gd name="connsiteX5" fmla="*/ 15110 w 12192000"/>
              <a:gd name="connsiteY5" fmla="*/ 430671 h 2201779"/>
              <a:gd name="connsiteX6" fmla="*/ 6095962 w 12192000"/>
              <a:gd name="connsiteY6" fmla="*/ 1351337 h 2201779"/>
              <a:gd name="connsiteX7" fmla="*/ 6095962 w 12192000"/>
              <a:gd name="connsiteY7" fmla="*/ 1344072 h 2201779"/>
              <a:gd name="connsiteX8" fmla="*/ 6096062 w 12192000"/>
              <a:gd name="connsiteY8" fmla="*/ 1344072 h 2201779"/>
              <a:gd name="connsiteX9" fmla="*/ 6096062 w 12192000"/>
              <a:gd name="connsiteY9" fmla="*/ 1351337 h 2201779"/>
              <a:gd name="connsiteX10" fmla="*/ 12191999 w 12192000"/>
              <a:gd name="connsiteY10" fmla="*/ 430428 h 220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201779">
                <a:moveTo>
                  <a:pt x="12191999" y="0"/>
                </a:moveTo>
                <a:lnTo>
                  <a:pt x="12192000" y="0"/>
                </a:lnTo>
                <a:lnTo>
                  <a:pt x="12192000" y="2201779"/>
                </a:lnTo>
                <a:lnTo>
                  <a:pt x="0" y="2201779"/>
                </a:lnTo>
                <a:lnTo>
                  <a:pt x="0" y="430428"/>
                </a:lnTo>
                <a:lnTo>
                  <a:pt x="15110" y="430671"/>
                </a:lnTo>
                <a:cubicBezTo>
                  <a:pt x="324341" y="435912"/>
                  <a:pt x="5284719" y="532552"/>
                  <a:pt x="6095962" y="1351337"/>
                </a:cubicBezTo>
                <a:lnTo>
                  <a:pt x="6095962" y="1344072"/>
                </a:lnTo>
                <a:lnTo>
                  <a:pt x="6096062" y="1344072"/>
                </a:lnTo>
                <a:lnTo>
                  <a:pt x="6096062" y="1351337"/>
                </a:lnTo>
                <a:cubicBezTo>
                  <a:pt x="6933443" y="506139"/>
                  <a:pt x="12191999" y="430428"/>
                  <a:pt x="12191999" y="430428"/>
                </a:cubicBezTo>
                <a:close/>
              </a:path>
            </a:pathLst>
          </a:custGeom>
          <a:gradFill>
            <a:gsLst>
              <a:gs pos="100000">
                <a:srgbClr val="E6DBC2">
                  <a:alpha val="27000"/>
                </a:srgbClr>
              </a:gs>
              <a:gs pos="0">
                <a:schemeClr val="bg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100"/>
          </a:p>
        </p:txBody>
      </p:sp>
      <p:sp>
        <p:nvSpPr>
          <p:cNvPr id="3" name="TextBox 2"/>
          <p:cNvSpPr txBox="1"/>
          <p:nvPr userDrawn="1"/>
        </p:nvSpPr>
        <p:spPr>
          <a:xfrm>
            <a:off x="11759951" y="2224"/>
            <a:ext cx="43204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下载</a:t>
            </a:r>
            <a:r>
              <a:rPr lang="zh-CN" altLang="en-US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  <a:endParaRPr lang="en-US" altLang="zh-CN" sz="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0"/>
    </mc:Choice>
    <mc:Fallback>
      <p:transition spd="slow"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Tm="0"/>
    </mc:Choice>
    <mc:Fallback>
      <p:transition spd="slow" advTm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宋体 CN" panose="02020400000000000000" pitchFamily="18" charset="-122"/>
          <a:ea typeface="思源宋体 CN" panose="02020400000000000000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2.xml"/><Relationship Id="rId22" Type="http://schemas.openxmlformats.org/officeDocument/2006/relationships/image" Target="../media/image4.svg"/><Relationship Id="rId21" Type="http://schemas.openxmlformats.org/officeDocument/2006/relationships/image" Target="../media/image3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email">
            <a:alphaModFix amt="5000"/>
          </a:blip>
          <a:stretch>
            <a:fillRect/>
          </a:stretch>
        </p:blipFill>
        <p:spPr>
          <a:xfrm>
            <a:off x="0" y="1714683"/>
            <a:ext cx="12192000" cy="3428637"/>
          </a:xfrm>
          <a:prstGeom prst="rect">
            <a:avLst/>
          </a:prstGeom>
        </p:spPr>
      </p:pic>
      <p:sp>
        <p:nvSpPr>
          <p:cNvPr id="84" name="任意多边形: 形状 83"/>
          <p:cNvSpPr/>
          <p:nvPr/>
        </p:nvSpPr>
        <p:spPr>
          <a:xfrm>
            <a:off x="0" y="4656223"/>
            <a:ext cx="12192000" cy="2201779"/>
          </a:xfrm>
          <a:custGeom>
            <a:avLst/>
            <a:gdLst>
              <a:gd name="connsiteX0" fmla="*/ 12191999 w 12192000"/>
              <a:gd name="connsiteY0" fmla="*/ 0 h 2201779"/>
              <a:gd name="connsiteX1" fmla="*/ 12192000 w 12192000"/>
              <a:gd name="connsiteY1" fmla="*/ 0 h 2201779"/>
              <a:gd name="connsiteX2" fmla="*/ 12192000 w 12192000"/>
              <a:gd name="connsiteY2" fmla="*/ 2201779 h 2201779"/>
              <a:gd name="connsiteX3" fmla="*/ 0 w 12192000"/>
              <a:gd name="connsiteY3" fmla="*/ 2201779 h 2201779"/>
              <a:gd name="connsiteX4" fmla="*/ 0 w 12192000"/>
              <a:gd name="connsiteY4" fmla="*/ 430428 h 2201779"/>
              <a:gd name="connsiteX5" fmla="*/ 15110 w 12192000"/>
              <a:gd name="connsiteY5" fmla="*/ 430671 h 2201779"/>
              <a:gd name="connsiteX6" fmla="*/ 6095962 w 12192000"/>
              <a:gd name="connsiteY6" fmla="*/ 1351337 h 2201779"/>
              <a:gd name="connsiteX7" fmla="*/ 6095962 w 12192000"/>
              <a:gd name="connsiteY7" fmla="*/ 1344072 h 2201779"/>
              <a:gd name="connsiteX8" fmla="*/ 6096062 w 12192000"/>
              <a:gd name="connsiteY8" fmla="*/ 1344072 h 2201779"/>
              <a:gd name="connsiteX9" fmla="*/ 6096062 w 12192000"/>
              <a:gd name="connsiteY9" fmla="*/ 1351337 h 2201779"/>
              <a:gd name="connsiteX10" fmla="*/ 12191999 w 12192000"/>
              <a:gd name="connsiteY10" fmla="*/ 430428 h 220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201779">
                <a:moveTo>
                  <a:pt x="12191999" y="0"/>
                </a:moveTo>
                <a:lnTo>
                  <a:pt x="12192000" y="0"/>
                </a:lnTo>
                <a:lnTo>
                  <a:pt x="12192000" y="2201779"/>
                </a:lnTo>
                <a:lnTo>
                  <a:pt x="0" y="2201779"/>
                </a:lnTo>
                <a:lnTo>
                  <a:pt x="0" y="430428"/>
                </a:lnTo>
                <a:lnTo>
                  <a:pt x="15110" y="430671"/>
                </a:lnTo>
                <a:cubicBezTo>
                  <a:pt x="324341" y="435912"/>
                  <a:pt x="5284719" y="532552"/>
                  <a:pt x="6095962" y="1351337"/>
                </a:cubicBezTo>
                <a:lnTo>
                  <a:pt x="6095962" y="1344072"/>
                </a:lnTo>
                <a:lnTo>
                  <a:pt x="6096062" y="1344072"/>
                </a:lnTo>
                <a:lnTo>
                  <a:pt x="6096062" y="1351337"/>
                </a:lnTo>
                <a:cubicBezTo>
                  <a:pt x="6933443" y="506139"/>
                  <a:pt x="12191999" y="430428"/>
                  <a:pt x="12191999" y="430428"/>
                </a:cubicBezTo>
                <a:close/>
              </a:path>
            </a:pathLst>
          </a:custGeom>
          <a:gradFill>
            <a:gsLst>
              <a:gs pos="100000">
                <a:srgbClr val="E6DBC2">
                  <a:alpha val="27000"/>
                </a:srgbClr>
              </a:gs>
              <a:gs pos="0">
                <a:schemeClr val="bg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100"/>
          </a:p>
        </p:txBody>
      </p:sp>
      <p:grpSp>
        <p:nvGrpSpPr>
          <p:cNvPr id="81" name="组合 80"/>
          <p:cNvGrpSpPr/>
          <p:nvPr/>
        </p:nvGrpSpPr>
        <p:grpSpPr>
          <a:xfrm>
            <a:off x="-2" y="2"/>
            <a:ext cx="12192003" cy="5369671"/>
            <a:chOff x="-1" y="0"/>
            <a:chExt cx="12192002" cy="5369671"/>
          </a:xfrm>
        </p:grpSpPr>
        <p:grpSp>
          <p:nvGrpSpPr>
            <p:cNvPr id="12" name="组合 11"/>
            <p:cNvGrpSpPr/>
            <p:nvPr/>
          </p:nvGrpSpPr>
          <p:grpSpPr>
            <a:xfrm>
              <a:off x="-1" y="0"/>
              <a:ext cx="12192002" cy="5369671"/>
              <a:chOff x="-1" y="0"/>
              <a:chExt cx="12192002" cy="5369671"/>
            </a:xfrm>
            <a:effectLst>
              <a:outerShdw blurRad="1143000" dist="254000" dir="5400000" algn="t" rotWithShape="0">
                <a:prstClr val="black">
                  <a:alpha val="10000"/>
                </a:prstClr>
              </a:outerShdw>
            </a:effectLst>
          </p:grpSpPr>
          <p:sp>
            <p:nvSpPr>
              <p:cNvPr id="10" name="图形 7"/>
              <p:cNvSpPr/>
              <p:nvPr/>
            </p:nvSpPr>
            <p:spPr>
              <a:xfrm>
                <a:off x="-1" y="212557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图形 7"/>
              <p:cNvSpPr/>
              <p:nvPr/>
            </p:nvSpPr>
            <p:spPr>
              <a:xfrm>
                <a:off x="1" y="0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3A436A"/>
                  </a:gs>
                  <a:gs pos="100000">
                    <a:srgbClr val="4E5B90"/>
                  </a:gs>
                </a:gsLst>
                <a:lin ang="11400000" scaled="0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32" name="任意多边形 42"/>
            <p:cNvSpPr/>
            <p:nvPr/>
          </p:nvSpPr>
          <p:spPr>
            <a:xfrm flipV="1">
              <a:off x="8716010" y="0"/>
              <a:ext cx="3475990" cy="2791460"/>
            </a:xfrm>
            <a:custGeom>
              <a:avLst/>
              <a:gdLst>
                <a:gd name="it" fmla="*/ h 7 12"/>
                <a:gd name="ir" fmla="*/ w 7 12"/>
                <a:gd name="ib" fmla="*/ h 11 12"/>
              </a:gdLst>
              <a:ahLst/>
              <a:cxnLst>
                <a:cxn ang="3">
                  <a:pos x="l" y="t"/>
                </a:cxn>
                <a:cxn ang="cd2">
                  <a:pos x="l" y="vc"/>
                </a:cxn>
                <a:cxn ang="cd4">
                  <a:pos x="l" y="b"/>
                </a:cxn>
                <a:cxn ang="cd4">
                  <a:pos x="hc" y="b"/>
                </a:cxn>
                <a:cxn ang="cd4">
                  <a:pos x="r" y="b"/>
                </a:cxn>
                <a:cxn ang="0">
                  <a:pos x="hc" y="vc"/>
                </a:cxn>
              </a:cxnLst>
              <a:rect l="l" t="t" r="r" b="b"/>
              <a:pathLst>
                <a:path w="5474" h="4396">
                  <a:moveTo>
                    <a:pt x="0" y="0"/>
                  </a:moveTo>
                  <a:lnTo>
                    <a:pt x="5474" y="3836"/>
                  </a:lnTo>
                  <a:lnTo>
                    <a:pt x="5474" y="4396"/>
                  </a:lnTo>
                  <a:lnTo>
                    <a:pt x="0" y="43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9000">
                  <a:srgbClr val="4E5B90">
                    <a:alpha val="52000"/>
                  </a:srgbClr>
                </a:gs>
                <a:gs pos="100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3" name="直角三角形 132"/>
            <p:cNvSpPr/>
            <p:nvPr/>
          </p:nvSpPr>
          <p:spPr>
            <a:xfrm flipV="1">
              <a:off x="635" y="0"/>
              <a:ext cx="4189730" cy="2791460"/>
            </a:xfrm>
            <a:prstGeom prst="rtTriangle">
              <a:avLst/>
            </a:prstGeom>
            <a:gradFill>
              <a:gsLst>
                <a:gs pos="37000">
                  <a:srgbClr val="3D4671">
                    <a:alpha val="28000"/>
                  </a:srgbClr>
                </a:gs>
                <a:gs pos="95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386715" y="3064510"/>
            <a:ext cx="86829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QLCoder：</a:t>
            </a:r>
            <a:r>
              <a:rPr lang="zh-CN" altLang="en-US" sz="2800" b="1" dirty="0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一种用于安全漏洞静态分析的查询合成器</a:t>
            </a:r>
            <a:endParaRPr lang="zh-CN" altLang="en-US" sz="2800" b="1" dirty="0"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 descr="微信图片_20250525175833"/>
          <p:cNvPicPr>
            <a:picLocks noChangeAspect="1"/>
          </p:cNvPicPr>
          <p:nvPr/>
        </p:nvPicPr>
        <p:blipFill>
          <a:blip r:embed="rId2"/>
          <a:srcRect l="7498" t="62863" r="38126" b="9287"/>
          <a:stretch>
            <a:fillRect/>
          </a:stretch>
        </p:blipFill>
        <p:spPr>
          <a:xfrm>
            <a:off x="-167005" y="-290830"/>
            <a:ext cx="4160520" cy="1661160"/>
          </a:xfrm>
          <a:prstGeom prst="rect">
            <a:avLst/>
          </a:prstGeom>
        </p:spPr>
      </p:pic>
      <p:sp>
        <p:nvSpPr>
          <p:cNvPr id="3" name="矩形: 圆角 17"/>
          <p:cNvSpPr/>
          <p:nvPr/>
        </p:nvSpPr>
        <p:spPr>
          <a:xfrm>
            <a:off x="351790" y="6036945"/>
            <a:ext cx="2502535" cy="381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CB29B"/>
              </a:gs>
              <a:gs pos="100000">
                <a:srgbClr val="D3BEAD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000" b="1">
                <a:solidFill>
                  <a:srgbClr val="3E487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日期：</a:t>
            </a:r>
            <a:r>
              <a:rPr lang="en-US" altLang="zh-CN" sz="2000" b="1">
                <a:solidFill>
                  <a:srgbClr val="3E487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2026.4.21</a:t>
            </a:r>
            <a:endParaRPr lang="en-US" altLang="zh-CN" sz="2000" b="1" dirty="0" smtClean="0">
              <a:solidFill>
                <a:srgbClr val="3E487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矩形: 圆角 17"/>
          <p:cNvSpPr/>
          <p:nvPr/>
        </p:nvSpPr>
        <p:spPr>
          <a:xfrm>
            <a:off x="352425" y="5369560"/>
            <a:ext cx="2502000" cy="381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CB29B"/>
              </a:gs>
              <a:gs pos="100000">
                <a:srgbClr val="D3BEAD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000" b="1" dirty="0" smtClean="0">
                <a:solidFill>
                  <a:srgbClr val="3E4871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" panose="00020600040101010101" pitchFamily="18" charset="-122"/>
              </a:rPr>
              <a:t>汇报人：朱岩松</a:t>
            </a:r>
            <a:endParaRPr lang="en-US" altLang="zh-CN" sz="2000" b="1" dirty="0" smtClean="0">
              <a:solidFill>
                <a:srgbClr val="3E4871"/>
              </a:solidFill>
              <a:latin typeface="宋体" panose="02010600030101010101" pitchFamily="2" charset="-122"/>
              <a:ea typeface="宋体" panose="0201060003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2425" y="1169035"/>
            <a:ext cx="11624310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 fontAlgn="auto">
              <a:lnSpc>
                <a:spcPct val="100000"/>
              </a:lnSpc>
            </a:pPr>
            <a:r>
              <a:rPr lang="en-US" altLang="zh-CN" sz="4400" b="1" dirty="0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QLCoder: A Query Synthesizer For Static Analysis of Security Vulnerabilities</a:t>
            </a:r>
            <a:endParaRPr lang="zh-CN" altLang="en-US" sz="4400" b="1" spc="3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1" name="直线连接符 10"/>
          <p:cNvCxnSpPr/>
          <p:nvPr/>
        </p:nvCxnSpPr>
        <p:spPr>
          <a:xfrm>
            <a:off x="481446" y="2819566"/>
            <a:ext cx="9476509" cy="0"/>
          </a:xfrm>
          <a:prstGeom prst="line">
            <a:avLst/>
          </a:prstGeom>
          <a:ln>
            <a:solidFill>
              <a:srgbClr val="D1BA9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5034280" y="5454015"/>
            <a:ext cx="7381875" cy="1269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>
                <a:solidFill>
                  <a:srgbClr val="3E487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The 14th International Conference on Learning Representations (ICLR 2026)</a:t>
            </a:r>
            <a:endParaRPr lang="en-US" altLang="zh-CN" sz="2000" b="1">
              <a:solidFill>
                <a:srgbClr val="3E487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000" b="1">
                <a:solidFill>
                  <a:srgbClr val="3E487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Github源码：https://github.com/neuralprogram/qlcoder</a:t>
            </a:r>
            <a:endParaRPr lang="zh-CN" altLang="en-US" sz="2000" b="1">
              <a:solidFill>
                <a:srgbClr val="3E487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7" grpId="0"/>
      <p:bldP spid="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 rot="16200000">
            <a:off x="-1245269" y="1245270"/>
            <a:ext cx="6858002" cy="4367461"/>
            <a:chOff x="-1" y="0"/>
            <a:chExt cx="12192002" cy="5369671"/>
          </a:xfrm>
          <a:effectLst>
            <a:outerShdw blurRad="1143000" dist="254000" dir="5400000" algn="t" rotWithShape="0">
              <a:prstClr val="black">
                <a:alpha val="10000"/>
              </a:prstClr>
            </a:outerShdw>
          </a:effectLst>
        </p:grpSpPr>
        <p:sp>
          <p:nvSpPr>
            <p:cNvPr id="3" name="图形 7"/>
            <p:cNvSpPr/>
            <p:nvPr/>
          </p:nvSpPr>
          <p:spPr>
            <a:xfrm>
              <a:off x="-1" y="212557"/>
              <a:ext cx="12192000" cy="5157114"/>
            </a:xfrm>
            <a:custGeom>
              <a:avLst/>
              <a:gdLst>
                <a:gd name="connsiteX0" fmla="*/ 6128385 w 12256643"/>
                <a:gd name="connsiteY0" fmla="*/ 5157115 h 5157114"/>
                <a:gd name="connsiteX1" fmla="*/ 6128385 w 12256643"/>
                <a:gd name="connsiteY1" fmla="*/ 5149850 h 5157114"/>
                <a:gd name="connsiteX2" fmla="*/ 6128284 w 12256643"/>
                <a:gd name="connsiteY2" fmla="*/ 5149850 h 5157114"/>
                <a:gd name="connsiteX3" fmla="*/ 6128284 w 12256643"/>
                <a:gd name="connsiteY3" fmla="*/ 5157115 h 5157114"/>
                <a:gd name="connsiteX4" fmla="*/ 0 w 12256643"/>
                <a:gd name="connsiteY4" fmla="*/ 4236206 h 5157114"/>
                <a:gd name="connsiteX5" fmla="*/ 0 w 12256643"/>
                <a:gd name="connsiteY5" fmla="*/ 0 h 5157114"/>
                <a:gd name="connsiteX6" fmla="*/ 6128265 w 12256643"/>
                <a:gd name="connsiteY6" fmla="*/ 0 h 5157114"/>
                <a:gd name="connsiteX7" fmla="*/ 6128265 w 12256643"/>
                <a:gd name="connsiteY7" fmla="*/ 6350 h 5157114"/>
                <a:gd name="connsiteX8" fmla="*/ 6128385 w 12256643"/>
                <a:gd name="connsiteY8" fmla="*/ 6350 h 5157114"/>
                <a:gd name="connsiteX9" fmla="*/ 6128385 w 12256643"/>
                <a:gd name="connsiteY9" fmla="*/ 0 h 5157114"/>
                <a:gd name="connsiteX10" fmla="*/ 12256643 w 12256643"/>
                <a:gd name="connsiteY10" fmla="*/ 0 h 5157114"/>
                <a:gd name="connsiteX11" fmla="*/ 12256643 w 12256643"/>
                <a:gd name="connsiteY11" fmla="*/ 4236206 h 5157114"/>
                <a:gd name="connsiteX12" fmla="*/ 6128385 w 12256643"/>
                <a:gd name="connsiteY12" fmla="*/ 5157115 h 5157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56643" h="5157114">
                  <a:moveTo>
                    <a:pt x="6128385" y="5157115"/>
                  </a:moveTo>
                  <a:lnTo>
                    <a:pt x="6128385" y="5149850"/>
                  </a:lnTo>
                  <a:lnTo>
                    <a:pt x="6128284" y="5149850"/>
                  </a:lnTo>
                  <a:lnTo>
                    <a:pt x="6128284" y="5157115"/>
                  </a:lnTo>
                  <a:cubicBezTo>
                    <a:pt x="5286432" y="4311917"/>
                    <a:pt x="0" y="4236206"/>
                    <a:pt x="0" y="4236206"/>
                  </a:cubicBezTo>
                  <a:lnTo>
                    <a:pt x="0" y="0"/>
                  </a:lnTo>
                  <a:lnTo>
                    <a:pt x="6128265" y="0"/>
                  </a:lnTo>
                  <a:lnTo>
                    <a:pt x="6128265" y="6350"/>
                  </a:lnTo>
                  <a:lnTo>
                    <a:pt x="6128385" y="6350"/>
                  </a:lnTo>
                  <a:lnTo>
                    <a:pt x="6128385" y="0"/>
                  </a:lnTo>
                  <a:lnTo>
                    <a:pt x="12256643" y="0"/>
                  </a:lnTo>
                  <a:lnTo>
                    <a:pt x="12256643" y="4236206"/>
                  </a:lnTo>
                  <a:cubicBezTo>
                    <a:pt x="12256643" y="4236206"/>
                    <a:pt x="6970205" y="4311917"/>
                    <a:pt x="6128385" y="5157115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" name="图形 7"/>
            <p:cNvSpPr/>
            <p:nvPr/>
          </p:nvSpPr>
          <p:spPr>
            <a:xfrm>
              <a:off x="1" y="0"/>
              <a:ext cx="12192000" cy="5157114"/>
            </a:xfrm>
            <a:custGeom>
              <a:avLst/>
              <a:gdLst>
                <a:gd name="connsiteX0" fmla="*/ 6128385 w 12256643"/>
                <a:gd name="connsiteY0" fmla="*/ 5157115 h 5157114"/>
                <a:gd name="connsiteX1" fmla="*/ 6128385 w 12256643"/>
                <a:gd name="connsiteY1" fmla="*/ 5149850 h 5157114"/>
                <a:gd name="connsiteX2" fmla="*/ 6128284 w 12256643"/>
                <a:gd name="connsiteY2" fmla="*/ 5149850 h 5157114"/>
                <a:gd name="connsiteX3" fmla="*/ 6128284 w 12256643"/>
                <a:gd name="connsiteY3" fmla="*/ 5157115 h 5157114"/>
                <a:gd name="connsiteX4" fmla="*/ 0 w 12256643"/>
                <a:gd name="connsiteY4" fmla="*/ 4236206 h 5157114"/>
                <a:gd name="connsiteX5" fmla="*/ 0 w 12256643"/>
                <a:gd name="connsiteY5" fmla="*/ 0 h 5157114"/>
                <a:gd name="connsiteX6" fmla="*/ 6128265 w 12256643"/>
                <a:gd name="connsiteY6" fmla="*/ 0 h 5157114"/>
                <a:gd name="connsiteX7" fmla="*/ 6128265 w 12256643"/>
                <a:gd name="connsiteY7" fmla="*/ 6350 h 5157114"/>
                <a:gd name="connsiteX8" fmla="*/ 6128385 w 12256643"/>
                <a:gd name="connsiteY8" fmla="*/ 6350 h 5157114"/>
                <a:gd name="connsiteX9" fmla="*/ 6128385 w 12256643"/>
                <a:gd name="connsiteY9" fmla="*/ 0 h 5157114"/>
                <a:gd name="connsiteX10" fmla="*/ 12256643 w 12256643"/>
                <a:gd name="connsiteY10" fmla="*/ 0 h 5157114"/>
                <a:gd name="connsiteX11" fmla="*/ 12256643 w 12256643"/>
                <a:gd name="connsiteY11" fmla="*/ 4236206 h 5157114"/>
                <a:gd name="connsiteX12" fmla="*/ 6128385 w 12256643"/>
                <a:gd name="connsiteY12" fmla="*/ 5157115 h 5157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56643" h="5157114">
                  <a:moveTo>
                    <a:pt x="6128385" y="5157115"/>
                  </a:moveTo>
                  <a:lnTo>
                    <a:pt x="6128385" y="5149850"/>
                  </a:lnTo>
                  <a:lnTo>
                    <a:pt x="6128284" y="5149850"/>
                  </a:lnTo>
                  <a:lnTo>
                    <a:pt x="6128284" y="5157115"/>
                  </a:lnTo>
                  <a:cubicBezTo>
                    <a:pt x="5286432" y="4311917"/>
                    <a:pt x="0" y="4236206"/>
                    <a:pt x="0" y="4236206"/>
                  </a:cubicBezTo>
                  <a:lnTo>
                    <a:pt x="0" y="0"/>
                  </a:lnTo>
                  <a:lnTo>
                    <a:pt x="6128265" y="0"/>
                  </a:lnTo>
                  <a:lnTo>
                    <a:pt x="6128265" y="6350"/>
                  </a:lnTo>
                  <a:lnTo>
                    <a:pt x="6128385" y="6350"/>
                  </a:lnTo>
                  <a:lnTo>
                    <a:pt x="6128385" y="0"/>
                  </a:lnTo>
                  <a:lnTo>
                    <a:pt x="12256643" y="0"/>
                  </a:lnTo>
                  <a:lnTo>
                    <a:pt x="12256643" y="4236206"/>
                  </a:lnTo>
                  <a:cubicBezTo>
                    <a:pt x="12256643" y="4236206"/>
                    <a:pt x="6970205" y="4311917"/>
                    <a:pt x="6128385" y="5157115"/>
                  </a:cubicBezTo>
                  <a:close/>
                </a:path>
              </a:pathLst>
            </a:custGeom>
            <a:gradFill>
              <a:gsLst>
                <a:gs pos="0">
                  <a:srgbClr val="3A436A"/>
                </a:gs>
                <a:gs pos="100000">
                  <a:srgbClr val="4E5B90"/>
                </a:gs>
              </a:gsLst>
              <a:lin ang="11400000" scaled="0"/>
            </a:gra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59" name="任意多边形: 形状 58"/>
          <p:cNvSpPr/>
          <p:nvPr/>
        </p:nvSpPr>
        <p:spPr>
          <a:xfrm rot="16200000">
            <a:off x="4612509" y="-122626"/>
            <a:ext cx="6894105" cy="8264879"/>
          </a:xfrm>
          <a:custGeom>
            <a:avLst/>
            <a:gdLst>
              <a:gd name="connsiteX0" fmla="*/ 6894105 w 6894105"/>
              <a:gd name="connsiteY0" fmla="*/ 1160110 h 8264879"/>
              <a:gd name="connsiteX1" fmla="*/ 6894105 w 6894105"/>
              <a:gd name="connsiteY1" fmla="*/ 8264879 h 8264879"/>
              <a:gd name="connsiteX2" fmla="*/ 36104 w 6894105"/>
              <a:gd name="connsiteY2" fmla="*/ 8264879 h 8264879"/>
              <a:gd name="connsiteX3" fmla="*/ 36104 w 6894105"/>
              <a:gd name="connsiteY3" fmla="*/ 1643501 h 8264879"/>
              <a:gd name="connsiteX4" fmla="*/ 0 w 6894105"/>
              <a:gd name="connsiteY4" fmla="*/ 1643501 h 8264879"/>
              <a:gd name="connsiteX5" fmla="*/ 0 w 6894105"/>
              <a:gd name="connsiteY5" fmla="*/ 321290 h 8264879"/>
              <a:gd name="connsiteX6" fmla="*/ 8500 w 6894105"/>
              <a:gd name="connsiteY6" fmla="*/ 321471 h 8264879"/>
              <a:gd name="connsiteX7" fmla="*/ 3428979 w 6894105"/>
              <a:gd name="connsiteY7" fmla="*/ 1008695 h 8264879"/>
              <a:gd name="connsiteX8" fmla="*/ 3428979 w 6894105"/>
              <a:gd name="connsiteY8" fmla="*/ 1003272 h 8264879"/>
              <a:gd name="connsiteX9" fmla="*/ 3429036 w 6894105"/>
              <a:gd name="connsiteY9" fmla="*/ 1003272 h 8264879"/>
              <a:gd name="connsiteX10" fmla="*/ 3429036 w 6894105"/>
              <a:gd name="connsiteY10" fmla="*/ 1008695 h 8264879"/>
              <a:gd name="connsiteX11" fmla="*/ 6858000 w 6894105"/>
              <a:gd name="connsiteY11" fmla="*/ 321290 h 8264879"/>
              <a:gd name="connsiteX12" fmla="*/ 6858000 w 6894105"/>
              <a:gd name="connsiteY12" fmla="*/ 0 h 8264879"/>
              <a:gd name="connsiteX13" fmla="*/ 6858001 w 6894105"/>
              <a:gd name="connsiteY13" fmla="*/ 0 h 8264879"/>
              <a:gd name="connsiteX14" fmla="*/ 6858001 w 6894105"/>
              <a:gd name="connsiteY14" fmla="*/ 1160110 h 8264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894105" h="8264879">
                <a:moveTo>
                  <a:pt x="6894105" y="1160110"/>
                </a:moveTo>
                <a:lnTo>
                  <a:pt x="6894105" y="8264879"/>
                </a:lnTo>
                <a:lnTo>
                  <a:pt x="36104" y="8264879"/>
                </a:lnTo>
                <a:lnTo>
                  <a:pt x="36104" y="1643501"/>
                </a:lnTo>
                <a:lnTo>
                  <a:pt x="0" y="1643501"/>
                </a:lnTo>
                <a:lnTo>
                  <a:pt x="0" y="321290"/>
                </a:lnTo>
                <a:lnTo>
                  <a:pt x="8500" y="321471"/>
                </a:lnTo>
                <a:cubicBezTo>
                  <a:pt x="182442" y="325383"/>
                  <a:pt x="2972655" y="397520"/>
                  <a:pt x="3428979" y="1008695"/>
                </a:cubicBezTo>
                <a:lnTo>
                  <a:pt x="3428979" y="1003272"/>
                </a:lnTo>
                <a:lnTo>
                  <a:pt x="3429036" y="1003272"/>
                </a:lnTo>
                <a:lnTo>
                  <a:pt x="3429036" y="1008695"/>
                </a:lnTo>
                <a:cubicBezTo>
                  <a:pt x="3900062" y="377804"/>
                  <a:pt x="6858000" y="321290"/>
                  <a:pt x="6858000" y="321290"/>
                </a:cubicBezTo>
                <a:lnTo>
                  <a:pt x="6858000" y="0"/>
                </a:lnTo>
                <a:lnTo>
                  <a:pt x="6858001" y="0"/>
                </a:lnTo>
                <a:lnTo>
                  <a:pt x="6858001" y="1160110"/>
                </a:lnTo>
                <a:close/>
              </a:path>
            </a:pathLst>
          </a:custGeom>
          <a:gradFill>
            <a:gsLst>
              <a:gs pos="100000">
                <a:srgbClr val="E6DBC2">
                  <a:alpha val="27000"/>
                </a:srgbClr>
              </a:gs>
              <a:gs pos="0">
                <a:schemeClr val="bg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100"/>
          </a:p>
        </p:txBody>
      </p:sp>
      <p:sp>
        <p:nvSpPr>
          <p:cNvPr id="60" name="文本框 59"/>
          <p:cNvSpPr txBox="1"/>
          <p:nvPr/>
        </p:nvSpPr>
        <p:spPr>
          <a:xfrm>
            <a:off x="876057" y="1166844"/>
            <a:ext cx="875147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·</a:t>
            </a:r>
            <a:r>
              <a:rPr lang="zh-CN" altLang="en-US" sz="7200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目</a:t>
            </a:r>
            <a:endParaRPr lang="en-US" altLang="zh-CN" sz="7200"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  <a:p>
            <a:pPr algn="ctr"/>
            <a:r>
              <a:rPr lang="zh-CN" altLang="en-US" sz="7200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录</a:t>
            </a:r>
            <a:r>
              <a:rPr lang="en-US" altLang="zh-CN" sz="7200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lt"/>
              </a:rPr>
              <a:t>·</a:t>
            </a:r>
            <a:endParaRPr lang="en-US" altLang="zh-CN" sz="7200"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lt"/>
            </a:endParaRPr>
          </a:p>
        </p:txBody>
      </p:sp>
      <p:grpSp>
        <p:nvGrpSpPr>
          <p:cNvPr id="63" name="组合 62"/>
          <p:cNvGrpSpPr/>
          <p:nvPr>
            <p:custDataLst>
              <p:tags r:id="rId1"/>
            </p:custDataLst>
          </p:nvPr>
        </p:nvGrpSpPr>
        <p:grpSpPr>
          <a:xfrm>
            <a:off x="6642968" y="1503555"/>
            <a:ext cx="4841120" cy="709121"/>
            <a:chOff x="4686961" y="2483814"/>
            <a:chExt cx="4841119" cy="709121"/>
          </a:xfrm>
        </p:grpSpPr>
        <p:grpSp>
          <p:nvGrpSpPr>
            <p:cNvPr id="66" name="组合 65"/>
            <p:cNvGrpSpPr/>
            <p:nvPr/>
          </p:nvGrpSpPr>
          <p:grpSpPr>
            <a:xfrm rot="0">
              <a:off x="4721131" y="2520895"/>
              <a:ext cx="4806949" cy="634960"/>
              <a:chOff x="6375151" y="2067943"/>
              <a:chExt cx="4806949" cy="634960"/>
            </a:xfrm>
            <a:solidFill>
              <a:schemeClr val="bg1"/>
            </a:solidFill>
          </p:grpSpPr>
          <p:sp>
            <p:nvSpPr>
              <p:cNvPr id="68" name="15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7187316" y="2178433"/>
                <a:ext cx="3994784" cy="424815"/>
              </a:xfrm>
              <a:prstGeom prst="roundRect">
                <a:avLst>
                  <a:gd name="adj" fmla="val 0"/>
                </a:avLst>
              </a:prstGeom>
              <a:noFill/>
              <a:ln w="2540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600"/>
                  </a:lnSpc>
                </a:pPr>
                <a:r>
                  <a:rPr lang="zh-CN" altLang="en-US" sz="2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 Heavy" pitchFamily="18" charset="-122"/>
                    <a:sym typeface="+mn-lt"/>
                  </a:rPr>
                  <a:t>问题背景与任务定义</a:t>
                </a:r>
                <a:endParaRPr lang="zh-CN" altLang="en-US" sz="2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阿里巴巴普惠体 Heavy" pitchFamily="18" charset="-122"/>
                  <a:sym typeface="+mn-lt"/>
                </a:endParaRPr>
              </a:p>
            </p:txBody>
          </p:sp>
          <p:grpSp>
            <p:nvGrpSpPr>
              <p:cNvPr id="69" name="组合 68"/>
              <p:cNvGrpSpPr/>
              <p:nvPr/>
            </p:nvGrpSpPr>
            <p:grpSpPr>
              <a:xfrm>
                <a:off x="6375151" y="2067943"/>
                <a:ext cx="634960" cy="634960"/>
                <a:chOff x="6370632" y="2067943"/>
                <a:chExt cx="634960" cy="634960"/>
              </a:xfrm>
              <a:grpFill/>
            </p:grpSpPr>
            <p:sp>
              <p:nvSpPr>
                <p:cNvPr id="70" name="椭圆 69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6370632" y="2067943"/>
                  <a:ext cx="634960" cy="634960"/>
                </a:xfrm>
                <a:prstGeom prst="ellipse">
                  <a:avLst/>
                </a:prstGeom>
                <a:gradFill>
                  <a:gsLst>
                    <a:gs pos="19000">
                      <a:srgbClr val="C6AA90"/>
                    </a:gs>
                    <a:gs pos="87000">
                      <a:srgbClr val="DFD0C3"/>
                    </a:gs>
                  </a:gsLst>
                  <a:lin ang="16200000" scaled="0"/>
                </a:gradFill>
                <a:ln w="5080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15"/>
                <p:cNvSpPr txBox="1"/>
                <p:nvPr>
                  <p:custDataLst>
                    <p:tags r:id="rId4"/>
                  </p:custDataLst>
                </p:nvPr>
              </p:nvSpPr>
              <p:spPr>
                <a:xfrm>
                  <a:off x="6388764" y="2178572"/>
                  <a:ext cx="598697" cy="424814"/>
                </a:xfrm>
                <a:prstGeom prst="roundRect">
                  <a:avLst>
                    <a:gd name="adj" fmla="val 0"/>
                  </a:avLst>
                </a:prstGeom>
                <a:noFill/>
                <a:ln w="25400"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ts val="2600"/>
                    </a:lnSpc>
                    <a:defRPr sz="2000" b="1">
                      <a:solidFill>
                        <a:srgbClr val="4C588B"/>
                      </a:solidFill>
                      <a:latin typeface="阿里巴巴普惠体 Heavy" pitchFamily="18" charset="-122"/>
                      <a:ea typeface="阿里巴巴普惠体 Heavy" pitchFamily="18" charset="-122"/>
                      <a:cs typeface="阿里巴巴普惠体 Heavy" pitchFamily="18" charset="-122"/>
                    </a:defRPr>
                  </a:lvl1pPr>
                </a:lstStyle>
                <a:p>
                  <a:r>
                    <a:rPr lang="en-US" altLang="zh-CN" sz="2400" dirty="0">
                      <a:latin typeface="宋体" panose="02010600030101010101" pitchFamily="2" charset="-122"/>
                      <a:ea typeface="宋体" panose="02010600030101010101" pitchFamily="2" charset="-122"/>
                      <a:sym typeface="+mn-lt"/>
                    </a:rPr>
                    <a:t>01</a:t>
                  </a:r>
                  <a:endPara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lt"/>
                  </a:endParaRPr>
                </a:p>
              </p:txBody>
            </p:sp>
          </p:grpSp>
        </p:grpSp>
        <p:sp>
          <p:nvSpPr>
            <p:cNvPr id="65" name="椭圆 64"/>
            <p:cNvSpPr/>
            <p:nvPr>
              <p:custDataLst>
                <p:tags r:id="rId5"/>
              </p:custDataLst>
            </p:nvPr>
          </p:nvSpPr>
          <p:spPr>
            <a:xfrm>
              <a:off x="4686961" y="2483814"/>
              <a:ext cx="709121" cy="709121"/>
            </a:xfrm>
            <a:prstGeom prst="ellipse">
              <a:avLst/>
            </a:prstGeom>
            <a:noFill/>
            <a:ln w="63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5000">
                    <a:srgbClr val="3D4771"/>
                  </a:gs>
                  <a:gs pos="100000">
                    <a:schemeClr val="bg1"/>
                  </a:gs>
                </a:gsLst>
                <a:lin ang="5400000" scaled="1"/>
              </a:gra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2" name="组合 71"/>
          <p:cNvGrpSpPr/>
          <p:nvPr>
            <p:custDataLst>
              <p:tags r:id="rId6"/>
            </p:custDataLst>
          </p:nvPr>
        </p:nvGrpSpPr>
        <p:grpSpPr>
          <a:xfrm>
            <a:off x="6642968" y="2553297"/>
            <a:ext cx="4571245" cy="709121"/>
            <a:chOff x="4686961" y="2483814"/>
            <a:chExt cx="4571244" cy="709121"/>
          </a:xfrm>
        </p:grpSpPr>
        <p:grpSp>
          <p:nvGrpSpPr>
            <p:cNvPr id="75" name="组合 74"/>
            <p:cNvGrpSpPr/>
            <p:nvPr/>
          </p:nvGrpSpPr>
          <p:grpSpPr>
            <a:xfrm rot="0">
              <a:off x="4721131" y="2520895"/>
              <a:ext cx="4537074" cy="634960"/>
              <a:chOff x="6375151" y="2067943"/>
              <a:chExt cx="4537074" cy="634960"/>
            </a:xfrm>
            <a:solidFill>
              <a:schemeClr val="bg1"/>
            </a:solidFill>
          </p:grpSpPr>
          <p:sp>
            <p:nvSpPr>
              <p:cNvPr id="77" name="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7187951" y="2179068"/>
                <a:ext cx="3724274" cy="424815"/>
              </a:xfrm>
              <a:prstGeom prst="roundRect">
                <a:avLst>
                  <a:gd name="adj" fmla="val 0"/>
                </a:avLst>
              </a:prstGeom>
              <a:noFill/>
              <a:ln w="25400"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2600"/>
                  </a:lnSpc>
                  <a:defRPr sz="2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 Heavy" pitchFamily="18" charset="-122"/>
                    <a:ea typeface="阿里巴巴普惠体 Heavy" pitchFamily="18" charset="-122"/>
                    <a:cs typeface="阿里巴巴普惠体 Heavy" pitchFamily="18" charset="-122"/>
                  </a:defRPr>
                </a:lvl1pPr>
              </a:lstStyle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  <a:sym typeface="+mn-lt"/>
                  </a:rPr>
                  <a:t>方法框架与系统设计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endParaRPr>
              </a:p>
            </p:txBody>
          </p:sp>
          <p:grpSp>
            <p:nvGrpSpPr>
              <p:cNvPr id="78" name="组合 77"/>
              <p:cNvGrpSpPr/>
              <p:nvPr/>
            </p:nvGrpSpPr>
            <p:grpSpPr>
              <a:xfrm>
                <a:off x="6375151" y="2067943"/>
                <a:ext cx="634960" cy="634960"/>
                <a:chOff x="6370632" y="2067943"/>
                <a:chExt cx="634960" cy="634960"/>
              </a:xfrm>
              <a:grpFill/>
            </p:grpSpPr>
            <p:sp>
              <p:nvSpPr>
                <p:cNvPr id="79" name="椭圆 78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370632" y="2067943"/>
                  <a:ext cx="634960" cy="634960"/>
                </a:xfrm>
                <a:prstGeom prst="ellipse">
                  <a:avLst/>
                </a:prstGeom>
                <a:gradFill>
                  <a:gsLst>
                    <a:gs pos="19000">
                      <a:srgbClr val="C6AA90"/>
                    </a:gs>
                    <a:gs pos="87000">
                      <a:srgbClr val="DFD0C3"/>
                    </a:gs>
                  </a:gsLst>
                  <a:lin ang="16200000" scaled="0"/>
                </a:gradFill>
                <a:ln w="5080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0" name="15"/>
                <p:cNvSpPr txBox="1"/>
                <p:nvPr>
                  <p:custDataLst>
                    <p:tags r:id="rId9"/>
                  </p:custDataLst>
                </p:nvPr>
              </p:nvSpPr>
              <p:spPr>
                <a:xfrm>
                  <a:off x="6388764" y="2178572"/>
                  <a:ext cx="598697" cy="424814"/>
                </a:xfrm>
                <a:prstGeom prst="roundRect">
                  <a:avLst>
                    <a:gd name="adj" fmla="val 0"/>
                  </a:avLst>
                </a:prstGeom>
                <a:noFill/>
                <a:ln w="25400"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ts val="2600"/>
                    </a:lnSpc>
                    <a:defRPr sz="2000" b="1">
                      <a:solidFill>
                        <a:srgbClr val="4C588B"/>
                      </a:solidFill>
                      <a:latin typeface="阿里巴巴普惠体 Heavy" pitchFamily="18" charset="-122"/>
                      <a:ea typeface="阿里巴巴普惠体 Heavy" pitchFamily="18" charset="-122"/>
                      <a:cs typeface="阿里巴巴普惠体 Heavy" pitchFamily="18" charset="-122"/>
                    </a:defRPr>
                  </a:lvl1pPr>
                </a:lstStyle>
                <a:p>
                  <a:r>
                    <a:rPr lang="en-US" altLang="zh-CN" sz="2400" dirty="0">
                      <a:latin typeface="宋体" panose="02010600030101010101" pitchFamily="2" charset="-122"/>
                      <a:ea typeface="宋体" panose="02010600030101010101" pitchFamily="2" charset="-122"/>
                      <a:sym typeface="+mn-lt"/>
                    </a:rPr>
                    <a:t>02</a:t>
                  </a:r>
                  <a:endPara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lt"/>
                  </a:endParaRPr>
                </a:p>
              </p:txBody>
            </p:sp>
          </p:grpSp>
        </p:grpSp>
        <p:sp>
          <p:nvSpPr>
            <p:cNvPr id="74" name="椭圆 73"/>
            <p:cNvSpPr/>
            <p:nvPr>
              <p:custDataLst>
                <p:tags r:id="rId10"/>
              </p:custDataLst>
            </p:nvPr>
          </p:nvSpPr>
          <p:spPr>
            <a:xfrm>
              <a:off x="4686961" y="2483814"/>
              <a:ext cx="709121" cy="709121"/>
            </a:xfrm>
            <a:prstGeom prst="ellipse">
              <a:avLst/>
            </a:prstGeom>
            <a:noFill/>
            <a:ln w="63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5000">
                    <a:srgbClr val="3D4771"/>
                  </a:gs>
                  <a:gs pos="100000">
                    <a:schemeClr val="bg1"/>
                  </a:gs>
                </a:gsLst>
                <a:lin ang="5400000" scaled="1"/>
              </a:gra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1" name="组合 80"/>
          <p:cNvGrpSpPr/>
          <p:nvPr>
            <p:custDataLst>
              <p:tags r:id="rId11"/>
            </p:custDataLst>
          </p:nvPr>
        </p:nvGrpSpPr>
        <p:grpSpPr>
          <a:xfrm>
            <a:off x="6648048" y="3604944"/>
            <a:ext cx="4836675" cy="709121"/>
            <a:chOff x="4686961" y="2483814"/>
            <a:chExt cx="4836674" cy="709121"/>
          </a:xfrm>
        </p:grpSpPr>
        <p:grpSp>
          <p:nvGrpSpPr>
            <p:cNvPr id="84" name="组合 83"/>
            <p:cNvGrpSpPr/>
            <p:nvPr/>
          </p:nvGrpSpPr>
          <p:grpSpPr>
            <a:xfrm rot="0">
              <a:off x="4721131" y="2520895"/>
              <a:ext cx="4802504" cy="634960"/>
              <a:chOff x="6375151" y="2067943"/>
              <a:chExt cx="4802504" cy="634960"/>
            </a:xfrm>
            <a:solidFill>
              <a:schemeClr val="bg1"/>
            </a:solidFill>
          </p:grpSpPr>
          <p:sp>
            <p:nvSpPr>
              <p:cNvPr id="86" name="1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187951" y="2177798"/>
                <a:ext cx="3989704" cy="424815"/>
              </a:xfrm>
              <a:prstGeom prst="roundRect">
                <a:avLst>
                  <a:gd name="adj" fmla="val 0"/>
                </a:avLst>
              </a:prstGeom>
              <a:noFill/>
              <a:ln w="25400"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2600"/>
                  </a:lnSpc>
                  <a:defRPr sz="2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 Heavy" pitchFamily="18" charset="-122"/>
                    <a:ea typeface="阿里巴巴普惠体 Heavy" pitchFamily="18" charset="-122"/>
                    <a:cs typeface="阿里巴巴普惠体 Heavy" pitchFamily="18" charset="-122"/>
                  </a:defRPr>
                </a:lvl1pPr>
              </a:lstStyle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  <a:sym typeface="+mn-lt"/>
                  </a:rPr>
                  <a:t>实验设计与结果分析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endParaRPr>
              </a:p>
            </p:txBody>
          </p:sp>
          <p:grpSp>
            <p:nvGrpSpPr>
              <p:cNvPr id="87" name="组合 86"/>
              <p:cNvGrpSpPr/>
              <p:nvPr/>
            </p:nvGrpSpPr>
            <p:grpSpPr>
              <a:xfrm>
                <a:off x="6375151" y="2067943"/>
                <a:ext cx="634960" cy="634960"/>
                <a:chOff x="6370632" y="2067943"/>
                <a:chExt cx="634960" cy="634960"/>
              </a:xfrm>
              <a:grpFill/>
            </p:grpSpPr>
            <p:sp>
              <p:nvSpPr>
                <p:cNvPr id="88" name="椭圆 87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6370632" y="2067943"/>
                  <a:ext cx="634960" cy="634960"/>
                </a:xfrm>
                <a:prstGeom prst="ellipse">
                  <a:avLst/>
                </a:prstGeom>
                <a:gradFill>
                  <a:gsLst>
                    <a:gs pos="19000">
                      <a:srgbClr val="C6AA90"/>
                    </a:gs>
                    <a:gs pos="87000">
                      <a:srgbClr val="DFD0C3"/>
                    </a:gs>
                  </a:gsLst>
                  <a:lin ang="16200000" scaled="0"/>
                </a:gradFill>
                <a:ln w="5080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9" name="15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6388764" y="2178572"/>
                  <a:ext cx="598697" cy="424814"/>
                </a:xfrm>
                <a:prstGeom prst="roundRect">
                  <a:avLst>
                    <a:gd name="adj" fmla="val 0"/>
                  </a:avLst>
                </a:prstGeom>
                <a:noFill/>
                <a:ln w="25400">
                  <a:noFill/>
                </a:ln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algn="ctr">
                    <a:lnSpc>
                      <a:spcPts val="2600"/>
                    </a:lnSpc>
                    <a:defRPr sz="2000" b="1">
                      <a:solidFill>
                        <a:srgbClr val="4C588B"/>
                      </a:solidFill>
                      <a:latin typeface="阿里巴巴普惠体 Heavy" pitchFamily="18" charset="-122"/>
                      <a:ea typeface="阿里巴巴普惠体 Heavy" pitchFamily="18" charset="-122"/>
                      <a:cs typeface="阿里巴巴普惠体 Heavy" pitchFamily="18" charset="-122"/>
                    </a:defRPr>
                  </a:lvl1pPr>
                </a:lstStyle>
                <a:p>
                  <a:r>
                    <a:rPr lang="en-US" altLang="zh-CN" sz="2400" dirty="0">
                      <a:latin typeface="宋体" panose="02010600030101010101" pitchFamily="2" charset="-122"/>
                      <a:ea typeface="宋体" panose="02010600030101010101" pitchFamily="2" charset="-122"/>
                      <a:sym typeface="+mn-lt"/>
                    </a:rPr>
                    <a:t>03</a:t>
                  </a:r>
                  <a:endPara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sym typeface="+mn-lt"/>
                  </a:endParaRPr>
                </a:p>
              </p:txBody>
            </p:sp>
          </p:grpSp>
        </p:grpSp>
        <p:sp>
          <p:nvSpPr>
            <p:cNvPr id="83" name="椭圆 82"/>
            <p:cNvSpPr/>
            <p:nvPr>
              <p:custDataLst>
                <p:tags r:id="rId15"/>
              </p:custDataLst>
            </p:nvPr>
          </p:nvSpPr>
          <p:spPr>
            <a:xfrm>
              <a:off x="4686961" y="2483814"/>
              <a:ext cx="709121" cy="709121"/>
            </a:xfrm>
            <a:prstGeom prst="ellipse">
              <a:avLst/>
            </a:prstGeom>
            <a:noFill/>
            <a:ln w="63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5000">
                    <a:srgbClr val="3D4771"/>
                  </a:gs>
                  <a:gs pos="100000">
                    <a:schemeClr val="bg1"/>
                  </a:gs>
                </a:gsLst>
                <a:lin ang="5400000" scaled="1"/>
              </a:gra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0" name="组合 89"/>
          <p:cNvGrpSpPr/>
          <p:nvPr>
            <p:custDataLst>
              <p:tags r:id="rId16"/>
            </p:custDataLst>
          </p:nvPr>
        </p:nvGrpSpPr>
        <p:grpSpPr>
          <a:xfrm>
            <a:off x="6642968" y="4705486"/>
            <a:ext cx="3640507" cy="709121"/>
            <a:chOff x="4686961" y="2483814"/>
            <a:chExt cx="3640506" cy="709121"/>
          </a:xfrm>
        </p:grpSpPr>
        <p:grpSp>
          <p:nvGrpSpPr>
            <p:cNvPr id="93" name="组合 92"/>
            <p:cNvGrpSpPr/>
            <p:nvPr/>
          </p:nvGrpSpPr>
          <p:grpSpPr>
            <a:xfrm rot="0">
              <a:off x="4721131" y="2520895"/>
              <a:ext cx="3606336" cy="634960"/>
              <a:chOff x="6375151" y="2067943"/>
              <a:chExt cx="3606336" cy="634960"/>
            </a:xfrm>
            <a:solidFill>
              <a:schemeClr val="bg1"/>
            </a:solidFill>
          </p:grpSpPr>
          <p:sp>
            <p:nvSpPr>
              <p:cNvPr id="95" name="15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7187639" y="2187242"/>
                <a:ext cx="2793848" cy="424815"/>
              </a:xfrm>
              <a:prstGeom prst="roundRect">
                <a:avLst>
                  <a:gd name="adj" fmla="val 0"/>
                </a:avLst>
              </a:prstGeom>
              <a:noFill/>
              <a:ln w="25400"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ts val="2600"/>
                  </a:lnSpc>
                  <a:defRPr sz="28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阿里巴巴普惠体 Heavy" pitchFamily="18" charset="-122"/>
                    <a:ea typeface="阿里巴巴普惠体 Heavy" pitchFamily="18" charset="-122"/>
                    <a:cs typeface="阿里巴巴普惠体 Heavy" pitchFamily="18" charset="-122"/>
                  </a:defRPr>
                </a:lvl1pPr>
              </a:lstStyle>
              <a:p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  <a:sym typeface="+mn-lt"/>
                  </a:rPr>
                  <a:t>应用价值与总结</a:t>
                </a:r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sym typeface="+mn-lt"/>
                </a:endParaRPr>
              </a:p>
            </p:txBody>
          </p:sp>
          <p:grpSp>
            <p:nvGrpSpPr>
              <p:cNvPr id="96" name="组合 95"/>
              <p:cNvGrpSpPr/>
              <p:nvPr/>
            </p:nvGrpSpPr>
            <p:grpSpPr>
              <a:xfrm>
                <a:off x="6375151" y="2067943"/>
                <a:ext cx="634960" cy="634960"/>
                <a:chOff x="6370632" y="2067943"/>
                <a:chExt cx="634960" cy="634960"/>
              </a:xfrm>
              <a:grpFill/>
            </p:grpSpPr>
            <p:sp>
              <p:nvSpPr>
                <p:cNvPr id="97" name="椭圆 96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370632" y="2067943"/>
                  <a:ext cx="634960" cy="634960"/>
                </a:xfrm>
                <a:prstGeom prst="ellipse">
                  <a:avLst/>
                </a:prstGeom>
                <a:gradFill>
                  <a:gsLst>
                    <a:gs pos="19000">
                      <a:srgbClr val="C6AA90"/>
                    </a:gs>
                    <a:gs pos="87000">
                      <a:srgbClr val="DFD0C3"/>
                    </a:gs>
                  </a:gsLst>
                  <a:lin ang="16200000" scaled="0"/>
                </a:gradFill>
                <a:ln w="50800">
                  <a:noFill/>
                </a:ln>
                <a:effectLst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tx1">
                        <a:lumMod val="85000"/>
                        <a:lumOff val="15000"/>
                      </a:schemeClr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8" name="15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6388764" y="2178572"/>
                  <a:ext cx="598697" cy="424814"/>
                </a:xfrm>
                <a:prstGeom prst="roundRect">
                  <a:avLst>
                    <a:gd name="adj" fmla="val 0"/>
                  </a:avLst>
                </a:prstGeom>
                <a:noFill/>
                <a:ln w="25400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2600"/>
                    </a:lnSpc>
                  </a:pPr>
                  <a:r>
                    <a:rPr lang="en-US" altLang="zh-CN" sz="2400" b="1" dirty="0">
                      <a:solidFill>
                        <a:srgbClr val="4C588B"/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 Heavy" pitchFamily="18" charset="-122"/>
                      <a:sym typeface="+mn-lt"/>
                    </a:rPr>
                    <a:t>04</a:t>
                  </a:r>
                  <a:endParaRPr lang="zh-CN" altLang="en-US" sz="2400" b="1" dirty="0">
                    <a:solidFill>
                      <a:srgbClr val="4C588B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 Heavy" pitchFamily="18" charset="-122"/>
                    <a:sym typeface="+mn-lt"/>
                  </a:endParaRPr>
                </a:p>
              </p:txBody>
            </p:sp>
          </p:grpSp>
        </p:grpSp>
        <p:sp>
          <p:nvSpPr>
            <p:cNvPr id="92" name="椭圆 91"/>
            <p:cNvSpPr/>
            <p:nvPr>
              <p:custDataLst>
                <p:tags r:id="rId20"/>
              </p:custDataLst>
            </p:nvPr>
          </p:nvSpPr>
          <p:spPr>
            <a:xfrm>
              <a:off x="4686961" y="2483814"/>
              <a:ext cx="709121" cy="709121"/>
            </a:xfrm>
            <a:prstGeom prst="ellipse">
              <a:avLst/>
            </a:prstGeom>
            <a:noFill/>
            <a:ln w="635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55000">
                    <a:srgbClr val="3D4771"/>
                  </a:gs>
                  <a:gs pos="100000">
                    <a:schemeClr val="bg1"/>
                  </a:gs>
                </a:gsLst>
                <a:lin ang="5400000" scaled="1"/>
              </a:gradFill>
              <a:prstDash val="soli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pic>
        <p:nvPicPr>
          <p:cNvPr id="99" name="图形 98"/>
          <p:cNvPicPr>
            <a:picLocks noChangeAspect="1"/>
          </p:cNvPicPr>
          <p:nvPr/>
        </p:nvPicPr>
        <p:blipFill>
          <a:blip r:embed="rId21" cstate="email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 flipH="1">
            <a:off x="11213772" y="1570912"/>
            <a:ext cx="978221" cy="1905000"/>
          </a:xfrm>
          <a:custGeom>
            <a:avLst/>
            <a:gdLst>
              <a:gd name="connsiteX0" fmla="*/ 0 w 978221"/>
              <a:gd name="connsiteY0" fmla="*/ 0 h 1905000"/>
              <a:gd name="connsiteX1" fmla="*/ 978221 w 978221"/>
              <a:gd name="connsiteY1" fmla="*/ 0 h 1905000"/>
              <a:gd name="connsiteX2" fmla="*/ 978221 w 978221"/>
              <a:gd name="connsiteY2" fmla="*/ 1905000 h 1905000"/>
              <a:gd name="connsiteX3" fmla="*/ 0 w 978221"/>
              <a:gd name="connsiteY3" fmla="*/ 1905000 h 190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221" h="1905000">
                <a:moveTo>
                  <a:pt x="0" y="0"/>
                </a:moveTo>
                <a:lnTo>
                  <a:pt x="978221" y="0"/>
                </a:lnTo>
                <a:lnTo>
                  <a:pt x="978221" y="1905000"/>
                </a:lnTo>
                <a:lnTo>
                  <a:pt x="0" y="1905000"/>
                </a:lnTo>
                <a:close/>
              </a:path>
            </a:pathLst>
          </a:custGeom>
        </p:spPr>
      </p:pic>
      <p:sp>
        <p:nvSpPr>
          <p:cNvPr id="46" name="TextBox 9"/>
          <p:cNvSpPr txBox="1"/>
          <p:nvPr/>
        </p:nvSpPr>
        <p:spPr>
          <a:xfrm>
            <a:off x="0" y="3960"/>
            <a:ext cx="453651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下载 </a:t>
            </a:r>
            <a:r>
              <a:rPr lang="en-US" altLang="zh-CN" sz="100" dirty="0">
                <a:noFill/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http://www.1ppt.com/xiazai/</a:t>
            </a:r>
            <a:endParaRPr lang="en-US" altLang="zh-CN" sz="100" dirty="0">
              <a:noFill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6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/>
          <p:nvPr/>
        </p:nvSpPr>
        <p:spPr>
          <a:xfrm>
            <a:off x="0" y="5426244"/>
            <a:ext cx="12192000" cy="1431756"/>
          </a:xfrm>
          <a:custGeom>
            <a:avLst/>
            <a:gdLst>
              <a:gd name="connsiteX0" fmla="*/ 12191999 w 12192000"/>
              <a:gd name="connsiteY0" fmla="*/ 0 h 2201779"/>
              <a:gd name="connsiteX1" fmla="*/ 12192000 w 12192000"/>
              <a:gd name="connsiteY1" fmla="*/ 0 h 2201779"/>
              <a:gd name="connsiteX2" fmla="*/ 12192000 w 12192000"/>
              <a:gd name="connsiteY2" fmla="*/ 2201779 h 2201779"/>
              <a:gd name="connsiteX3" fmla="*/ 0 w 12192000"/>
              <a:gd name="connsiteY3" fmla="*/ 2201779 h 2201779"/>
              <a:gd name="connsiteX4" fmla="*/ 0 w 12192000"/>
              <a:gd name="connsiteY4" fmla="*/ 430428 h 2201779"/>
              <a:gd name="connsiteX5" fmla="*/ 15110 w 12192000"/>
              <a:gd name="connsiteY5" fmla="*/ 430671 h 2201779"/>
              <a:gd name="connsiteX6" fmla="*/ 6095962 w 12192000"/>
              <a:gd name="connsiteY6" fmla="*/ 1351337 h 2201779"/>
              <a:gd name="connsiteX7" fmla="*/ 6095962 w 12192000"/>
              <a:gd name="connsiteY7" fmla="*/ 1344072 h 2201779"/>
              <a:gd name="connsiteX8" fmla="*/ 6096062 w 12192000"/>
              <a:gd name="connsiteY8" fmla="*/ 1344072 h 2201779"/>
              <a:gd name="connsiteX9" fmla="*/ 6096062 w 12192000"/>
              <a:gd name="connsiteY9" fmla="*/ 1351337 h 2201779"/>
              <a:gd name="connsiteX10" fmla="*/ 12191999 w 12192000"/>
              <a:gd name="connsiteY10" fmla="*/ 430428 h 220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201779">
                <a:moveTo>
                  <a:pt x="12191999" y="0"/>
                </a:moveTo>
                <a:lnTo>
                  <a:pt x="12192000" y="0"/>
                </a:lnTo>
                <a:lnTo>
                  <a:pt x="12192000" y="2201779"/>
                </a:lnTo>
                <a:lnTo>
                  <a:pt x="0" y="2201779"/>
                </a:lnTo>
                <a:lnTo>
                  <a:pt x="0" y="430428"/>
                </a:lnTo>
                <a:lnTo>
                  <a:pt x="15110" y="430671"/>
                </a:lnTo>
                <a:cubicBezTo>
                  <a:pt x="324341" y="435912"/>
                  <a:pt x="5284719" y="532552"/>
                  <a:pt x="6095962" y="1351337"/>
                </a:cubicBezTo>
                <a:lnTo>
                  <a:pt x="6095962" y="1344072"/>
                </a:lnTo>
                <a:lnTo>
                  <a:pt x="6096062" y="1344072"/>
                </a:lnTo>
                <a:lnTo>
                  <a:pt x="6096062" y="1351337"/>
                </a:lnTo>
                <a:cubicBezTo>
                  <a:pt x="6933443" y="506139"/>
                  <a:pt x="12191999" y="430428"/>
                  <a:pt x="12191999" y="430428"/>
                </a:cubicBezTo>
                <a:close/>
              </a:path>
            </a:pathLst>
          </a:custGeom>
          <a:gradFill>
            <a:gsLst>
              <a:gs pos="100000">
                <a:srgbClr val="E6DBC2">
                  <a:alpha val="27000"/>
                </a:srgbClr>
              </a:gs>
              <a:gs pos="0">
                <a:schemeClr val="bg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100"/>
          </a:p>
        </p:txBody>
      </p:sp>
      <p:grpSp>
        <p:nvGrpSpPr>
          <p:cNvPr id="7" name="组合 6"/>
          <p:cNvGrpSpPr/>
          <p:nvPr/>
        </p:nvGrpSpPr>
        <p:grpSpPr>
          <a:xfrm>
            <a:off x="-2" y="2"/>
            <a:ext cx="12192003" cy="6015789"/>
            <a:chOff x="-1" y="0"/>
            <a:chExt cx="12192002" cy="5369671"/>
          </a:xfrm>
        </p:grpSpPr>
        <p:grpSp>
          <p:nvGrpSpPr>
            <p:cNvPr id="8" name="组合 7"/>
            <p:cNvGrpSpPr/>
            <p:nvPr/>
          </p:nvGrpSpPr>
          <p:grpSpPr>
            <a:xfrm>
              <a:off x="-1" y="0"/>
              <a:ext cx="12192002" cy="5369671"/>
              <a:chOff x="-1" y="0"/>
              <a:chExt cx="12192002" cy="5369671"/>
            </a:xfrm>
            <a:effectLst>
              <a:outerShdw blurRad="1143000" dist="254000" dir="5400000" algn="t" rotWithShape="0">
                <a:prstClr val="black">
                  <a:alpha val="10000"/>
                </a:prstClr>
              </a:outerShdw>
            </a:effectLst>
          </p:grpSpPr>
          <p:sp>
            <p:nvSpPr>
              <p:cNvPr id="12" name="图形 7"/>
              <p:cNvSpPr/>
              <p:nvPr/>
            </p:nvSpPr>
            <p:spPr>
              <a:xfrm>
                <a:off x="-1" y="212557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图形 7"/>
              <p:cNvSpPr/>
              <p:nvPr/>
            </p:nvSpPr>
            <p:spPr>
              <a:xfrm>
                <a:off x="1" y="0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3A436A"/>
                  </a:gs>
                  <a:gs pos="100000">
                    <a:srgbClr val="4E5B90"/>
                  </a:gs>
                </a:gsLst>
                <a:lin ang="11400000" scaled="0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9" name="任意多边形 42"/>
            <p:cNvSpPr/>
            <p:nvPr/>
          </p:nvSpPr>
          <p:spPr>
            <a:xfrm flipV="1">
              <a:off x="8716010" y="0"/>
              <a:ext cx="3475990" cy="2791460"/>
            </a:xfrm>
            <a:custGeom>
              <a:avLst/>
              <a:gdLst>
                <a:gd name="it" fmla="*/ h 7 12"/>
                <a:gd name="ir" fmla="*/ w 7 12"/>
                <a:gd name="ib" fmla="*/ h 11 12"/>
              </a:gdLst>
              <a:ahLst/>
              <a:cxnLst>
                <a:cxn ang="3">
                  <a:pos x="l" y="t"/>
                </a:cxn>
                <a:cxn ang="cd2">
                  <a:pos x="l" y="vc"/>
                </a:cxn>
                <a:cxn ang="cd4">
                  <a:pos x="l" y="b"/>
                </a:cxn>
                <a:cxn ang="cd4">
                  <a:pos x="hc" y="b"/>
                </a:cxn>
                <a:cxn ang="cd4">
                  <a:pos x="r" y="b"/>
                </a:cxn>
                <a:cxn ang="0">
                  <a:pos x="hc" y="vc"/>
                </a:cxn>
              </a:cxnLst>
              <a:rect l="l" t="t" r="r" b="b"/>
              <a:pathLst>
                <a:path w="5474" h="4396">
                  <a:moveTo>
                    <a:pt x="0" y="0"/>
                  </a:moveTo>
                  <a:lnTo>
                    <a:pt x="5474" y="3836"/>
                  </a:lnTo>
                  <a:lnTo>
                    <a:pt x="5474" y="4396"/>
                  </a:lnTo>
                  <a:lnTo>
                    <a:pt x="0" y="43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9000">
                  <a:srgbClr val="4E5B90">
                    <a:alpha val="52000"/>
                  </a:srgbClr>
                </a:gs>
                <a:gs pos="100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/>
          </p:nvSpPr>
          <p:spPr>
            <a:xfrm flipV="1">
              <a:off x="635" y="0"/>
              <a:ext cx="4189730" cy="2791460"/>
            </a:xfrm>
            <a:prstGeom prst="rtTriangle">
              <a:avLst/>
            </a:prstGeom>
            <a:gradFill>
              <a:gsLst>
                <a:gs pos="37000">
                  <a:srgbClr val="3D4671">
                    <a:alpha val="28000"/>
                  </a:srgbClr>
                </a:gs>
                <a:gs pos="95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098829" y="1630453"/>
            <a:ext cx="7994345" cy="2085196"/>
            <a:chOff x="3239504" y="2368381"/>
            <a:chExt cx="5486525" cy="2085196"/>
          </a:xfrm>
        </p:grpSpPr>
        <p:grpSp>
          <p:nvGrpSpPr>
            <p:cNvPr id="38" name="组合 37"/>
            <p:cNvGrpSpPr/>
            <p:nvPr/>
          </p:nvGrpSpPr>
          <p:grpSpPr>
            <a:xfrm>
              <a:off x="3239504" y="2368381"/>
              <a:ext cx="5486525" cy="0"/>
              <a:chOff x="3239504" y="2368381"/>
              <a:chExt cx="5486525" cy="0"/>
            </a:xfrm>
          </p:grpSpPr>
          <p:cxnSp>
            <p:nvCxnSpPr>
              <p:cNvPr id="42" name="直接连接符 41"/>
              <p:cNvCxnSpPr/>
              <p:nvPr/>
            </p:nvCxnSpPr>
            <p:spPr>
              <a:xfrm>
                <a:off x="3336053" y="2368381"/>
                <a:ext cx="5389976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3239504" y="2368381"/>
                <a:ext cx="1773159" cy="0"/>
              </a:xfrm>
              <a:prstGeom prst="line">
                <a:avLst/>
              </a:prstGeom>
              <a:ln w="50800" cap="rnd">
                <a:solidFill>
                  <a:srgbClr val="DFCFC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/>
            <p:cNvGrpSpPr/>
            <p:nvPr/>
          </p:nvGrpSpPr>
          <p:grpSpPr>
            <a:xfrm flipH="1">
              <a:off x="3239504" y="4453577"/>
              <a:ext cx="5486525" cy="0"/>
              <a:chOff x="3239504" y="2368381"/>
              <a:chExt cx="5486525" cy="0"/>
            </a:xfrm>
          </p:grpSpPr>
          <p:cxnSp>
            <p:nvCxnSpPr>
              <p:cNvPr id="40" name="直接连接符 39"/>
              <p:cNvCxnSpPr/>
              <p:nvPr/>
            </p:nvCxnSpPr>
            <p:spPr>
              <a:xfrm>
                <a:off x="3336053" y="2368381"/>
                <a:ext cx="5389976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3239504" y="2368381"/>
                <a:ext cx="536622" cy="0"/>
              </a:xfrm>
              <a:prstGeom prst="line">
                <a:avLst/>
              </a:prstGeom>
              <a:ln w="50800">
                <a:solidFill>
                  <a:srgbClr val="DFCF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文本框 43"/>
          <p:cNvSpPr txBox="1"/>
          <p:nvPr/>
        </p:nvSpPr>
        <p:spPr>
          <a:xfrm>
            <a:off x="678974" y="1750473"/>
            <a:ext cx="2255697" cy="186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11500">
                <a:ln w="28575" cmpd="sng">
                  <a:noFill/>
                  <a:prstDash val="solid"/>
                </a:ln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01</a:t>
            </a:r>
            <a:endParaRPr lang="zh-CN" altLang="en-US" sz="11500" dirty="0">
              <a:ln w="28575" cmpd="sng">
                <a:noFill/>
                <a:prstDash val="solid"/>
              </a:ln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" descr="微信图片_20250525175833"/>
          <p:cNvPicPr>
            <a:picLocks noChangeAspect="1"/>
          </p:cNvPicPr>
          <p:nvPr/>
        </p:nvPicPr>
        <p:blipFill>
          <a:blip r:embed="rId1"/>
          <a:srcRect l="7498" t="62863" r="38126" b="9287"/>
          <a:stretch>
            <a:fillRect/>
          </a:stretch>
        </p:blipFill>
        <p:spPr>
          <a:xfrm>
            <a:off x="-167005" y="-290830"/>
            <a:ext cx="4160520" cy="16611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94000" y="2082165"/>
            <a:ext cx="849503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buClrTx/>
              <a:buSzTx/>
              <a:buFontTx/>
            </a:pPr>
            <a:r>
              <a:rPr lang="zh-CN" altLang="en-US" sz="7200">
                <a:ln w="28575" cmpd="sng">
                  <a:noFill/>
                  <a:prstDash val="solid"/>
                </a:ln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sym typeface="+mn-lt"/>
              </a:rPr>
              <a:t>问题背景与任务定义</a:t>
            </a:r>
            <a:endParaRPr lang="zh-CN" altLang="en-US" sz="7200">
              <a:ln w="28575" cmpd="sng">
                <a:noFill/>
                <a:prstDash val="solid"/>
              </a:ln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4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6695439" cy="786992"/>
              <a:chOff x="3381260" y="333724"/>
              <a:chExt cx="6695439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6695439" cy="701040"/>
                <a:chOff x="3381260" y="333724"/>
                <a:chExt cx="6695439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6610349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研究背景：为什么要自动合成漏洞查询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220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静态分析一直是漏洞检测的重要手段，但真正限制其落地效率的，往往不是分析框架本身，而是漏洞查询的人工编写。本研究指出，近年来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数量持续快速增长，2022 年为 25,059 个，2023 年为 28,961 个，2024 年已超过 40,000 个。面对这种增长速度，仅靠专家手工补写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CodeQL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规则，很难及时扩展检测能力。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代表性工具：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CodeQL、Infer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Semgrep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现实问题：查询覆盖率有限、精度有限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编写门槛高：需要安全知识 + 程序分析知识 +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DSL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经验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查询写错会直接带来误报与漏报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研究目标：把 </a:t>
                  </a:r>
                  <a:r>
                    <a:rPr lang="en-US" altLang="zh-CN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CVE </a:t>
                  </a: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直接转成 </a:t>
                  </a:r>
                  <a:r>
                    <a:rPr lang="en-US" altLang="zh-CN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CodeQL </a:t>
                  </a: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检测能力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220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本研究的目标，不是生成一段“看起来像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CodeQL”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的代码，而是要把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元数据直接转成可执行、可验证、可复用的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CodeQL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查询。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信息 →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QLCoder → CodeQL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查询 → 回归测试 / 变体分析 / 补丁验证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也就是说，一条漏洞报告不再只是安全知识记录，而可以继续转化为可持续使用的检测资产。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285" y="3192780"/>
            <a:ext cx="11188065" cy="209994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任务定义：什么样的查询才算成功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220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本研究把任务形式化为漏洞查询合成（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Vulnerability Query Synthesis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输入包括：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漏洞版本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P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vuln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​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修复版本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P</a:t>
            </a:r>
            <a:r>
              <a:rPr lang="en-US" altLang="zh-CN" baseline="-25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fixed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的文本描述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查询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Q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在程序数据流图上返回一组路径，真正“成功”的查询需要同时满足三点：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Well-formedness：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语法正确、可以执行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Vulnerability detection：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在漏洞版本中，至少命中一条穿过补丁相关区域的路径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Fix discrimination：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在修复版本中，不应继续把补丁位置识别为同类漏洞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示例说明：一个 </a:t>
                  </a:r>
                  <a:r>
                    <a:rPr lang="en-US" altLang="zh-CN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XXE </a:t>
                  </a: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漏洞需要恢复哪些语义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220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本研究用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CVE-2025-27136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作为示例来说明任务难点。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在这个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XXE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漏洞中，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HTTP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请求体被交给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XmlMapper.readValue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解析，但没有关闭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DTD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支持；补丁则通过设置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SUPPORT_DTD=false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完成修复。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要想自动生成有效查询，系统至少要恢复四类结构：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Source：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不可信输入进入程序的位置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Sink：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漏洞真正触发的位置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Additional taint steps：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跨组件、跨对象的数据传播步骤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Sanitizer：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修复中新增的安全约束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示例说明：一个 </a:t>
                  </a:r>
                  <a:r>
                    <a:rPr lang="en-US" altLang="zh-CN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XXE </a:t>
                  </a: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漏洞需要恢复哪些语义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200" y="1113155"/>
            <a:ext cx="6960235" cy="404431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010" y="5260975"/>
            <a:ext cx="9491345" cy="136652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/>
          <p:nvPr/>
        </p:nvSpPr>
        <p:spPr>
          <a:xfrm>
            <a:off x="0" y="5426244"/>
            <a:ext cx="12192000" cy="1431756"/>
          </a:xfrm>
          <a:custGeom>
            <a:avLst/>
            <a:gdLst>
              <a:gd name="connsiteX0" fmla="*/ 12191999 w 12192000"/>
              <a:gd name="connsiteY0" fmla="*/ 0 h 2201779"/>
              <a:gd name="connsiteX1" fmla="*/ 12192000 w 12192000"/>
              <a:gd name="connsiteY1" fmla="*/ 0 h 2201779"/>
              <a:gd name="connsiteX2" fmla="*/ 12192000 w 12192000"/>
              <a:gd name="connsiteY2" fmla="*/ 2201779 h 2201779"/>
              <a:gd name="connsiteX3" fmla="*/ 0 w 12192000"/>
              <a:gd name="connsiteY3" fmla="*/ 2201779 h 2201779"/>
              <a:gd name="connsiteX4" fmla="*/ 0 w 12192000"/>
              <a:gd name="connsiteY4" fmla="*/ 430428 h 2201779"/>
              <a:gd name="connsiteX5" fmla="*/ 15110 w 12192000"/>
              <a:gd name="connsiteY5" fmla="*/ 430671 h 2201779"/>
              <a:gd name="connsiteX6" fmla="*/ 6095962 w 12192000"/>
              <a:gd name="connsiteY6" fmla="*/ 1351337 h 2201779"/>
              <a:gd name="connsiteX7" fmla="*/ 6095962 w 12192000"/>
              <a:gd name="connsiteY7" fmla="*/ 1344072 h 2201779"/>
              <a:gd name="connsiteX8" fmla="*/ 6096062 w 12192000"/>
              <a:gd name="connsiteY8" fmla="*/ 1344072 h 2201779"/>
              <a:gd name="connsiteX9" fmla="*/ 6096062 w 12192000"/>
              <a:gd name="connsiteY9" fmla="*/ 1351337 h 2201779"/>
              <a:gd name="connsiteX10" fmla="*/ 12191999 w 12192000"/>
              <a:gd name="connsiteY10" fmla="*/ 430428 h 220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201779">
                <a:moveTo>
                  <a:pt x="12191999" y="0"/>
                </a:moveTo>
                <a:lnTo>
                  <a:pt x="12192000" y="0"/>
                </a:lnTo>
                <a:lnTo>
                  <a:pt x="12192000" y="2201779"/>
                </a:lnTo>
                <a:lnTo>
                  <a:pt x="0" y="2201779"/>
                </a:lnTo>
                <a:lnTo>
                  <a:pt x="0" y="430428"/>
                </a:lnTo>
                <a:lnTo>
                  <a:pt x="15110" y="430671"/>
                </a:lnTo>
                <a:cubicBezTo>
                  <a:pt x="324341" y="435912"/>
                  <a:pt x="5284719" y="532552"/>
                  <a:pt x="6095962" y="1351337"/>
                </a:cubicBezTo>
                <a:lnTo>
                  <a:pt x="6095962" y="1344072"/>
                </a:lnTo>
                <a:lnTo>
                  <a:pt x="6096062" y="1344072"/>
                </a:lnTo>
                <a:lnTo>
                  <a:pt x="6096062" y="1351337"/>
                </a:lnTo>
                <a:cubicBezTo>
                  <a:pt x="6933443" y="506139"/>
                  <a:pt x="12191999" y="430428"/>
                  <a:pt x="12191999" y="430428"/>
                </a:cubicBezTo>
                <a:close/>
              </a:path>
            </a:pathLst>
          </a:custGeom>
          <a:gradFill>
            <a:gsLst>
              <a:gs pos="100000">
                <a:srgbClr val="E6DBC2">
                  <a:alpha val="27000"/>
                </a:srgbClr>
              </a:gs>
              <a:gs pos="0">
                <a:schemeClr val="bg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100"/>
          </a:p>
        </p:txBody>
      </p:sp>
      <p:grpSp>
        <p:nvGrpSpPr>
          <p:cNvPr id="7" name="组合 6"/>
          <p:cNvGrpSpPr/>
          <p:nvPr/>
        </p:nvGrpSpPr>
        <p:grpSpPr>
          <a:xfrm>
            <a:off x="-2" y="2"/>
            <a:ext cx="12192003" cy="6015789"/>
            <a:chOff x="-1" y="0"/>
            <a:chExt cx="12192002" cy="5369671"/>
          </a:xfrm>
        </p:grpSpPr>
        <p:grpSp>
          <p:nvGrpSpPr>
            <p:cNvPr id="8" name="组合 7"/>
            <p:cNvGrpSpPr/>
            <p:nvPr/>
          </p:nvGrpSpPr>
          <p:grpSpPr>
            <a:xfrm>
              <a:off x="-1" y="0"/>
              <a:ext cx="12192002" cy="5369671"/>
              <a:chOff x="-1" y="0"/>
              <a:chExt cx="12192002" cy="5369671"/>
            </a:xfrm>
            <a:effectLst>
              <a:outerShdw blurRad="1143000" dist="254000" dir="5400000" algn="t" rotWithShape="0">
                <a:prstClr val="black">
                  <a:alpha val="10000"/>
                </a:prstClr>
              </a:outerShdw>
            </a:effectLst>
          </p:grpSpPr>
          <p:sp>
            <p:nvSpPr>
              <p:cNvPr id="12" name="图形 7"/>
              <p:cNvSpPr/>
              <p:nvPr/>
            </p:nvSpPr>
            <p:spPr>
              <a:xfrm>
                <a:off x="-1" y="212557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图形 7"/>
              <p:cNvSpPr/>
              <p:nvPr/>
            </p:nvSpPr>
            <p:spPr>
              <a:xfrm>
                <a:off x="1" y="0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3A436A"/>
                  </a:gs>
                  <a:gs pos="100000">
                    <a:srgbClr val="4E5B90"/>
                  </a:gs>
                </a:gsLst>
                <a:lin ang="11400000" scaled="0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9" name="任意多边形 42"/>
            <p:cNvSpPr/>
            <p:nvPr/>
          </p:nvSpPr>
          <p:spPr>
            <a:xfrm flipV="1">
              <a:off x="8716010" y="0"/>
              <a:ext cx="3475990" cy="2791460"/>
            </a:xfrm>
            <a:custGeom>
              <a:avLst/>
              <a:gdLst>
                <a:gd name="it" fmla="*/ h 7 12"/>
                <a:gd name="ir" fmla="*/ w 7 12"/>
                <a:gd name="ib" fmla="*/ h 11 12"/>
              </a:gdLst>
              <a:ahLst/>
              <a:cxnLst>
                <a:cxn ang="3">
                  <a:pos x="l" y="t"/>
                </a:cxn>
                <a:cxn ang="cd2">
                  <a:pos x="l" y="vc"/>
                </a:cxn>
                <a:cxn ang="cd4">
                  <a:pos x="l" y="b"/>
                </a:cxn>
                <a:cxn ang="cd4">
                  <a:pos x="hc" y="b"/>
                </a:cxn>
                <a:cxn ang="cd4">
                  <a:pos x="r" y="b"/>
                </a:cxn>
                <a:cxn ang="0">
                  <a:pos x="hc" y="vc"/>
                </a:cxn>
              </a:cxnLst>
              <a:rect l="l" t="t" r="r" b="b"/>
              <a:pathLst>
                <a:path w="5474" h="4396">
                  <a:moveTo>
                    <a:pt x="0" y="0"/>
                  </a:moveTo>
                  <a:lnTo>
                    <a:pt x="5474" y="3836"/>
                  </a:lnTo>
                  <a:lnTo>
                    <a:pt x="5474" y="4396"/>
                  </a:lnTo>
                  <a:lnTo>
                    <a:pt x="0" y="43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9000">
                  <a:srgbClr val="4E5B90">
                    <a:alpha val="52000"/>
                  </a:srgbClr>
                </a:gs>
                <a:gs pos="100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/>
          </p:nvSpPr>
          <p:spPr>
            <a:xfrm flipV="1">
              <a:off x="635" y="0"/>
              <a:ext cx="4189730" cy="2791460"/>
            </a:xfrm>
            <a:prstGeom prst="rtTriangle">
              <a:avLst/>
            </a:prstGeom>
            <a:gradFill>
              <a:gsLst>
                <a:gs pos="37000">
                  <a:srgbClr val="3D4671">
                    <a:alpha val="28000"/>
                  </a:srgbClr>
                </a:gs>
                <a:gs pos="95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098829" y="1630453"/>
            <a:ext cx="7994345" cy="2085196"/>
            <a:chOff x="3239504" y="2368381"/>
            <a:chExt cx="5486525" cy="2085196"/>
          </a:xfrm>
        </p:grpSpPr>
        <p:grpSp>
          <p:nvGrpSpPr>
            <p:cNvPr id="38" name="组合 37"/>
            <p:cNvGrpSpPr/>
            <p:nvPr/>
          </p:nvGrpSpPr>
          <p:grpSpPr>
            <a:xfrm>
              <a:off x="3239504" y="2368381"/>
              <a:ext cx="5486525" cy="0"/>
              <a:chOff x="3239504" y="2368381"/>
              <a:chExt cx="5486525" cy="0"/>
            </a:xfrm>
          </p:grpSpPr>
          <p:cxnSp>
            <p:nvCxnSpPr>
              <p:cNvPr id="42" name="直接连接符 41"/>
              <p:cNvCxnSpPr/>
              <p:nvPr/>
            </p:nvCxnSpPr>
            <p:spPr>
              <a:xfrm>
                <a:off x="3336053" y="2368381"/>
                <a:ext cx="5389976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3239504" y="2368381"/>
                <a:ext cx="1773159" cy="0"/>
              </a:xfrm>
              <a:prstGeom prst="line">
                <a:avLst/>
              </a:prstGeom>
              <a:ln w="50800" cap="rnd">
                <a:solidFill>
                  <a:srgbClr val="DFCFC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/>
            <p:cNvGrpSpPr/>
            <p:nvPr/>
          </p:nvGrpSpPr>
          <p:grpSpPr>
            <a:xfrm flipH="1">
              <a:off x="3239504" y="4453577"/>
              <a:ext cx="5486525" cy="0"/>
              <a:chOff x="3239504" y="2368381"/>
              <a:chExt cx="5486525" cy="0"/>
            </a:xfrm>
          </p:grpSpPr>
          <p:cxnSp>
            <p:nvCxnSpPr>
              <p:cNvPr id="40" name="直接连接符 39"/>
              <p:cNvCxnSpPr/>
              <p:nvPr/>
            </p:nvCxnSpPr>
            <p:spPr>
              <a:xfrm>
                <a:off x="3336053" y="2368381"/>
                <a:ext cx="5389976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3239504" y="2368381"/>
                <a:ext cx="536622" cy="0"/>
              </a:xfrm>
              <a:prstGeom prst="line">
                <a:avLst/>
              </a:prstGeom>
              <a:ln w="50800">
                <a:solidFill>
                  <a:srgbClr val="DFCF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文本框 43"/>
          <p:cNvSpPr txBox="1"/>
          <p:nvPr/>
        </p:nvSpPr>
        <p:spPr>
          <a:xfrm>
            <a:off x="678974" y="1750473"/>
            <a:ext cx="2255697" cy="186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11500">
                <a:ln w="28575" cmpd="sng">
                  <a:noFill/>
                  <a:prstDash val="solid"/>
                </a:ln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02</a:t>
            </a:r>
            <a:endParaRPr lang="zh-CN" altLang="en-US" sz="11500" dirty="0">
              <a:ln w="28575" cmpd="sng">
                <a:noFill/>
                <a:prstDash val="solid"/>
              </a:ln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" descr="微信图片_20250525175833"/>
          <p:cNvPicPr>
            <a:picLocks noChangeAspect="1"/>
          </p:cNvPicPr>
          <p:nvPr/>
        </p:nvPicPr>
        <p:blipFill>
          <a:blip r:embed="rId1"/>
          <a:srcRect l="7498" t="62863" r="38126" b="9287"/>
          <a:stretch>
            <a:fillRect/>
          </a:stretch>
        </p:blipFill>
        <p:spPr>
          <a:xfrm>
            <a:off x="-167005" y="-290830"/>
            <a:ext cx="4160520" cy="16611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94000" y="2082165"/>
            <a:ext cx="849503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buClrTx/>
              <a:buSzTx/>
              <a:buFontTx/>
            </a:pPr>
            <a:r>
              <a:rPr lang="zh-CN" altLang="en-US" sz="7200">
                <a:ln w="28575" cmpd="sng">
                  <a:noFill/>
                  <a:prstDash val="solid"/>
                </a:ln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sym typeface="+mn-lt"/>
              </a:rPr>
              <a:t>方法框架与系统设计</a:t>
            </a:r>
            <a:endParaRPr lang="zh-CN" altLang="en-US" sz="7200">
              <a:ln w="28575" cmpd="sng">
                <a:noFill/>
                <a:prstDash val="solid"/>
              </a:ln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latin typeface="宋体" panose="02010600030101010101" pitchFamily="2" charset="-122"/>
              <a:ea typeface="宋体" panose="02010600030101010101" pitchFamily="2" charset="-122"/>
              <a:sym typeface="+mn-lt"/>
            </a:endParaRPr>
          </a:p>
          <a:p>
            <a:pPr lvl="0">
              <a:lnSpc>
                <a:spcPct val="100000"/>
              </a:lnSpc>
              <a:buClrTx/>
              <a:buSzTx/>
              <a:buFontTx/>
            </a:pPr>
            <a:endParaRPr lang="zh-CN" altLang="en-US" sz="7200">
              <a:ln w="28575" cmpd="sng">
                <a:noFill/>
                <a:prstDash val="solid"/>
              </a:ln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4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核心思想：执行反馈驱动的迭代查询合成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220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QLCoder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的核心不是单轮生成，而是一个迭代式合成闭环。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整体流程是：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先由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LLM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生成候选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CodeQL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查询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再由验证器在漏洞版本和修复版本上执行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根据编译、命中、覆盖和误报反馈继续修正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直到查询满足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success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条件或达到迭代上限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这使得问题从“自由生成代码”变成了“在外部验证约束下搜索正确查询”。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75" y="4392930"/>
            <a:ext cx="10483850" cy="2030095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系统结构：生成器、验证器与双层循环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2205" cy="2999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系统由两部分组成：基于大语言模型代理的查询合成器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和基于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CodeQL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的验证器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外层循环：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候选查询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Q</a:t>
            </a:r>
            <a:r>
              <a:rPr lang="en-US" altLang="zh-CN" baseline="-25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i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生成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验证器执行并返回反馈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成功则停止，否则进入下一轮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最大外层迭代：10 轮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09465" y="1591945"/>
            <a:ext cx="558609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内层循环：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单轮内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agent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可多次调用工具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最多 50 次 工具交互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历史只保留在当前轮内，避免上下文膨胀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5625" y="3808730"/>
            <a:ext cx="8540750" cy="259334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上下文工程：为什么系统不是“工具越多越好”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220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本研究把真正关键的实现思想概括为上下文工程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。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系统重点提供两类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MCP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工具：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1. 向量数据库 /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RAG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CWE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定义、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CodeQL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文档、示例查询、漏洞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diff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与分析笔记、相关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AST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片段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2. CodeQL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语言服务器：代码自动补全、实时代码诊断、跳转到定义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作用不是“给更多信息”，而是按需提供最精确的信息。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5625" y="3500120"/>
            <a:ext cx="8540750" cy="2593340"/>
          </a:xfrm>
          <a:prstGeom prst="rect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设计取舍：哪些做法被证明效果不好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2205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本研究并没有把系统做成“无限工具 + 无限试错”，而是做了很多约束：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不开放无限制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compile-and-run：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成本高，模型会过度调用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不鼓励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web search：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容易引入噪声，污染上下文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不保留跨轮长历史：会导致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context rot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和提示膨胀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工具箱保持小而专：比大而杂更稳定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/>
          <p:nvPr/>
        </p:nvSpPr>
        <p:spPr>
          <a:xfrm>
            <a:off x="0" y="5426244"/>
            <a:ext cx="12192000" cy="1431756"/>
          </a:xfrm>
          <a:custGeom>
            <a:avLst/>
            <a:gdLst>
              <a:gd name="connsiteX0" fmla="*/ 12191999 w 12192000"/>
              <a:gd name="connsiteY0" fmla="*/ 0 h 2201779"/>
              <a:gd name="connsiteX1" fmla="*/ 12192000 w 12192000"/>
              <a:gd name="connsiteY1" fmla="*/ 0 h 2201779"/>
              <a:gd name="connsiteX2" fmla="*/ 12192000 w 12192000"/>
              <a:gd name="connsiteY2" fmla="*/ 2201779 h 2201779"/>
              <a:gd name="connsiteX3" fmla="*/ 0 w 12192000"/>
              <a:gd name="connsiteY3" fmla="*/ 2201779 h 2201779"/>
              <a:gd name="connsiteX4" fmla="*/ 0 w 12192000"/>
              <a:gd name="connsiteY4" fmla="*/ 430428 h 2201779"/>
              <a:gd name="connsiteX5" fmla="*/ 15110 w 12192000"/>
              <a:gd name="connsiteY5" fmla="*/ 430671 h 2201779"/>
              <a:gd name="connsiteX6" fmla="*/ 6095962 w 12192000"/>
              <a:gd name="connsiteY6" fmla="*/ 1351337 h 2201779"/>
              <a:gd name="connsiteX7" fmla="*/ 6095962 w 12192000"/>
              <a:gd name="connsiteY7" fmla="*/ 1344072 h 2201779"/>
              <a:gd name="connsiteX8" fmla="*/ 6096062 w 12192000"/>
              <a:gd name="connsiteY8" fmla="*/ 1344072 h 2201779"/>
              <a:gd name="connsiteX9" fmla="*/ 6096062 w 12192000"/>
              <a:gd name="connsiteY9" fmla="*/ 1351337 h 2201779"/>
              <a:gd name="connsiteX10" fmla="*/ 12191999 w 12192000"/>
              <a:gd name="connsiteY10" fmla="*/ 430428 h 220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201779">
                <a:moveTo>
                  <a:pt x="12191999" y="0"/>
                </a:moveTo>
                <a:lnTo>
                  <a:pt x="12192000" y="0"/>
                </a:lnTo>
                <a:lnTo>
                  <a:pt x="12192000" y="2201779"/>
                </a:lnTo>
                <a:lnTo>
                  <a:pt x="0" y="2201779"/>
                </a:lnTo>
                <a:lnTo>
                  <a:pt x="0" y="430428"/>
                </a:lnTo>
                <a:lnTo>
                  <a:pt x="15110" y="430671"/>
                </a:lnTo>
                <a:cubicBezTo>
                  <a:pt x="324341" y="435912"/>
                  <a:pt x="5284719" y="532552"/>
                  <a:pt x="6095962" y="1351337"/>
                </a:cubicBezTo>
                <a:lnTo>
                  <a:pt x="6095962" y="1344072"/>
                </a:lnTo>
                <a:lnTo>
                  <a:pt x="6096062" y="1344072"/>
                </a:lnTo>
                <a:lnTo>
                  <a:pt x="6096062" y="1351337"/>
                </a:lnTo>
                <a:cubicBezTo>
                  <a:pt x="6933443" y="506139"/>
                  <a:pt x="12191999" y="430428"/>
                  <a:pt x="12191999" y="430428"/>
                </a:cubicBezTo>
                <a:close/>
              </a:path>
            </a:pathLst>
          </a:custGeom>
          <a:gradFill>
            <a:gsLst>
              <a:gs pos="100000">
                <a:srgbClr val="E6DBC2">
                  <a:alpha val="27000"/>
                </a:srgbClr>
              </a:gs>
              <a:gs pos="0">
                <a:schemeClr val="bg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100"/>
          </a:p>
        </p:txBody>
      </p:sp>
      <p:grpSp>
        <p:nvGrpSpPr>
          <p:cNvPr id="7" name="组合 6"/>
          <p:cNvGrpSpPr/>
          <p:nvPr/>
        </p:nvGrpSpPr>
        <p:grpSpPr>
          <a:xfrm>
            <a:off x="-2" y="2"/>
            <a:ext cx="12192003" cy="6015789"/>
            <a:chOff x="-1" y="0"/>
            <a:chExt cx="12192002" cy="5369671"/>
          </a:xfrm>
        </p:grpSpPr>
        <p:grpSp>
          <p:nvGrpSpPr>
            <p:cNvPr id="8" name="组合 7"/>
            <p:cNvGrpSpPr/>
            <p:nvPr/>
          </p:nvGrpSpPr>
          <p:grpSpPr>
            <a:xfrm>
              <a:off x="-1" y="0"/>
              <a:ext cx="12192002" cy="5369671"/>
              <a:chOff x="-1" y="0"/>
              <a:chExt cx="12192002" cy="5369671"/>
            </a:xfrm>
            <a:effectLst>
              <a:outerShdw blurRad="1143000" dist="254000" dir="5400000" algn="t" rotWithShape="0">
                <a:prstClr val="black">
                  <a:alpha val="10000"/>
                </a:prstClr>
              </a:outerShdw>
            </a:effectLst>
          </p:grpSpPr>
          <p:sp>
            <p:nvSpPr>
              <p:cNvPr id="12" name="图形 7"/>
              <p:cNvSpPr/>
              <p:nvPr/>
            </p:nvSpPr>
            <p:spPr>
              <a:xfrm>
                <a:off x="-1" y="212557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图形 7"/>
              <p:cNvSpPr/>
              <p:nvPr/>
            </p:nvSpPr>
            <p:spPr>
              <a:xfrm>
                <a:off x="1" y="0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3A436A"/>
                  </a:gs>
                  <a:gs pos="100000">
                    <a:srgbClr val="4E5B90"/>
                  </a:gs>
                </a:gsLst>
                <a:lin ang="11400000" scaled="0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9" name="任意多边形 42"/>
            <p:cNvSpPr/>
            <p:nvPr/>
          </p:nvSpPr>
          <p:spPr>
            <a:xfrm flipV="1">
              <a:off x="8716010" y="0"/>
              <a:ext cx="3475990" cy="2791460"/>
            </a:xfrm>
            <a:custGeom>
              <a:avLst/>
              <a:gdLst>
                <a:gd name="it" fmla="*/ h 7 12"/>
                <a:gd name="ir" fmla="*/ w 7 12"/>
                <a:gd name="ib" fmla="*/ h 11 12"/>
              </a:gdLst>
              <a:ahLst/>
              <a:cxnLst>
                <a:cxn ang="3">
                  <a:pos x="l" y="t"/>
                </a:cxn>
                <a:cxn ang="cd2">
                  <a:pos x="l" y="vc"/>
                </a:cxn>
                <a:cxn ang="cd4">
                  <a:pos x="l" y="b"/>
                </a:cxn>
                <a:cxn ang="cd4">
                  <a:pos x="hc" y="b"/>
                </a:cxn>
                <a:cxn ang="cd4">
                  <a:pos x="r" y="b"/>
                </a:cxn>
                <a:cxn ang="0">
                  <a:pos x="hc" y="vc"/>
                </a:cxn>
              </a:cxnLst>
              <a:rect l="l" t="t" r="r" b="b"/>
              <a:pathLst>
                <a:path w="5474" h="4396">
                  <a:moveTo>
                    <a:pt x="0" y="0"/>
                  </a:moveTo>
                  <a:lnTo>
                    <a:pt x="5474" y="3836"/>
                  </a:lnTo>
                  <a:lnTo>
                    <a:pt x="5474" y="4396"/>
                  </a:lnTo>
                  <a:lnTo>
                    <a:pt x="0" y="43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9000">
                  <a:srgbClr val="4E5B90">
                    <a:alpha val="52000"/>
                  </a:srgbClr>
                </a:gs>
                <a:gs pos="100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/>
          </p:nvSpPr>
          <p:spPr>
            <a:xfrm flipV="1">
              <a:off x="635" y="0"/>
              <a:ext cx="4189730" cy="2791460"/>
            </a:xfrm>
            <a:prstGeom prst="rtTriangle">
              <a:avLst/>
            </a:prstGeom>
            <a:gradFill>
              <a:gsLst>
                <a:gs pos="37000">
                  <a:srgbClr val="3D4671">
                    <a:alpha val="28000"/>
                  </a:srgbClr>
                </a:gs>
                <a:gs pos="95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098829" y="1630453"/>
            <a:ext cx="7994345" cy="2085196"/>
            <a:chOff x="3239504" y="2368381"/>
            <a:chExt cx="5486525" cy="2085196"/>
          </a:xfrm>
        </p:grpSpPr>
        <p:grpSp>
          <p:nvGrpSpPr>
            <p:cNvPr id="38" name="组合 37"/>
            <p:cNvGrpSpPr/>
            <p:nvPr/>
          </p:nvGrpSpPr>
          <p:grpSpPr>
            <a:xfrm>
              <a:off x="3239504" y="2368381"/>
              <a:ext cx="5486525" cy="0"/>
              <a:chOff x="3239504" y="2368381"/>
              <a:chExt cx="5486525" cy="0"/>
            </a:xfrm>
          </p:grpSpPr>
          <p:cxnSp>
            <p:nvCxnSpPr>
              <p:cNvPr id="42" name="直接连接符 41"/>
              <p:cNvCxnSpPr/>
              <p:nvPr/>
            </p:nvCxnSpPr>
            <p:spPr>
              <a:xfrm>
                <a:off x="3336053" y="2368381"/>
                <a:ext cx="5389976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3239504" y="2368381"/>
                <a:ext cx="1773159" cy="0"/>
              </a:xfrm>
              <a:prstGeom prst="line">
                <a:avLst/>
              </a:prstGeom>
              <a:ln w="50800" cap="rnd">
                <a:solidFill>
                  <a:srgbClr val="DFCFC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/>
            <p:cNvGrpSpPr/>
            <p:nvPr/>
          </p:nvGrpSpPr>
          <p:grpSpPr>
            <a:xfrm flipH="1">
              <a:off x="3239504" y="4453577"/>
              <a:ext cx="5486525" cy="0"/>
              <a:chOff x="3239504" y="2368381"/>
              <a:chExt cx="5486525" cy="0"/>
            </a:xfrm>
          </p:grpSpPr>
          <p:cxnSp>
            <p:nvCxnSpPr>
              <p:cNvPr id="40" name="直接连接符 39"/>
              <p:cNvCxnSpPr/>
              <p:nvPr/>
            </p:nvCxnSpPr>
            <p:spPr>
              <a:xfrm>
                <a:off x="3336053" y="2368381"/>
                <a:ext cx="5389976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3239504" y="2368381"/>
                <a:ext cx="536622" cy="0"/>
              </a:xfrm>
              <a:prstGeom prst="line">
                <a:avLst/>
              </a:prstGeom>
              <a:ln w="50800">
                <a:solidFill>
                  <a:srgbClr val="DFCF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文本框 43"/>
          <p:cNvSpPr txBox="1"/>
          <p:nvPr/>
        </p:nvSpPr>
        <p:spPr>
          <a:xfrm>
            <a:off x="678974" y="1750473"/>
            <a:ext cx="2255697" cy="186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11500">
                <a:ln w="28575" cmpd="sng">
                  <a:noFill/>
                  <a:prstDash val="solid"/>
                </a:ln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03</a:t>
            </a:r>
            <a:endParaRPr lang="zh-CN" altLang="en-US" sz="11500" dirty="0">
              <a:ln w="28575" cmpd="sng">
                <a:noFill/>
                <a:prstDash val="solid"/>
              </a:ln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" descr="微信图片_20250525175833"/>
          <p:cNvPicPr>
            <a:picLocks noChangeAspect="1"/>
          </p:cNvPicPr>
          <p:nvPr/>
        </p:nvPicPr>
        <p:blipFill>
          <a:blip r:embed="rId1"/>
          <a:srcRect l="7498" t="62863" r="38126" b="9287"/>
          <a:stretch>
            <a:fillRect/>
          </a:stretch>
        </p:blipFill>
        <p:spPr>
          <a:xfrm>
            <a:off x="-167005" y="-290830"/>
            <a:ext cx="4160520" cy="16611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94000" y="2082165"/>
            <a:ext cx="849503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buClrTx/>
              <a:buSzTx/>
              <a:buFontTx/>
            </a:pPr>
            <a:r>
              <a:rPr lang="zh-CN" altLang="en-US" sz="7200">
                <a:ln w="28575" cmpd="sng">
                  <a:noFill/>
                  <a:prstDash val="solid"/>
                </a:ln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sym typeface="+mn-lt"/>
              </a:rPr>
              <a:t>实验设计与结果分析</a:t>
            </a:r>
            <a:endParaRPr lang="zh-CN" altLang="en-US" sz="7200">
              <a:ln w="28575" cmpd="sng">
                <a:noFill/>
                <a:prstDash val="solid"/>
              </a:ln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4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实验设置：数据集、基线与评价方式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220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实验基于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CWE-Bench-Java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及其 2025 更新版本展开。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176 个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111 个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Java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项目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42 类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CWE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包含 65 个 2025 年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CodeQL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版本：2.22.2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对比对象包括：静态分析基线：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IRIS、CodeQL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查询集；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Agent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基线：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Gemini CLI、Codex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评价指标不仅看能否编译，还看：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Recall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Precision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F1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是否满足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successful query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条件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3575" y="4140835"/>
            <a:ext cx="6285865" cy="2580005"/>
          </a:xfrm>
          <a:prstGeom prst="rect">
            <a:avLst/>
          </a:prstGeom>
        </p:spPr>
      </p:pic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主结果：相对 </a:t>
                  </a:r>
                  <a:r>
                    <a:rPr lang="en-US" altLang="zh-CN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IRIS </a:t>
                  </a: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和通用 </a:t>
                  </a:r>
                  <a:r>
                    <a:rPr lang="en-US" altLang="zh-CN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CodeQL </a:t>
                  </a: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明显更强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-132080" y="1177290"/>
            <a:ext cx="6266180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本研究的核心结果可以概括为三组数字：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总成功率：53.4%（176 个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中成功 94 个）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QLCoder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平均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F1：0.700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IRIS / CodeQL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平均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F1：0.048 / 0.073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在共享的 130 个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上：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CodeQL：Recall 20.0%，Precision 0.055，F1 0.073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IRIS：Recall 35.4%，Precision 0.031，F1 0.048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QLCoder：Recall 80.0%，Precision 0.672，F1 0.700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不仅更容易命中漏洞，而且误报控制也明显更好。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2277" b="845"/>
          <a:stretch>
            <a:fillRect/>
          </a:stretch>
        </p:blipFill>
        <p:spPr>
          <a:xfrm>
            <a:off x="6076950" y="1050925"/>
            <a:ext cx="5815330" cy="3058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0960" y="2196465"/>
            <a:ext cx="6762115" cy="2208530"/>
          </a:xfrm>
          <a:prstGeom prst="rect">
            <a:avLst/>
          </a:prstGeom>
        </p:spPr>
      </p:pic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进一步分析：消融实验说明关键增益来自哪里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96520" y="1177290"/>
            <a:ext cx="1129220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在 20 个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的消融实验中，完整系统表现为：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Success：55%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Recall：80%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Precision：0.67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F1：0.69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去掉关键组件后性能明显下降：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w/o LSP：Success 25%，F1 0.36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w/o Doc/Ref：Success 20%，F1 0.36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w/o AST：Success 25%，F1 0.47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仅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Claude Code：Success 10%，F1 0.36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跨 </a:t>
                  </a:r>
                  <a:r>
                    <a:rPr lang="en-US" altLang="zh-CN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Agent、</a:t>
                  </a: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成本与论文价值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09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本研究还测试了这套框架在不同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agent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上的迁移性。结果表明，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QLCoder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可以迁移，但底层模型能力仍会影响最终上限。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Codex + GPT-5 medium：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成功率从 0% 提升到 20%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Claude Code Sonnet 4：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成功率从 10% 提升到 35%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成本与效率方面：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平均每个查询合成耗时：3712 秒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平均成本：2.90 美元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若在 3000 秒内合成完成，成功率约 97%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340" y="4592320"/>
            <a:ext cx="6781800" cy="2124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/>
          <p:nvPr/>
        </p:nvSpPr>
        <p:spPr>
          <a:xfrm>
            <a:off x="0" y="5426244"/>
            <a:ext cx="12192000" cy="1431756"/>
          </a:xfrm>
          <a:custGeom>
            <a:avLst/>
            <a:gdLst>
              <a:gd name="connsiteX0" fmla="*/ 12191999 w 12192000"/>
              <a:gd name="connsiteY0" fmla="*/ 0 h 2201779"/>
              <a:gd name="connsiteX1" fmla="*/ 12192000 w 12192000"/>
              <a:gd name="connsiteY1" fmla="*/ 0 h 2201779"/>
              <a:gd name="connsiteX2" fmla="*/ 12192000 w 12192000"/>
              <a:gd name="connsiteY2" fmla="*/ 2201779 h 2201779"/>
              <a:gd name="connsiteX3" fmla="*/ 0 w 12192000"/>
              <a:gd name="connsiteY3" fmla="*/ 2201779 h 2201779"/>
              <a:gd name="connsiteX4" fmla="*/ 0 w 12192000"/>
              <a:gd name="connsiteY4" fmla="*/ 430428 h 2201779"/>
              <a:gd name="connsiteX5" fmla="*/ 15110 w 12192000"/>
              <a:gd name="connsiteY5" fmla="*/ 430671 h 2201779"/>
              <a:gd name="connsiteX6" fmla="*/ 6095962 w 12192000"/>
              <a:gd name="connsiteY6" fmla="*/ 1351337 h 2201779"/>
              <a:gd name="connsiteX7" fmla="*/ 6095962 w 12192000"/>
              <a:gd name="connsiteY7" fmla="*/ 1344072 h 2201779"/>
              <a:gd name="connsiteX8" fmla="*/ 6096062 w 12192000"/>
              <a:gd name="connsiteY8" fmla="*/ 1344072 h 2201779"/>
              <a:gd name="connsiteX9" fmla="*/ 6096062 w 12192000"/>
              <a:gd name="connsiteY9" fmla="*/ 1351337 h 2201779"/>
              <a:gd name="connsiteX10" fmla="*/ 12191999 w 12192000"/>
              <a:gd name="connsiteY10" fmla="*/ 430428 h 220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201779">
                <a:moveTo>
                  <a:pt x="12191999" y="0"/>
                </a:moveTo>
                <a:lnTo>
                  <a:pt x="12192000" y="0"/>
                </a:lnTo>
                <a:lnTo>
                  <a:pt x="12192000" y="2201779"/>
                </a:lnTo>
                <a:lnTo>
                  <a:pt x="0" y="2201779"/>
                </a:lnTo>
                <a:lnTo>
                  <a:pt x="0" y="430428"/>
                </a:lnTo>
                <a:lnTo>
                  <a:pt x="15110" y="430671"/>
                </a:lnTo>
                <a:cubicBezTo>
                  <a:pt x="324341" y="435912"/>
                  <a:pt x="5284719" y="532552"/>
                  <a:pt x="6095962" y="1351337"/>
                </a:cubicBezTo>
                <a:lnTo>
                  <a:pt x="6095962" y="1344072"/>
                </a:lnTo>
                <a:lnTo>
                  <a:pt x="6096062" y="1344072"/>
                </a:lnTo>
                <a:lnTo>
                  <a:pt x="6096062" y="1351337"/>
                </a:lnTo>
                <a:cubicBezTo>
                  <a:pt x="6933443" y="506139"/>
                  <a:pt x="12191999" y="430428"/>
                  <a:pt x="12191999" y="430428"/>
                </a:cubicBezTo>
                <a:close/>
              </a:path>
            </a:pathLst>
          </a:custGeom>
          <a:gradFill>
            <a:gsLst>
              <a:gs pos="100000">
                <a:srgbClr val="E6DBC2">
                  <a:alpha val="27000"/>
                </a:srgbClr>
              </a:gs>
              <a:gs pos="0">
                <a:schemeClr val="bg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100"/>
          </a:p>
        </p:txBody>
      </p:sp>
      <p:grpSp>
        <p:nvGrpSpPr>
          <p:cNvPr id="7" name="组合 6"/>
          <p:cNvGrpSpPr/>
          <p:nvPr/>
        </p:nvGrpSpPr>
        <p:grpSpPr>
          <a:xfrm>
            <a:off x="-2" y="2"/>
            <a:ext cx="12192003" cy="6015789"/>
            <a:chOff x="-1" y="0"/>
            <a:chExt cx="12192002" cy="5369671"/>
          </a:xfrm>
        </p:grpSpPr>
        <p:grpSp>
          <p:nvGrpSpPr>
            <p:cNvPr id="8" name="组合 7"/>
            <p:cNvGrpSpPr/>
            <p:nvPr/>
          </p:nvGrpSpPr>
          <p:grpSpPr>
            <a:xfrm>
              <a:off x="-1" y="0"/>
              <a:ext cx="12192002" cy="5369671"/>
              <a:chOff x="-1" y="0"/>
              <a:chExt cx="12192002" cy="5369671"/>
            </a:xfrm>
            <a:effectLst>
              <a:outerShdw blurRad="1143000" dist="254000" dir="5400000" algn="t" rotWithShape="0">
                <a:prstClr val="black">
                  <a:alpha val="10000"/>
                </a:prstClr>
              </a:outerShdw>
            </a:effectLst>
          </p:grpSpPr>
          <p:sp>
            <p:nvSpPr>
              <p:cNvPr id="12" name="图形 7"/>
              <p:cNvSpPr/>
              <p:nvPr/>
            </p:nvSpPr>
            <p:spPr>
              <a:xfrm>
                <a:off x="-1" y="212557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图形 7"/>
              <p:cNvSpPr/>
              <p:nvPr/>
            </p:nvSpPr>
            <p:spPr>
              <a:xfrm>
                <a:off x="1" y="0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3A436A"/>
                  </a:gs>
                  <a:gs pos="100000">
                    <a:srgbClr val="4E5B90"/>
                  </a:gs>
                </a:gsLst>
                <a:lin ang="11400000" scaled="0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9" name="任意多边形 42"/>
            <p:cNvSpPr/>
            <p:nvPr/>
          </p:nvSpPr>
          <p:spPr>
            <a:xfrm flipV="1">
              <a:off x="8716010" y="0"/>
              <a:ext cx="3475990" cy="2791460"/>
            </a:xfrm>
            <a:custGeom>
              <a:avLst/>
              <a:gdLst>
                <a:gd name="it" fmla="*/ h 7 12"/>
                <a:gd name="ir" fmla="*/ w 7 12"/>
                <a:gd name="ib" fmla="*/ h 11 12"/>
              </a:gdLst>
              <a:ahLst/>
              <a:cxnLst>
                <a:cxn ang="3">
                  <a:pos x="l" y="t"/>
                </a:cxn>
                <a:cxn ang="cd2">
                  <a:pos x="l" y="vc"/>
                </a:cxn>
                <a:cxn ang="cd4">
                  <a:pos x="l" y="b"/>
                </a:cxn>
                <a:cxn ang="cd4">
                  <a:pos x="hc" y="b"/>
                </a:cxn>
                <a:cxn ang="cd4">
                  <a:pos x="r" y="b"/>
                </a:cxn>
                <a:cxn ang="0">
                  <a:pos x="hc" y="vc"/>
                </a:cxn>
              </a:cxnLst>
              <a:rect l="l" t="t" r="r" b="b"/>
              <a:pathLst>
                <a:path w="5474" h="4396">
                  <a:moveTo>
                    <a:pt x="0" y="0"/>
                  </a:moveTo>
                  <a:lnTo>
                    <a:pt x="5474" y="3836"/>
                  </a:lnTo>
                  <a:lnTo>
                    <a:pt x="5474" y="4396"/>
                  </a:lnTo>
                  <a:lnTo>
                    <a:pt x="0" y="43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9000">
                  <a:srgbClr val="4E5B90">
                    <a:alpha val="52000"/>
                  </a:srgbClr>
                </a:gs>
                <a:gs pos="100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/>
          </p:nvSpPr>
          <p:spPr>
            <a:xfrm flipV="1">
              <a:off x="635" y="0"/>
              <a:ext cx="4189730" cy="2791460"/>
            </a:xfrm>
            <a:prstGeom prst="rtTriangle">
              <a:avLst/>
            </a:prstGeom>
            <a:gradFill>
              <a:gsLst>
                <a:gs pos="37000">
                  <a:srgbClr val="3D4671">
                    <a:alpha val="28000"/>
                  </a:srgbClr>
                </a:gs>
                <a:gs pos="95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2098829" y="1630453"/>
            <a:ext cx="7994345" cy="2085196"/>
            <a:chOff x="3239504" y="2368381"/>
            <a:chExt cx="5486525" cy="2085196"/>
          </a:xfrm>
        </p:grpSpPr>
        <p:grpSp>
          <p:nvGrpSpPr>
            <p:cNvPr id="38" name="组合 37"/>
            <p:cNvGrpSpPr/>
            <p:nvPr/>
          </p:nvGrpSpPr>
          <p:grpSpPr>
            <a:xfrm>
              <a:off x="3239504" y="2368381"/>
              <a:ext cx="5486525" cy="0"/>
              <a:chOff x="3239504" y="2368381"/>
              <a:chExt cx="5486525" cy="0"/>
            </a:xfrm>
          </p:grpSpPr>
          <p:cxnSp>
            <p:nvCxnSpPr>
              <p:cNvPr id="42" name="直接连接符 41"/>
              <p:cNvCxnSpPr/>
              <p:nvPr/>
            </p:nvCxnSpPr>
            <p:spPr>
              <a:xfrm>
                <a:off x="3336053" y="2368381"/>
                <a:ext cx="5389976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/>
              <p:nvPr/>
            </p:nvCxnSpPr>
            <p:spPr>
              <a:xfrm>
                <a:off x="3239504" y="2368381"/>
                <a:ext cx="1773159" cy="0"/>
              </a:xfrm>
              <a:prstGeom prst="line">
                <a:avLst/>
              </a:prstGeom>
              <a:ln w="50800" cap="rnd">
                <a:solidFill>
                  <a:srgbClr val="DFCFC2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/>
            <p:cNvGrpSpPr/>
            <p:nvPr/>
          </p:nvGrpSpPr>
          <p:grpSpPr>
            <a:xfrm flipH="1">
              <a:off x="3239504" y="4453577"/>
              <a:ext cx="5486525" cy="0"/>
              <a:chOff x="3239504" y="2368381"/>
              <a:chExt cx="5486525" cy="0"/>
            </a:xfrm>
          </p:grpSpPr>
          <p:cxnSp>
            <p:nvCxnSpPr>
              <p:cNvPr id="40" name="直接连接符 39"/>
              <p:cNvCxnSpPr/>
              <p:nvPr/>
            </p:nvCxnSpPr>
            <p:spPr>
              <a:xfrm>
                <a:off x="3336053" y="2368381"/>
                <a:ext cx="5389976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3239504" y="2368381"/>
                <a:ext cx="536622" cy="0"/>
              </a:xfrm>
              <a:prstGeom prst="line">
                <a:avLst/>
              </a:prstGeom>
              <a:ln w="50800">
                <a:solidFill>
                  <a:srgbClr val="DFCFC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文本框 43"/>
          <p:cNvSpPr txBox="1"/>
          <p:nvPr/>
        </p:nvSpPr>
        <p:spPr>
          <a:xfrm>
            <a:off x="678974" y="1750473"/>
            <a:ext cx="2255697" cy="186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  <a:buClrTx/>
              <a:buSzTx/>
              <a:buFontTx/>
            </a:pPr>
            <a:r>
              <a:rPr lang="en-US" altLang="zh-CN" sz="11500">
                <a:ln w="28575" cmpd="sng">
                  <a:noFill/>
                  <a:prstDash val="solid"/>
                </a:ln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04</a:t>
            </a:r>
            <a:endParaRPr lang="zh-CN" altLang="en-US" sz="11500" dirty="0">
              <a:ln w="28575" cmpd="sng">
                <a:noFill/>
                <a:prstDash val="solid"/>
              </a:ln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3" name="图片 2" descr="微信图片_20250525175833"/>
          <p:cNvPicPr>
            <a:picLocks noChangeAspect="1"/>
          </p:cNvPicPr>
          <p:nvPr/>
        </p:nvPicPr>
        <p:blipFill>
          <a:blip r:embed="rId1"/>
          <a:srcRect l="7498" t="62863" r="38126" b="9287"/>
          <a:stretch>
            <a:fillRect/>
          </a:stretch>
        </p:blipFill>
        <p:spPr>
          <a:xfrm>
            <a:off x="-167005" y="-290830"/>
            <a:ext cx="4160520" cy="16611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794000" y="2082165"/>
            <a:ext cx="849503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  <a:buClrTx/>
              <a:buSzTx/>
              <a:buFontTx/>
            </a:pPr>
            <a:r>
              <a:rPr lang="zh-CN" altLang="en-US" sz="7200">
                <a:ln w="28575" cmpd="sng">
                  <a:noFill/>
                  <a:prstDash val="solid"/>
                </a:ln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sym typeface="+mn-lt"/>
              </a:rPr>
              <a:t>应用价值与总结</a:t>
            </a:r>
            <a:endParaRPr lang="zh-CN" altLang="en-US" sz="7200">
              <a:ln w="28575" cmpd="sng">
                <a:noFill/>
                <a:prstDash val="solid"/>
              </a:ln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latin typeface="宋体" panose="02010600030101010101" pitchFamily="2" charset="-122"/>
              <a:ea typeface="宋体" panose="02010600030101010101" pitchFamily="2" charset="-122"/>
              <a:sym typeface="+mn-lt"/>
            </a:endParaRPr>
          </a:p>
          <a:p>
            <a:pPr lvl="0">
              <a:lnSpc>
                <a:spcPct val="100000"/>
              </a:lnSpc>
              <a:buClrTx/>
              <a:buSzTx/>
              <a:buFontTx/>
            </a:pPr>
            <a:endParaRPr lang="zh-CN" altLang="en-US" sz="7200">
              <a:ln w="28575" cmpd="sng">
                <a:noFill/>
                <a:prstDash val="solid"/>
              </a:ln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  <p:bldLst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组合 60"/>
          <p:cNvGrpSpPr/>
          <p:nvPr/>
        </p:nvGrpSpPr>
        <p:grpSpPr>
          <a:xfrm>
            <a:off x="170227" y="152970"/>
            <a:ext cx="11514955" cy="786992"/>
            <a:chOff x="170227" y="152970"/>
            <a:chExt cx="11514954" cy="786992"/>
          </a:xfrm>
        </p:grpSpPr>
        <p:cxnSp>
          <p:nvCxnSpPr>
            <p:cNvPr id="58" name="直接连接符 57"/>
            <p:cNvCxnSpPr/>
            <p:nvPr/>
          </p:nvCxnSpPr>
          <p:spPr>
            <a:xfrm>
              <a:off x="1203158" y="939962"/>
              <a:ext cx="10482023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组合 7"/>
            <p:cNvGrpSpPr/>
            <p:nvPr/>
          </p:nvGrpSpPr>
          <p:grpSpPr>
            <a:xfrm>
              <a:off x="170227" y="152970"/>
              <a:ext cx="8472804" cy="786992"/>
              <a:chOff x="3381260" y="333724"/>
              <a:chExt cx="8472804" cy="786992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3381260" y="333724"/>
                <a:ext cx="8472804" cy="701040"/>
                <a:chOff x="3381260" y="333724"/>
                <a:chExt cx="8472804" cy="701040"/>
              </a:xfrm>
            </p:grpSpPr>
            <p:sp>
              <p:nvSpPr>
                <p:cNvPr id="5" name="文本框 4"/>
                <p:cNvSpPr txBox="1"/>
                <p:nvPr/>
              </p:nvSpPr>
              <p:spPr>
                <a:xfrm>
                  <a:off x="3381260" y="333724"/>
                  <a:ext cx="5259359" cy="6756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95000"/>
                    </a:lnSpc>
                  </a:pPr>
                  <a:r>
                    <a:rPr lang="en-US" altLang="zh-CN" sz="4000" b="1">
                      <a:gradFill>
                        <a:gsLst>
                          <a:gs pos="0">
                            <a:srgbClr val="CCB29B"/>
                          </a:gs>
                          <a:gs pos="48000">
                            <a:srgbClr val="E9DFD7">
                              <a:alpha val="0"/>
                            </a:srgbClr>
                          </a:gs>
                        </a:gsLst>
                        <a:lin ang="5400000" scaled="0"/>
                      </a:gradFill>
                      <a:latin typeface="宋体" panose="02010600030101010101" pitchFamily="2" charset="-122"/>
                      <a:ea typeface="宋体" panose="02010600030101010101" pitchFamily="2" charset="-122"/>
                      <a:cs typeface="阿里巴巴普惠体" panose="00020600040101010101" pitchFamily="18" charset="-122"/>
                      <a:sym typeface="思源黑体 CN Medium" panose="020B0600000000000000" pitchFamily="34" charset="-122"/>
                    </a:rPr>
                    <a:t>GRADUATION</a:t>
                  </a:r>
                  <a:endParaRPr lang="en-US" altLang="zh-CN" sz="4000" b="1" dirty="0">
                    <a:gradFill>
                      <a:gsLst>
                        <a:gs pos="0">
                          <a:srgbClr val="CCB29B"/>
                        </a:gs>
                        <a:gs pos="48000">
                          <a:srgbClr val="E9DFD7">
                            <a:alpha val="0"/>
                          </a:srgbClr>
                        </a:gs>
                      </a:gsLst>
                      <a:lin ang="5400000" scaled="0"/>
                    </a:gradFill>
                    <a:latin typeface="宋体" panose="02010600030101010101" pitchFamily="2" charset="-122"/>
                    <a:ea typeface="宋体" panose="02010600030101010101" pitchFamily="2" charset="-122"/>
                    <a:cs typeface="阿里巴巴普惠体" panose="00020600040101010101" pitchFamily="18" charset="-122"/>
                    <a:sym typeface="思源黑体 CN Medium" panose="020B0600000000000000" pitchFamily="34" charset="-122"/>
                  </a:endParaRP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3466350" y="540734"/>
                  <a:ext cx="8387714" cy="4940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noAutofit/>
                </a:bodyPr>
                <a:lstStyle/>
                <a:p>
                  <a:pPr>
                    <a:lnSpc>
                      <a:spcPts val="2600"/>
                    </a:lnSpc>
                  </a:pPr>
                  <a:r>
                    <a:rPr lang="zh-CN" altLang="en-US" sz="2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宋体" panose="02010600030101010101" pitchFamily="2" charset="-122"/>
                      <a:ea typeface="宋体" panose="02010600030101010101" pitchFamily="2" charset="-122"/>
                      <a:cs typeface="+mn-ea"/>
                      <a:sym typeface="+mn-lt"/>
                    </a:rPr>
                    <a:t>应用价值、局限性与总结</a:t>
                  </a:r>
                  <a:endParaRPr lang="zh-CN" altLang="en-US" sz="2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10" name="直接连接符 9"/>
              <p:cNvCxnSpPr/>
              <p:nvPr/>
            </p:nvCxnSpPr>
            <p:spPr>
              <a:xfrm>
                <a:off x="3604544" y="1120716"/>
                <a:ext cx="1182626" cy="0"/>
              </a:xfrm>
              <a:prstGeom prst="line">
                <a:avLst/>
              </a:prstGeom>
              <a:ln w="50800" cap="rnd">
                <a:solidFill>
                  <a:srgbClr val="3E4871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文本框 6"/>
          <p:cNvSpPr txBox="1"/>
          <p:nvPr/>
        </p:nvSpPr>
        <p:spPr>
          <a:xfrm>
            <a:off x="393700" y="1177290"/>
            <a:ext cx="11292205" cy="4661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应用价值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变体分析：把已知漏洞模式迁移到其他仓库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回归测试：把历史漏洞转成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CI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中可持续运行的规则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补丁验证：检查修复是否真的切断危险路径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局限性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当前主要处理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Java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不覆盖涉及配置文件或其他语言的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marL="742950" lvl="1" indent="-285750" fontAlgn="auto">
              <a:lnSpc>
                <a:spcPct val="150000"/>
              </a:lnSpc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后续可扩展到其他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CodeQL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支持语言，并与动态分析结合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一句话总结：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  <a:p>
            <a:pPr indent="457200" fontAlgn="auto">
              <a:lnSpc>
                <a:spcPct val="150000"/>
              </a:lnSpc>
              <a:spcAft>
                <a:spcPct val="0"/>
              </a:spcAft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QLCoder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的价值在于：把“从 </a:t>
            </a: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CVE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到静态分析查询”的过程，做成了一个可验证、可迭代、可复用的自动化流程。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 cstate="email">
            <a:alphaModFix amt="5000"/>
          </a:blip>
          <a:stretch>
            <a:fillRect/>
          </a:stretch>
        </p:blipFill>
        <p:spPr>
          <a:xfrm>
            <a:off x="0" y="1714683"/>
            <a:ext cx="12192000" cy="3428637"/>
          </a:xfrm>
          <a:prstGeom prst="rect">
            <a:avLst/>
          </a:prstGeom>
        </p:spPr>
      </p:pic>
      <p:sp>
        <p:nvSpPr>
          <p:cNvPr id="84" name="任意多边形: 形状 83"/>
          <p:cNvSpPr/>
          <p:nvPr/>
        </p:nvSpPr>
        <p:spPr>
          <a:xfrm>
            <a:off x="0" y="4656223"/>
            <a:ext cx="12192000" cy="2201779"/>
          </a:xfrm>
          <a:custGeom>
            <a:avLst/>
            <a:gdLst>
              <a:gd name="connsiteX0" fmla="*/ 12191999 w 12192000"/>
              <a:gd name="connsiteY0" fmla="*/ 0 h 2201779"/>
              <a:gd name="connsiteX1" fmla="*/ 12192000 w 12192000"/>
              <a:gd name="connsiteY1" fmla="*/ 0 h 2201779"/>
              <a:gd name="connsiteX2" fmla="*/ 12192000 w 12192000"/>
              <a:gd name="connsiteY2" fmla="*/ 2201779 h 2201779"/>
              <a:gd name="connsiteX3" fmla="*/ 0 w 12192000"/>
              <a:gd name="connsiteY3" fmla="*/ 2201779 h 2201779"/>
              <a:gd name="connsiteX4" fmla="*/ 0 w 12192000"/>
              <a:gd name="connsiteY4" fmla="*/ 430428 h 2201779"/>
              <a:gd name="connsiteX5" fmla="*/ 15110 w 12192000"/>
              <a:gd name="connsiteY5" fmla="*/ 430671 h 2201779"/>
              <a:gd name="connsiteX6" fmla="*/ 6095962 w 12192000"/>
              <a:gd name="connsiteY6" fmla="*/ 1351337 h 2201779"/>
              <a:gd name="connsiteX7" fmla="*/ 6095962 w 12192000"/>
              <a:gd name="connsiteY7" fmla="*/ 1344072 h 2201779"/>
              <a:gd name="connsiteX8" fmla="*/ 6096062 w 12192000"/>
              <a:gd name="connsiteY8" fmla="*/ 1344072 h 2201779"/>
              <a:gd name="connsiteX9" fmla="*/ 6096062 w 12192000"/>
              <a:gd name="connsiteY9" fmla="*/ 1351337 h 2201779"/>
              <a:gd name="connsiteX10" fmla="*/ 12191999 w 12192000"/>
              <a:gd name="connsiteY10" fmla="*/ 430428 h 220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201779">
                <a:moveTo>
                  <a:pt x="12191999" y="0"/>
                </a:moveTo>
                <a:lnTo>
                  <a:pt x="12192000" y="0"/>
                </a:lnTo>
                <a:lnTo>
                  <a:pt x="12192000" y="2201779"/>
                </a:lnTo>
                <a:lnTo>
                  <a:pt x="0" y="2201779"/>
                </a:lnTo>
                <a:lnTo>
                  <a:pt x="0" y="430428"/>
                </a:lnTo>
                <a:lnTo>
                  <a:pt x="15110" y="430671"/>
                </a:lnTo>
                <a:cubicBezTo>
                  <a:pt x="324341" y="435912"/>
                  <a:pt x="5284719" y="532552"/>
                  <a:pt x="6095962" y="1351337"/>
                </a:cubicBezTo>
                <a:lnTo>
                  <a:pt x="6095962" y="1344072"/>
                </a:lnTo>
                <a:lnTo>
                  <a:pt x="6096062" y="1344072"/>
                </a:lnTo>
                <a:lnTo>
                  <a:pt x="6096062" y="1351337"/>
                </a:lnTo>
                <a:cubicBezTo>
                  <a:pt x="6933443" y="506139"/>
                  <a:pt x="12191999" y="430428"/>
                  <a:pt x="12191999" y="430428"/>
                </a:cubicBezTo>
                <a:close/>
              </a:path>
            </a:pathLst>
          </a:custGeom>
          <a:gradFill>
            <a:gsLst>
              <a:gs pos="100000">
                <a:srgbClr val="E6DBC2">
                  <a:alpha val="27000"/>
                </a:srgbClr>
              </a:gs>
              <a:gs pos="0">
                <a:schemeClr val="bg1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100"/>
          </a:p>
        </p:txBody>
      </p:sp>
      <p:grpSp>
        <p:nvGrpSpPr>
          <p:cNvPr id="81" name="组合 80"/>
          <p:cNvGrpSpPr/>
          <p:nvPr/>
        </p:nvGrpSpPr>
        <p:grpSpPr>
          <a:xfrm>
            <a:off x="-2" y="2"/>
            <a:ext cx="12192003" cy="5369671"/>
            <a:chOff x="-1" y="0"/>
            <a:chExt cx="12192002" cy="5369671"/>
          </a:xfrm>
        </p:grpSpPr>
        <p:grpSp>
          <p:nvGrpSpPr>
            <p:cNvPr id="12" name="组合 11"/>
            <p:cNvGrpSpPr/>
            <p:nvPr/>
          </p:nvGrpSpPr>
          <p:grpSpPr>
            <a:xfrm>
              <a:off x="-1" y="0"/>
              <a:ext cx="12192002" cy="5369671"/>
              <a:chOff x="-1" y="0"/>
              <a:chExt cx="12192002" cy="5369671"/>
            </a:xfrm>
            <a:effectLst>
              <a:outerShdw blurRad="1143000" dist="254000" dir="5400000" algn="t" rotWithShape="0">
                <a:prstClr val="black">
                  <a:alpha val="10000"/>
                </a:prstClr>
              </a:outerShdw>
            </a:effectLst>
          </p:grpSpPr>
          <p:sp>
            <p:nvSpPr>
              <p:cNvPr id="10" name="图形 7"/>
              <p:cNvSpPr/>
              <p:nvPr/>
            </p:nvSpPr>
            <p:spPr>
              <a:xfrm>
                <a:off x="-1" y="212557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图形 7"/>
              <p:cNvSpPr/>
              <p:nvPr/>
            </p:nvSpPr>
            <p:spPr>
              <a:xfrm>
                <a:off x="1" y="0"/>
                <a:ext cx="12192000" cy="5157114"/>
              </a:xfrm>
              <a:custGeom>
                <a:avLst/>
                <a:gdLst>
                  <a:gd name="connsiteX0" fmla="*/ 6128385 w 12256643"/>
                  <a:gd name="connsiteY0" fmla="*/ 5157115 h 5157114"/>
                  <a:gd name="connsiteX1" fmla="*/ 6128385 w 12256643"/>
                  <a:gd name="connsiteY1" fmla="*/ 5149850 h 5157114"/>
                  <a:gd name="connsiteX2" fmla="*/ 6128284 w 12256643"/>
                  <a:gd name="connsiteY2" fmla="*/ 5149850 h 5157114"/>
                  <a:gd name="connsiteX3" fmla="*/ 6128284 w 12256643"/>
                  <a:gd name="connsiteY3" fmla="*/ 5157115 h 5157114"/>
                  <a:gd name="connsiteX4" fmla="*/ 0 w 12256643"/>
                  <a:gd name="connsiteY4" fmla="*/ 4236206 h 5157114"/>
                  <a:gd name="connsiteX5" fmla="*/ 0 w 12256643"/>
                  <a:gd name="connsiteY5" fmla="*/ 0 h 5157114"/>
                  <a:gd name="connsiteX6" fmla="*/ 6128265 w 12256643"/>
                  <a:gd name="connsiteY6" fmla="*/ 0 h 5157114"/>
                  <a:gd name="connsiteX7" fmla="*/ 6128265 w 12256643"/>
                  <a:gd name="connsiteY7" fmla="*/ 6350 h 5157114"/>
                  <a:gd name="connsiteX8" fmla="*/ 6128385 w 12256643"/>
                  <a:gd name="connsiteY8" fmla="*/ 6350 h 5157114"/>
                  <a:gd name="connsiteX9" fmla="*/ 6128385 w 12256643"/>
                  <a:gd name="connsiteY9" fmla="*/ 0 h 5157114"/>
                  <a:gd name="connsiteX10" fmla="*/ 12256643 w 12256643"/>
                  <a:gd name="connsiteY10" fmla="*/ 0 h 5157114"/>
                  <a:gd name="connsiteX11" fmla="*/ 12256643 w 12256643"/>
                  <a:gd name="connsiteY11" fmla="*/ 4236206 h 5157114"/>
                  <a:gd name="connsiteX12" fmla="*/ 6128385 w 12256643"/>
                  <a:gd name="connsiteY12" fmla="*/ 5157115 h 515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56643" h="5157114">
                    <a:moveTo>
                      <a:pt x="6128385" y="5157115"/>
                    </a:moveTo>
                    <a:lnTo>
                      <a:pt x="6128385" y="5149850"/>
                    </a:lnTo>
                    <a:lnTo>
                      <a:pt x="6128284" y="5149850"/>
                    </a:lnTo>
                    <a:lnTo>
                      <a:pt x="6128284" y="5157115"/>
                    </a:lnTo>
                    <a:cubicBezTo>
                      <a:pt x="5286432" y="4311917"/>
                      <a:pt x="0" y="4236206"/>
                      <a:pt x="0" y="4236206"/>
                    </a:cubicBezTo>
                    <a:lnTo>
                      <a:pt x="0" y="0"/>
                    </a:lnTo>
                    <a:lnTo>
                      <a:pt x="6128265" y="0"/>
                    </a:lnTo>
                    <a:lnTo>
                      <a:pt x="6128265" y="6350"/>
                    </a:lnTo>
                    <a:lnTo>
                      <a:pt x="6128385" y="6350"/>
                    </a:lnTo>
                    <a:lnTo>
                      <a:pt x="6128385" y="0"/>
                    </a:lnTo>
                    <a:lnTo>
                      <a:pt x="12256643" y="0"/>
                    </a:lnTo>
                    <a:lnTo>
                      <a:pt x="12256643" y="4236206"/>
                    </a:lnTo>
                    <a:cubicBezTo>
                      <a:pt x="12256643" y="4236206"/>
                      <a:pt x="6970205" y="4311917"/>
                      <a:pt x="6128385" y="5157115"/>
                    </a:cubicBezTo>
                    <a:close/>
                  </a:path>
                </a:pathLst>
              </a:custGeom>
              <a:gradFill>
                <a:gsLst>
                  <a:gs pos="0">
                    <a:srgbClr val="3A436A"/>
                  </a:gs>
                  <a:gs pos="100000">
                    <a:srgbClr val="4E5B90"/>
                  </a:gs>
                </a:gsLst>
                <a:lin ang="11400000" scaled="0"/>
              </a:gradFill>
              <a:ln w="63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32" name="任意多边形 42"/>
            <p:cNvSpPr/>
            <p:nvPr/>
          </p:nvSpPr>
          <p:spPr>
            <a:xfrm flipV="1">
              <a:off x="8716010" y="0"/>
              <a:ext cx="3475990" cy="2791460"/>
            </a:xfrm>
            <a:custGeom>
              <a:avLst/>
              <a:gdLst>
                <a:gd name="it" fmla="*/ h 7 12"/>
                <a:gd name="ir" fmla="*/ w 7 12"/>
                <a:gd name="ib" fmla="*/ h 11 12"/>
              </a:gdLst>
              <a:ahLst/>
              <a:cxnLst>
                <a:cxn ang="3">
                  <a:pos x="l" y="t"/>
                </a:cxn>
                <a:cxn ang="cd2">
                  <a:pos x="l" y="vc"/>
                </a:cxn>
                <a:cxn ang="cd4">
                  <a:pos x="l" y="b"/>
                </a:cxn>
                <a:cxn ang="cd4">
                  <a:pos x="hc" y="b"/>
                </a:cxn>
                <a:cxn ang="cd4">
                  <a:pos x="r" y="b"/>
                </a:cxn>
                <a:cxn ang="0">
                  <a:pos x="hc" y="vc"/>
                </a:cxn>
              </a:cxnLst>
              <a:rect l="l" t="t" r="r" b="b"/>
              <a:pathLst>
                <a:path w="5474" h="4396">
                  <a:moveTo>
                    <a:pt x="0" y="0"/>
                  </a:moveTo>
                  <a:lnTo>
                    <a:pt x="5474" y="3836"/>
                  </a:lnTo>
                  <a:lnTo>
                    <a:pt x="5474" y="4396"/>
                  </a:lnTo>
                  <a:lnTo>
                    <a:pt x="0" y="4396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29000">
                  <a:srgbClr val="4E5B90">
                    <a:alpha val="52000"/>
                  </a:srgbClr>
                </a:gs>
                <a:gs pos="100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3" name="直角三角形 132"/>
            <p:cNvSpPr/>
            <p:nvPr/>
          </p:nvSpPr>
          <p:spPr>
            <a:xfrm flipV="1">
              <a:off x="635" y="0"/>
              <a:ext cx="4189730" cy="2791460"/>
            </a:xfrm>
            <a:prstGeom prst="rtTriangle">
              <a:avLst/>
            </a:prstGeom>
            <a:gradFill>
              <a:gsLst>
                <a:gs pos="37000">
                  <a:srgbClr val="3D4671">
                    <a:alpha val="28000"/>
                  </a:srgbClr>
                </a:gs>
                <a:gs pos="95000">
                  <a:srgbClr val="4D5A8E">
                    <a:alpha val="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262380" y="2017395"/>
            <a:ext cx="966660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7200" b="1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阿里巴巴普惠体" panose="00020600040101010101" pitchFamily="18" charset="-122"/>
              </a:rPr>
              <a:t>汇报完毕，感谢</a:t>
            </a:r>
            <a:r>
              <a:rPr lang="zh-CN" altLang="en-US" sz="7200" b="1">
                <a:gradFill>
                  <a:gsLst>
                    <a:gs pos="11000">
                      <a:srgbClr val="CCB29B"/>
                    </a:gs>
                    <a:gs pos="100000">
                      <a:srgbClr val="E9DFD7"/>
                    </a:gs>
                  </a:gsLst>
                  <a:lin ang="5400000" scaled="0"/>
                </a:gradFill>
                <a:latin typeface="宋体" panose="02010600030101010101" pitchFamily="2" charset="-122"/>
                <a:ea typeface="宋体" panose="02010600030101010101" pitchFamily="2" charset="-122"/>
                <a:cs typeface="阿里巴巴普惠体" panose="00020600040101010101" pitchFamily="18" charset="-122"/>
              </a:rPr>
              <a:t>倾听！</a:t>
            </a:r>
            <a:endParaRPr lang="zh-CN" altLang="en-US" sz="7200" b="1">
              <a:gradFill>
                <a:gsLst>
                  <a:gs pos="11000">
                    <a:srgbClr val="CCB29B"/>
                  </a:gs>
                  <a:gs pos="100000">
                    <a:srgbClr val="E9DFD7"/>
                  </a:gs>
                </a:gsLst>
                <a:lin ang="5400000" scaled="0"/>
              </a:gradFill>
              <a:latin typeface="宋体" panose="02010600030101010101" pitchFamily="2" charset="-122"/>
              <a:ea typeface="宋体" panose="02010600030101010101" pitchFamily="2" charset="-122"/>
              <a:cs typeface="阿里巴巴普惠体" panose="00020600040101010101" pitchFamily="18" charset="-122"/>
            </a:endParaRPr>
          </a:p>
        </p:txBody>
      </p:sp>
      <p:pic>
        <p:nvPicPr>
          <p:cNvPr id="2" name="图片 1" descr="微信图片_20250525175833"/>
          <p:cNvPicPr>
            <a:picLocks noChangeAspect="1"/>
          </p:cNvPicPr>
          <p:nvPr/>
        </p:nvPicPr>
        <p:blipFill>
          <a:blip r:embed="rId2"/>
          <a:srcRect l="7498" t="62863" r="38126" b="9287"/>
          <a:stretch>
            <a:fillRect/>
          </a:stretch>
        </p:blipFill>
        <p:spPr>
          <a:xfrm>
            <a:off x="-167005" y="-290830"/>
            <a:ext cx="4160520" cy="1661160"/>
          </a:xfrm>
          <a:prstGeom prst="rect">
            <a:avLst/>
          </a:prstGeom>
        </p:spPr>
      </p:pic>
      <p:sp>
        <p:nvSpPr>
          <p:cNvPr id="4" name="矩形: 圆角 17"/>
          <p:cNvSpPr/>
          <p:nvPr/>
        </p:nvSpPr>
        <p:spPr>
          <a:xfrm>
            <a:off x="6299835" y="5674360"/>
            <a:ext cx="2502535" cy="381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CB29B"/>
              </a:gs>
              <a:gs pos="100000">
                <a:srgbClr val="D3BEAD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rgbClr val="3E487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日期：</a:t>
            </a:r>
            <a:r>
              <a:rPr lang="en-US" altLang="zh-CN" sz="2000" b="1">
                <a:solidFill>
                  <a:srgbClr val="3E487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2026.4.21</a:t>
            </a:r>
            <a:endParaRPr lang="en-US" altLang="zh-CN" sz="2000" b="1" dirty="0" smtClean="0">
              <a:solidFill>
                <a:srgbClr val="3E487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5" name="矩形: 圆角 17"/>
          <p:cNvSpPr/>
          <p:nvPr/>
        </p:nvSpPr>
        <p:spPr>
          <a:xfrm>
            <a:off x="3366770" y="5674360"/>
            <a:ext cx="2502000" cy="38163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CB29B"/>
              </a:gs>
              <a:gs pos="100000">
                <a:srgbClr val="D3BEAD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 dirty="0" smtClean="0">
                <a:solidFill>
                  <a:srgbClr val="3E4871"/>
                </a:solidFill>
                <a:latin typeface="宋体" panose="02010600030101010101" pitchFamily="2" charset="-122"/>
                <a:ea typeface="宋体" panose="02010600030101010101" pitchFamily="2" charset="-122"/>
                <a:cs typeface="阿里巴巴普惠体" panose="00020600040101010101" pitchFamily="18" charset="-122"/>
              </a:rPr>
              <a:t>汇报人：朱岩松</a:t>
            </a:r>
            <a:endParaRPr lang="en-US" altLang="zh-CN" sz="2000" b="1" dirty="0" smtClean="0">
              <a:solidFill>
                <a:srgbClr val="3E4871"/>
              </a:solidFill>
              <a:latin typeface="宋体" panose="02010600030101010101" pitchFamily="2" charset="-122"/>
              <a:ea typeface="宋体" panose="0201060003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2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3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4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5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6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7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8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9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10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11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12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13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14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15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16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17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18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19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ags/tag20.xml><?xml version="1.0" encoding="utf-8"?>
<p:tagLst xmlns:p="http://schemas.openxmlformats.org/presentationml/2006/main">
  <p:tag name="KSO_WM_DIAGRAM_VIRTUALLY_FRAME" val="{&quot;height&quot;:432.68874015748025,&quot;left&quot;:463.86834645669285,&quot;top&quot;:55.840157480314964,&quot;width&quot;:440.4405770529059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1bjenarc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3337</Words>
  <Application>WPS 演示</Application>
  <PresentationFormat>宽屏</PresentationFormat>
  <Paragraphs>227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思源宋体 CN</vt:lpstr>
      <vt:lpstr>微软雅黑</vt:lpstr>
      <vt:lpstr>阿里巴巴普惠体</vt:lpstr>
      <vt:lpstr>阿里巴巴普惠体 Heavy</vt:lpstr>
      <vt:lpstr>思源黑体 CN Medium</vt:lpstr>
      <vt:lpstr>Arial Unicode MS</vt:lpstr>
      <vt:lpstr>Calibri</vt:lpstr>
      <vt:lpstr>黑体</vt:lpstr>
      <vt:lpstr>WPS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有常</cp:lastModifiedBy>
  <cp:revision>239</cp:revision>
  <dcterms:created xsi:type="dcterms:W3CDTF">2023-08-09T12:44:00Z</dcterms:created>
  <dcterms:modified xsi:type="dcterms:W3CDTF">2026-04-20T17:07:07Z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81FDC9BB300A45189717FB5F7AA3F3EE_12</vt:lpwstr>
  </property>
</Properties>
</file>