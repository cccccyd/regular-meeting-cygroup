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7" r:id="rId4"/>
    <p:sldId id="258" r:id="rId5"/>
    <p:sldId id="259" r:id="rId6"/>
    <p:sldId id="260" r:id="rId7"/>
    <p:sldId id="261"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8" r:id="rId21"/>
    <p:sldId id="279" r:id="rId22"/>
    <p:sldId id="275" r:id="rId23"/>
    <p:sldId id="277" r:id="rId24"/>
    <p:sldId id="276" r:id="rId25"/>
    <p:sldId id="280" r:id="rId26"/>
    <p:sldId id="281" r:id="rId27"/>
    <p:sldId id="282" r:id="rId28"/>
    <p:sldId id="283" r:id="rId29"/>
    <p:sldId id="284"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78" autoAdjust="0"/>
    <p:restoredTop sz="94660"/>
  </p:normalViewPr>
  <p:slideViewPr>
    <p:cSldViewPr snapToGrid="0">
      <p:cViewPr varScale="1">
        <p:scale>
          <a:sx n="81" d="100"/>
          <a:sy n="81" d="100"/>
        </p:scale>
        <p:origin x="79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F1474A-EB67-A615-AC2A-B2DD6CDF982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A3AC319-AA64-4ED6-D16D-906B176582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8ED6A5A-F991-040A-137F-351406C6D9DE}"/>
              </a:ext>
            </a:extLst>
          </p:cNvPr>
          <p:cNvSpPr>
            <a:spLocks noGrp="1"/>
          </p:cNvSpPr>
          <p:nvPr>
            <p:ph type="dt" sz="half" idx="10"/>
          </p:nvPr>
        </p:nvSpPr>
        <p:spPr/>
        <p:txBody>
          <a:bodyPr/>
          <a:lstStyle/>
          <a:p>
            <a:fld id="{406D7A7F-1B50-4FB4-9E76-A6EDBAAEE6AB}"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12A5DC79-17C7-DF32-B88F-0436456E79F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672F1D1-790F-728D-C040-7302F7973B07}"/>
              </a:ext>
            </a:extLst>
          </p:cNvPr>
          <p:cNvSpPr>
            <a:spLocks noGrp="1"/>
          </p:cNvSpPr>
          <p:nvPr>
            <p:ph type="sldNum" sz="quarter" idx="12"/>
          </p:nvPr>
        </p:nvSpPr>
        <p:spPr/>
        <p:txBody>
          <a:bodyPr/>
          <a:lstStyle/>
          <a:p>
            <a:fld id="{92B47B09-D763-4885-BDA2-B98BC03C651E}" type="slidenum">
              <a:rPr lang="zh-CN" altLang="en-US" smtClean="0"/>
              <a:t>‹#›</a:t>
            </a:fld>
            <a:endParaRPr lang="zh-CN" altLang="en-US"/>
          </a:p>
        </p:txBody>
      </p:sp>
    </p:spTree>
    <p:extLst>
      <p:ext uri="{BB962C8B-B14F-4D97-AF65-F5344CB8AC3E}">
        <p14:creationId xmlns:p14="http://schemas.microsoft.com/office/powerpoint/2010/main" val="1925252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EBD213-8B1E-523F-BFDE-BD22A0F5187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DEE3F8D-A6F9-527B-2564-BEE63A0888D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393DADB-DC42-1AE1-2BCF-3A734044AF29}"/>
              </a:ext>
            </a:extLst>
          </p:cNvPr>
          <p:cNvSpPr>
            <a:spLocks noGrp="1"/>
          </p:cNvSpPr>
          <p:nvPr>
            <p:ph type="dt" sz="half" idx="10"/>
          </p:nvPr>
        </p:nvSpPr>
        <p:spPr/>
        <p:txBody>
          <a:bodyPr/>
          <a:lstStyle/>
          <a:p>
            <a:fld id="{406D7A7F-1B50-4FB4-9E76-A6EDBAAEE6AB}"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14E71829-5272-E555-CE61-1E832263D12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6D6EE21-1526-C5BF-341E-D50EEA963DA7}"/>
              </a:ext>
            </a:extLst>
          </p:cNvPr>
          <p:cNvSpPr>
            <a:spLocks noGrp="1"/>
          </p:cNvSpPr>
          <p:nvPr>
            <p:ph type="sldNum" sz="quarter" idx="12"/>
          </p:nvPr>
        </p:nvSpPr>
        <p:spPr/>
        <p:txBody>
          <a:bodyPr/>
          <a:lstStyle/>
          <a:p>
            <a:fld id="{92B47B09-D763-4885-BDA2-B98BC03C651E}" type="slidenum">
              <a:rPr lang="zh-CN" altLang="en-US" smtClean="0"/>
              <a:t>‹#›</a:t>
            </a:fld>
            <a:endParaRPr lang="zh-CN" altLang="en-US"/>
          </a:p>
        </p:txBody>
      </p:sp>
    </p:spTree>
    <p:extLst>
      <p:ext uri="{BB962C8B-B14F-4D97-AF65-F5344CB8AC3E}">
        <p14:creationId xmlns:p14="http://schemas.microsoft.com/office/powerpoint/2010/main" val="594879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9234B2-2F5F-2BCE-74E7-C5A96A4055A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73B0220-1C8F-8D14-D1D5-0D644DA20C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70C52C-C7FE-892D-CD10-6FB301075786}"/>
              </a:ext>
            </a:extLst>
          </p:cNvPr>
          <p:cNvSpPr>
            <a:spLocks noGrp="1"/>
          </p:cNvSpPr>
          <p:nvPr>
            <p:ph type="dt" sz="half" idx="10"/>
          </p:nvPr>
        </p:nvSpPr>
        <p:spPr/>
        <p:txBody>
          <a:bodyPr/>
          <a:lstStyle/>
          <a:p>
            <a:fld id="{406D7A7F-1B50-4FB4-9E76-A6EDBAAEE6AB}"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E4F4FBBB-341C-65EA-AE93-AC57D7567C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DC02700-2280-93DC-903B-0B5A987E371B}"/>
              </a:ext>
            </a:extLst>
          </p:cNvPr>
          <p:cNvSpPr>
            <a:spLocks noGrp="1"/>
          </p:cNvSpPr>
          <p:nvPr>
            <p:ph type="sldNum" sz="quarter" idx="12"/>
          </p:nvPr>
        </p:nvSpPr>
        <p:spPr/>
        <p:txBody>
          <a:bodyPr/>
          <a:lstStyle/>
          <a:p>
            <a:fld id="{92B47B09-D763-4885-BDA2-B98BC03C651E}" type="slidenum">
              <a:rPr lang="zh-CN" altLang="en-US" smtClean="0"/>
              <a:t>‹#›</a:t>
            </a:fld>
            <a:endParaRPr lang="zh-CN" altLang="en-US"/>
          </a:p>
        </p:txBody>
      </p:sp>
    </p:spTree>
    <p:extLst>
      <p:ext uri="{BB962C8B-B14F-4D97-AF65-F5344CB8AC3E}">
        <p14:creationId xmlns:p14="http://schemas.microsoft.com/office/powerpoint/2010/main" val="1275977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0DDCFE-5BA5-4F99-5876-784C9F26047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E24B8D0-1245-5407-4AA8-4B3BBAC385D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81916D5-51DF-3C2C-34A6-1AD2AF51C01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4DE030E-9EA8-A3C7-E2E4-7DD01401EDCF}"/>
              </a:ext>
            </a:extLst>
          </p:cNvPr>
          <p:cNvSpPr>
            <a:spLocks noGrp="1"/>
          </p:cNvSpPr>
          <p:nvPr>
            <p:ph type="dt" sz="half" idx="10"/>
          </p:nvPr>
        </p:nvSpPr>
        <p:spPr/>
        <p:txBody>
          <a:bodyPr/>
          <a:lstStyle/>
          <a:p>
            <a:fld id="{406D7A7F-1B50-4FB4-9E76-A6EDBAAEE6AB}" type="datetimeFigureOut">
              <a:rPr lang="zh-CN" altLang="en-US" smtClean="0"/>
              <a:t>2026/4/21</a:t>
            </a:fld>
            <a:endParaRPr lang="zh-CN" altLang="en-US"/>
          </a:p>
        </p:txBody>
      </p:sp>
      <p:sp>
        <p:nvSpPr>
          <p:cNvPr id="6" name="页脚占位符 5">
            <a:extLst>
              <a:ext uri="{FF2B5EF4-FFF2-40B4-BE49-F238E27FC236}">
                <a16:creationId xmlns:a16="http://schemas.microsoft.com/office/drawing/2014/main" id="{9CBC4EC7-4D43-10BE-F229-681A1113CA4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63BF83D-BCDA-5A0F-6C8D-BC7A0342B96C}"/>
              </a:ext>
            </a:extLst>
          </p:cNvPr>
          <p:cNvSpPr>
            <a:spLocks noGrp="1"/>
          </p:cNvSpPr>
          <p:nvPr>
            <p:ph type="sldNum" sz="quarter" idx="12"/>
          </p:nvPr>
        </p:nvSpPr>
        <p:spPr/>
        <p:txBody>
          <a:bodyPr/>
          <a:lstStyle/>
          <a:p>
            <a:fld id="{92B47B09-D763-4885-BDA2-B98BC03C651E}" type="slidenum">
              <a:rPr lang="zh-CN" altLang="en-US" smtClean="0"/>
              <a:t>‹#›</a:t>
            </a:fld>
            <a:endParaRPr lang="zh-CN" altLang="en-US"/>
          </a:p>
        </p:txBody>
      </p:sp>
    </p:spTree>
    <p:extLst>
      <p:ext uri="{BB962C8B-B14F-4D97-AF65-F5344CB8AC3E}">
        <p14:creationId xmlns:p14="http://schemas.microsoft.com/office/powerpoint/2010/main" val="307223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63BA98-2D4E-BC51-4287-8417C5FFF93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F42258B-3D46-ADF2-EE48-EDC49E15F4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271BC3B-C179-15C6-248E-05CD89EF1EA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1E14745-C74F-3DA3-6590-0E346605B2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A6D177A-6843-6165-B8E7-82CF363672A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6E136F6-9F42-AAB1-9560-E563B44D8D1F}"/>
              </a:ext>
            </a:extLst>
          </p:cNvPr>
          <p:cNvSpPr>
            <a:spLocks noGrp="1"/>
          </p:cNvSpPr>
          <p:nvPr>
            <p:ph type="dt" sz="half" idx="10"/>
          </p:nvPr>
        </p:nvSpPr>
        <p:spPr/>
        <p:txBody>
          <a:bodyPr/>
          <a:lstStyle/>
          <a:p>
            <a:fld id="{406D7A7F-1B50-4FB4-9E76-A6EDBAAEE6AB}" type="datetimeFigureOut">
              <a:rPr lang="zh-CN" altLang="en-US" smtClean="0"/>
              <a:t>2026/4/21</a:t>
            </a:fld>
            <a:endParaRPr lang="zh-CN" altLang="en-US"/>
          </a:p>
        </p:txBody>
      </p:sp>
      <p:sp>
        <p:nvSpPr>
          <p:cNvPr id="8" name="页脚占位符 7">
            <a:extLst>
              <a:ext uri="{FF2B5EF4-FFF2-40B4-BE49-F238E27FC236}">
                <a16:creationId xmlns:a16="http://schemas.microsoft.com/office/drawing/2014/main" id="{CEE4F2FC-0C0B-FCB8-9115-58E8C0A5186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7968D84-C73F-EC02-E9A2-4C948C814131}"/>
              </a:ext>
            </a:extLst>
          </p:cNvPr>
          <p:cNvSpPr>
            <a:spLocks noGrp="1"/>
          </p:cNvSpPr>
          <p:nvPr>
            <p:ph type="sldNum" sz="quarter" idx="12"/>
          </p:nvPr>
        </p:nvSpPr>
        <p:spPr/>
        <p:txBody>
          <a:bodyPr/>
          <a:lstStyle/>
          <a:p>
            <a:fld id="{92B47B09-D763-4885-BDA2-B98BC03C651E}" type="slidenum">
              <a:rPr lang="zh-CN" altLang="en-US" smtClean="0"/>
              <a:t>‹#›</a:t>
            </a:fld>
            <a:endParaRPr lang="zh-CN" altLang="en-US"/>
          </a:p>
        </p:txBody>
      </p:sp>
    </p:spTree>
    <p:extLst>
      <p:ext uri="{BB962C8B-B14F-4D97-AF65-F5344CB8AC3E}">
        <p14:creationId xmlns:p14="http://schemas.microsoft.com/office/powerpoint/2010/main" val="2029798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DA40CB-C485-B394-FED7-11A6C334704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014387F-AF3E-C082-A477-B5C7C3388C8E}"/>
              </a:ext>
            </a:extLst>
          </p:cNvPr>
          <p:cNvSpPr>
            <a:spLocks noGrp="1"/>
          </p:cNvSpPr>
          <p:nvPr>
            <p:ph type="dt" sz="half" idx="10"/>
          </p:nvPr>
        </p:nvSpPr>
        <p:spPr/>
        <p:txBody>
          <a:bodyPr/>
          <a:lstStyle/>
          <a:p>
            <a:fld id="{406D7A7F-1B50-4FB4-9E76-A6EDBAAEE6AB}" type="datetimeFigureOut">
              <a:rPr lang="zh-CN" altLang="en-US" smtClean="0"/>
              <a:t>2026/4/21</a:t>
            </a:fld>
            <a:endParaRPr lang="zh-CN" altLang="en-US"/>
          </a:p>
        </p:txBody>
      </p:sp>
      <p:sp>
        <p:nvSpPr>
          <p:cNvPr id="4" name="页脚占位符 3">
            <a:extLst>
              <a:ext uri="{FF2B5EF4-FFF2-40B4-BE49-F238E27FC236}">
                <a16:creationId xmlns:a16="http://schemas.microsoft.com/office/drawing/2014/main" id="{8BC0A11D-219E-D41C-2B3C-082CD639180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6405652-537E-FC63-C1F1-FF19D17687C6}"/>
              </a:ext>
            </a:extLst>
          </p:cNvPr>
          <p:cNvSpPr>
            <a:spLocks noGrp="1"/>
          </p:cNvSpPr>
          <p:nvPr>
            <p:ph type="sldNum" sz="quarter" idx="12"/>
          </p:nvPr>
        </p:nvSpPr>
        <p:spPr/>
        <p:txBody>
          <a:bodyPr/>
          <a:lstStyle/>
          <a:p>
            <a:fld id="{92B47B09-D763-4885-BDA2-B98BC03C651E}" type="slidenum">
              <a:rPr lang="zh-CN" altLang="en-US" smtClean="0"/>
              <a:t>‹#›</a:t>
            </a:fld>
            <a:endParaRPr lang="zh-CN" altLang="en-US"/>
          </a:p>
        </p:txBody>
      </p:sp>
    </p:spTree>
    <p:extLst>
      <p:ext uri="{BB962C8B-B14F-4D97-AF65-F5344CB8AC3E}">
        <p14:creationId xmlns:p14="http://schemas.microsoft.com/office/powerpoint/2010/main" val="756070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5AC1C2D-9552-115F-30E7-6299EE3CD4E4}"/>
              </a:ext>
            </a:extLst>
          </p:cNvPr>
          <p:cNvSpPr>
            <a:spLocks noGrp="1"/>
          </p:cNvSpPr>
          <p:nvPr>
            <p:ph type="dt" sz="half" idx="10"/>
          </p:nvPr>
        </p:nvSpPr>
        <p:spPr/>
        <p:txBody>
          <a:bodyPr/>
          <a:lstStyle/>
          <a:p>
            <a:fld id="{406D7A7F-1B50-4FB4-9E76-A6EDBAAEE6AB}" type="datetimeFigureOut">
              <a:rPr lang="zh-CN" altLang="en-US" smtClean="0"/>
              <a:t>2026/4/21</a:t>
            </a:fld>
            <a:endParaRPr lang="zh-CN" altLang="en-US"/>
          </a:p>
        </p:txBody>
      </p:sp>
      <p:sp>
        <p:nvSpPr>
          <p:cNvPr id="3" name="页脚占位符 2">
            <a:extLst>
              <a:ext uri="{FF2B5EF4-FFF2-40B4-BE49-F238E27FC236}">
                <a16:creationId xmlns:a16="http://schemas.microsoft.com/office/drawing/2014/main" id="{649665E2-3621-A695-CDCE-E1E7744434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0FE8B6B-1DC1-050F-F957-A31E5EBBED6F}"/>
              </a:ext>
            </a:extLst>
          </p:cNvPr>
          <p:cNvSpPr>
            <a:spLocks noGrp="1"/>
          </p:cNvSpPr>
          <p:nvPr>
            <p:ph type="sldNum" sz="quarter" idx="12"/>
          </p:nvPr>
        </p:nvSpPr>
        <p:spPr/>
        <p:txBody>
          <a:bodyPr/>
          <a:lstStyle/>
          <a:p>
            <a:fld id="{92B47B09-D763-4885-BDA2-B98BC03C651E}" type="slidenum">
              <a:rPr lang="zh-CN" altLang="en-US" smtClean="0"/>
              <a:t>‹#›</a:t>
            </a:fld>
            <a:endParaRPr lang="zh-CN" altLang="en-US"/>
          </a:p>
        </p:txBody>
      </p:sp>
    </p:spTree>
    <p:extLst>
      <p:ext uri="{BB962C8B-B14F-4D97-AF65-F5344CB8AC3E}">
        <p14:creationId xmlns:p14="http://schemas.microsoft.com/office/powerpoint/2010/main" val="141851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288A25-CC91-FC12-CFDD-CCC4B69129E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024ED9B-7814-635C-CF45-EF37109332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8B9C996-6BC2-F547-F2D0-A8DF7C4853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5F4287E-6CF8-C329-62EC-FAFDC0DC7445}"/>
              </a:ext>
            </a:extLst>
          </p:cNvPr>
          <p:cNvSpPr>
            <a:spLocks noGrp="1"/>
          </p:cNvSpPr>
          <p:nvPr>
            <p:ph type="dt" sz="half" idx="10"/>
          </p:nvPr>
        </p:nvSpPr>
        <p:spPr/>
        <p:txBody>
          <a:bodyPr/>
          <a:lstStyle/>
          <a:p>
            <a:fld id="{406D7A7F-1B50-4FB4-9E76-A6EDBAAEE6AB}" type="datetimeFigureOut">
              <a:rPr lang="zh-CN" altLang="en-US" smtClean="0"/>
              <a:t>2026/4/21</a:t>
            </a:fld>
            <a:endParaRPr lang="zh-CN" altLang="en-US"/>
          </a:p>
        </p:txBody>
      </p:sp>
      <p:sp>
        <p:nvSpPr>
          <p:cNvPr id="6" name="页脚占位符 5">
            <a:extLst>
              <a:ext uri="{FF2B5EF4-FFF2-40B4-BE49-F238E27FC236}">
                <a16:creationId xmlns:a16="http://schemas.microsoft.com/office/drawing/2014/main" id="{BBB4693B-F8ED-C2D5-6A75-5D913671E00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AE84F9B-9EFD-38D6-BE85-B1C8F5424B5E}"/>
              </a:ext>
            </a:extLst>
          </p:cNvPr>
          <p:cNvSpPr>
            <a:spLocks noGrp="1"/>
          </p:cNvSpPr>
          <p:nvPr>
            <p:ph type="sldNum" sz="quarter" idx="12"/>
          </p:nvPr>
        </p:nvSpPr>
        <p:spPr/>
        <p:txBody>
          <a:bodyPr/>
          <a:lstStyle/>
          <a:p>
            <a:fld id="{92B47B09-D763-4885-BDA2-B98BC03C651E}" type="slidenum">
              <a:rPr lang="zh-CN" altLang="en-US" smtClean="0"/>
              <a:t>‹#›</a:t>
            </a:fld>
            <a:endParaRPr lang="zh-CN" altLang="en-US"/>
          </a:p>
        </p:txBody>
      </p:sp>
    </p:spTree>
    <p:extLst>
      <p:ext uri="{BB962C8B-B14F-4D97-AF65-F5344CB8AC3E}">
        <p14:creationId xmlns:p14="http://schemas.microsoft.com/office/powerpoint/2010/main" val="1620678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B44405-1D09-E0A9-956A-46585715663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8D8ADD-A519-A849-D04A-EECB628642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5E233F5-9996-D8C1-7284-80D02AC8C6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11CBC24-B052-FC0D-8814-703F4E996983}"/>
              </a:ext>
            </a:extLst>
          </p:cNvPr>
          <p:cNvSpPr>
            <a:spLocks noGrp="1"/>
          </p:cNvSpPr>
          <p:nvPr>
            <p:ph type="dt" sz="half" idx="10"/>
          </p:nvPr>
        </p:nvSpPr>
        <p:spPr/>
        <p:txBody>
          <a:bodyPr/>
          <a:lstStyle/>
          <a:p>
            <a:fld id="{406D7A7F-1B50-4FB4-9E76-A6EDBAAEE6AB}" type="datetimeFigureOut">
              <a:rPr lang="zh-CN" altLang="en-US" smtClean="0"/>
              <a:t>2026/4/21</a:t>
            </a:fld>
            <a:endParaRPr lang="zh-CN" altLang="en-US"/>
          </a:p>
        </p:txBody>
      </p:sp>
      <p:sp>
        <p:nvSpPr>
          <p:cNvPr id="6" name="页脚占位符 5">
            <a:extLst>
              <a:ext uri="{FF2B5EF4-FFF2-40B4-BE49-F238E27FC236}">
                <a16:creationId xmlns:a16="http://schemas.microsoft.com/office/drawing/2014/main" id="{0C23E4CE-2538-114A-2877-AD52924E414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443361C-F70D-5E1F-6AFB-357FDBED3E62}"/>
              </a:ext>
            </a:extLst>
          </p:cNvPr>
          <p:cNvSpPr>
            <a:spLocks noGrp="1"/>
          </p:cNvSpPr>
          <p:nvPr>
            <p:ph type="sldNum" sz="quarter" idx="12"/>
          </p:nvPr>
        </p:nvSpPr>
        <p:spPr/>
        <p:txBody>
          <a:bodyPr/>
          <a:lstStyle/>
          <a:p>
            <a:fld id="{92B47B09-D763-4885-BDA2-B98BC03C651E}" type="slidenum">
              <a:rPr lang="zh-CN" altLang="en-US" smtClean="0"/>
              <a:t>‹#›</a:t>
            </a:fld>
            <a:endParaRPr lang="zh-CN" altLang="en-US"/>
          </a:p>
        </p:txBody>
      </p:sp>
    </p:spTree>
    <p:extLst>
      <p:ext uri="{BB962C8B-B14F-4D97-AF65-F5344CB8AC3E}">
        <p14:creationId xmlns:p14="http://schemas.microsoft.com/office/powerpoint/2010/main" val="1143095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BDFB40-BC1D-5532-292E-D0406EB1643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CEFF159-AB03-6B1A-3E87-2CDC2F02ED1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61B086A-53F2-5036-DA53-9707CC74565E}"/>
              </a:ext>
            </a:extLst>
          </p:cNvPr>
          <p:cNvSpPr>
            <a:spLocks noGrp="1"/>
          </p:cNvSpPr>
          <p:nvPr>
            <p:ph type="dt" sz="half" idx="10"/>
          </p:nvPr>
        </p:nvSpPr>
        <p:spPr/>
        <p:txBody>
          <a:bodyPr/>
          <a:lstStyle/>
          <a:p>
            <a:fld id="{406D7A7F-1B50-4FB4-9E76-A6EDBAAEE6AB}"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21772FC0-FAD5-A6B1-D93D-B0E73855F88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0301689-A883-ECF1-02FC-41577F0B87AA}"/>
              </a:ext>
            </a:extLst>
          </p:cNvPr>
          <p:cNvSpPr>
            <a:spLocks noGrp="1"/>
          </p:cNvSpPr>
          <p:nvPr>
            <p:ph type="sldNum" sz="quarter" idx="12"/>
          </p:nvPr>
        </p:nvSpPr>
        <p:spPr/>
        <p:txBody>
          <a:bodyPr/>
          <a:lstStyle/>
          <a:p>
            <a:fld id="{92B47B09-D763-4885-BDA2-B98BC03C651E}" type="slidenum">
              <a:rPr lang="zh-CN" altLang="en-US" smtClean="0"/>
              <a:t>‹#›</a:t>
            </a:fld>
            <a:endParaRPr lang="zh-CN" altLang="en-US"/>
          </a:p>
        </p:txBody>
      </p:sp>
    </p:spTree>
    <p:extLst>
      <p:ext uri="{BB962C8B-B14F-4D97-AF65-F5344CB8AC3E}">
        <p14:creationId xmlns:p14="http://schemas.microsoft.com/office/powerpoint/2010/main" val="2159755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B982643-27FB-E8CD-8393-32344265C82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08AC4C1-643A-F8F2-21E5-268F3C95406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90B563F-0651-307B-FE1A-534AD63ABA1E}"/>
              </a:ext>
            </a:extLst>
          </p:cNvPr>
          <p:cNvSpPr>
            <a:spLocks noGrp="1"/>
          </p:cNvSpPr>
          <p:nvPr>
            <p:ph type="dt" sz="half" idx="10"/>
          </p:nvPr>
        </p:nvSpPr>
        <p:spPr/>
        <p:txBody>
          <a:bodyPr/>
          <a:lstStyle/>
          <a:p>
            <a:fld id="{406D7A7F-1B50-4FB4-9E76-A6EDBAAEE6AB}"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0D14B22D-9C51-7995-C657-BA6F4200A9B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7490DEB-0521-372E-E98E-8FB710908BBD}"/>
              </a:ext>
            </a:extLst>
          </p:cNvPr>
          <p:cNvSpPr>
            <a:spLocks noGrp="1"/>
          </p:cNvSpPr>
          <p:nvPr>
            <p:ph type="sldNum" sz="quarter" idx="12"/>
          </p:nvPr>
        </p:nvSpPr>
        <p:spPr/>
        <p:txBody>
          <a:bodyPr/>
          <a:lstStyle/>
          <a:p>
            <a:fld id="{92B47B09-D763-4885-BDA2-B98BC03C651E}" type="slidenum">
              <a:rPr lang="zh-CN" altLang="en-US" smtClean="0"/>
              <a:t>‹#›</a:t>
            </a:fld>
            <a:endParaRPr lang="zh-CN" altLang="en-US"/>
          </a:p>
        </p:txBody>
      </p:sp>
    </p:spTree>
    <p:extLst>
      <p:ext uri="{BB962C8B-B14F-4D97-AF65-F5344CB8AC3E}">
        <p14:creationId xmlns:p14="http://schemas.microsoft.com/office/powerpoint/2010/main" val="1000483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F873E64-D606-80F1-EC06-CDAD59C54F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056A7D7-60A3-8854-E4D9-BAD235FBAC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D91BA71-B129-9D0D-3F9B-3866E8BA99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6D7A7F-1B50-4FB4-9E76-A6EDBAAEE6AB}" type="datetimeFigureOut">
              <a:rPr lang="zh-CN" altLang="en-US" smtClean="0"/>
              <a:t>2026/4/21</a:t>
            </a:fld>
            <a:endParaRPr lang="zh-CN" altLang="en-US"/>
          </a:p>
        </p:txBody>
      </p:sp>
      <p:sp>
        <p:nvSpPr>
          <p:cNvPr id="5" name="页脚占位符 4">
            <a:extLst>
              <a:ext uri="{FF2B5EF4-FFF2-40B4-BE49-F238E27FC236}">
                <a16:creationId xmlns:a16="http://schemas.microsoft.com/office/drawing/2014/main" id="{7F856628-8833-0048-CD9A-219BD57B1F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5B9C8EA-07A0-46EF-DF12-227FEC962F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B47B09-D763-4885-BDA2-B98BC03C651E}" type="slidenum">
              <a:rPr lang="zh-CN" altLang="en-US" smtClean="0"/>
              <a:t>‹#›</a:t>
            </a:fld>
            <a:endParaRPr lang="zh-CN" altLang="en-US"/>
          </a:p>
        </p:txBody>
      </p:sp>
    </p:spTree>
    <p:extLst>
      <p:ext uri="{BB962C8B-B14F-4D97-AF65-F5344CB8AC3E}">
        <p14:creationId xmlns:p14="http://schemas.microsoft.com/office/powerpoint/2010/main" val="3655471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1CDEB82-2838-83E5-B34D-AB8A9E8B09CE}"/>
              </a:ext>
            </a:extLst>
          </p:cNvPr>
          <p:cNvSpPr txBox="1"/>
          <p:nvPr/>
        </p:nvSpPr>
        <p:spPr>
          <a:xfrm>
            <a:off x="1803989" y="2374236"/>
            <a:ext cx="8584019" cy="523220"/>
          </a:xfrm>
          <a:prstGeom prst="rect">
            <a:avLst/>
          </a:prstGeom>
          <a:noFill/>
        </p:spPr>
        <p:txBody>
          <a:bodyPr wrap="square">
            <a:spAutoFit/>
          </a:bodyPr>
          <a:lstStyle/>
          <a:p>
            <a:pPr algn="ctr"/>
            <a:r>
              <a:rPr lang="en-US" altLang="zh-CN" sz="2800" dirty="0"/>
              <a:t>NETPLIER</a:t>
            </a:r>
            <a:r>
              <a:rPr lang="zh-CN" altLang="en-US" sz="2800" dirty="0"/>
              <a:t>：基于报文流量的概率化网络协议逆向工程</a:t>
            </a:r>
          </a:p>
        </p:txBody>
      </p:sp>
      <p:sp>
        <p:nvSpPr>
          <p:cNvPr id="5" name="文本框 4">
            <a:extLst>
              <a:ext uri="{FF2B5EF4-FFF2-40B4-BE49-F238E27FC236}">
                <a16:creationId xmlns:a16="http://schemas.microsoft.com/office/drawing/2014/main" id="{FACDB47B-EDE3-B303-0E06-33AC4BC4DE3A}"/>
              </a:ext>
            </a:extLst>
          </p:cNvPr>
          <p:cNvSpPr txBox="1"/>
          <p:nvPr/>
        </p:nvSpPr>
        <p:spPr>
          <a:xfrm>
            <a:off x="262270" y="1470193"/>
            <a:ext cx="11667460" cy="461665"/>
          </a:xfrm>
          <a:prstGeom prst="rect">
            <a:avLst/>
          </a:prstGeom>
          <a:noFill/>
        </p:spPr>
        <p:txBody>
          <a:bodyPr wrap="square">
            <a:spAutoFit/>
          </a:bodyPr>
          <a:lstStyle/>
          <a:p>
            <a:pPr algn="ctr"/>
            <a:r>
              <a:rPr lang="en-US" altLang="zh-CN" sz="2400" dirty="0"/>
              <a:t>NETPLIER: Probabilistic Network Protocol Reverse Engineering from Message Trace</a:t>
            </a:r>
            <a:endParaRPr lang="zh-CN" altLang="en-US" sz="2400" dirty="0"/>
          </a:p>
        </p:txBody>
      </p:sp>
      <p:sp>
        <p:nvSpPr>
          <p:cNvPr id="7" name="文本框 6">
            <a:extLst>
              <a:ext uri="{FF2B5EF4-FFF2-40B4-BE49-F238E27FC236}">
                <a16:creationId xmlns:a16="http://schemas.microsoft.com/office/drawing/2014/main" id="{332A1574-0A08-4F7A-7C6D-03A3F945591E}"/>
              </a:ext>
            </a:extLst>
          </p:cNvPr>
          <p:cNvSpPr txBox="1"/>
          <p:nvPr/>
        </p:nvSpPr>
        <p:spPr>
          <a:xfrm>
            <a:off x="2293088" y="3731383"/>
            <a:ext cx="7605823" cy="369332"/>
          </a:xfrm>
          <a:prstGeom prst="rect">
            <a:avLst/>
          </a:prstGeom>
          <a:noFill/>
        </p:spPr>
        <p:txBody>
          <a:bodyPr wrap="square">
            <a:spAutoFit/>
          </a:bodyPr>
          <a:lstStyle/>
          <a:p>
            <a:pPr algn="ctr"/>
            <a:r>
              <a:rPr lang="en-US" altLang="zh-CN" i="1" dirty="0" err="1"/>
              <a:t>Yapeng</a:t>
            </a:r>
            <a:r>
              <a:rPr lang="en-US" altLang="zh-CN" i="1" dirty="0"/>
              <a:t> Ye, Zhuo Zhang, Fei Wang, </a:t>
            </a:r>
            <a:r>
              <a:rPr lang="en-US" altLang="zh-CN" i="1" dirty="0" err="1"/>
              <a:t>Xiangyu</a:t>
            </a:r>
            <a:r>
              <a:rPr lang="en-US" altLang="zh-CN" i="1" dirty="0"/>
              <a:t> Zhang, </a:t>
            </a:r>
            <a:r>
              <a:rPr lang="en-US" altLang="zh-CN" i="1" dirty="0" err="1"/>
              <a:t>Dongyan</a:t>
            </a:r>
            <a:r>
              <a:rPr lang="en-US" altLang="zh-CN" i="1" dirty="0"/>
              <a:t> Xu</a:t>
            </a:r>
            <a:endParaRPr lang="zh-CN" altLang="en-US" i="1" dirty="0"/>
          </a:p>
        </p:txBody>
      </p:sp>
      <p:sp>
        <p:nvSpPr>
          <p:cNvPr id="9" name="文本框 8">
            <a:extLst>
              <a:ext uri="{FF2B5EF4-FFF2-40B4-BE49-F238E27FC236}">
                <a16:creationId xmlns:a16="http://schemas.microsoft.com/office/drawing/2014/main" id="{7570C2C2-BC32-191B-2229-B289F3E28C0E}"/>
              </a:ext>
            </a:extLst>
          </p:cNvPr>
          <p:cNvSpPr txBox="1"/>
          <p:nvPr/>
        </p:nvSpPr>
        <p:spPr>
          <a:xfrm>
            <a:off x="3047998" y="4174683"/>
            <a:ext cx="6096000" cy="369332"/>
          </a:xfrm>
          <a:prstGeom prst="rect">
            <a:avLst/>
          </a:prstGeom>
          <a:noFill/>
        </p:spPr>
        <p:txBody>
          <a:bodyPr wrap="square">
            <a:spAutoFit/>
          </a:bodyPr>
          <a:lstStyle/>
          <a:p>
            <a:pPr algn="ctr"/>
            <a:r>
              <a:rPr lang="zh-CN" altLang="en-US" i="1" dirty="0"/>
              <a:t>美国普渡大学计算机科学系</a:t>
            </a:r>
          </a:p>
        </p:txBody>
      </p:sp>
      <p:sp>
        <p:nvSpPr>
          <p:cNvPr id="11" name="文本框 10">
            <a:extLst>
              <a:ext uri="{FF2B5EF4-FFF2-40B4-BE49-F238E27FC236}">
                <a16:creationId xmlns:a16="http://schemas.microsoft.com/office/drawing/2014/main" id="{199F634A-21BD-96AB-5E42-69FB9AEC2B1F}"/>
              </a:ext>
            </a:extLst>
          </p:cNvPr>
          <p:cNvSpPr txBox="1"/>
          <p:nvPr/>
        </p:nvSpPr>
        <p:spPr>
          <a:xfrm>
            <a:off x="9898911" y="5387807"/>
            <a:ext cx="1339703" cy="881139"/>
          </a:xfrm>
          <a:prstGeom prst="rect">
            <a:avLst/>
          </a:prstGeom>
          <a:noFill/>
        </p:spPr>
        <p:txBody>
          <a:bodyPr wrap="square">
            <a:spAutoFit/>
          </a:bodyPr>
          <a:lstStyle/>
          <a:p>
            <a:pPr>
              <a:lnSpc>
                <a:spcPct val="150000"/>
              </a:lnSpc>
            </a:pPr>
            <a:r>
              <a:rPr lang="zh-CN" altLang="en-US" dirty="0"/>
              <a:t>赵奕辉</a:t>
            </a:r>
            <a:endParaRPr lang="en-US" altLang="zh-CN" dirty="0"/>
          </a:p>
          <a:p>
            <a:pPr>
              <a:lnSpc>
                <a:spcPct val="150000"/>
              </a:lnSpc>
            </a:pPr>
            <a:r>
              <a:rPr lang="en-US" altLang="zh-CN" dirty="0"/>
              <a:t>2026.4.21</a:t>
            </a:r>
          </a:p>
        </p:txBody>
      </p:sp>
      <p:sp>
        <p:nvSpPr>
          <p:cNvPr id="14" name="文本框 13">
            <a:extLst>
              <a:ext uri="{FF2B5EF4-FFF2-40B4-BE49-F238E27FC236}">
                <a16:creationId xmlns:a16="http://schemas.microsoft.com/office/drawing/2014/main" id="{F5F23F9A-D196-02B6-4CCB-E930F924005E}"/>
              </a:ext>
            </a:extLst>
          </p:cNvPr>
          <p:cNvSpPr txBox="1"/>
          <p:nvPr/>
        </p:nvSpPr>
        <p:spPr>
          <a:xfrm>
            <a:off x="5278876" y="1968381"/>
            <a:ext cx="1670650" cy="461665"/>
          </a:xfrm>
          <a:prstGeom prst="rect">
            <a:avLst/>
          </a:prstGeom>
          <a:noFill/>
        </p:spPr>
        <p:txBody>
          <a:bodyPr wrap="none" rtlCol="0">
            <a:spAutoFit/>
          </a:bodyPr>
          <a:lstStyle/>
          <a:p>
            <a:r>
              <a:rPr lang="en-US" altLang="zh-CN" sz="2400" dirty="0"/>
              <a:t>NDSS 2021</a:t>
            </a:r>
            <a:endParaRPr lang="zh-CN" altLang="en-US" sz="2400" dirty="0"/>
          </a:p>
        </p:txBody>
      </p:sp>
    </p:spTree>
    <p:extLst>
      <p:ext uri="{BB962C8B-B14F-4D97-AF65-F5344CB8AC3E}">
        <p14:creationId xmlns:p14="http://schemas.microsoft.com/office/powerpoint/2010/main" val="628277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B5AD480-816F-7B7D-EA3F-E8860DD6BEEA}"/>
              </a:ext>
            </a:extLst>
          </p:cNvPr>
          <p:cNvSpPr txBox="1"/>
          <p:nvPr/>
        </p:nvSpPr>
        <p:spPr>
          <a:xfrm>
            <a:off x="3048740" y="1830560"/>
            <a:ext cx="6094520" cy="1015663"/>
          </a:xfrm>
          <a:prstGeom prst="rect">
            <a:avLst/>
          </a:prstGeom>
          <a:noFill/>
        </p:spPr>
        <p:txBody>
          <a:bodyPr wrap="square">
            <a:spAutoFit/>
          </a:bodyPr>
          <a:lstStyle/>
          <a:p>
            <a:pPr algn="ctr"/>
            <a:r>
              <a:rPr lang="en-US" altLang="zh-CN" sz="6000" b="1" dirty="0"/>
              <a:t>1 </a:t>
            </a:r>
            <a:r>
              <a:rPr lang="zh-CN" altLang="en-US" sz="6000" b="1" dirty="0"/>
              <a:t>引言</a:t>
            </a:r>
          </a:p>
        </p:txBody>
      </p:sp>
      <p:sp>
        <p:nvSpPr>
          <p:cNvPr id="5" name="文本框 4">
            <a:extLst>
              <a:ext uri="{FF2B5EF4-FFF2-40B4-BE49-F238E27FC236}">
                <a16:creationId xmlns:a16="http://schemas.microsoft.com/office/drawing/2014/main" id="{4229A3DB-4364-17D9-2FCC-B1F69C0E649E}"/>
              </a:ext>
            </a:extLst>
          </p:cNvPr>
          <p:cNvSpPr txBox="1"/>
          <p:nvPr/>
        </p:nvSpPr>
        <p:spPr>
          <a:xfrm>
            <a:off x="1832042" y="3175369"/>
            <a:ext cx="8527915" cy="1477328"/>
          </a:xfrm>
          <a:prstGeom prst="rect">
            <a:avLst/>
          </a:prstGeom>
          <a:noFill/>
        </p:spPr>
        <p:txBody>
          <a:bodyPr wrap="square">
            <a:spAutoFit/>
          </a:bodyPr>
          <a:lstStyle/>
          <a:p>
            <a:r>
              <a:rPr lang="zh-CN" altLang="en-US" dirty="0"/>
              <a:t>协议逆向工程的核心目标，是推导协议的语法与语义规范，而第一步就是将相同类型的报文聚为一类。</a:t>
            </a:r>
            <a:endParaRPr lang="en-US" altLang="zh-CN" dirty="0"/>
          </a:p>
          <a:p>
            <a:endParaRPr lang="en-US" altLang="zh-CN" dirty="0"/>
          </a:p>
          <a:p>
            <a:r>
              <a:rPr lang="zh-CN" altLang="en-US" b="1" dirty="0"/>
              <a:t>聚类</a:t>
            </a:r>
            <a:r>
              <a:rPr lang="zh-CN" altLang="en-US" dirty="0"/>
              <a:t>是整个逆向流程的关键步骤，其结果直接决定了后续格式推导与状态机推理的精度。</a:t>
            </a:r>
          </a:p>
        </p:txBody>
      </p:sp>
    </p:spTree>
    <p:extLst>
      <p:ext uri="{BB962C8B-B14F-4D97-AF65-F5344CB8AC3E}">
        <p14:creationId xmlns:p14="http://schemas.microsoft.com/office/powerpoint/2010/main" val="1128847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C504A34-24F9-A391-2403-4AC82F66C9E1}"/>
              </a:ext>
            </a:extLst>
          </p:cNvPr>
          <p:cNvSpPr txBox="1"/>
          <p:nvPr/>
        </p:nvSpPr>
        <p:spPr>
          <a:xfrm>
            <a:off x="0" y="0"/>
            <a:ext cx="1566530" cy="369332"/>
          </a:xfrm>
          <a:prstGeom prst="rect">
            <a:avLst/>
          </a:prstGeom>
          <a:noFill/>
        </p:spPr>
        <p:txBody>
          <a:bodyPr wrap="square">
            <a:spAutoFit/>
          </a:bodyPr>
          <a:lstStyle/>
          <a:p>
            <a:r>
              <a:rPr lang="en-US" altLang="zh-CN" b="1" dirty="0">
                <a:solidFill>
                  <a:schemeClr val="accent5"/>
                </a:solidFill>
              </a:rPr>
              <a:t>1.1 </a:t>
            </a:r>
            <a:r>
              <a:rPr lang="zh-CN" altLang="en-US" b="1" dirty="0">
                <a:solidFill>
                  <a:schemeClr val="accent5"/>
                </a:solidFill>
              </a:rPr>
              <a:t>实际案例</a:t>
            </a:r>
          </a:p>
        </p:txBody>
      </p:sp>
      <p:pic>
        <p:nvPicPr>
          <p:cNvPr id="5" name="图片 4">
            <a:extLst>
              <a:ext uri="{FF2B5EF4-FFF2-40B4-BE49-F238E27FC236}">
                <a16:creationId xmlns:a16="http://schemas.microsoft.com/office/drawing/2014/main" id="{DFE17407-AE48-D92D-7A28-F004C43704B8}"/>
              </a:ext>
            </a:extLst>
          </p:cNvPr>
          <p:cNvPicPr>
            <a:picLocks noChangeAspect="1"/>
          </p:cNvPicPr>
          <p:nvPr/>
        </p:nvPicPr>
        <p:blipFill>
          <a:blip r:embed="rId2"/>
          <a:stretch>
            <a:fillRect/>
          </a:stretch>
        </p:blipFill>
        <p:spPr>
          <a:xfrm>
            <a:off x="0" y="450862"/>
            <a:ext cx="12192000" cy="4670117"/>
          </a:xfrm>
          <a:prstGeom prst="rect">
            <a:avLst/>
          </a:prstGeom>
        </p:spPr>
      </p:pic>
      <p:sp>
        <p:nvSpPr>
          <p:cNvPr id="6" name="文本框 5">
            <a:extLst>
              <a:ext uri="{FF2B5EF4-FFF2-40B4-BE49-F238E27FC236}">
                <a16:creationId xmlns:a16="http://schemas.microsoft.com/office/drawing/2014/main" id="{5A6EE835-DF8A-7DD6-B48A-186CBD04401E}"/>
              </a:ext>
            </a:extLst>
          </p:cNvPr>
          <p:cNvSpPr txBox="1"/>
          <p:nvPr/>
        </p:nvSpPr>
        <p:spPr>
          <a:xfrm>
            <a:off x="6095999" y="48196"/>
            <a:ext cx="3104707" cy="369332"/>
          </a:xfrm>
          <a:prstGeom prst="rect">
            <a:avLst/>
          </a:prstGeom>
          <a:noFill/>
        </p:spPr>
        <p:txBody>
          <a:bodyPr wrap="square">
            <a:spAutoFit/>
          </a:bodyPr>
          <a:lstStyle/>
          <a:p>
            <a:pPr algn="ctr"/>
            <a:r>
              <a:rPr lang="zh-CN" altLang="en-US" dirty="0">
                <a:solidFill>
                  <a:srgbClr val="FF0000"/>
                </a:solidFill>
              </a:rPr>
              <a:t>关键字段：决定消息类型</a:t>
            </a:r>
          </a:p>
        </p:txBody>
      </p:sp>
      <p:cxnSp>
        <p:nvCxnSpPr>
          <p:cNvPr id="8" name="直接箭头连接符 7">
            <a:extLst>
              <a:ext uri="{FF2B5EF4-FFF2-40B4-BE49-F238E27FC236}">
                <a16:creationId xmlns:a16="http://schemas.microsoft.com/office/drawing/2014/main" id="{4A33268C-05BD-A91A-6528-CC3AF517A57A}"/>
              </a:ext>
            </a:extLst>
          </p:cNvPr>
          <p:cNvCxnSpPr>
            <a:cxnSpLocks/>
            <a:stCxn id="6" idx="2"/>
          </p:cNvCxnSpPr>
          <p:nvPr/>
        </p:nvCxnSpPr>
        <p:spPr>
          <a:xfrm flipH="1">
            <a:off x="6893668" y="417528"/>
            <a:ext cx="754685" cy="308805"/>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C0590841-382C-88BA-EA5E-9052D4BB1C5B}"/>
              </a:ext>
            </a:extLst>
          </p:cNvPr>
          <p:cNvSpPr txBox="1"/>
          <p:nvPr/>
        </p:nvSpPr>
        <p:spPr>
          <a:xfrm>
            <a:off x="147536" y="5218254"/>
            <a:ext cx="10909570" cy="1477328"/>
          </a:xfrm>
          <a:prstGeom prst="rect">
            <a:avLst/>
          </a:prstGeom>
          <a:noFill/>
        </p:spPr>
        <p:txBody>
          <a:bodyPr wrap="square">
            <a:spAutoFit/>
          </a:bodyPr>
          <a:lstStyle/>
          <a:p>
            <a:r>
              <a:rPr lang="en-US" altLang="zh-CN" dirty="0"/>
              <a:t>4</a:t>
            </a:r>
            <a:r>
              <a:rPr lang="zh-CN" altLang="en-US" dirty="0"/>
              <a:t>条通信连接</a:t>
            </a:r>
            <a:endParaRPr lang="en-US" altLang="zh-CN" dirty="0"/>
          </a:p>
          <a:p>
            <a:r>
              <a:rPr lang="zh-CN" altLang="en-US" dirty="0"/>
              <a:t>每条连接均以客户端发送的非请求响应报文（</a:t>
            </a:r>
            <a:r>
              <a:rPr lang="en-US" altLang="zh-CN" dirty="0"/>
              <a:t>mc0​​</a:t>
            </a:r>
            <a:r>
              <a:rPr lang="zh-CN" altLang="en-US" dirty="0"/>
              <a:t>、</a:t>
            </a:r>
            <a:r>
              <a:rPr lang="en-US" altLang="zh-CN" dirty="0"/>
              <a:t>mc2​​</a:t>
            </a:r>
            <a:r>
              <a:rPr lang="zh-CN" altLang="en-US" dirty="0"/>
              <a:t>、</a:t>
            </a:r>
            <a:r>
              <a:rPr lang="en-US" altLang="zh-CN" dirty="0"/>
              <a:t>mc3​​</a:t>
            </a:r>
            <a:r>
              <a:rPr lang="zh-CN" altLang="en-US" dirty="0"/>
              <a:t>、</a:t>
            </a:r>
            <a:r>
              <a:rPr lang="en-US" altLang="zh-CN" dirty="0"/>
              <a:t>mc4​​</a:t>
            </a:r>
            <a:r>
              <a:rPr lang="zh-CN" altLang="en-US" dirty="0"/>
              <a:t>）为起始</a:t>
            </a:r>
            <a:endParaRPr lang="en-US" altLang="zh-CN" dirty="0"/>
          </a:p>
          <a:p>
            <a:r>
              <a:rPr lang="zh-CN" altLang="en-US" dirty="0"/>
              <a:t>服务端对应回复确认报文（</a:t>
            </a:r>
            <a:r>
              <a:rPr lang="en-US" altLang="zh-CN" dirty="0"/>
              <a:t>ms0​​</a:t>
            </a:r>
            <a:r>
              <a:rPr lang="zh-CN" altLang="en-US" dirty="0"/>
              <a:t>、</a:t>
            </a:r>
            <a:r>
              <a:rPr lang="en-US" altLang="zh-CN" dirty="0"/>
              <a:t>ms2​​</a:t>
            </a:r>
            <a:r>
              <a:rPr lang="zh-CN" altLang="en-US" dirty="0"/>
              <a:t>、</a:t>
            </a:r>
            <a:r>
              <a:rPr lang="en-US" altLang="zh-CN" dirty="0"/>
              <a:t>ms3​​</a:t>
            </a:r>
            <a:r>
              <a:rPr lang="zh-CN" altLang="en-US" dirty="0"/>
              <a:t>、</a:t>
            </a:r>
            <a:r>
              <a:rPr lang="en-US" altLang="zh-CN" dirty="0"/>
              <a:t>ms4​​</a:t>
            </a:r>
            <a:r>
              <a:rPr lang="zh-CN" altLang="en-US" dirty="0"/>
              <a:t>）</a:t>
            </a:r>
            <a:endParaRPr lang="en-US" altLang="zh-CN" dirty="0"/>
          </a:p>
          <a:p>
            <a:r>
              <a:rPr lang="zh-CN" altLang="en-US" dirty="0"/>
              <a:t>连接建立后，服务端可通过不同指令发起请求，例如</a:t>
            </a:r>
            <a:r>
              <a:rPr lang="en-US" altLang="zh-CN" dirty="0"/>
              <a:t>ms1​​</a:t>
            </a:r>
            <a:r>
              <a:rPr lang="zh-CN" altLang="en-US" dirty="0"/>
              <a:t>、</a:t>
            </a:r>
            <a:r>
              <a:rPr lang="en-US" altLang="zh-CN" dirty="0"/>
              <a:t>ms5​​</a:t>
            </a:r>
            <a:r>
              <a:rPr lang="zh-CN" altLang="en-US" dirty="0"/>
              <a:t>、</a:t>
            </a:r>
            <a:r>
              <a:rPr lang="en-US" altLang="zh-CN" dirty="0"/>
              <a:t>ms6​​</a:t>
            </a:r>
            <a:r>
              <a:rPr lang="zh-CN" altLang="en-US" dirty="0"/>
              <a:t>的写操作，以及</a:t>
            </a:r>
            <a:r>
              <a:rPr lang="en-US" altLang="zh-CN" dirty="0"/>
              <a:t>ms7​</a:t>
            </a:r>
            <a:r>
              <a:rPr lang="zh-CN" altLang="en-US" dirty="0"/>
              <a:t>的读操作</a:t>
            </a:r>
            <a:endParaRPr lang="en-US" altLang="zh-CN" dirty="0"/>
          </a:p>
          <a:p>
            <a:r>
              <a:rPr lang="zh-CN" altLang="en-US" dirty="0"/>
              <a:t>客户端则会通过响应报文（如</a:t>
            </a:r>
            <a:r>
              <a:rPr lang="en-US" altLang="zh-CN" dirty="0"/>
              <a:t>mc1​​</a:t>
            </a:r>
            <a:r>
              <a:rPr lang="zh-CN" altLang="en-US" dirty="0"/>
              <a:t>、</a:t>
            </a:r>
            <a:r>
              <a:rPr lang="en-US" altLang="zh-CN" dirty="0"/>
              <a:t>mc5​​</a:t>
            </a:r>
            <a:r>
              <a:rPr lang="zh-CN" altLang="en-US" dirty="0"/>
              <a:t>、</a:t>
            </a:r>
            <a:r>
              <a:rPr lang="en-US" altLang="zh-CN" dirty="0"/>
              <a:t>mc6​​</a:t>
            </a:r>
            <a:r>
              <a:rPr lang="zh-CN" altLang="en-US" dirty="0"/>
              <a:t>、</a:t>
            </a:r>
            <a:r>
              <a:rPr lang="en-US" altLang="zh-CN" dirty="0"/>
              <a:t>mc7​​</a:t>
            </a:r>
            <a:r>
              <a:rPr lang="zh-CN" altLang="en-US" dirty="0"/>
              <a:t>）进行确认</a:t>
            </a:r>
          </a:p>
        </p:txBody>
      </p:sp>
    </p:spTree>
    <p:extLst>
      <p:ext uri="{BB962C8B-B14F-4D97-AF65-F5344CB8AC3E}">
        <p14:creationId xmlns:p14="http://schemas.microsoft.com/office/powerpoint/2010/main" val="3191530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E4A0C65-FD0C-6CF3-05DC-BD41ABB26D49}"/>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1.2 </a:t>
            </a:r>
            <a:r>
              <a:rPr lang="zh-CN" altLang="en-US" b="1" dirty="0">
                <a:solidFill>
                  <a:schemeClr val="accent5"/>
                </a:solidFill>
              </a:rPr>
              <a:t>现有局限</a:t>
            </a:r>
          </a:p>
        </p:txBody>
      </p:sp>
      <p:sp>
        <p:nvSpPr>
          <p:cNvPr id="5" name="文本框 4">
            <a:extLst>
              <a:ext uri="{FF2B5EF4-FFF2-40B4-BE49-F238E27FC236}">
                <a16:creationId xmlns:a16="http://schemas.microsoft.com/office/drawing/2014/main" id="{47837F2D-3A7F-1635-FB0C-CC2ACB924B67}"/>
              </a:ext>
            </a:extLst>
          </p:cNvPr>
          <p:cNvSpPr txBox="1"/>
          <p:nvPr/>
        </p:nvSpPr>
        <p:spPr>
          <a:xfrm>
            <a:off x="95654" y="469878"/>
            <a:ext cx="11376499" cy="1200329"/>
          </a:xfrm>
          <a:prstGeom prst="rect">
            <a:avLst/>
          </a:prstGeom>
          <a:noFill/>
        </p:spPr>
        <p:txBody>
          <a:bodyPr wrap="square">
            <a:spAutoFit/>
          </a:bodyPr>
          <a:lstStyle/>
          <a:p>
            <a:r>
              <a:rPr lang="zh-CN" altLang="en-US" dirty="0"/>
              <a:t>第一类：利用程序分析</a:t>
            </a:r>
            <a:br>
              <a:rPr lang="en-US" altLang="zh-CN" dirty="0"/>
            </a:br>
            <a:r>
              <a:rPr lang="zh-CN" altLang="en-US" dirty="0"/>
              <a:t>通过分析应用程序实现的语义信息实现逆向分析（例如，怎样访问输入缓冲区）</a:t>
            </a:r>
            <a:endParaRPr lang="en-US" altLang="zh-CN" dirty="0"/>
          </a:p>
          <a:p>
            <a:r>
              <a:rPr lang="zh-CN" altLang="en-US" dirty="0"/>
              <a:t>优点：高精度。</a:t>
            </a:r>
            <a:endParaRPr lang="en-US" altLang="zh-CN" dirty="0"/>
          </a:p>
          <a:p>
            <a:r>
              <a:rPr lang="zh-CN" altLang="en-US" dirty="0"/>
              <a:t>局限：需要访问程序二进制文件，这在实践中通常是不可行的。</a:t>
            </a:r>
          </a:p>
        </p:txBody>
      </p:sp>
      <p:sp>
        <p:nvSpPr>
          <p:cNvPr id="7" name="文本框 6">
            <a:extLst>
              <a:ext uri="{FF2B5EF4-FFF2-40B4-BE49-F238E27FC236}">
                <a16:creationId xmlns:a16="http://schemas.microsoft.com/office/drawing/2014/main" id="{A815E59C-5018-2A5E-18D5-E8CE64CC5375}"/>
              </a:ext>
            </a:extLst>
          </p:cNvPr>
          <p:cNvSpPr txBox="1"/>
          <p:nvPr/>
        </p:nvSpPr>
        <p:spPr>
          <a:xfrm>
            <a:off x="95653" y="1929479"/>
            <a:ext cx="9223445" cy="2308324"/>
          </a:xfrm>
          <a:prstGeom prst="rect">
            <a:avLst/>
          </a:prstGeom>
          <a:noFill/>
        </p:spPr>
        <p:txBody>
          <a:bodyPr wrap="square">
            <a:spAutoFit/>
          </a:bodyPr>
          <a:lstStyle/>
          <a:p>
            <a:r>
              <a:rPr lang="zh-CN" altLang="en-US" dirty="0"/>
              <a:t>第二类：网络流量</a:t>
            </a:r>
            <a:endParaRPr lang="en-US" altLang="zh-CN" dirty="0"/>
          </a:p>
          <a:p>
            <a:pPr marL="342900" indent="-342900">
              <a:buAutoNum type="arabicPeriod"/>
            </a:pPr>
            <a:r>
              <a:rPr lang="zh-CN" altLang="en-US" dirty="0"/>
              <a:t>基于比对的聚类：对齐→比对结果计算相似度→聚类→推导协议格式与状态机</a:t>
            </a:r>
            <a:endParaRPr lang="en-US" altLang="zh-CN" dirty="0"/>
          </a:p>
          <a:p>
            <a:pPr lvl="1"/>
            <a:r>
              <a:rPr lang="zh-CN" altLang="en-US" dirty="0"/>
              <a:t>局限：报文内容的多样性会严重降低比对质量</a:t>
            </a:r>
            <a:endParaRPr lang="en-US" altLang="zh-CN" dirty="0"/>
          </a:p>
          <a:p>
            <a:pPr marL="342900" indent="-342900">
              <a:buAutoNum type="arabicPeriod"/>
            </a:pPr>
            <a:endParaRPr lang="en-US" altLang="zh-CN" dirty="0"/>
          </a:p>
          <a:p>
            <a:pPr marL="342900" indent="-342900">
              <a:buAutoNum type="arabicPeriod"/>
            </a:pPr>
            <a:r>
              <a:rPr lang="zh-CN" altLang="en-US" dirty="0"/>
              <a:t>基于分词的聚类：先对报文进行分词（划分为文本字段与二进制字段），再执行比对</a:t>
            </a:r>
            <a:br>
              <a:rPr lang="en-US" altLang="zh-CN" dirty="0"/>
            </a:br>
            <a:r>
              <a:rPr lang="zh-CN" altLang="en-US" dirty="0"/>
              <a:t>局限：</a:t>
            </a:r>
            <a:endParaRPr lang="en-US" altLang="zh-CN" dirty="0"/>
          </a:p>
          <a:p>
            <a:pPr marL="1200150" lvl="2" indent="-285750">
              <a:buFont typeface="Arial" panose="020B0604020202020204" pitchFamily="34" charset="0"/>
              <a:buChar char="•"/>
            </a:pPr>
            <a:r>
              <a:rPr lang="zh-CN" altLang="en-US" dirty="0"/>
              <a:t>依赖分隔符识别分词单元（二进制协议往往不存在分隔符）</a:t>
            </a:r>
            <a:endParaRPr lang="en-US" altLang="zh-CN" dirty="0"/>
          </a:p>
          <a:p>
            <a:pPr marL="1200150" lvl="2" indent="-285750">
              <a:buFont typeface="Arial" panose="020B0604020202020204" pitchFamily="34" charset="0"/>
              <a:buChar char="•"/>
            </a:pPr>
            <a:r>
              <a:rPr lang="zh-CN" altLang="en-US" dirty="0"/>
              <a:t>易产生过量聚类</a:t>
            </a:r>
          </a:p>
        </p:txBody>
      </p:sp>
    </p:spTree>
    <p:extLst>
      <p:ext uri="{BB962C8B-B14F-4D97-AF65-F5344CB8AC3E}">
        <p14:creationId xmlns:p14="http://schemas.microsoft.com/office/powerpoint/2010/main" val="936971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9250A20-44F7-5FAA-D6A7-7FD6D2F33D6D}"/>
              </a:ext>
            </a:extLst>
          </p:cNvPr>
          <p:cNvPicPr>
            <a:picLocks noChangeAspect="1"/>
          </p:cNvPicPr>
          <p:nvPr/>
        </p:nvPicPr>
        <p:blipFill>
          <a:blip r:embed="rId2"/>
          <a:srcRect l="696" t="2116" r="963" b="1213"/>
          <a:stretch>
            <a:fillRect/>
          </a:stretch>
        </p:blipFill>
        <p:spPr>
          <a:xfrm>
            <a:off x="175098" y="369332"/>
            <a:ext cx="8761379" cy="5207541"/>
          </a:xfrm>
          <a:prstGeom prst="rect">
            <a:avLst/>
          </a:prstGeom>
        </p:spPr>
      </p:pic>
      <p:sp>
        <p:nvSpPr>
          <p:cNvPr id="4" name="文本框 3">
            <a:extLst>
              <a:ext uri="{FF2B5EF4-FFF2-40B4-BE49-F238E27FC236}">
                <a16:creationId xmlns:a16="http://schemas.microsoft.com/office/drawing/2014/main" id="{7FD04235-52F7-D9C5-674B-DF875072A685}"/>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1.2.1 </a:t>
            </a:r>
            <a:r>
              <a:rPr lang="zh-CN" altLang="en-US" b="1" dirty="0">
                <a:solidFill>
                  <a:schemeClr val="accent5"/>
                </a:solidFill>
              </a:rPr>
              <a:t>基于比对的聚类局限示例</a:t>
            </a:r>
          </a:p>
        </p:txBody>
      </p:sp>
      <p:pic>
        <p:nvPicPr>
          <p:cNvPr id="6" name="图片 5">
            <a:extLst>
              <a:ext uri="{FF2B5EF4-FFF2-40B4-BE49-F238E27FC236}">
                <a16:creationId xmlns:a16="http://schemas.microsoft.com/office/drawing/2014/main" id="{99E3FB81-321C-85C5-3F70-CF1B2AB272A1}"/>
              </a:ext>
            </a:extLst>
          </p:cNvPr>
          <p:cNvPicPr>
            <a:picLocks noChangeAspect="1"/>
          </p:cNvPicPr>
          <p:nvPr/>
        </p:nvPicPr>
        <p:blipFill>
          <a:blip r:embed="rId3"/>
          <a:stretch>
            <a:fillRect/>
          </a:stretch>
        </p:blipFill>
        <p:spPr>
          <a:xfrm>
            <a:off x="9038569" y="429616"/>
            <a:ext cx="2143424" cy="304843"/>
          </a:xfrm>
          <a:prstGeom prst="rect">
            <a:avLst/>
          </a:prstGeom>
        </p:spPr>
      </p:pic>
      <p:pic>
        <p:nvPicPr>
          <p:cNvPr id="8" name="图片 7">
            <a:extLst>
              <a:ext uri="{FF2B5EF4-FFF2-40B4-BE49-F238E27FC236}">
                <a16:creationId xmlns:a16="http://schemas.microsoft.com/office/drawing/2014/main" id="{50483B21-CC74-2C92-4A38-2FC19579EDC4}"/>
              </a:ext>
            </a:extLst>
          </p:cNvPr>
          <p:cNvPicPr>
            <a:picLocks noChangeAspect="1"/>
          </p:cNvPicPr>
          <p:nvPr/>
        </p:nvPicPr>
        <p:blipFill>
          <a:blip r:embed="rId4"/>
          <a:srcRect b="5882"/>
          <a:stretch>
            <a:fillRect/>
          </a:stretch>
        </p:blipFill>
        <p:spPr>
          <a:xfrm>
            <a:off x="9062385" y="796226"/>
            <a:ext cx="2095792" cy="304843"/>
          </a:xfrm>
          <a:prstGeom prst="rect">
            <a:avLst/>
          </a:prstGeom>
        </p:spPr>
      </p:pic>
      <p:pic>
        <p:nvPicPr>
          <p:cNvPr id="9" name="图片 8">
            <a:extLst>
              <a:ext uri="{FF2B5EF4-FFF2-40B4-BE49-F238E27FC236}">
                <a16:creationId xmlns:a16="http://schemas.microsoft.com/office/drawing/2014/main" id="{DF494482-EBB7-D1FA-97F5-8B9EE868115E}"/>
              </a:ext>
            </a:extLst>
          </p:cNvPr>
          <p:cNvPicPr>
            <a:picLocks noChangeAspect="1"/>
          </p:cNvPicPr>
          <p:nvPr/>
        </p:nvPicPr>
        <p:blipFill>
          <a:blip r:embed="rId3"/>
          <a:stretch>
            <a:fillRect/>
          </a:stretch>
        </p:blipFill>
        <p:spPr>
          <a:xfrm>
            <a:off x="5772387" y="1334288"/>
            <a:ext cx="2143424" cy="304843"/>
          </a:xfrm>
          <a:prstGeom prst="rect">
            <a:avLst/>
          </a:prstGeom>
        </p:spPr>
      </p:pic>
      <p:pic>
        <p:nvPicPr>
          <p:cNvPr id="11" name="图片 10">
            <a:extLst>
              <a:ext uri="{FF2B5EF4-FFF2-40B4-BE49-F238E27FC236}">
                <a16:creationId xmlns:a16="http://schemas.microsoft.com/office/drawing/2014/main" id="{6FDE2467-C8E2-6BF0-7605-53A242242E76}"/>
              </a:ext>
            </a:extLst>
          </p:cNvPr>
          <p:cNvPicPr>
            <a:picLocks noChangeAspect="1"/>
          </p:cNvPicPr>
          <p:nvPr/>
        </p:nvPicPr>
        <p:blipFill>
          <a:blip r:embed="rId5"/>
          <a:stretch>
            <a:fillRect/>
          </a:stretch>
        </p:blipFill>
        <p:spPr>
          <a:xfrm>
            <a:off x="5786676" y="1713147"/>
            <a:ext cx="1057423" cy="295316"/>
          </a:xfrm>
          <a:prstGeom prst="rect">
            <a:avLst/>
          </a:prstGeom>
        </p:spPr>
      </p:pic>
      <p:sp>
        <p:nvSpPr>
          <p:cNvPr id="13" name="文本框 12">
            <a:extLst>
              <a:ext uri="{FF2B5EF4-FFF2-40B4-BE49-F238E27FC236}">
                <a16:creationId xmlns:a16="http://schemas.microsoft.com/office/drawing/2014/main" id="{663C7268-09A8-FDE5-96A6-EEFE2B6CCF3D}"/>
              </a:ext>
            </a:extLst>
          </p:cNvPr>
          <p:cNvSpPr txBox="1"/>
          <p:nvPr/>
        </p:nvSpPr>
        <p:spPr>
          <a:xfrm>
            <a:off x="175098" y="5810495"/>
            <a:ext cx="1793683" cy="369332"/>
          </a:xfrm>
          <a:prstGeom prst="rect">
            <a:avLst/>
          </a:prstGeom>
          <a:noFill/>
        </p:spPr>
        <p:txBody>
          <a:bodyPr wrap="square">
            <a:spAutoFit/>
          </a:bodyPr>
          <a:lstStyle/>
          <a:p>
            <a:r>
              <a:rPr lang="zh-CN" altLang="en-US" b="1" dirty="0"/>
              <a:t>基于相似度得分</a:t>
            </a:r>
          </a:p>
        </p:txBody>
      </p:sp>
      <p:sp>
        <p:nvSpPr>
          <p:cNvPr id="15" name="文本框 14">
            <a:extLst>
              <a:ext uri="{FF2B5EF4-FFF2-40B4-BE49-F238E27FC236}">
                <a16:creationId xmlns:a16="http://schemas.microsoft.com/office/drawing/2014/main" id="{A3DD8197-B711-EDB1-3A5B-0DF787A76DB1}"/>
              </a:ext>
            </a:extLst>
          </p:cNvPr>
          <p:cNvSpPr txBox="1"/>
          <p:nvPr/>
        </p:nvSpPr>
        <p:spPr>
          <a:xfrm>
            <a:off x="2315184" y="5810495"/>
            <a:ext cx="2976664" cy="369332"/>
          </a:xfrm>
          <a:prstGeom prst="rect">
            <a:avLst/>
          </a:prstGeom>
          <a:noFill/>
        </p:spPr>
        <p:txBody>
          <a:bodyPr wrap="square">
            <a:spAutoFit/>
          </a:bodyPr>
          <a:lstStyle/>
          <a:p>
            <a:r>
              <a:rPr lang="zh-CN" altLang="en-US" b="1" dirty="0"/>
              <a:t>聚类结果对该阈值高度敏感</a:t>
            </a:r>
          </a:p>
        </p:txBody>
      </p:sp>
      <p:sp>
        <p:nvSpPr>
          <p:cNvPr id="17" name="文本框 16">
            <a:extLst>
              <a:ext uri="{FF2B5EF4-FFF2-40B4-BE49-F238E27FC236}">
                <a16:creationId xmlns:a16="http://schemas.microsoft.com/office/drawing/2014/main" id="{32F3C525-3468-B14D-2B26-5F275E60270D}"/>
              </a:ext>
            </a:extLst>
          </p:cNvPr>
          <p:cNvSpPr txBox="1"/>
          <p:nvPr/>
        </p:nvSpPr>
        <p:spPr>
          <a:xfrm>
            <a:off x="5804813" y="5810495"/>
            <a:ext cx="3451698" cy="369332"/>
          </a:xfrm>
          <a:prstGeom prst="rect">
            <a:avLst/>
          </a:prstGeom>
          <a:noFill/>
        </p:spPr>
        <p:txBody>
          <a:bodyPr wrap="square">
            <a:spAutoFit/>
          </a:bodyPr>
          <a:lstStyle/>
          <a:p>
            <a:r>
              <a:rPr lang="zh-CN" altLang="en-US" b="1" dirty="0"/>
              <a:t>不同协议需要适配不同的阈值</a:t>
            </a:r>
          </a:p>
        </p:txBody>
      </p:sp>
    </p:spTree>
    <p:extLst>
      <p:ext uri="{BB962C8B-B14F-4D97-AF65-F5344CB8AC3E}">
        <p14:creationId xmlns:p14="http://schemas.microsoft.com/office/powerpoint/2010/main" val="706264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DED8740-BB63-08EC-DD41-ED21AA822D87}"/>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1.2.2 </a:t>
            </a:r>
            <a:r>
              <a:rPr lang="zh-CN" altLang="en-US" b="1" dirty="0">
                <a:solidFill>
                  <a:schemeClr val="accent5"/>
                </a:solidFill>
              </a:rPr>
              <a:t>基于分词的聚类局限示例</a:t>
            </a:r>
          </a:p>
        </p:txBody>
      </p:sp>
      <p:pic>
        <p:nvPicPr>
          <p:cNvPr id="4" name="图片 3">
            <a:extLst>
              <a:ext uri="{FF2B5EF4-FFF2-40B4-BE49-F238E27FC236}">
                <a16:creationId xmlns:a16="http://schemas.microsoft.com/office/drawing/2014/main" id="{BB7E54E2-7DB5-B3E8-1250-95EF42B15517}"/>
              </a:ext>
            </a:extLst>
          </p:cNvPr>
          <p:cNvPicPr>
            <a:picLocks noChangeAspect="1"/>
          </p:cNvPicPr>
          <p:nvPr/>
        </p:nvPicPr>
        <p:blipFill>
          <a:blip r:embed="rId2"/>
          <a:srcRect t="43426" r="772" b="1412"/>
          <a:stretch>
            <a:fillRect/>
          </a:stretch>
        </p:blipFill>
        <p:spPr>
          <a:xfrm>
            <a:off x="151906" y="3151762"/>
            <a:ext cx="6560179" cy="3534383"/>
          </a:xfrm>
          <a:prstGeom prst="rect">
            <a:avLst/>
          </a:prstGeom>
        </p:spPr>
      </p:pic>
      <p:sp>
        <p:nvSpPr>
          <p:cNvPr id="6" name="文本框 5">
            <a:extLst>
              <a:ext uri="{FF2B5EF4-FFF2-40B4-BE49-F238E27FC236}">
                <a16:creationId xmlns:a16="http://schemas.microsoft.com/office/drawing/2014/main" id="{15EAEB65-4EEC-375F-85C2-46A2F5C4769D}"/>
              </a:ext>
            </a:extLst>
          </p:cNvPr>
          <p:cNvSpPr txBox="1"/>
          <p:nvPr/>
        </p:nvSpPr>
        <p:spPr>
          <a:xfrm>
            <a:off x="7970195" y="3501638"/>
            <a:ext cx="3981855" cy="923330"/>
          </a:xfrm>
          <a:prstGeom prst="rect">
            <a:avLst/>
          </a:prstGeom>
          <a:noFill/>
        </p:spPr>
        <p:txBody>
          <a:bodyPr wrap="square">
            <a:spAutoFit/>
          </a:bodyPr>
          <a:lstStyle/>
          <a:p>
            <a:r>
              <a:rPr lang="zh-CN" altLang="en-US" dirty="0"/>
              <a:t>该方法基于观测结论：</a:t>
            </a:r>
            <a:br>
              <a:rPr lang="en-US" altLang="zh-CN" dirty="0"/>
            </a:br>
            <a:r>
              <a:rPr lang="zh-CN" altLang="en-US" dirty="0"/>
              <a:t> “同类型网络报文的二进制序列与文本字符串混合模式一致”</a:t>
            </a:r>
          </a:p>
        </p:txBody>
      </p:sp>
      <p:sp>
        <p:nvSpPr>
          <p:cNvPr id="8" name="文本框 7">
            <a:extLst>
              <a:ext uri="{FF2B5EF4-FFF2-40B4-BE49-F238E27FC236}">
                <a16:creationId xmlns:a16="http://schemas.microsoft.com/office/drawing/2014/main" id="{06603FE8-FD81-F9ED-E71A-DE59631D9974}"/>
              </a:ext>
            </a:extLst>
          </p:cNvPr>
          <p:cNvSpPr txBox="1"/>
          <p:nvPr/>
        </p:nvSpPr>
        <p:spPr>
          <a:xfrm>
            <a:off x="7970195" y="4748188"/>
            <a:ext cx="3831077" cy="923330"/>
          </a:xfrm>
          <a:prstGeom prst="rect">
            <a:avLst/>
          </a:prstGeom>
          <a:noFill/>
        </p:spPr>
        <p:txBody>
          <a:bodyPr wrap="square">
            <a:spAutoFit/>
          </a:bodyPr>
          <a:lstStyle/>
          <a:p>
            <a:r>
              <a:rPr lang="zh-CN" altLang="en-US" dirty="0"/>
              <a:t>将</a:t>
            </a:r>
            <a:r>
              <a:rPr lang="zh-CN" altLang="en-US" dirty="0">
                <a:solidFill>
                  <a:srgbClr val="FF0000"/>
                </a:solidFill>
              </a:rPr>
              <a:t>连续的</a:t>
            </a:r>
            <a:r>
              <a:rPr lang="zh-CN" altLang="en-US" dirty="0"/>
              <a:t>可打印 </a:t>
            </a:r>
            <a:r>
              <a:rPr lang="en-US" altLang="zh-CN" dirty="0"/>
              <a:t>ASCII </a:t>
            </a:r>
            <a:r>
              <a:rPr lang="zh-CN" altLang="en-US" dirty="0"/>
              <a:t>字节视为一个文本分词 </a:t>
            </a:r>
            <a:r>
              <a:rPr lang="en-US" altLang="zh-CN" dirty="0"/>
              <a:t>T</a:t>
            </a:r>
            <a:r>
              <a:rPr lang="zh-CN" altLang="en-US" dirty="0"/>
              <a:t>，其余单个字节则标记为二进制分词 </a:t>
            </a:r>
            <a:r>
              <a:rPr lang="en-US" altLang="zh-CN" dirty="0"/>
              <a:t>B</a:t>
            </a:r>
            <a:endParaRPr lang="zh-CN" altLang="en-US" dirty="0"/>
          </a:p>
        </p:txBody>
      </p:sp>
      <p:pic>
        <p:nvPicPr>
          <p:cNvPr id="12" name="图片 11">
            <a:extLst>
              <a:ext uri="{FF2B5EF4-FFF2-40B4-BE49-F238E27FC236}">
                <a16:creationId xmlns:a16="http://schemas.microsoft.com/office/drawing/2014/main" id="{204F7728-866B-795F-E85B-C882ECAE4BF5}"/>
              </a:ext>
            </a:extLst>
          </p:cNvPr>
          <p:cNvPicPr>
            <a:picLocks noChangeAspect="1"/>
          </p:cNvPicPr>
          <p:nvPr/>
        </p:nvPicPr>
        <p:blipFill>
          <a:blip r:embed="rId3"/>
          <a:stretch>
            <a:fillRect/>
          </a:stretch>
        </p:blipFill>
        <p:spPr>
          <a:xfrm>
            <a:off x="9798174" y="1273147"/>
            <a:ext cx="1006930" cy="230947"/>
          </a:xfrm>
          <a:prstGeom prst="rect">
            <a:avLst/>
          </a:prstGeom>
        </p:spPr>
      </p:pic>
      <p:pic>
        <p:nvPicPr>
          <p:cNvPr id="14" name="图片 13">
            <a:extLst>
              <a:ext uri="{FF2B5EF4-FFF2-40B4-BE49-F238E27FC236}">
                <a16:creationId xmlns:a16="http://schemas.microsoft.com/office/drawing/2014/main" id="{87C2E9BF-76FD-4A23-93DB-2AE10B2835F8}"/>
              </a:ext>
            </a:extLst>
          </p:cNvPr>
          <p:cNvPicPr>
            <a:picLocks noChangeAspect="1"/>
          </p:cNvPicPr>
          <p:nvPr/>
        </p:nvPicPr>
        <p:blipFill>
          <a:blip r:embed="rId4"/>
          <a:stretch>
            <a:fillRect/>
          </a:stretch>
        </p:blipFill>
        <p:spPr>
          <a:xfrm>
            <a:off x="9744349" y="1015936"/>
            <a:ext cx="1114581" cy="257211"/>
          </a:xfrm>
          <a:prstGeom prst="rect">
            <a:avLst/>
          </a:prstGeom>
        </p:spPr>
      </p:pic>
      <p:pic>
        <p:nvPicPr>
          <p:cNvPr id="16" name="图片 15">
            <a:extLst>
              <a:ext uri="{FF2B5EF4-FFF2-40B4-BE49-F238E27FC236}">
                <a16:creationId xmlns:a16="http://schemas.microsoft.com/office/drawing/2014/main" id="{976E581E-497E-F898-E372-391547A6729F}"/>
              </a:ext>
            </a:extLst>
          </p:cNvPr>
          <p:cNvPicPr>
            <a:picLocks noChangeAspect="1"/>
          </p:cNvPicPr>
          <p:nvPr/>
        </p:nvPicPr>
        <p:blipFill>
          <a:blip r:embed="rId5"/>
          <a:srcRect l="584" r="-1"/>
          <a:stretch>
            <a:fillRect/>
          </a:stretch>
        </p:blipFill>
        <p:spPr>
          <a:xfrm>
            <a:off x="2716386" y="369333"/>
            <a:ext cx="7027963" cy="2782430"/>
          </a:xfrm>
          <a:prstGeom prst="rect">
            <a:avLst/>
          </a:prstGeom>
        </p:spPr>
      </p:pic>
      <p:pic>
        <p:nvPicPr>
          <p:cNvPr id="20" name="图片 19">
            <a:extLst>
              <a:ext uri="{FF2B5EF4-FFF2-40B4-BE49-F238E27FC236}">
                <a16:creationId xmlns:a16="http://schemas.microsoft.com/office/drawing/2014/main" id="{41A437A1-375B-596D-135A-55BA1157ED41}"/>
              </a:ext>
            </a:extLst>
          </p:cNvPr>
          <p:cNvPicPr>
            <a:picLocks noChangeAspect="1"/>
          </p:cNvPicPr>
          <p:nvPr/>
        </p:nvPicPr>
        <p:blipFill>
          <a:blip r:embed="rId6"/>
          <a:stretch>
            <a:fillRect/>
          </a:stretch>
        </p:blipFill>
        <p:spPr>
          <a:xfrm>
            <a:off x="9763402" y="2436153"/>
            <a:ext cx="1095528" cy="247685"/>
          </a:xfrm>
          <a:prstGeom prst="rect">
            <a:avLst/>
          </a:prstGeom>
        </p:spPr>
      </p:pic>
      <p:pic>
        <p:nvPicPr>
          <p:cNvPr id="22" name="图片 21">
            <a:extLst>
              <a:ext uri="{FF2B5EF4-FFF2-40B4-BE49-F238E27FC236}">
                <a16:creationId xmlns:a16="http://schemas.microsoft.com/office/drawing/2014/main" id="{488DD77C-7E42-515D-BE10-6183EA08B596}"/>
              </a:ext>
            </a:extLst>
          </p:cNvPr>
          <p:cNvPicPr>
            <a:picLocks noChangeAspect="1"/>
          </p:cNvPicPr>
          <p:nvPr/>
        </p:nvPicPr>
        <p:blipFill>
          <a:blip r:embed="rId7"/>
          <a:stretch>
            <a:fillRect/>
          </a:stretch>
        </p:blipFill>
        <p:spPr>
          <a:xfrm>
            <a:off x="568198" y="369332"/>
            <a:ext cx="2067213" cy="266737"/>
          </a:xfrm>
          <a:prstGeom prst="rect">
            <a:avLst/>
          </a:prstGeom>
        </p:spPr>
      </p:pic>
      <p:sp>
        <p:nvSpPr>
          <p:cNvPr id="23" name="文本框 22">
            <a:extLst>
              <a:ext uri="{FF2B5EF4-FFF2-40B4-BE49-F238E27FC236}">
                <a16:creationId xmlns:a16="http://schemas.microsoft.com/office/drawing/2014/main" id="{06985953-CB56-3FB2-5839-21507D429CF5}"/>
              </a:ext>
            </a:extLst>
          </p:cNvPr>
          <p:cNvSpPr txBox="1"/>
          <p:nvPr/>
        </p:nvSpPr>
        <p:spPr>
          <a:xfrm>
            <a:off x="10945390" y="959875"/>
            <a:ext cx="777777" cy="369332"/>
          </a:xfrm>
          <a:prstGeom prst="rect">
            <a:avLst/>
          </a:prstGeom>
          <a:noFill/>
        </p:spPr>
        <p:txBody>
          <a:bodyPr wrap="none" rtlCol="0">
            <a:spAutoFit/>
          </a:bodyPr>
          <a:lstStyle/>
          <a:p>
            <a:r>
              <a:rPr lang="en-US" altLang="zh-CN" b="1" dirty="0"/>
              <a:t>d G D</a:t>
            </a:r>
            <a:endParaRPr lang="zh-CN" altLang="en-US" b="1" dirty="0"/>
          </a:p>
        </p:txBody>
      </p:sp>
      <p:sp>
        <p:nvSpPr>
          <p:cNvPr id="24" name="文本框 23">
            <a:extLst>
              <a:ext uri="{FF2B5EF4-FFF2-40B4-BE49-F238E27FC236}">
                <a16:creationId xmlns:a16="http://schemas.microsoft.com/office/drawing/2014/main" id="{3F508AD3-A913-8033-8B56-0C71B0B54869}"/>
              </a:ext>
            </a:extLst>
          </p:cNvPr>
          <p:cNvSpPr txBox="1"/>
          <p:nvPr/>
        </p:nvSpPr>
        <p:spPr>
          <a:xfrm>
            <a:off x="10945389" y="1231427"/>
            <a:ext cx="729687" cy="369332"/>
          </a:xfrm>
          <a:prstGeom prst="rect">
            <a:avLst/>
          </a:prstGeom>
          <a:noFill/>
        </p:spPr>
        <p:txBody>
          <a:bodyPr wrap="none" rtlCol="0">
            <a:spAutoFit/>
          </a:bodyPr>
          <a:lstStyle/>
          <a:p>
            <a:r>
              <a:rPr lang="en-US" altLang="zh-CN" b="1" dirty="0"/>
              <a:t>d L D</a:t>
            </a:r>
            <a:endParaRPr lang="zh-CN" altLang="en-US" b="1" dirty="0"/>
          </a:p>
        </p:txBody>
      </p:sp>
      <p:sp>
        <p:nvSpPr>
          <p:cNvPr id="25" name="文本框 24">
            <a:extLst>
              <a:ext uri="{FF2B5EF4-FFF2-40B4-BE49-F238E27FC236}">
                <a16:creationId xmlns:a16="http://schemas.microsoft.com/office/drawing/2014/main" id="{27BD656D-B6BE-7EF7-0ED8-7CB70D02097A}"/>
              </a:ext>
            </a:extLst>
          </p:cNvPr>
          <p:cNvSpPr txBox="1"/>
          <p:nvPr/>
        </p:nvSpPr>
        <p:spPr>
          <a:xfrm>
            <a:off x="10921343" y="2314506"/>
            <a:ext cx="793807" cy="369332"/>
          </a:xfrm>
          <a:prstGeom prst="rect">
            <a:avLst/>
          </a:prstGeom>
          <a:noFill/>
        </p:spPr>
        <p:txBody>
          <a:bodyPr wrap="none" rtlCol="0">
            <a:spAutoFit/>
          </a:bodyPr>
          <a:lstStyle/>
          <a:p>
            <a:r>
              <a:rPr lang="en-US" altLang="zh-CN" b="1" dirty="0"/>
              <a:t>d N D</a:t>
            </a:r>
            <a:endParaRPr lang="zh-CN" altLang="en-US" b="1" dirty="0"/>
          </a:p>
        </p:txBody>
      </p:sp>
      <p:pic>
        <p:nvPicPr>
          <p:cNvPr id="29" name="图片 28">
            <a:extLst>
              <a:ext uri="{FF2B5EF4-FFF2-40B4-BE49-F238E27FC236}">
                <a16:creationId xmlns:a16="http://schemas.microsoft.com/office/drawing/2014/main" id="{E2E804A3-D87C-A45C-60EB-C6F5247E729B}"/>
              </a:ext>
            </a:extLst>
          </p:cNvPr>
          <p:cNvPicPr>
            <a:picLocks noChangeAspect="1"/>
          </p:cNvPicPr>
          <p:nvPr/>
        </p:nvPicPr>
        <p:blipFill>
          <a:blip r:embed="rId8"/>
          <a:stretch>
            <a:fillRect/>
          </a:stretch>
        </p:blipFill>
        <p:spPr>
          <a:xfrm>
            <a:off x="1606945" y="663843"/>
            <a:ext cx="1028466" cy="227537"/>
          </a:xfrm>
          <a:prstGeom prst="rect">
            <a:avLst/>
          </a:prstGeom>
        </p:spPr>
      </p:pic>
      <p:pic>
        <p:nvPicPr>
          <p:cNvPr id="30" name="图片 29">
            <a:extLst>
              <a:ext uri="{FF2B5EF4-FFF2-40B4-BE49-F238E27FC236}">
                <a16:creationId xmlns:a16="http://schemas.microsoft.com/office/drawing/2014/main" id="{E767E074-DBFC-031D-F74E-2209A93A4C75}"/>
              </a:ext>
            </a:extLst>
          </p:cNvPr>
          <p:cNvPicPr>
            <a:picLocks noChangeAspect="1"/>
          </p:cNvPicPr>
          <p:nvPr/>
        </p:nvPicPr>
        <p:blipFill>
          <a:blip r:embed="rId7"/>
          <a:stretch>
            <a:fillRect/>
          </a:stretch>
        </p:blipFill>
        <p:spPr>
          <a:xfrm>
            <a:off x="568198" y="904350"/>
            <a:ext cx="2067213" cy="266737"/>
          </a:xfrm>
          <a:prstGeom prst="rect">
            <a:avLst/>
          </a:prstGeom>
        </p:spPr>
      </p:pic>
      <p:pic>
        <p:nvPicPr>
          <p:cNvPr id="31" name="图片 30">
            <a:extLst>
              <a:ext uri="{FF2B5EF4-FFF2-40B4-BE49-F238E27FC236}">
                <a16:creationId xmlns:a16="http://schemas.microsoft.com/office/drawing/2014/main" id="{9BDCF3B6-46CD-7DC7-AB26-14DC1F0EE894}"/>
              </a:ext>
            </a:extLst>
          </p:cNvPr>
          <p:cNvPicPr>
            <a:picLocks noChangeAspect="1"/>
          </p:cNvPicPr>
          <p:nvPr/>
        </p:nvPicPr>
        <p:blipFill>
          <a:blip r:embed="rId7"/>
          <a:stretch>
            <a:fillRect/>
          </a:stretch>
        </p:blipFill>
        <p:spPr>
          <a:xfrm>
            <a:off x="568198" y="1228263"/>
            <a:ext cx="2067213" cy="266737"/>
          </a:xfrm>
          <a:prstGeom prst="rect">
            <a:avLst/>
          </a:prstGeom>
        </p:spPr>
      </p:pic>
      <p:pic>
        <p:nvPicPr>
          <p:cNvPr id="32" name="图片 31">
            <a:extLst>
              <a:ext uri="{FF2B5EF4-FFF2-40B4-BE49-F238E27FC236}">
                <a16:creationId xmlns:a16="http://schemas.microsoft.com/office/drawing/2014/main" id="{8B6345F7-2D91-E36A-9264-D0BFE22FE998}"/>
              </a:ext>
            </a:extLst>
          </p:cNvPr>
          <p:cNvPicPr>
            <a:picLocks noChangeAspect="1"/>
          </p:cNvPicPr>
          <p:nvPr/>
        </p:nvPicPr>
        <p:blipFill>
          <a:blip r:embed="rId7"/>
          <a:stretch>
            <a:fillRect/>
          </a:stretch>
        </p:blipFill>
        <p:spPr>
          <a:xfrm>
            <a:off x="568197" y="1521816"/>
            <a:ext cx="2067213" cy="266737"/>
          </a:xfrm>
          <a:prstGeom prst="rect">
            <a:avLst/>
          </a:prstGeom>
        </p:spPr>
      </p:pic>
      <p:pic>
        <p:nvPicPr>
          <p:cNvPr id="33" name="图片 32">
            <a:extLst>
              <a:ext uri="{FF2B5EF4-FFF2-40B4-BE49-F238E27FC236}">
                <a16:creationId xmlns:a16="http://schemas.microsoft.com/office/drawing/2014/main" id="{FF09A5C4-A3BA-7C58-A80D-01FD2B5167D4}"/>
              </a:ext>
            </a:extLst>
          </p:cNvPr>
          <p:cNvPicPr>
            <a:picLocks noChangeAspect="1"/>
          </p:cNvPicPr>
          <p:nvPr/>
        </p:nvPicPr>
        <p:blipFill>
          <a:blip r:embed="rId8"/>
          <a:stretch>
            <a:fillRect/>
          </a:stretch>
        </p:blipFill>
        <p:spPr>
          <a:xfrm>
            <a:off x="1601803" y="1829398"/>
            <a:ext cx="1028466" cy="227537"/>
          </a:xfrm>
          <a:prstGeom prst="rect">
            <a:avLst/>
          </a:prstGeom>
        </p:spPr>
      </p:pic>
      <p:pic>
        <p:nvPicPr>
          <p:cNvPr id="34" name="图片 33">
            <a:extLst>
              <a:ext uri="{FF2B5EF4-FFF2-40B4-BE49-F238E27FC236}">
                <a16:creationId xmlns:a16="http://schemas.microsoft.com/office/drawing/2014/main" id="{630C8445-2A6B-28B2-7D3B-05D232D4CD22}"/>
              </a:ext>
            </a:extLst>
          </p:cNvPr>
          <p:cNvPicPr>
            <a:picLocks noChangeAspect="1"/>
          </p:cNvPicPr>
          <p:nvPr/>
        </p:nvPicPr>
        <p:blipFill>
          <a:blip r:embed="rId8"/>
          <a:stretch>
            <a:fillRect/>
          </a:stretch>
        </p:blipFill>
        <p:spPr>
          <a:xfrm>
            <a:off x="1601803" y="2108429"/>
            <a:ext cx="1028466" cy="227537"/>
          </a:xfrm>
          <a:prstGeom prst="rect">
            <a:avLst/>
          </a:prstGeom>
        </p:spPr>
      </p:pic>
      <p:pic>
        <p:nvPicPr>
          <p:cNvPr id="35" name="图片 34">
            <a:extLst>
              <a:ext uri="{FF2B5EF4-FFF2-40B4-BE49-F238E27FC236}">
                <a16:creationId xmlns:a16="http://schemas.microsoft.com/office/drawing/2014/main" id="{B64E4213-44A3-E973-B282-42AB544B5DD6}"/>
              </a:ext>
            </a:extLst>
          </p:cNvPr>
          <p:cNvPicPr>
            <a:picLocks noChangeAspect="1"/>
          </p:cNvPicPr>
          <p:nvPr/>
        </p:nvPicPr>
        <p:blipFill>
          <a:blip r:embed="rId8"/>
          <a:stretch>
            <a:fillRect/>
          </a:stretch>
        </p:blipFill>
        <p:spPr>
          <a:xfrm>
            <a:off x="1601803" y="2391719"/>
            <a:ext cx="1028466" cy="227537"/>
          </a:xfrm>
          <a:prstGeom prst="rect">
            <a:avLst/>
          </a:prstGeom>
        </p:spPr>
      </p:pic>
      <p:sp>
        <p:nvSpPr>
          <p:cNvPr id="36" name="文本框 35">
            <a:extLst>
              <a:ext uri="{FF2B5EF4-FFF2-40B4-BE49-F238E27FC236}">
                <a16:creationId xmlns:a16="http://schemas.microsoft.com/office/drawing/2014/main" id="{0A84A30D-9B79-8324-B752-694965D95571}"/>
              </a:ext>
            </a:extLst>
          </p:cNvPr>
          <p:cNvSpPr txBox="1"/>
          <p:nvPr/>
        </p:nvSpPr>
        <p:spPr>
          <a:xfrm>
            <a:off x="10963022" y="571550"/>
            <a:ext cx="742511" cy="369332"/>
          </a:xfrm>
          <a:prstGeom prst="rect">
            <a:avLst/>
          </a:prstGeom>
          <a:noFill/>
        </p:spPr>
        <p:txBody>
          <a:bodyPr wrap="none" rtlCol="0">
            <a:spAutoFit/>
          </a:bodyPr>
          <a:lstStyle/>
          <a:p>
            <a:r>
              <a:rPr lang="en-US" altLang="zh-CN" b="1" dirty="0">
                <a:solidFill>
                  <a:srgbClr val="FF0000"/>
                </a:solidFill>
              </a:rPr>
              <a:t>ASCII</a:t>
            </a:r>
            <a:endParaRPr lang="zh-CN" altLang="en-US" b="1" dirty="0">
              <a:solidFill>
                <a:srgbClr val="FF0000"/>
              </a:solidFill>
            </a:endParaRPr>
          </a:p>
        </p:txBody>
      </p:sp>
      <p:sp>
        <p:nvSpPr>
          <p:cNvPr id="37" name="文本框 36">
            <a:extLst>
              <a:ext uri="{FF2B5EF4-FFF2-40B4-BE49-F238E27FC236}">
                <a16:creationId xmlns:a16="http://schemas.microsoft.com/office/drawing/2014/main" id="{F09480CE-0EEF-B91A-8513-44D4FD433EDD}"/>
              </a:ext>
            </a:extLst>
          </p:cNvPr>
          <p:cNvSpPr txBox="1"/>
          <p:nvPr/>
        </p:nvSpPr>
        <p:spPr>
          <a:xfrm>
            <a:off x="10145987" y="580595"/>
            <a:ext cx="311304" cy="369332"/>
          </a:xfrm>
          <a:prstGeom prst="rect">
            <a:avLst/>
          </a:prstGeom>
          <a:noFill/>
        </p:spPr>
        <p:txBody>
          <a:bodyPr wrap="none" rtlCol="0">
            <a:spAutoFit/>
          </a:bodyPr>
          <a:lstStyle/>
          <a:p>
            <a:r>
              <a:rPr lang="en-US" altLang="zh-CN" b="1" dirty="0">
                <a:solidFill>
                  <a:srgbClr val="FF0000"/>
                </a:solidFill>
              </a:rPr>
              <a:t>T</a:t>
            </a:r>
            <a:endParaRPr lang="zh-CN" altLang="en-US" b="1" dirty="0">
              <a:solidFill>
                <a:srgbClr val="FF0000"/>
              </a:solidFill>
            </a:endParaRPr>
          </a:p>
        </p:txBody>
      </p:sp>
    </p:spTree>
    <p:extLst>
      <p:ext uri="{BB962C8B-B14F-4D97-AF65-F5344CB8AC3E}">
        <p14:creationId xmlns:p14="http://schemas.microsoft.com/office/powerpoint/2010/main" val="2680280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9F10157-04B7-3936-7A9F-B5A2E69A1896}"/>
              </a:ext>
            </a:extLst>
          </p:cNvPr>
          <p:cNvPicPr>
            <a:picLocks noChangeAspect="1"/>
          </p:cNvPicPr>
          <p:nvPr/>
        </p:nvPicPr>
        <p:blipFill>
          <a:blip r:embed="rId2"/>
          <a:stretch>
            <a:fillRect/>
          </a:stretch>
        </p:blipFill>
        <p:spPr>
          <a:xfrm>
            <a:off x="345224" y="527051"/>
            <a:ext cx="7992609" cy="5264149"/>
          </a:xfrm>
          <a:prstGeom prst="rect">
            <a:avLst/>
          </a:prstGeom>
        </p:spPr>
      </p:pic>
      <p:sp>
        <p:nvSpPr>
          <p:cNvPr id="5" name="文本框 4">
            <a:extLst>
              <a:ext uri="{FF2B5EF4-FFF2-40B4-BE49-F238E27FC236}">
                <a16:creationId xmlns:a16="http://schemas.microsoft.com/office/drawing/2014/main" id="{DB7B32CD-9D41-F08E-5AF7-16E2EFC1FFF6}"/>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1.3 </a:t>
            </a:r>
            <a:r>
              <a:rPr lang="zh-CN" altLang="en-US" b="1" dirty="0">
                <a:solidFill>
                  <a:schemeClr val="accent5"/>
                </a:solidFill>
              </a:rPr>
              <a:t>本文思想</a:t>
            </a:r>
          </a:p>
        </p:txBody>
      </p:sp>
      <p:sp>
        <p:nvSpPr>
          <p:cNvPr id="7" name="文本框 6">
            <a:extLst>
              <a:ext uri="{FF2B5EF4-FFF2-40B4-BE49-F238E27FC236}">
                <a16:creationId xmlns:a16="http://schemas.microsoft.com/office/drawing/2014/main" id="{CA2F7F8B-3BB6-6B9D-2620-2418E8483D5C}"/>
              </a:ext>
            </a:extLst>
          </p:cNvPr>
          <p:cNvSpPr txBox="1"/>
          <p:nvPr/>
        </p:nvSpPr>
        <p:spPr>
          <a:xfrm>
            <a:off x="8688421" y="1038707"/>
            <a:ext cx="3224719" cy="923330"/>
          </a:xfrm>
          <a:prstGeom prst="rect">
            <a:avLst/>
          </a:prstGeom>
          <a:noFill/>
        </p:spPr>
        <p:txBody>
          <a:bodyPr wrap="square">
            <a:spAutoFit/>
          </a:bodyPr>
          <a:lstStyle/>
          <a:p>
            <a:r>
              <a:rPr lang="zh-CN" altLang="en-US" dirty="0"/>
              <a:t>基于事实：</a:t>
            </a:r>
            <a:br>
              <a:rPr lang="en-US" altLang="zh-CN" dirty="0"/>
            </a:br>
            <a:r>
              <a:rPr lang="zh-CN" altLang="en-US" dirty="0"/>
              <a:t>客户端或服务端收到报文时，仅通过关键字段判断报文类型。</a:t>
            </a:r>
          </a:p>
        </p:txBody>
      </p:sp>
      <p:pic>
        <p:nvPicPr>
          <p:cNvPr id="8" name="图片 7">
            <a:extLst>
              <a:ext uri="{FF2B5EF4-FFF2-40B4-BE49-F238E27FC236}">
                <a16:creationId xmlns:a16="http://schemas.microsoft.com/office/drawing/2014/main" id="{0B53D3C5-1410-8BB8-A24D-276594D9D1AC}"/>
              </a:ext>
            </a:extLst>
          </p:cNvPr>
          <p:cNvPicPr>
            <a:picLocks noChangeAspect="1"/>
          </p:cNvPicPr>
          <p:nvPr/>
        </p:nvPicPr>
        <p:blipFill>
          <a:blip r:embed="rId3"/>
          <a:stretch>
            <a:fillRect/>
          </a:stretch>
        </p:blipFill>
        <p:spPr>
          <a:xfrm>
            <a:off x="1819823" y="3501639"/>
            <a:ext cx="2067213" cy="266737"/>
          </a:xfrm>
          <a:prstGeom prst="rect">
            <a:avLst/>
          </a:prstGeom>
        </p:spPr>
      </p:pic>
      <p:pic>
        <p:nvPicPr>
          <p:cNvPr id="9" name="图片 8">
            <a:extLst>
              <a:ext uri="{FF2B5EF4-FFF2-40B4-BE49-F238E27FC236}">
                <a16:creationId xmlns:a16="http://schemas.microsoft.com/office/drawing/2014/main" id="{51AFB268-3E85-4CE0-8A1E-BC57A4B1DD9E}"/>
              </a:ext>
            </a:extLst>
          </p:cNvPr>
          <p:cNvPicPr>
            <a:picLocks noChangeAspect="1"/>
          </p:cNvPicPr>
          <p:nvPr/>
        </p:nvPicPr>
        <p:blipFill>
          <a:blip r:embed="rId4"/>
          <a:stretch>
            <a:fillRect/>
          </a:stretch>
        </p:blipFill>
        <p:spPr>
          <a:xfrm>
            <a:off x="5901660" y="3542804"/>
            <a:ext cx="1024217" cy="225572"/>
          </a:xfrm>
          <a:prstGeom prst="rect">
            <a:avLst/>
          </a:prstGeom>
        </p:spPr>
      </p:pic>
      <p:sp>
        <p:nvSpPr>
          <p:cNvPr id="11" name="文本框 10">
            <a:extLst>
              <a:ext uri="{FF2B5EF4-FFF2-40B4-BE49-F238E27FC236}">
                <a16:creationId xmlns:a16="http://schemas.microsoft.com/office/drawing/2014/main" id="{8089DC3B-C87E-9B75-5D0C-FD6053A6F458}"/>
              </a:ext>
            </a:extLst>
          </p:cNvPr>
          <p:cNvSpPr txBox="1"/>
          <p:nvPr/>
        </p:nvSpPr>
        <p:spPr>
          <a:xfrm>
            <a:off x="8688421" y="2732260"/>
            <a:ext cx="3224719" cy="923330"/>
          </a:xfrm>
          <a:prstGeom prst="rect">
            <a:avLst/>
          </a:prstGeom>
          <a:noFill/>
        </p:spPr>
        <p:txBody>
          <a:bodyPr wrap="square">
            <a:spAutoFit/>
          </a:bodyPr>
          <a:lstStyle/>
          <a:p>
            <a:r>
              <a:rPr lang="zh-CN" altLang="en-US" dirty="0"/>
              <a:t>因此，若能推导出表征关键字段的字段，就能得到理想的聚类结果。</a:t>
            </a:r>
          </a:p>
        </p:txBody>
      </p:sp>
    </p:spTree>
    <p:extLst>
      <p:ext uri="{BB962C8B-B14F-4D97-AF65-F5344CB8AC3E}">
        <p14:creationId xmlns:p14="http://schemas.microsoft.com/office/powerpoint/2010/main" val="3897968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75EDEA0-BAA9-C8EB-5337-6E1A25CA5395}"/>
              </a:ext>
            </a:extLst>
          </p:cNvPr>
          <p:cNvSpPr txBox="1"/>
          <p:nvPr/>
        </p:nvSpPr>
        <p:spPr>
          <a:xfrm>
            <a:off x="153139" y="2142101"/>
            <a:ext cx="3822231" cy="2862322"/>
          </a:xfrm>
          <a:prstGeom prst="rect">
            <a:avLst/>
          </a:prstGeom>
          <a:noFill/>
        </p:spPr>
        <p:txBody>
          <a:bodyPr wrap="square">
            <a:spAutoFit/>
          </a:bodyPr>
          <a:lstStyle/>
          <a:p>
            <a:r>
              <a:rPr lang="en-US" altLang="zh-CN" dirty="0"/>
              <a:t>2.1 </a:t>
            </a:r>
            <a:r>
              <a:rPr lang="zh-CN" altLang="en-US" dirty="0"/>
              <a:t>预处理</a:t>
            </a:r>
          </a:p>
          <a:p>
            <a:r>
              <a:rPr lang="en-US" altLang="zh-CN" dirty="0"/>
              <a:t>2.2 </a:t>
            </a:r>
            <a:r>
              <a:rPr lang="zh-CN" altLang="en-US" dirty="0"/>
              <a:t>关键字段候选集生成</a:t>
            </a:r>
          </a:p>
          <a:p>
            <a:r>
              <a:rPr lang="en-US" altLang="zh-CN" dirty="0"/>
              <a:t>2.3 </a:t>
            </a:r>
            <a:r>
              <a:rPr lang="zh-CN" altLang="en-US" dirty="0"/>
              <a:t>基于概率的关键字段识别</a:t>
            </a:r>
          </a:p>
          <a:p>
            <a:r>
              <a:rPr lang="en-US" altLang="zh-CN" dirty="0"/>
              <a:t>	2.3.1 </a:t>
            </a:r>
            <a:r>
              <a:rPr lang="zh-CN" altLang="en-US" dirty="0"/>
              <a:t>报文相似度约束</a:t>
            </a:r>
          </a:p>
          <a:p>
            <a:r>
              <a:rPr lang="zh-CN" altLang="en-US" dirty="0"/>
              <a:t>	</a:t>
            </a:r>
            <a:r>
              <a:rPr lang="en-US" altLang="zh-CN" dirty="0"/>
              <a:t>2.3.2 </a:t>
            </a:r>
            <a:r>
              <a:rPr lang="zh-CN" altLang="en-US" dirty="0"/>
              <a:t>双端耦合约束</a:t>
            </a:r>
          </a:p>
          <a:p>
            <a:r>
              <a:rPr lang="zh-CN" altLang="en-US" dirty="0"/>
              <a:t>	</a:t>
            </a:r>
            <a:r>
              <a:rPr lang="en-US" altLang="zh-CN" dirty="0"/>
              <a:t>2.3.3 </a:t>
            </a:r>
            <a:r>
              <a:rPr lang="zh-CN" altLang="en-US" dirty="0"/>
              <a:t>结构一致性约束</a:t>
            </a:r>
          </a:p>
          <a:p>
            <a:r>
              <a:rPr lang="zh-CN" altLang="en-US" dirty="0"/>
              <a:t>	</a:t>
            </a:r>
            <a:r>
              <a:rPr lang="en-US" altLang="zh-CN" dirty="0"/>
              <a:t>2.3.4 </a:t>
            </a:r>
            <a:r>
              <a:rPr lang="zh-CN" altLang="en-US" dirty="0"/>
              <a:t>维度约束</a:t>
            </a:r>
          </a:p>
          <a:p>
            <a:r>
              <a:rPr lang="zh-CN" altLang="en-US" dirty="0"/>
              <a:t>	</a:t>
            </a:r>
            <a:r>
              <a:rPr lang="en-US" altLang="zh-CN" dirty="0"/>
              <a:t>2.3.5 </a:t>
            </a:r>
            <a:r>
              <a:rPr lang="zh-CN" altLang="en-US" dirty="0"/>
              <a:t>概率推理</a:t>
            </a:r>
            <a:endParaRPr lang="en-US" altLang="zh-CN" dirty="0"/>
          </a:p>
          <a:p>
            <a:r>
              <a:rPr lang="en-US" altLang="zh-CN" dirty="0"/>
              <a:t>2.4 </a:t>
            </a:r>
            <a:r>
              <a:rPr lang="zh-CN" altLang="en-US" dirty="0"/>
              <a:t>迭代对齐和聚类</a:t>
            </a:r>
          </a:p>
          <a:p>
            <a:r>
              <a:rPr lang="en-US" altLang="zh-CN" dirty="0"/>
              <a:t>2.5 </a:t>
            </a:r>
            <a:r>
              <a:rPr lang="zh-CN" altLang="en-US" dirty="0"/>
              <a:t>格式和状态机推理</a:t>
            </a:r>
          </a:p>
        </p:txBody>
      </p:sp>
      <p:pic>
        <p:nvPicPr>
          <p:cNvPr id="5" name="图片 4">
            <a:extLst>
              <a:ext uri="{FF2B5EF4-FFF2-40B4-BE49-F238E27FC236}">
                <a16:creationId xmlns:a16="http://schemas.microsoft.com/office/drawing/2014/main" id="{403F133A-F2AF-0D81-3A58-2F02DEE1AD02}"/>
              </a:ext>
            </a:extLst>
          </p:cNvPr>
          <p:cNvPicPr>
            <a:picLocks noChangeAspect="1"/>
          </p:cNvPicPr>
          <p:nvPr/>
        </p:nvPicPr>
        <p:blipFill>
          <a:blip r:embed="rId2"/>
          <a:stretch>
            <a:fillRect/>
          </a:stretch>
        </p:blipFill>
        <p:spPr>
          <a:xfrm>
            <a:off x="4441222" y="2142101"/>
            <a:ext cx="7535327" cy="3924848"/>
          </a:xfrm>
          <a:prstGeom prst="rect">
            <a:avLst/>
          </a:prstGeom>
        </p:spPr>
      </p:pic>
      <p:sp>
        <p:nvSpPr>
          <p:cNvPr id="6" name="文本框 5">
            <a:extLst>
              <a:ext uri="{FF2B5EF4-FFF2-40B4-BE49-F238E27FC236}">
                <a16:creationId xmlns:a16="http://schemas.microsoft.com/office/drawing/2014/main" id="{9F897BBD-2116-53A0-54E6-0B36525459E8}"/>
              </a:ext>
            </a:extLst>
          </p:cNvPr>
          <p:cNvSpPr txBox="1"/>
          <p:nvPr/>
        </p:nvSpPr>
        <p:spPr>
          <a:xfrm>
            <a:off x="3048000" y="436065"/>
            <a:ext cx="6096000" cy="769441"/>
          </a:xfrm>
          <a:prstGeom prst="rect">
            <a:avLst/>
          </a:prstGeom>
          <a:noFill/>
        </p:spPr>
        <p:txBody>
          <a:bodyPr wrap="square">
            <a:spAutoFit/>
          </a:bodyPr>
          <a:lstStyle/>
          <a:p>
            <a:pPr algn="ctr"/>
            <a:r>
              <a:rPr lang="en-US" altLang="zh-CN" sz="4400" b="1" dirty="0"/>
              <a:t>2 </a:t>
            </a:r>
            <a:r>
              <a:rPr lang="en-US" altLang="zh-CN" sz="4400" b="1" dirty="0" err="1"/>
              <a:t>NetPlier</a:t>
            </a:r>
            <a:r>
              <a:rPr lang="zh-CN" altLang="en-US" sz="4400" b="1" dirty="0"/>
              <a:t>系统设计</a:t>
            </a:r>
          </a:p>
        </p:txBody>
      </p:sp>
    </p:spTree>
    <p:extLst>
      <p:ext uri="{BB962C8B-B14F-4D97-AF65-F5344CB8AC3E}">
        <p14:creationId xmlns:p14="http://schemas.microsoft.com/office/powerpoint/2010/main" val="2392892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D1B8162-8925-4B43-56C7-19E163D3B3F9}"/>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2.1 </a:t>
            </a:r>
            <a:r>
              <a:rPr lang="zh-CN" altLang="en-US" b="1" dirty="0">
                <a:solidFill>
                  <a:schemeClr val="accent5"/>
                </a:solidFill>
              </a:rPr>
              <a:t>预处理</a:t>
            </a:r>
          </a:p>
        </p:txBody>
      </p:sp>
      <p:sp>
        <p:nvSpPr>
          <p:cNvPr id="4" name="文本框 3">
            <a:extLst>
              <a:ext uri="{FF2B5EF4-FFF2-40B4-BE49-F238E27FC236}">
                <a16:creationId xmlns:a16="http://schemas.microsoft.com/office/drawing/2014/main" id="{845632EA-8F51-EEAB-42A1-F8D047430B25}"/>
              </a:ext>
            </a:extLst>
          </p:cNvPr>
          <p:cNvSpPr txBox="1"/>
          <p:nvPr/>
        </p:nvSpPr>
        <p:spPr>
          <a:xfrm>
            <a:off x="317377" y="809632"/>
            <a:ext cx="2470211" cy="369332"/>
          </a:xfrm>
          <a:prstGeom prst="rect">
            <a:avLst/>
          </a:prstGeom>
          <a:noFill/>
        </p:spPr>
        <p:txBody>
          <a:bodyPr wrap="square">
            <a:spAutoFit/>
          </a:bodyPr>
          <a:lstStyle/>
          <a:p>
            <a:r>
              <a:rPr lang="zh-CN" altLang="en-US" b="1" dirty="0"/>
              <a:t>输入：捕获的原始流量</a:t>
            </a:r>
          </a:p>
        </p:txBody>
      </p:sp>
      <p:sp>
        <p:nvSpPr>
          <p:cNvPr id="5" name="箭头: 右 4">
            <a:extLst>
              <a:ext uri="{FF2B5EF4-FFF2-40B4-BE49-F238E27FC236}">
                <a16:creationId xmlns:a16="http://schemas.microsoft.com/office/drawing/2014/main" id="{EB85901A-8709-8FCA-BFC6-79D58926756E}"/>
              </a:ext>
            </a:extLst>
          </p:cNvPr>
          <p:cNvSpPr/>
          <p:nvPr/>
        </p:nvSpPr>
        <p:spPr>
          <a:xfrm>
            <a:off x="2787588" y="914400"/>
            <a:ext cx="4572000" cy="1864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3422F9DE-9F63-E581-B46F-1581829FC52F}"/>
              </a:ext>
            </a:extLst>
          </p:cNvPr>
          <p:cNvSpPr txBox="1"/>
          <p:nvPr/>
        </p:nvSpPr>
        <p:spPr>
          <a:xfrm>
            <a:off x="3496324" y="545068"/>
            <a:ext cx="2812740" cy="369332"/>
          </a:xfrm>
          <a:prstGeom prst="rect">
            <a:avLst/>
          </a:prstGeom>
          <a:noFill/>
        </p:spPr>
        <p:txBody>
          <a:bodyPr wrap="square">
            <a:spAutoFit/>
          </a:bodyPr>
          <a:lstStyle/>
          <a:p>
            <a:r>
              <a:rPr lang="zh-CN" altLang="en-US" dirty="0"/>
              <a:t>时间戳、</a:t>
            </a:r>
            <a:r>
              <a:rPr lang="en-US" altLang="zh-CN" dirty="0"/>
              <a:t>IP </a:t>
            </a:r>
            <a:r>
              <a:rPr lang="zh-CN" altLang="en-US" dirty="0"/>
              <a:t>地址与端口号</a:t>
            </a:r>
          </a:p>
        </p:txBody>
      </p:sp>
      <p:sp>
        <p:nvSpPr>
          <p:cNvPr id="9" name="文本框 8">
            <a:extLst>
              <a:ext uri="{FF2B5EF4-FFF2-40B4-BE49-F238E27FC236}">
                <a16:creationId xmlns:a16="http://schemas.microsoft.com/office/drawing/2014/main" id="{4043CBF1-1991-D06E-C1F6-74DE21F5276D}"/>
              </a:ext>
            </a:extLst>
          </p:cNvPr>
          <p:cNvSpPr txBox="1"/>
          <p:nvPr/>
        </p:nvSpPr>
        <p:spPr>
          <a:xfrm>
            <a:off x="7455023" y="822949"/>
            <a:ext cx="3340224" cy="369332"/>
          </a:xfrm>
          <a:prstGeom prst="rect">
            <a:avLst/>
          </a:prstGeom>
          <a:noFill/>
        </p:spPr>
        <p:txBody>
          <a:bodyPr wrap="square">
            <a:spAutoFit/>
          </a:bodyPr>
          <a:lstStyle/>
          <a:p>
            <a:r>
              <a:rPr lang="zh-CN" altLang="en-US" b="1" dirty="0"/>
              <a:t>不同会话的目标协议报文</a:t>
            </a:r>
          </a:p>
        </p:txBody>
      </p:sp>
      <p:pic>
        <p:nvPicPr>
          <p:cNvPr id="10" name="图片 9">
            <a:extLst>
              <a:ext uri="{FF2B5EF4-FFF2-40B4-BE49-F238E27FC236}">
                <a16:creationId xmlns:a16="http://schemas.microsoft.com/office/drawing/2014/main" id="{B8EBB78D-B55C-B51B-544A-24EC5CC88083}"/>
              </a:ext>
            </a:extLst>
          </p:cNvPr>
          <p:cNvPicPr>
            <a:picLocks noChangeAspect="1"/>
          </p:cNvPicPr>
          <p:nvPr/>
        </p:nvPicPr>
        <p:blipFill>
          <a:blip r:embed="rId2"/>
          <a:stretch>
            <a:fillRect/>
          </a:stretch>
        </p:blipFill>
        <p:spPr>
          <a:xfrm>
            <a:off x="239697" y="1280663"/>
            <a:ext cx="10892901" cy="4171981"/>
          </a:xfrm>
          <a:prstGeom prst="rect">
            <a:avLst/>
          </a:prstGeom>
        </p:spPr>
      </p:pic>
      <p:sp>
        <p:nvSpPr>
          <p:cNvPr id="12" name="文本框 11">
            <a:extLst>
              <a:ext uri="{FF2B5EF4-FFF2-40B4-BE49-F238E27FC236}">
                <a16:creationId xmlns:a16="http://schemas.microsoft.com/office/drawing/2014/main" id="{785F1C67-CE7D-EFAE-3030-614ABB8F8D52}"/>
              </a:ext>
            </a:extLst>
          </p:cNvPr>
          <p:cNvSpPr txBox="1"/>
          <p:nvPr/>
        </p:nvSpPr>
        <p:spPr>
          <a:xfrm>
            <a:off x="239697" y="5632476"/>
            <a:ext cx="5319943" cy="923330"/>
          </a:xfrm>
          <a:prstGeom prst="rect">
            <a:avLst/>
          </a:prstGeom>
          <a:noFill/>
        </p:spPr>
        <p:txBody>
          <a:bodyPr wrap="square">
            <a:spAutoFit/>
          </a:bodyPr>
          <a:lstStyle/>
          <a:p>
            <a:r>
              <a:rPr lang="en-US" altLang="zh-CN" dirty="0"/>
              <a:t>mc0​​</a:t>
            </a:r>
            <a:r>
              <a:rPr lang="zh-CN" altLang="en-US" dirty="0"/>
              <a:t>、</a:t>
            </a:r>
            <a:r>
              <a:rPr lang="en-US" altLang="zh-CN" dirty="0"/>
              <a:t>ms0​​</a:t>
            </a:r>
            <a:r>
              <a:rPr lang="zh-CN" altLang="en-US" dirty="0"/>
              <a:t>、</a:t>
            </a:r>
            <a:r>
              <a:rPr lang="en-US" altLang="zh-CN" dirty="0"/>
              <a:t>ms1​​</a:t>
            </a:r>
            <a:r>
              <a:rPr lang="zh-CN" altLang="en-US" dirty="0"/>
              <a:t>、</a:t>
            </a:r>
            <a:r>
              <a:rPr lang="en-US" altLang="zh-CN" dirty="0"/>
              <a:t>mc1​​</a:t>
            </a:r>
            <a:r>
              <a:rPr lang="zh-CN" altLang="en-US" dirty="0"/>
              <a:t>属于第一个会话</a:t>
            </a:r>
            <a:endParaRPr lang="en-US" altLang="zh-CN" dirty="0"/>
          </a:p>
          <a:p>
            <a:r>
              <a:rPr lang="en-US" altLang="zh-CN" dirty="0"/>
              <a:t>mc2​​</a:t>
            </a:r>
            <a:r>
              <a:rPr lang="zh-CN" altLang="en-US" dirty="0"/>
              <a:t>、</a:t>
            </a:r>
            <a:r>
              <a:rPr lang="en-US" altLang="zh-CN" dirty="0"/>
              <a:t>ms2​​</a:t>
            </a:r>
            <a:r>
              <a:rPr lang="zh-CN" altLang="en-US" dirty="0"/>
              <a:t>、</a:t>
            </a:r>
            <a:r>
              <a:rPr lang="en-US" altLang="zh-CN" dirty="0"/>
              <a:t>mc3​​</a:t>
            </a:r>
            <a:r>
              <a:rPr lang="zh-CN" altLang="en-US" dirty="0"/>
              <a:t>、</a:t>
            </a:r>
            <a:r>
              <a:rPr lang="en-US" altLang="zh-CN" dirty="0"/>
              <a:t>ms3​​</a:t>
            </a:r>
            <a:r>
              <a:rPr lang="zh-CN" altLang="en-US" dirty="0"/>
              <a:t>属于第二个会话</a:t>
            </a:r>
            <a:endParaRPr lang="en-US" altLang="zh-CN" dirty="0"/>
          </a:p>
          <a:p>
            <a:r>
              <a:rPr lang="zh-CN" altLang="en-US" dirty="0"/>
              <a:t>其余报文属于第三个会话</a:t>
            </a:r>
          </a:p>
        </p:txBody>
      </p:sp>
    </p:spTree>
    <p:extLst>
      <p:ext uri="{BB962C8B-B14F-4D97-AF65-F5344CB8AC3E}">
        <p14:creationId xmlns:p14="http://schemas.microsoft.com/office/powerpoint/2010/main" val="78211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4B7E986-C0F0-C775-D645-CE22A0FDF9B1}"/>
              </a:ext>
            </a:extLst>
          </p:cNvPr>
          <p:cNvPicPr>
            <a:picLocks noChangeAspect="1"/>
          </p:cNvPicPr>
          <p:nvPr/>
        </p:nvPicPr>
        <p:blipFill>
          <a:blip r:embed="rId2"/>
          <a:stretch>
            <a:fillRect/>
          </a:stretch>
        </p:blipFill>
        <p:spPr>
          <a:xfrm>
            <a:off x="5912529" y="137463"/>
            <a:ext cx="5933518" cy="2151780"/>
          </a:xfrm>
          <a:prstGeom prst="rect">
            <a:avLst/>
          </a:prstGeom>
        </p:spPr>
      </p:pic>
      <p:sp>
        <p:nvSpPr>
          <p:cNvPr id="4" name="文本框 3">
            <a:extLst>
              <a:ext uri="{FF2B5EF4-FFF2-40B4-BE49-F238E27FC236}">
                <a16:creationId xmlns:a16="http://schemas.microsoft.com/office/drawing/2014/main" id="{7A08CE1D-2556-0CBD-95F8-1C408AC66FF7}"/>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2.2 </a:t>
            </a:r>
            <a:r>
              <a:rPr lang="zh-CN" altLang="en-US" b="1" dirty="0">
                <a:solidFill>
                  <a:schemeClr val="accent5"/>
                </a:solidFill>
              </a:rPr>
              <a:t>关键字段候选集生成</a:t>
            </a:r>
          </a:p>
        </p:txBody>
      </p:sp>
      <p:sp>
        <p:nvSpPr>
          <p:cNvPr id="6" name="文本框 5">
            <a:extLst>
              <a:ext uri="{FF2B5EF4-FFF2-40B4-BE49-F238E27FC236}">
                <a16:creationId xmlns:a16="http://schemas.microsoft.com/office/drawing/2014/main" id="{B903C638-1492-A4FE-CD39-CD9CDF4045C0}"/>
              </a:ext>
            </a:extLst>
          </p:cNvPr>
          <p:cNvSpPr txBox="1"/>
          <p:nvPr/>
        </p:nvSpPr>
        <p:spPr>
          <a:xfrm>
            <a:off x="71337" y="638943"/>
            <a:ext cx="3485441" cy="369332"/>
          </a:xfrm>
          <a:prstGeom prst="rect">
            <a:avLst/>
          </a:prstGeom>
          <a:noFill/>
        </p:spPr>
        <p:txBody>
          <a:bodyPr wrap="square">
            <a:spAutoFit/>
          </a:bodyPr>
          <a:lstStyle/>
          <a:p>
            <a:pPr algn="ctr"/>
            <a:r>
              <a:rPr lang="zh-CN" altLang="en-US" dirty="0"/>
              <a:t>可能存在不同结构的报文（图</a:t>
            </a:r>
            <a:r>
              <a:rPr lang="en-US" altLang="zh-CN" dirty="0"/>
              <a:t>6a</a:t>
            </a:r>
            <a:r>
              <a:rPr lang="zh-CN" altLang="en-US" dirty="0"/>
              <a:t>）</a:t>
            </a:r>
          </a:p>
        </p:txBody>
      </p:sp>
      <p:sp>
        <p:nvSpPr>
          <p:cNvPr id="8" name="文本框 7">
            <a:extLst>
              <a:ext uri="{FF2B5EF4-FFF2-40B4-BE49-F238E27FC236}">
                <a16:creationId xmlns:a16="http://schemas.microsoft.com/office/drawing/2014/main" id="{DB194486-284A-7445-034D-C1D23BB14874}"/>
              </a:ext>
            </a:extLst>
          </p:cNvPr>
          <p:cNvSpPr txBox="1"/>
          <p:nvPr/>
        </p:nvSpPr>
        <p:spPr>
          <a:xfrm>
            <a:off x="71337" y="1506087"/>
            <a:ext cx="3485441" cy="369332"/>
          </a:xfrm>
          <a:prstGeom prst="rect">
            <a:avLst/>
          </a:prstGeom>
          <a:noFill/>
        </p:spPr>
        <p:txBody>
          <a:bodyPr wrap="square">
            <a:spAutoFit/>
          </a:bodyPr>
          <a:lstStyle/>
          <a:p>
            <a:pPr algn="ctr"/>
            <a:r>
              <a:rPr lang="zh-CN" altLang="en-US" dirty="0"/>
              <a:t>通过多序列比对技术对齐（图</a:t>
            </a:r>
            <a:r>
              <a:rPr lang="en-US" altLang="zh-CN" dirty="0"/>
              <a:t>6b</a:t>
            </a:r>
            <a:r>
              <a:rPr lang="zh-CN" altLang="en-US" dirty="0"/>
              <a:t>）</a:t>
            </a:r>
          </a:p>
        </p:txBody>
      </p:sp>
      <p:sp>
        <p:nvSpPr>
          <p:cNvPr id="9" name="箭头: 下 8">
            <a:extLst>
              <a:ext uri="{FF2B5EF4-FFF2-40B4-BE49-F238E27FC236}">
                <a16:creationId xmlns:a16="http://schemas.microsoft.com/office/drawing/2014/main" id="{F38182AA-8762-A39E-9365-1F4B0B6B9A9A}"/>
              </a:ext>
            </a:extLst>
          </p:cNvPr>
          <p:cNvSpPr/>
          <p:nvPr/>
        </p:nvSpPr>
        <p:spPr>
          <a:xfrm>
            <a:off x="1807163" y="1050109"/>
            <a:ext cx="267311" cy="47032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下 11">
            <a:extLst>
              <a:ext uri="{FF2B5EF4-FFF2-40B4-BE49-F238E27FC236}">
                <a16:creationId xmlns:a16="http://schemas.microsoft.com/office/drawing/2014/main" id="{789F4ECE-3385-4EA2-CBF5-5D5317C30711}"/>
              </a:ext>
            </a:extLst>
          </p:cNvPr>
          <p:cNvSpPr/>
          <p:nvPr/>
        </p:nvSpPr>
        <p:spPr>
          <a:xfrm>
            <a:off x="1807164" y="2018250"/>
            <a:ext cx="267310" cy="51094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F863238D-CD43-0BAB-6469-FF2517B63DB0}"/>
              </a:ext>
            </a:extLst>
          </p:cNvPr>
          <p:cNvSpPr txBox="1"/>
          <p:nvPr/>
        </p:nvSpPr>
        <p:spPr>
          <a:xfrm>
            <a:off x="0" y="2616740"/>
            <a:ext cx="4409872" cy="369332"/>
          </a:xfrm>
          <a:prstGeom prst="rect">
            <a:avLst/>
          </a:prstGeom>
          <a:noFill/>
        </p:spPr>
        <p:txBody>
          <a:bodyPr wrap="square">
            <a:spAutoFit/>
          </a:bodyPr>
          <a:lstStyle/>
          <a:p>
            <a:pPr algn="ctr"/>
            <a:r>
              <a:rPr lang="zh-CN" altLang="en-US" dirty="0"/>
              <a:t>标记为</a:t>
            </a:r>
            <a:r>
              <a:rPr lang="zh-CN" altLang="en-US" dirty="0">
                <a:solidFill>
                  <a:srgbClr val="C00000"/>
                </a:solidFill>
              </a:rPr>
              <a:t>静态字段</a:t>
            </a:r>
            <a:r>
              <a:rPr lang="zh-CN" altLang="en-US" dirty="0"/>
              <a:t>、</a:t>
            </a:r>
            <a:r>
              <a:rPr lang="zh-CN" altLang="en-US" dirty="0">
                <a:solidFill>
                  <a:srgbClr val="00B050"/>
                </a:solidFill>
              </a:rPr>
              <a:t>动态字段</a:t>
            </a:r>
            <a:r>
              <a:rPr lang="zh-CN" altLang="en-US" dirty="0"/>
              <a:t>、</a:t>
            </a:r>
            <a:r>
              <a:rPr lang="zh-CN" altLang="en-US" dirty="0">
                <a:solidFill>
                  <a:srgbClr val="0070C0"/>
                </a:solidFill>
              </a:rPr>
              <a:t>可变长字段</a:t>
            </a:r>
          </a:p>
        </p:txBody>
      </p:sp>
      <p:sp>
        <p:nvSpPr>
          <p:cNvPr id="16" name="文本框 15">
            <a:extLst>
              <a:ext uri="{FF2B5EF4-FFF2-40B4-BE49-F238E27FC236}">
                <a16:creationId xmlns:a16="http://schemas.microsoft.com/office/drawing/2014/main" id="{EB050D77-0A75-E6B6-F675-5A04AE2ED948}"/>
              </a:ext>
            </a:extLst>
          </p:cNvPr>
          <p:cNvSpPr txBox="1"/>
          <p:nvPr/>
        </p:nvSpPr>
        <p:spPr>
          <a:xfrm>
            <a:off x="476956" y="3113166"/>
            <a:ext cx="1627762" cy="646331"/>
          </a:xfrm>
          <a:prstGeom prst="rect">
            <a:avLst/>
          </a:prstGeom>
          <a:noFill/>
        </p:spPr>
        <p:txBody>
          <a:bodyPr wrap="square">
            <a:spAutoFit/>
          </a:bodyPr>
          <a:lstStyle/>
          <a:p>
            <a:r>
              <a:rPr lang="zh-CN" altLang="en-US" dirty="0">
                <a:solidFill>
                  <a:srgbClr val="C00000"/>
                </a:solidFill>
              </a:rPr>
              <a:t>字段长度固定</a:t>
            </a:r>
            <a:endParaRPr lang="en-US" altLang="zh-CN" dirty="0">
              <a:solidFill>
                <a:srgbClr val="C00000"/>
              </a:solidFill>
            </a:endParaRPr>
          </a:p>
          <a:p>
            <a:r>
              <a:rPr lang="zh-CN" altLang="en-US" dirty="0">
                <a:solidFill>
                  <a:srgbClr val="C00000"/>
                </a:solidFill>
              </a:rPr>
              <a:t>值相同</a:t>
            </a:r>
            <a:endParaRPr lang="en-US" altLang="zh-CN" dirty="0">
              <a:solidFill>
                <a:srgbClr val="C00000"/>
              </a:solidFill>
            </a:endParaRPr>
          </a:p>
        </p:txBody>
      </p:sp>
      <p:sp>
        <p:nvSpPr>
          <p:cNvPr id="17" name="文本框 16">
            <a:extLst>
              <a:ext uri="{FF2B5EF4-FFF2-40B4-BE49-F238E27FC236}">
                <a16:creationId xmlns:a16="http://schemas.microsoft.com/office/drawing/2014/main" id="{736C29A3-7FFA-9AC0-7AEB-26DC47DB134D}"/>
              </a:ext>
            </a:extLst>
          </p:cNvPr>
          <p:cNvSpPr txBox="1"/>
          <p:nvPr/>
        </p:nvSpPr>
        <p:spPr>
          <a:xfrm>
            <a:off x="2074474" y="3112845"/>
            <a:ext cx="1627762" cy="646331"/>
          </a:xfrm>
          <a:prstGeom prst="rect">
            <a:avLst/>
          </a:prstGeom>
          <a:noFill/>
        </p:spPr>
        <p:txBody>
          <a:bodyPr wrap="square">
            <a:spAutoFit/>
          </a:bodyPr>
          <a:lstStyle/>
          <a:p>
            <a:r>
              <a:rPr lang="zh-CN" altLang="en-US" dirty="0">
                <a:solidFill>
                  <a:srgbClr val="00B050"/>
                </a:solidFill>
              </a:rPr>
              <a:t>字段长度固定</a:t>
            </a:r>
            <a:endParaRPr lang="en-US" altLang="zh-CN" dirty="0">
              <a:solidFill>
                <a:srgbClr val="00B050"/>
              </a:solidFill>
            </a:endParaRPr>
          </a:p>
          <a:p>
            <a:r>
              <a:rPr lang="zh-CN" altLang="en-US" dirty="0">
                <a:solidFill>
                  <a:srgbClr val="00B050"/>
                </a:solidFill>
              </a:rPr>
              <a:t>值不相同</a:t>
            </a:r>
            <a:endParaRPr lang="en-US" altLang="zh-CN" dirty="0">
              <a:solidFill>
                <a:srgbClr val="00B050"/>
              </a:solidFill>
            </a:endParaRPr>
          </a:p>
        </p:txBody>
      </p:sp>
      <p:sp>
        <p:nvSpPr>
          <p:cNvPr id="18" name="文本框 17">
            <a:extLst>
              <a:ext uri="{FF2B5EF4-FFF2-40B4-BE49-F238E27FC236}">
                <a16:creationId xmlns:a16="http://schemas.microsoft.com/office/drawing/2014/main" id="{848AF6CA-5A3C-C695-7C6A-3FE7860B2B16}"/>
              </a:ext>
            </a:extLst>
          </p:cNvPr>
          <p:cNvSpPr txBox="1"/>
          <p:nvPr/>
        </p:nvSpPr>
        <p:spPr>
          <a:xfrm>
            <a:off x="3702236" y="3112524"/>
            <a:ext cx="1806102" cy="369332"/>
          </a:xfrm>
          <a:prstGeom prst="rect">
            <a:avLst/>
          </a:prstGeom>
          <a:noFill/>
        </p:spPr>
        <p:txBody>
          <a:bodyPr wrap="square">
            <a:spAutoFit/>
          </a:bodyPr>
          <a:lstStyle/>
          <a:p>
            <a:r>
              <a:rPr lang="zh-CN" altLang="en-US" dirty="0">
                <a:solidFill>
                  <a:srgbClr val="0070C0"/>
                </a:solidFill>
              </a:rPr>
              <a:t>字段长度不固定</a:t>
            </a:r>
            <a:endParaRPr lang="en-US" altLang="zh-CN" dirty="0">
              <a:solidFill>
                <a:srgbClr val="0070C0"/>
              </a:solidFill>
            </a:endParaRPr>
          </a:p>
        </p:txBody>
      </p:sp>
      <p:pic>
        <p:nvPicPr>
          <p:cNvPr id="19" name="图片 18">
            <a:extLst>
              <a:ext uri="{FF2B5EF4-FFF2-40B4-BE49-F238E27FC236}">
                <a16:creationId xmlns:a16="http://schemas.microsoft.com/office/drawing/2014/main" id="{D23D62D9-8C47-8F6A-07AC-755B9DC2C0DE}"/>
              </a:ext>
            </a:extLst>
          </p:cNvPr>
          <p:cNvPicPr>
            <a:picLocks noChangeAspect="1"/>
          </p:cNvPicPr>
          <p:nvPr/>
        </p:nvPicPr>
        <p:blipFill>
          <a:blip r:embed="rId3"/>
          <a:srcRect b="47630"/>
          <a:stretch>
            <a:fillRect/>
          </a:stretch>
        </p:blipFill>
        <p:spPr>
          <a:xfrm>
            <a:off x="4103624" y="3701687"/>
            <a:ext cx="7992549" cy="2758539"/>
          </a:xfrm>
          <a:prstGeom prst="rect">
            <a:avLst/>
          </a:prstGeom>
        </p:spPr>
      </p:pic>
      <p:pic>
        <p:nvPicPr>
          <p:cNvPr id="20" name="图片 19">
            <a:extLst>
              <a:ext uri="{FF2B5EF4-FFF2-40B4-BE49-F238E27FC236}">
                <a16:creationId xmlns:a16="http://schemas.microsoft.com/office/drawing/2014/main" id="{92ED0370-B898-976A-35D6-6A941534A8A7}"/>
              </a:ext>
            </a:extLst>
          </p:cNvPr>
          <p:cNvPicPr>
            <a:picLocks noChangeAspect="1"/>
          </p:cNvPicPr>
          <p:nvPr/>
        </p:nvPicPr>
        <p:blipFill>
          <a:blip r:embed="rId3"/>
          <a:srcRect l="22656" t="91455" r="67039"/>
          <a:stretch>
            <a:fillRect/>
          </a:stretch>
        </p:blipFill>
        <p:spPr>
          <a:xfrm>
            <a:off x="4283684" y="6061610"/>
            <a:ext cx="643205" cy="351507"/>
          </a:xfrm>
          <a:prstGeom prst="rect">
            <a:avLst/>
          </a:prstGeom>
        </p:spPr>
      </p:pic>
      <p:sp>
        <p:nvSpPr>
          <p:cNvPr id="21" name="箭头: 下 20">
            <a:extLst>
              <a:ext uri="{FF2B5EF4-FFF2-40B4-BE49-F238E27FC236}">
                <a16:creationId xmlns:a16="http://schemas.microsoft.com/office/drawing/2014/main" id="{D0431ECF-21F4-BE18-84A3-82B388E750C0}"/>
              </a:ext>
            </a:extLst>
          </p:cNvPr>
          <p:cNvSpPr/>
          <p:nvPr/>
        </p:nvSpPr>
        <p:spPr>
          <a:xfrm>
            <a:off x="1807163" y="3885949"/>
            <a:ext cx="267310" cy="51094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D8878D4E-AF64-A5DB-C41D-4FBE1EAA7D27}"/>
              </a:ext>
            </a:extLst>
          </p:cNvPr>
          <p:cNvSpPr txBox="1"/>
          <p:nvPr/>
        </p:nvSpPr>
        <p:spPr>
          <a:xfrm>
            <a:off x="95827" y="4453433"/>
            <a:ext cx="4108817" cy="646331"/>
          </a:xfrm>
          <a:prstGeom prst="rect">
            <a:avLst/>
          </a:prstGeom>
          <a:noFill/>
        </p:spPr>
        <p:txBody>
          <a:bodyPr wrap="none" rtlCol="0">
            <a:spAutoFit/>
          </a:bodyPr>
          <a:lstStyle/>
          <a:p>
            <a:r>
              <a:rPr lang="zh-CN" altLang="en-US" dirty="0"/>
              <a:t>过滤掉：</a:t>
            </a:r>
            <a:endParaRPr lang="en-US" altLang="zh-CN" dirty="0"/>
          </a:p>
          <a:p>
            <a:r>
              <a:rPr lang="en-US" altLang="zh-CN" dirty="0"/>
              <a:t>1.</a:t>
            </a:r>
            <a:r>
              <a:rPr lang="zh-CN" altLang="en-US" dirty="0"/>
              <a:t>静态字段 </a:t>
            </a:r>
            <a:r>
              <a:rPr lang="en-US" altLang="zh-CN" dirty="0"/>
              <a:t>2.</a:t>
            </a:r>
            <a:r>
              <a:rPr lang="zh-CN" altLang="en-US" dirty="0"/>
              <a:t>可变长字段 </a:t>
            </a:r>
            <a:r>
              <a:rPr lang="en-US" altLang="zh-CN" dirty="0"/>
              <a:t>3.</a:t>
            </a:r>
            <a:r>
              <a:rPr lang="zh-CN" altLang="en-US" dirty="0"/>
              <a:t>含“</a:t>
            </a:r>
            <a:r>
              <a:rPr lang="en-US" altLang="zh-CN" dirty="0"/>
              <a:t>-</a:t>
            </a:r>
            <a:r>
              <a:rPr lang="zh-CN" altLang="en-US" dirty="0"/>
              <a:t>”的字段</a:t>
            </a:r>
          </a:p>
        </p:txBody>
      </p:sp>
      <p:sp>
        <p:nvSpPr>
          <p:cNvPr id="23" name="箭头: 下 22">
            <a:extLst>
              <a:ext uri="{FF2B5EF4-FFF2-40B4-BE49-F238E27FC236}">
                <a16:creationId xmlns:a16="http://schemas.microsoft.com/office/drawing/2014/main" id="{9B83FC78-234B-CA12-0E9E-6FC8ADCA687C}"/>
              </a:ext>
            </a:extLst>
          </p:cNvPr>
          <p:cNvSpPr/>
          <p:nvPr/>
        </p:nvSpPr>
        <p:spPr>
          <a:xfrm>
            <a:off x="1832416" y="5234075"/>
            <a:ext cx="267310" cy="51094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157D14B6-8844-FC62-BC67-EC95480B775E}"/>
              </a:ext>
            </a:extLst>
          </p:cNvPr>
          <p:cNvSpPr txBox="1"/>
          <p:nvPr/>
        </p:nvSpPr>
        <p:spPr>
          <a:xfrm>
            <a:off x="1065824" y="5936243"/>
            <a:ext cx="1800493" cy="369332"/>
          </a:xfrm>
          <a:prstGeom prst="rect">
            <a:avLst/>
          </a:prstGeom>
          <a:noFill/>
        </p:spPr>
        <p:txBody>
          <a:bodyPr wrap="none" rtlCol="0">
            <a:spAutoFit/>
          </a:bodyPr>
          <a:lstStyle/>
          <a:p>
            <a:r>
              <a:rPr lang="zh-CN" altLang="en-US" dirty="0"/>
              <a:t>关键字段候选集</a:t>
            </a:r>
          </a:p>
        </p:txBody>
      </p:sp>
    </p:spTree>
    <p:extLst>
      <p:ext uri="{BB962C8B-B14F-4D97-AF65-F5344CB8AC3E}">
        <p14:creationId xmlns:p14="http://schemas.microsoft.com/office/powerpoint/2010/main" val="2755375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200B7C3-1CB7-8FDC-766E-9FE64457911F}"/>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2.3 </a:t>
            </a:r>
            <a:r>
              <a:rPr lang="zh-CN" altLang="en-US" b="1" dirty="0">
                <a:solidFill>
                  <a:schemeClr val="accent5"/>
                </a:solidFill>
              </a:rPr>
              <a:t>基于概率的关键字段识别（核心）</a:t>
            </a:r>
          </a:p>
        </p:txBody>
      </p:sp>
      <p:sp>
        <p:nvSpPr>
          <p:cNvPr id="6" name="文本框 5">
            <a:extLst>
              <a:ext uri="{FF2B5EF4-FFF2-40B4-BE49-F238E27FC236}">
                <a16:creationId xmlns:a16="http://schemas.microsoft.com/office/drawing/2014/main" id="{5048F443-D194-96C9-6EBB-0414C0AD959D}"/>
              </a:ext>
            </a:extLst>
          </p:cNvPr>
          <p:cNvSpPr txBox="1"/>
          <p:nvPr/>
        </p:nvSpPr>
        <p:spPr>
          <a:xfrm>
            <a:off x="329117" y="428171"/>
            <a:ext cx="8918643" cy="3789435"/>
          </a:xfrm>
          <a:prstGeom prst="rect">
            <a:avLst/>
          </a:prstGeom>
          <a:noFill/>
        </p:spPr>
        <p:txBody>
          <a:bodyPr wrap="square">
            <a:spAutoFit/>
          </a:bodyPr>
          <a:lstStyle/>
          <a:p>
            <a:pPr>
              <a:lnSpc>
                <a:spcPct val="150000"/>
              </a:lnSpc>
              <a:buNone/>
            </a:pPr>
            <a:r>
              <a:rPr lang="zh-CN" altLang="en-US" b="0" dirty="0">
                <a:solidFill>
                  <a:srgbClr val="000000"/>
                </a:solidFill>
                <a:effectLst/>
                <a:latin typeface="ui-sans-serif"/>
              </a:rPr>
              <a:t>若关键字段的假设成立，即按关键字段取值生成的聚类中的报文确实属于同一类型，那么生成的聚类应当满足以下观测特征：</a:t>
            </a:r>
            <a:endParaRPr lang="en-US" altLang="zh-CN" b="0" dirty="0">
              <a:solidFill>
                <a:srgbClr val="000000"/>
              </a:solidFill>
              <a:effectLst/>
              <a:latin typeface="ui-sans-serif"/>
            </a:endParaRPr>
          </a:p>
          <a:p>
            <a:pPr>
              <a:lnSpc>
                <a:spcPct val="150000"/>
              </a:lnSpc>
              <a:buNone/>
            </a:pPr>
            <a:endParaRPr lang="zh-CN" altLang="en-US" b="0" dirty="0">
              <a:solidFill>
                <a:srgbClr val="000000"/>
              </a:solidFill>
              <a:effectLst/>
              <a:latin typeface="ui-sans-serif"/>
            </a:endParaRPr>
          </a:p>
          <a:p>
            <a:pPr>
              <a:lnSpc>
                <a:spcPct val="150000"/>
              </a:lnSpc>
              <a:buFont typeface="+mj-lt"/>
              <a:buAutoNum type="arabicPeriod"/>
            </a:pPr>
            <a:r>
              <a:rPr lang="zh-CN" altLang="en-US" b="1" dirty="0">
                <a:solidFill>
                  <a:srgbClr val="000000"/>
                </a:solidFill>
                <a:effectLst/>
                <a:latin typeface="ui-sans-serif"/>
              </a:rPr>
              <a:t>观测特征 </a:t>
            </a:r>
            <a:r>
              <a:rPr lang="en-US" altLang="zh-CN" b="1" dirty="0">
                <a:solidFill>
                  <a:srgbClr val="000000"/>
                </a:solidFill>
                <a:effectLst/>
                <a:latin typeface="ui-sans-serif"/>
              </a:rPr>
              <a:t>1</a:t>
            </a:r>
            <a:r>
              <a:rPr lang="zh-CN" altLang="en-US" b="0" dirty="0">
                <a:solidFill>
                  <a:srgbClr val="000000"/>
                </a:solidFill>
                <a:effectLst/>
                <a:latin typeface="ui-sans-serif"/>
              </a:rPr>
              <a:t>：同一聚类内的报文相似度，应高于不同聚类间的报文相似度。</a:t>
            </a:r>
          </a:p>
          <a:p>
            <a:pPr>
              <a:lnSpc>
                <a:spcPct val="150000"/>
              </a:lnSpc>
              <a:buFont typeface="+mj-lt"/>
              <a:buAutoNum type="arabicPeriod"/>
            </a:pPr>
            <a:r>
              <a:rPr lang="zh-CN" altLang="en-US" b="1" dirty="0">
                <a:solidFill>
                  <a:srgbClr val="000000"/>
                </a:solidFill>
                <a:effectLst/>
                <a:latin typeface="ui-sans-serif"/>
              </a:rPr>
              <a:t>观测特征 </a:t>
            </a:r>
            <a:r>
              <a:rPr lang="en-US" altLang="zh-CN" b="1" dirty="0">
                <a:solidFill>
                  <a:srgbClr val="000000"/>
                </a:solidFill>
                <a:effectLst/>
                <a:latin typeface="ui-sans-serif"/>
              </a:rPr>
              <a:t>2</a:t>
            </a:r>
            <a:r>
              <a:rPr lang="zh-CN" altLang="en-US" b="0" dirty="0">
                <a:solidFill>
                  <a:srgbClr val="000000"/>
                </a:solidFill>
                <a:effectLst/>
                <a:latin typeface="ui-sans-serif"/>
              </a:rPr>
              <a:t>：客户端与服务端的聚类应当存在对应关系。换言之，一端某聚类中的报文（如客户端的请求报文），其对端的对应报文（如服务端的响应报文），极大概率也属于对端的同一个聚类中。</a:t>
            </a:r>
          </a:p>
          <a:p>
            <a:pPr>
              <a:lnSpc>
                <a:spcPct val="150000"/>
              </a:lnSpc>
              <a:buFont typeface="+mj-lt"/>
              <a:buAutoNum type="arabicPeriod"/>
            </a:pPr>
            <a:r>
              <a:rPr lang="zh-CN" altLang="en-US" b="1" dirty="0">
                <a:solidFill>
                  <a:srgbClr val="000000"/>
                </a:solidFill>
                <a:effectLst/>
                <a:latin typeface="ui-sans-serif"/>
              </a:rPr>
              <a:t>观测特征 </a:t>
            </a:r>
            <a:r>
              <a:rPr lang="en-US" altLang="zh-CN" b="1" dirty="0">
                <a:solidFill>
                  <a:srgbClr val="000000"/>
                </a:solidFill>
                <a:effectLst/>
                <a:latin typeface="ui-sans-serif"/>
              </a:rPr>
              <a:t>3</a:t>
            </a:r>
            <a:r>
              <a:rPr lang="zh-CN" altLang="en-US" b="0" dirty="0">
                <a:solidFill>
                  <a:srgbClr val="000000"/>
                </a:solidFill>
                <a:effectLst/>
                <a:latin typeface="ui-sans-serif"/>
              </a:rPr>
              <a:t>：同一聚类内的报文遵循相同的字段结构。</a:t>
            </a:r>
          </a:p>
          <a:p>
            <a:pPr>
              <a:lnSpc>
                <a:spcPct val="150000"/>
              </a:lnSpc>
              <a:buFont typeface="+mj-lt"/>
              <a:buAutoNum type="arabicPeriod"/>
            </a:pPr>
            <a:r>
              <a:rPr lang="zh-CN" altLang="en-US" b="1" dirty="0">
                <a:solidFill>
                  <a:srgbClr val="000000"/>
                </a:solidFill>
                <a:effectLst/>
                <a:latin typeface="ui-sans-serif"/>
              </a:rPr>
              <a:t>观测特征 </a:t>
            </a:r>
            <a:r>
              <a:rPr lang="en-US" altLang="zh-CN" b="1" dirty="0">
                <a:solidFill>
                  <a:srgbClr val="000000"/>
                </a:solidFill>
                <a:effectLst/>
                <a:latin typeface="ui-sans-serif"/>
              </a:rPr>
              <a:t>4</a:t>
            </a:r>
            <a:r>
              <a:rPr lang="zh-CN" altLang="en-US" b="0" dirty="0">
                <a:solidFill>
                  <a:srgbClr val="000000"/>
                </a:solidFill>
                <a:effectLst/>
                <a:latin typeface="ui-sans-serif"/>
              </a:rPr>
              <a:t>：聚类的数量不应过多，且每个聚类内应包含足够数量的报文。</a:t>
            </a:r>
          </a:p>
        </p:txBody>
      </p:sp>
      <p:sp>
        <p:nvSpPr>
          <p:cNvPr id="8" name="文本框 7">
            <a:extLst>
              <a:ext uri="{FF2B5EF4-FFF2-40B4-BE49-F238E27FC236}">
                <a16:creationId xmlns:a16="http://schemas.microsoft.com/office/drawing/2014/main" id="{34B656A5-0403-458A-C523-92FEEDEECF2F}"/>
              </a:ext>
            </a:extLst>
          </p:cNvPr>
          <p:cNvSpPr txBox="1"/>
          <p:nvPr/>
        </p:nvSpPr>
        <p:spPr>
          <a:xfrm>
            <a:off x="329117" y="4873715"/>
            <a:ext cx="2336262" cy="1200329"/>
          </a:xfrm>
          <a:prstGeom prst="rect">
            <a:avLst/>
          </a:prstGeom>
          <a:noFill/>
        </p:spPr>
        <p:txBody>
          <a:bodyPr wrap="square">
            <a:spAutoFit/>
          </a:bodyPr>
          <a:lstStyle/>
          <a:p>
            <a:r>
              <a:rPr lang="en-US" altLang="zh-CN" b="1" dirty="0"/>
              <a:t>1.</a:t>
            </a:r>
            <a:r>
              <a:rPr lang="zh-CN" altLang="en-US" b="1" dirty="0"/>
              <a:t>报文相似度约束</a:t>
            </a:r>
            <a:endParaRPr lang="en-US" altLang="zh-CN" b="1" dirty="0"/>
          </a:p>
          <a:p>
            <a:r>
              <a:rPr lang="en-US" altLang="zh-CN" b="1" dirty="0"/>
              <a:t>2.</a:t>
            </a:r>
            <a:r>
              <a:rPr lang="zh-CN" altLang="en-US" b="1" dirty="0"/>
              <a:t>双端耦合约束</a:t>
            </a:r>
            <a:endParaRPr lang="en-US" altLang="zh-CN" b="1" dirty="0"/>
          </a:p>
          <a:p>
            <a:r>
              <a:rPr lang="en-US" altLang="zh-CN" b="1" dirty="0"/>
              <a:t>3.</a:t>
            </a:r>
            <a:r>
              <a:rPr lang="zh-CN" altLang="en-US" b="1" dirty="0"/>
              <a:t>结构一致性约束</a:t>
            </a:r>
            <a:endParaRPr lang="en-US" altLang="zh-CN" b="1" dirty="0"/>
          </a:p>
          <a:p>
            <a:r>
              <a:rPr lang="en-US" altLang="zh-CN" b="1" dirty="0"/>
              <a:t>4.</a:t>
            </a:r>
            <a:r>
              <a:rPr lang="zh-CN" altLang="en-US" b="1" dirty="0"/>
              <a:t>维度约束</a:t>
            </a:r>
          </a:p>
        </p:txBody>
      </p:sp>
    </p:spTree>
    <p:extLst>
      <p:ext uri="{BB962C8B-B14F-4D97-AF65-F5344CB8AC3E}">
        <p14:creationId xmlns:p14="http://schemas.microsoft.com/office/powerpoint/2010/main" val="1307669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ABBADA9-E4DF-3CC0-53F7-E1FD5C31B2FA}"/>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2.3.1 </a:t>
            </a:r>
            <a:r>
              <a:rPr lang="zh-CN" altLang="en-US" b="1" dirty="0">
                <a:solidFill>
                  <a:schemeClr val="accent5"/>
                </a:solidFill>
              </a:rPr>
              <a:t>报文相似度约束（</a:t>
            </a:r>
            <a:r>
              <a:rPr lang="en-US" altLang="zh-CN" b="1" dirty="0">
                <a:solidFill>
                  <a:schemeClr val="accent5"/>
                </a:solidFill>
              </a:rPr>
              <a:t>M</a:t>
            </a:r>
            <a:r>
              <a:rPr lang="zh-CN" altLang="en-US" b="1" dirty="0">
                <a:solidFill>
                  <a:schemeClr val="accent5"/>
                </a:solidFill>
              </a:rPr>
              <a:t>）（</a:t>
            </a:r>
            <a:r>
              <a:rPr lang="en-US" altLang="zh-CN" b="1" dirty="0">
                <a:solidFill>
                  <a:schemeClr val="accent5"/>
                </a:solidFill>
              </a:rPr>
              <a:t>1</a:t>
            </a:r>
            <a:r>
              <a:rPr lang="zh-CN" altLang="en-US" b="1" dirty="0">
                <a:solidFill>
                  <a:schemeClr val="accent5"/>
                </a:solidFill>
              </a:rPr>
              <a:t>）</a:t>
            </a:r>
          </a:p>
        </p:txBody>
      </p:sp>
      <p:pic>
        <p:nvPicPr>
          <p:cNvPr id="4" name="图片 3">
            <a:extLst>
              <a:ext uri="{FF2B5EF4-FFF2-40B4-BE49-F238E27FC236}">
                <a16:creationId xmlns:a16="http://schemas.microsoft.com/office/drawing/2014/main" id="{108FFE91-7193-9F4D-7F39-2E2089A83C53}"/>
              </a:ext>
            </a:extLst>
          </p:cNvPr>
          <p:cNvPicPr>
            <a:picLocks noChangeAspect="1"/>
          </p:cNvPicPr>
          <p:nvPr/>
        </p:nvPicPr>
        <p:blipFill>
          <a:blip r:embed="rId2"/>
          <a:stretch>
            <a:fillRect/>
          </a:stretch>
        </p:blipFill>
        <p:spPr>
          <a:xfrm>
            <a:off x="4225881" y="955791"/>
            <a:ext cx="2534004" cy="771633"/>
          </a:xfrm>
          <a:prstGeom prst="rect">
            <a:avLst/>
          </a:prstGeom>
        </p:spPr>
      </p:pic>
      <p:sp>
        <p:nvSpPr>
          <p:cNvPr id="6" name="文本框 5">
            <a:extLst>
              <a:ext uri="{FF2B5EF4-FFF2-40B4-BE49-F238E27FC236}">
                <a16:creationId xmlns:a16="http://schemas.microsoft.com/office/drawing/2014/main" id="{23A76696-5C97-BF77-838B-FBB4FB37515B}"/>
              </a:ext>
            </a:extLst>
          </p:cNvPr>
          <p:cNvSpPr txBox="1"/>
          <p:nvPr/>
        </p:nvSpPr>
        <p:spPr>
          <a:xfrm>
            <a:off x="143511" y="1156942"/>
            <a:ext cx="3643791" cy="369332"/>
          </a:xfrm>
          <a:prstGeom prst="rect">
            <a:avLst/>
          </a:prstGeom>
          <a:noFill/>
        </p:spPr>
        <p:txBody>
          <a:bodyPr wrap="square">
            <a:spAutoFit/>
          </a:bodyPr>
          <a:lstStyle/>
          <a:p>
            <a:r>
              <a:rPr lang="zh-CN" altLang="en-US" dirty="0"/>
              <a:t>一对儿对齐后报文的</a:t>
            </a:r>
            <a:r>
              <a:rPr lang="zh-CN" altLang="en-US" b="1" dirty="0"/>
              <a:t>相似度得分</a:t>
            </a:r>
          </a:p>
        </p:txBody>
      </p:sp>
      <p:sp>
        <p:nvSpPr>
          <p:cNvPr id="8" name="文本框 7">
            <a:extLst>
              <a:ext uri="{FF2B5EF4-FFF2-40B4-BE49-F238E27FC236}">
                <a16:creationId xmlns:a16="http://schemas.microsoft.com/office/drawing/2014/main" id="{B2138935-3BD9-2229-8EAC-DD3272700E19}"/>
              </a:ext>
            </a:extLst>
          </p:cNvPr>
          <p:cNvSpPr txBox="1"/>
          <p:nvPr/>
        </p:nvSpPr>
        <p:spPr>
          <a:xfrm>
            <a:off x="143511" y="2245218"/>
            <a:ext cx="6118698" cy="369332"/>
          </a:xfrm>
          <a:prstGeom prst="rect">
            <a:avLst/>
          </a:prstGeom>
          <a:noFill/>
        </p:spPr>
        <p:txBody>
          <a:bodyPr wrap="square">
            <a:spAutoFit/>
          </a:bodyPr>
          <a:lstStyle/>
          <a:p>
            <a:r>
              <a:rPr lang="zh-CN" altLang="en-US" dirty="0"/>
              <a:t>计算所有报文对的相似度得分，即可构建</a:t>
            </a:r>
            <a:r>
              <a:rPr lang="zh-CN" altLang="en-US" b="1" dirty="0"/>
              <a:t>相似度得分矩阵</a:t>
            </a:r>
          </a:p>
        </p:txBody>
      </p:sp>
      <p:sp>
        <p:nvSpPr>
          <p:cNvPr id="10" name="文本框 9">
            <a:extLst>
              <a:ext uri="{FF2B5EF4-FFF2-40B4-BE49-F238E27FC236}">
                <a16:creationId xmlns:a16="http://schemas.microsoft.com/office/drawing/2014/main" id="{7B854246-A2E3-EA87-CC0B-2CB72F9F58D8}"/>
              </a:ext>
            </a:extLst>
          </p:cNvPr>
          <p:cNvSpPr txBox="1"/>
          <p:nvPr/>
        </p:nvSpPr>
        <p:spPr>
          <a:xfrm>
            <a:off x="143511" y="3052549"/>
            <a:ext cx="11160029" cy="923330"/>
          </a:xfrm>
          <a:prstGeom prst="rect">
            <a:avLst/>
          </a:prstGeom>
          <a:noFill/>
        </p:spPr>
        <p:txBody>
          <a:bodyPr wrap="square">
            <a:spAutoFit/>
          </a:bodyPr>
          <a:lstStyle/>
          <a:p>
            <a:r>
              <a:rPr lang="zh-CN" altLang="en-US" dirty="0"/>
              <a:t>对于每个关键字段候选字段</a:t>
            </a:r>
            <a:r>
              <a:rPr lang="en-US" altLang="zh-CN" dirty="0"/>
              <a:t>f</a:t>
            </a:r>
            <a:r>
              <a:rPr lang="zh-CN" altLang="en-US" dirty="0"/>
              <a:t>，可根据其聚类结果，</a:t>
            </a:r>
            <a:endParaRPr lang="en-US" altLang="zh-CN" dirty="0"/>
          </a:p>
          <a:p>
            <a:r>
              <a:rPr lang="zh-CN" altLang="en-US" dirty="0"/>
              <a:t>将所有相似度得分分为两类：</a:t>
            </a:r>
            <a:endParaRPr lang="en-US" altLang="zh-CN" dirty="0"/>
          </a:p>
          <a:p>
            <a:r>
              <a:rPr lang="zh-CN" altLang="en-US" b="1" dirty="0"/>
              <a:t>类内得分</a:t>
            </a:r>
            <a:r>
              <a:rPr lang="zh-CN" altLang="en-US" dirty="0"/>
              <a:t>（两条报文来自同一聚类）与</a:t>
            </a:r>
            <a:r>
              <a:rPr lang="zh-CN" altLang="en-US" b="1" dirty="0"/>
              <a:t>类间得分</a:t>
            </a:r>
            <a:r>
              <a:rPr lang="zh-CN" altLang="en-US" dirty="0"/>
              <a:t>（两条报文来自不同聚类）</a:t>
            </a:r>
          </a:p>
        </p:txBody>
      </p:sp>
      <p:sp>
        <p:nvSpPr>
          <p:cNvPr id="12" name="文本框 11">
            <a:extLst>
              <a:ext uri="{FF2B5EF4-FFF2-40B4-BE49-F238E27FC236}">
                <a16:creationId xmlns:a16="http://schemas.microsoft.com/office/drawing/2014/main" id="{08AE2371-A320-9E92-C5A7-DF748084DBF7}"/>
              </a:ext>
            </a:extLst>
          </p:cNvPr>
          <p:cNvSpPr txBox="1"/>
          <p:nvPr/>
        </p:nvSpPr>
        <p:spPr>
          <a:xfrm>
            <a:off x="143511" y="4688113"/>
            <a:ext cx="11084668" cy="369332"/>
          </a:xfrm>
          <a:prstGeom prst="rect">
            <a:avLst/>
          </a:prstGeom>
          <a:noFill/>
        </p:spPr>
        <p:txBody>
          <a:bodyPr wrap="square">
            <a:spAutoFit/>
          </a:bodyPr>
          <a:lstStyle/>
          <a:p>
            <a:r>
              <a:rPr lang="zh-CN" altLang="en-US" dirty="0"/>
              <a:t>理想情况下，所有类内得分＞类间得分。若满足该条件，该约束将被完全置信，</a:t>
            </a:r>
            <a:r>
              <a:rPr lang="en-US" altLang="zh-CN" dirty="0"/>
              <a:t>pm​</a:t>
            </a:r>
            <a:r>
              <a:rPr lang="zh-CN" altLang="en-US" dirty="0"/>
              <a:t>设为 </a:t>
            </a:r>
            <a:r>
              <a:rPr lang="en-US" altLang="zh-CN" dirty="0"/>
              <a:t>1</a:t>
            </a:r>
            <a:endParaRPr lang="zh-CN" altLang="en-US" dirty="0"/>
          </a:p>
        </p:txBody>
      </p:sp>
    </p:spTree>
    <p:extLst>
      <p:ext uri="{BB962C8B-B14F-4D97-AF65-F5344CB8AC3E}">
        <p14:creationId xmlns:p14="http://schemas.microsoft.com/office/powerpoint/2010/main" val="3001023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3958E27-710D-63E8-9DF4-19AD41C9F690}"/>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2.3.1 </a:t>
            </a:r>
            <a:r>
              <a:rPr lang="zh-CN" altLang="en-US" b="1" dirty="0">
                <a:solidFill>
                  <a:schemeClr val="accent5"/>
                </a:solidFill>
              </a:rPr>
              <a:t>报文相似度约束（</a:t>
            </a:r>
            <a:r>
              <a:rPr lang="en-US" altLang="zh-CN" b="1" dirty="0">
                <a:solidFill>
                  <a:schemeClr val="accent5"/>
                </a:solidFill>
              </a:rPr>
              <a:t>M</a:t>
            </a:r>
            <a:r>
              <a:rPr lang="zh-CN" altLang="en-US" b="1" dirty="0">
                <a:solidFill>
                  <a:schemeClr val="accent5"/>
                </a:solidFill>
              </a:rPr>
              <a:t>）（</a:t>
            </a:r>
            <a:r>
              <a:rPr lang="en-US" altLang="zh-CN" b="1" dirty="0">
                <a:solidFill>
                  <a:schemeClr val="accent5"/>
                </a:solidFill>
              </a:rPr>
              <a:t>2</a:t>
            </a:r>
            <a:r>
              <a:rPr lang="zh-CN" altLang="en-US" b="1" dirty="0">
                <a:solidFill>
                  <a:schemeClr val="accent5"/>
                </a:solidFill>
              </a:rPr>
              <a:t>）</a:t>
            </a:r>
          </a:p>
        </p:txBody>
      </p:sp>
      <p:sp>
        <p:nvSpPr>
          <p:cNvPr id="4" name="文本框 3">
            <a:extLst>
              <a:ext uri="{FF2B5EF4-FFF2-40B4-BE49-F238E27FC236}">
                <a16:creationId xmlns:a16="http://schemas.microsoft.com/office/drawing/2014/main" id="{3C36F2A5-D48C-380B-B242-E3E63F5DA133}"/>
              </a:ext>
            </a:extLst>
          </p:cNvPr>
          <p:cNvSpPr txBox="1"/>
          <p:nvPr/>
        </p:nvSpPr>
        <p:spPr>
          <a:xfrm>
            <a:off x="296692" y="519899"/>
            <a:ext cx="10384277" cy="369332"/>
          </a:xfrm>
          <a:prstGeom prst="rect">
            <a:avLst/>
          </a:prstGeom>
          <a:noFill/>
        </p:spPr>
        <p:txBody>
          <a:bodyPr wrap="square">
            <a:spAutoFit/>
          </a:bodyPr>
          <a:lstStyle/>
          <a:p>
            <a:r>
              <a:rPr lang="zh-CN" altLang="en-US" dirty="0"/>
              <a:t>但在实际场景中，两类得分的分布通常存在重叠，意味着出现了</a:t>
            </a:r>
            <a:r>
              <a:rPr lang="zh-CN" altLang="en-US" b="1" dirty="0"/>
              <a:t>错误匹配</a:t>
            </a:r>
            <a:r>
              <a:rPr lang="zh-CN" altLang="en-US" dirty="0"/>
              <a:t>与</a:t>
            </a:r>
            <a:r>
              <a:rPr lang="zh-CN" altLang="en-US" b="1" dirty="0"/>
              <a:t>错误非匹配</a:t>
            </a:r>
            <a:r>
              <a:rPr lang="zh-CN" altLang="en-US" dirty="0"/>
              <a:t>的误差</a:t>
            </a:r>
          </a:p>
        </p:txBody>
      </p:sp>
      <p:sp>
        <p:nvSpPr>
          <p:cNvPr id="6" name="文本框 5">
            <a:extLst>
              <a:ext uri="{FF2B5EF4-FFF2-40B4-BE49-F238E27FC236}">
                <a16:creationId xmlns:a16="http://schemas.microsoft.com/office/drawing/2014/main" id="{65D9A913-3C49-9C54-5FFC-1D28F81C6C5F}"/>
              </a:ext>
            </a:extLst>
          </p:cNvPr>
          <p:cNvSpPr txBox="1"/>
          <p:nvPr/>
        </p:nvSpPr>
        <p:spPr>
          <a:xfrm>
            <a:off x="296692" y="1312942"/>
            <a:ext cx="10384276" cy="1200329"/>
          </a:xfrm>
          <a:prstGeom prst="rect">
            <a:avLst/>
          </a:prstGeom>
          <a:noFill/>
        </p:spPr>
        <p:txBody>
          <a:bodyPr wrap="square">
            <a:spAutoFit/>
          </a:bodyPr>
          <a:lstStyle/>
          <a:p>
            <a:r>
              <a:rPr lang="zh-CN" altLang="en-US" dirty="0"/>
              <a:t>在本文的场景中</a:t>
            </a:r>
            <a:endParaRPr lang="en-US" altLang="zh-CN" dirty="0"/>
          </a:p>
          <a:p>
            <a:r>
              <a:rPr lang="zh-CN" altLang="en-US" b="1" dirty="0"/>
              <a:t>错误匹配</a:t>
            </a:r>
            <a:r>
              <a:rPr lang="zh-CN" altLang="en-US" dirty="0"/>
              <a:t>指不同类型的报文被错误地聚为一类。</a:t>
            </a:r>
            <a:endParaRPr lang="en-US" altLang="zh-CN" dirty="0"/>
          </a:p>
          <a:p>
            <a:r>
              <a:rPr lang="zh-CN" altLang="en-US" b="1" dirty="0"/>
              <a:t>错误非匹配</a:t>
            </a:r>
            <a:r>
              <a:rPr lang="zh-CN" altLang="en-US" dirty="0"/>
              <a:t>指同类型的报文被错误地划分到不同聚类中。</a:t>
            </a:r>
            <a:endParaRPr lang="en-US" altLang="zh-CN" dirty="0"/>
          </a:p>
          <a:p>
            <a:r>
              <a:rPr lang="zh-CN" altLang="en-US" dirty="0"/>
              <a:t>本文通过计算这两类误差，量化得分分布的重叠程度，误差值越小，报文相似度约束的先验概率越高。</a:t>
            </a:r>
          </a:p>
        </p:txBody>
      </p:sp>
      <p:sp>
        <p:nvSpPr>
          <p:cNvPr id="8" name="文本框 7">
            <a:extLst>
              <a:ext uri="{FF2B5EF4-FFF2-40B4-BE49-F238E27FC236}">
                <a16:creationId xmlns:a16="http://schemas.microsoft.com/office/drawing/2014/main" id="{13386E31-A317-43E3-E5EC-984A2E1EA041}"/>
              </a:ext>
            </a:extLst>
          </p:cNvPr>
          <p:cNvSpPr txBox="1"/>
          <p:nvPr/>
        </p:nvSpPr>
        <p:spPr>
          <a:xfrm>
            <a:off x="588521" y="4851949"/>
            <a:ext cx="10092447" cy="369332"/>
          </a:xfrm>
          <a:prstGeom prst="rect">
            <a:avLst/>
          </a:prstGeom>
          <a:noFill/>
        </p:spPr>
        <p:txBody>
          <a:bodyPr wrap="square">
            <a:spAutoFit/>
          </a:bodyPr>
          <a:lstStyle/>
          <a:p>
            <a:r>
              <a:rPr lang="zh-CN" altLang="en-US" dirty="0"/>
              <a:t>对于 </a:t>
            </a:r>
            <a:r>
              <a:rPr lang="en-US" altLang="zh-CN" dirty="0"/>
              <a:t>0 </a:t>
            </a:r>
            <a:r>
              <a:rPr lang="zh-CN" altLang="en-US" dirty="0"/>
              <a:t>到 </a:t>
            </a:r>
            <a:r>
              <a:rPr lang="en-US" altLang="zh-CN" dirty="0"/>
              <a:t>1 </a:t>
            </a:r>
            <a:r>
              <a:rPr lang="zh-CN" altLang="en-US" dirty="0"/>
              <a:t>之间的任意阈值</a:t>
            </a:r>
            <a:r>
              <a:rPr lang="en-US" altLang="zh-CN" dirty="0"/>
              <a:t>t</a:t>
            </a:r>
            <a:r>
              <a:rPr lang="zh-CN" altLang="en-US" dirty="0"/>
              <a:t>，可通过以上公式计算</a:t>
            </a:r>
            <a:r>
              <a:rPr lang="zh-CN" altLang="en-US" b="1" dirty="0"/>
              <a:t>错误匹配率（</a:t>
            </a:r>
            <a:r>
              <a:rPr lang="en-US" altLang="zh-CN" b="1" dirty="0"/>
              <a:t>FMR</a:t>
            </a:r>
            <a:r>
              <a:rPr lang="zh-CN" altLang="en-US" b="1" dirty="0"/>
              <a:t>）</a:t>
            </a:r>
            <a:r>
              <a:rPr lang="zh-CN" altLang="en-US" dirty="0"/>
              <a:t>与</a:t>
            </a:r>
            <a:r>
              <a:rPr lang="zh-CN" altLang="en-US" b="1" dirty="0"/>
              <a:t>错误非匹配率（</a:t>
            </a:r>
            <a:r>
              <a:rPr lang="en-US" altLang="zh-CN" b="1" dirty="0"/>
              <a:t>FNMR</a:t>
            </a:r>
            <a:r>
              <a:rPr lang="zh-CN" altLang="en-US" b="1" dirty="0"/>
              <a:t>）</a:t>
            </a:r>
          </a:p>
        </p:txBody>
      </p:sp>
      <p:pic>
        <p:nvPicPr>
          <p:cNvPr id="16" name="图片 15">
            <a:extLst>
              <a:ext uri="{FF2B5EF4-FFF2-40B4-BE49-F238E27FC236}">
                <a16:creationId xmlns:a16="http://schemas.microsoft.com/office/drawing/2014/main" id="{73AFD6DF-D690-AAE6-02AD-03C644AA6528}"/>
              </a:ext>
            </a:extLst>
          </p:cNvPr>
          <p:cNvPicPr>
            <a:picLocks noChangeAspect="1"/>
          </p:cNvPicPr>
          <p:nvPr/>
        </p:nvPicPr>
        <p:blipFill>
          <a:blip r:embed="rId2"/>
          <a:srcRect l="1936" t="5929" r="1480" b="13295"/>
          <a:stretch>
            <a:fillRect/>
          </a:stretch>
        </p:blipFill>
        <p:spPr>
          <a:xfrm>
            <a:off x="408561" y="3062591"/>
            <a:ext cx="4871619" cy="732817"/>
          </a:xfrm>
          <a:prstGeom prst="rect">
            <a:avLst/>
          </a:prstGeom>
        </p:spPr>
      </p:pic>
      <p:pic>
        <p:nvPicPr>
          <p:cNvPr id="18" name="图片 17">
            <a:extLst>
              <a:ext uri="{FF2B5EF4-FFF2-40B4-BE49-F238E27FC236}">
                <a16:creationId xmlns:a16="http://schemas.microsoft.com/office/drawing/2014/main" id="{9B00C9FD-22F5-82CC-691F-314EF07A6EF6}"/>
              </a:ext>
            </a:extLst>
          </p:cNvPr>
          <p:cNvPicPr>
            <a:picLocks noChangeAspect="1"/>
          </p:cNvPicPr>
          <p:nvPr/>
        </p:nvPicPr>
        <p:blipFill>
          <a:blip r:embed="rId3"/>
          <a:srcRect l="1834" t="13217" r="1921" b="15633"/>
          <a:stretch>
            <a:fillRect/>
          </a:stretch>
        </p:blipFill>
        <p:spPr>
          <a:xfrm>
            <a:off x="5564222" y="3080700"/>
            <a:ext cx="5007578" cy="732817"/>
          </a:xfrm>
          <a:prstGeom prst="rect">
            <a:avLst/>
          </a:prstGeom>
        </p:spPr>
      </p:pic>
    </p:spTree>
    <p:extLst>
      <p:ext uri="{BB962C8B-B14F-4D97-AF65-F5344CB8AC3E}">
        <p14:creationId xmlns:p14="http://schemas.microsoft.com/office/powerpoint/2010/main" val="3953147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915B361-0A6C-A61F-145F-E6DD1ABBA5B8}"/>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2.3.1 </a:t>
            </a:r>
            <a:r>
              <a:rPr lang="zh-CN" altLang="en-US" b="1" dirty="0">
                <a:solidFill>
                  <a:schemeClr val="accent5"/>
                </a:solidFill>
              </a:rPr>
              <a:t>报文相似度约束（</a:t>
            </a:r>
            <a:r>
              <a:rPr lang="en-US" altLang="zh-CN" b="1" dirty="0">
                <a:solidFill>
                  <a:schemeClr val="accent5"/>
                </a:solidFill>
              </a:rPr>
              <a:t>M</a:t>
            </a:r>
            <a:r>
              <a:rPr lang="zh-CN" altLang="en-US" b="1" dirty="0">
                <a:solidFill>
                  <a:schemeClr val="accent5"/>
                </a:solidFill>
              </a:rPr>
              <a:t>）（</a:t>
            </a:r>
            <a:r>
              <a:rPr lang="en-US" altLang="zh-CN" b="1" dirty="0">
                <a:solidFill>
                  <a:schemeClr val="accent5"/>
                </a:solidFill>
              </a:rPr>
              <a:t>3</a:t>
            </a:r>
            <a:r>
              <a:rPr lang="zh-CN" altLang="en-US" b="1" dirty="0">
                <a:solidFill>
                  <a:schemeClr val="accent5"/>
                </a:solidFill>
              </a:rPr>
              <a:t>）</a:t>
            </a:r>
          </a:p>
        </p:txBody>
      </p:sp>
      <p:sp>
        <p:nvSpPr>
          <p:cNvPr id="5" name="文本框 4">
            <a:extLst>
              <a:ext uri="{FF2B5EF4-FFF2-40B4-BE49-F238E27FC236}">
                <a16:creationId xmlns:a16="http://schemas.microsoft.com/office/drawing/2014/main" id="{EB0A526A-784D-2F93-DF35-1A545955E4A0}"/>
              </a:ext>
            </a:extLst>
          </p:cNvPr>
          <p:cNvSpPr txBox="1"/>
          <p:nvPr/>
        </p:nvSpPr>
        <p:spPr>
          <a:xfrm>
            <a:off x="380998" y="644976"/>
            <a:ext cx="11058729" cy="646331"/>
          </a:xfrm>
          <a:prstGeom prst="rect">
            <a:avLst/>
          </a:prstGeom>
          <a:noFill/>
        </p:spPr>
        <p:txBody>
          <a:bodyPr wrap="square">
            <a:spAutoFit/>
          </a:bodyPr>
          <a:lstStyle/>
          <a:p>
            <a:r>
              <a:rPr lang="zh-CN" altLang="en-US" dirty="0"/>
              <a:t>遍历 </a:t>
            </a:r>
            <a:r>
              <a:rPr lang="en-US" altLang="zh-CN" dirty="0"/>
              <a:t>[0,1] </a:t>
            </a:r>
            <a:r>
              <a:rPr lang="zh-CN" altLang="en-US" dirty="0"/>
              <a:t>区间内的所有</a:t>
            </a:r>
            <a:r>
              <a:rPr lang="en-US" altLang="zh-CN" dirty="0"/>
              <a:t>t</a:t>
            </a:r>
            <a:r>
              <a:rPr lang="zh-CN" altLang="en-US" dirty="0"/>
              <a:t>，可绘制出 </a:t>
            </a:r>
            <a:r>
              <a:rPr lang="en-US" altLang="zh-CN" dirty="0"/>
              <a:t>FMR </a:t>
            </a:r>
            <a:r>
              <a:rPr lang="zh-CN" altLang="en-US" dirty="0"/>
              <a:t>与 </a:t>
            </a:r>
            <a:r>
              <a:rPr lang="en-US" altLang="zh-CN" dirty="0"/>
              <a:t>FNMR </a:t>
            </a:r>
            <a:r>
              <a:rPr lang="zh-CN" altLang="en-US" dirty="0"/>
              <a:t>的曲线，如图 </a:t>
            </a:r>
            <a:r>
              <a:rPr lang="en-US" altLang="zh-CN" dirty="0"/>
              <a:t>8 </a:t>
            </a:r>
            <a:r>
              <a:rPr lang="zh-CN" altLang="en-US" dirty="0"/>
              <a:t>所示。</a:t>
            </a:r>
            <a:endParaRPr lang="en-US" altLang="zh-CN" dirty="0"/>
          </a:p>
          <a:p>
            <a:r>
              <a:rPr lang="zh-CN" altLang="en-US" dirty="0"/>
              <a:t>随着</a:t>
            </a:r>
            <a:r>
              <a:rPr lang="en-US" altLang="zh-CN" dirty="0"/>
              <a:t>t</a:t>
            </a:r>
            <a:r>
              <a:rPr lang="zh-CN" altLang="en-US" dirty="0"/>
              <a:t>的增大，</a:t>
            </a:r>
            <a:r>
              <a:rPr lang="en-US" altLang="zh-CN" dirty="0"/>
              <a:t>FMR </a:t>
            </a:r>
            <a:r>
              <a:rPr lang="zh-CN" altLang="en-US" dirty="0"/>
              <a:t>逐渐降低，</a:t>
            </a:r>
            <a:r>
              <a:rPr lang="en-US" altLang="zh-CN" dirty="0"/>
              <a:t>FNMR </a:t>
            </a:r>
            <a:r>
              <a:rPr lang="zh-CN" altLang="en-US" dirty="0"/>
              <a:t>逐渐升高。为了全面描述相似度约束，需要同时考量 </a:t>
            </a:r>
            <a:r>
              <a:rPr lang="en-US" altLang="zh-CN" dirty="0"/>
              <a:t>FMR </a:t>
            </a:r>
            <a:r>
              <a:rPr lang="zh-CN" altLang="en-US" dirty="0"/>
              <a:t>与 </a:t>
            </a:r>
            <a:r>
              <a:rPr lang="en-US" altLang="zh-CN" dirty="0"/>
              <a:t>FNMR</a:t>
            </a:r>
            <a:r>
              <a:rPr lang="zh-CN" altLang="en-US" dirty="0"/>
              <a:t>。</a:t>
            </a:r>
          </a:p>
        </p:txBody>
      </p:sp>
      <p:pic>
        <p:nvPicPr>
          <p:cNvPr id="7" name="图片 6">
            <a:extLst>
              <a:ext uri="{FF2B5EF4-FFF2-40B4-BE49-F238E27FC236}">
                <a16:creationId xmlns:a16="http://schemas.microsoft.com/office/drawing/2014/main" id="{87BA06AF-6082-0A6C-EB22-5143178D8239}"/>
              </a:ext>
            </a:extLst>
          </p:cNvPr>
          <p:cNvPicPr>
            <a:picLocks noChangeAspect="1"/>
          </p:cNvPicPr>
          <p:nvPr/>
        </p:nvPicPr>
        <p:blipFill>
          <a:blip r:embed="rId2"/>
          <a:srcRect l="1678" r="2422" b="2525"/>
          <a:stretch>
            <a:fillRect/>
          </a:stretch>
        </p:blipFill>
        <p:spPr>
          <a:xfrm>
            <a:off x="4688732" y="1422123"/>
            <a:ext cx="3125821" cy="2567499"/>
          </a:xfrm>
          <a:prstGeom prst="rect">
            <a:avLst/>
          </a:prstGeom>
        </p:spPr>
      </p:pic>
      <p:sp>
        <p:nvSpPr>
          <p:cNvPr id="9" name="文本框 8">
            <a:extLst>
              <a:ext uri="{FF2B5EF4-FFF2-40B4-BE49-F238E27FC236}">
                <a16:creationId xmlns:a16="http://schemas.microsoft.com/office/drawing/2014/main" id="{494CE269-BCD5-45D0-EA91-90ADF1314B52}"/>
              </a:ext>
            </a:extLst>
          </p:cNvPr>
          <p:cNvSpPr txBox="1"/>
          <p:nvPr/>
        </p:nvSpPr>
        <p:spPr>
          <a:xfrm>
            <a:off x="445849" y="4308506"/>
            <a:ext cx="10546406" cy="646331"/>
          </a:xfrm>
          <a:prstGeom prst="rect">
            <a:avLst/>
          </a:prstGeom>
          <a:noFill/>
        </p:spPr>
        <p:txBody>
          <a:bodyPr wrap="square">
            <a:spAutoFit/>
          </a:bodyPr>
          <a:lstStyle/>
          <a:p>
            <a:r>
              <a:rPr lang="zh-CN" altLang="en-US" dirty="0"/>
              <a:t>选取两条曲线的交点，该点实现了 </a:t>
            </a:r>
            <a:r>
              <a:rPr lang="en-US" altLang="zh-CN" dirty="0"/>
              <a:t>FMR </a:t>
            </a:r>
            <a:r>
              <a:rPr lang="zh-CN" altLang="en-US" dirty="0"/>
              <a:t>与 </a:t>
            </a:r>
            <a:r>
              <a:rPr lang="en-US" altLang="zh-CN" dirty="0"/>
              <a:t>FNMR </a:t>
            </a:r>
            <a:r>
              <a:rPr lang="zh-CN" altLang="en-US" dirty="0"/>
              <a:t>的平衡。</a:t>
            </a:r>
            <a:endParaRPr lang="en-US" altLang="zh-CN" dirty="0"/>
          </a:p>
          <a:p>
            <a:r>
              <a:rPr lang="zh-CN" altLang="en-US" dirty="0"/>
              <a:t>交点处的错误率称为</a:t>
            </a:r>
            <a:r>
              <a:rPr lang="zh-CN" altLang="en-US" b="1" dirty="0"/>
              <a:t>等错误率（</a:t>
            </a:r>
            <a:r>
              <a:rPr lang="en-US" altLang="zh-CN" b="1" dirty="0"/>
              <a:t>EER</a:t>
            </a:r>
            <a:r>
              <a:rPr lang="zh-CN" altLang="en-US" b="1" dirty="0"/>
              <a:t>），</a:t>
            </a:r>
            <a:r>
              <a:rPr lang="zh-CN" altLang="en-US" dirty="0"/>
              <a:t>用于表征聚类结果的整体精度</a:t>
            </a:r>
          </a:p>
        </p:txBody>
      </p:sp>
      <p:pic>
        <p:nvPicPr>
          <p:cNvPr id="11" name="图片 10">
            <a:extLst>
              <a:ext uri="{FF2B5EF4-FFF2-40B4-BE49-F238E27FC236}">
                <a16:creationId xmlns:a16="http://schemas.microsoft.com/office/drawing/2014/main" id="{994B91BA-91FF-CEB7-A5E1-007432555785}"/>
              </a:ext>
            </a:extLst>
          </p:cNvPr>
          <p:cNvPicPr>
            <a:picLocks noChangeAspect="1"/>
          </p:cNvPicPr>
          <p:nvPr/>
        </p:nvPicPr>
        <p:blipFill>
          <a:blip r:embed="rId3"/>
          <a:stretch>
            <a:fillRect/>
          </a:stretch>
        </p:blipFill>
        <p:spPr>
          <a:xfrm>
            <a:off x="3245493" y="5208870"/>
            <a:ext cx="2886478" cy="562053"/>
          </a:xfrm>
          <a:prstGeom prst="rect">
            <a:avLst/>
          </a:prstGeom>
        </p:spPr>
      </p:pic>
      <p:sp>
        <p:nvSpPr>
          <p:cNvPr id="13" name="文本框 12">
            <a:extLst>
              <a:ext uri="{FF2B5EF4-FFF2-40B4-BE49-F238E27FC236}">
                <a16:creationId xmlns:a16="http://schemas.microsoft.com/office/drawing/2014/main" id="{1A0B668F-146F-BDF8-0340-5CEE7E7168E5}"/>
              </a:ext>
            </a:extLst>
          </p:cNvPr>
          <p:cNvSpPr txBox="1"/>
          <p:nvPr/>
        </p:nvSpPr>
        <p:spPr>
          <a:xfrm>
            <a:off x="445849" y="6024956"/>
            <a:ext cx="7705930" cy="369332"/>
          </a:xfrm>
          <a:prstGeom prst="rect">
            <a:avLst/>
          </a:prstGeom>
          <a:noFill/>
        </p:spPr>
        <p:txBody>
          <a:bodyPr wrap="square">
            <a:spAutoFit/>
          </a:bodyPr>
          <a:lstStyle/>
          <a:p>
            <a:r>
              <a:rPr lang="zh-CN" altLang="en-US" dirty="0"/>
              <a:t>该公式表明，</a:t>
            </a:r>
            <a:r>
              <a:rPr lang="en-US" altLang="zh-CN" dirty="0"/>
              <a:t>EER </a:t>
            </a:r>
            <a:r>
              <a:rPr lang="zh-CN" altLang="en-US" dirty="0"/>
              <a:t>越低，我们对报文相似度约束 </a:t>
            </a:r>
            <a:r>
              <a:rPr lang="en-US" altLang="zh-CN" dirty="0"/>
              <a:t>M </a:t>
            </a:r>
            <a:r>
              <a:rPr lang="zh-CN" altLang="en-US" dirty="0"/>
              <a:t>的置信度越高。</a:t>
            </a:r>
          </a:p>
        </p:txBody>
      </p:sp>
      <p:sp>
        <p:nvSpPr>
          <p:cNvPr id="14" name="文本框 13">
            <a:extLst>
              <a:ext uri="{FF2B5EF4-FFF2-40B4-BE49-F238E27FC236}">
                <a16:creationId xmlns:a16="http://schemas.microsoft.com/office/drawing/2014/main" id="{00AD5849-6645-1018-2DB7-274F8993BAD9}"/>
              </a:ext>
            </a:extLst>
          </p:cNvPr>
          <p:cNvSpPr txBox="1"/>
          <p:nvPr/>
        </p:nvSpPr>
        <p:spPr>
          <a:xfrm>
            <a:off x="1867711" y="5305230"/>
            <a:ext cx="1107996" cy="369332"/>
          </a:xfrm>
          <a:prstGeom prst="rect">
            <a:avLst/>
          </a:prstGeom>
          <a:noFill/>
        </p:spPr>
        <p:txBody>
          <a:bodyPr wrap="none" rtlCol="0">
            <a:spAutoFit/>
          </a:bodyPr>
          <a:lstStyle/>
          <a:p>
            <a:r>
              <a:rPr lang="zh-CN" altLang="en-US" dirty="0"/>
              <a:t>由此得到</a:t>
            </a:r>
          </a:p>
        </p:txBody>
      </p:sp>
    </p:spTree>
    <p:extLst>
      <p:ext uri="{BB962C8B-B14F-4D97-AF65-F5344CB8AC3E}">
        <p14:creationId xmlns:p14="http://schemas.microsoft.com/office/powerpoint/2010/main" val="1885492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E37644C-4E03-D06B-772F-2A89D639D01C}"/>
              </a:ext>
            </a:extLst>
          </p:cNvPr>
          <p:cNvSpPr txBox="1"/>
          <p:nvPr/>
        </p:nvSpPr>
        <p:spPr>
          <a:xfrm>
            <a:off x="304800" y="661162"/>
            <a:ext cx="5304817" cy="646331"/>
          </a:xfrm>
          <a:prstGeom prst="rect">
            <a:avLst/>
          </a:prstGeom>
          <a:noFill/>
        </p:spPr>
        <p:txBody>
          <a:bodyPr wrap="square">
            <a:spAutoFit/>
          </a:bodyPr>
          <a:lstStyle/>
          <a:p>
            <a:r>
              <a:rPr lang="zh-CN" altLang="en-US" dirty="0"/>
              <a:t>对于一端规模为</a:t>
            </a:r>
            <a:r>
              <a:rPr lang="en-US" altLang="zh-CN" dirty="0"/>
              <a:t>N</a:t>
            </a:r>
            <a:r>
              <a:rPr lang="zh-CN" altLang="en-US" dirty="0"/>
              <a:t>的某个聚类，统计其对端对应报文中，归属同一聚类的最大数量</a:t>
            </a:r>
            <a:r>
              <a:rPr lang="en-US" altLang="zh-CN" dirty="0"/>
              <a:t>M</a:t>
            </a:r>
            <a:endParaRPr lang="zh-CN" altLang="en-US" dirty="0"/>
          </a:p>
        </p:txBody>
      </p:sp>
      <p:sp>
        <p:nvSpPr>
          <p:cNvPr id="4" name="文本框 3">
            <a:extLst>
              <a:ext uri="{FF2B5EF4-FFF2-40B4-BE49-F238E27FC236}">
                <a16:creationId xmlns:a16="http://schemas.microsoft.com/office/drawing/2014/main" id="{622145BC-9FED-297C-C5BE-2B782C714936}"/>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2.3.2 </a:t>
            </a:r>
            <a:r>
              <a:rPr lang="zh-CN" altLang="en-US" b="1" dirty="0">
                <a:solidFill>
                  <a:schemeClr val="accent5"/>
                </a:solidFill>
              </a:rPr>
              <a:t>双端耦合约束（</a:t>
            </a:r>
            <a:r>
              <a:rPr lang="en-US" altLang="zh-CN" b="1" dirty="0">
                <a:solidFill>
                  <a:schemeClr val="accent5"/>
                </a:solidFill>
              </a:rPr>
              <a:t>R</a:t>
            </a:r>
            <a:r>
              <a:rPr lang="zh-CN" altLang="en-US" b="1" dirty="0">
                <a:solidFill>
                  <a:schemeClr val="accent5"/>
                </a:solidFill>
              </a:rPr>
              <a:t>）</a:t>
            </a:r>
          </a:p>
        </p:txBody>
      </p:sp>
      <p:pic>
        <p:nvPicPr>
          <p:cNvPr id="6" name="图片 5">
            <a:extLst>
              <a:ext uri="{FF2B5EF4-FFF2-40B4-BE49-F238E27FC236}">
                <a16:creationId xmlns:a16="http://schemas.microsoft.com/office/drawing/2014/main" id="{E3736974-15C6-782F-8E89-6E77F8E65EA2}"/>
              </a:ext>
            </a:extLst>
          </p:cNvPr>
          <p:cNvPicPr>
            <a:picLocks noChangeAspect="1"/>
          </p:cNvPicPr>
          <p:nvPr/>
        </p:nvPicPr>
        <p:blipFill>
          <a:blip r:embed="rId2"/>
          <a:stretch>
            <a:fillRect/>
          </a:stretch>
        </p:blipFill>
        <p:spPr>
          <a:xfrm>
            <a:off x="5554480" y="758757"/>
            <a:ext cx="6126407" cy="5220511"/>
          </a:xfrm>
          <a:prstGeom prst="rect">
            <a:avLst/>
          </a:prstGeom>
        </p:spPr>
      </p:pic>
      <p:pic>
        <p:nvPicPr>
          <p:cNvPr id="8" name="图片 7">
            <a:extLst>
              <a:ext uri="{FF2B5EF4-FFF2-40B4-BE49-F238E27FC236}">
                <a16:creationId xmlns:a16="http://schemas.microsoft.com/office/drawing/2014/main" id="{A7154F19-A5A1-4BE7-8B6E-87E32C7DE2C4}"/>
              </a:ext>
            </a:extLst>
          </p:cNvPr>
          <p:cNvPicPr>
            <a:picLocks noChangeAspect="1"/>
          </p:cNvPicPr>
          <p:nvPr/>
        </p:nvPicPr>
        <p:blipFill>
          <a:blip r:embed="rId3"/>
          <a:stretch>
            <a:fillRect/>
          </a:stretch>
        </p:blipFill>
        <p:spPr>
          <a:xfrm>
            <a:off x="2000844" y="1599323"/>
            <a:ext cx="1552792" cy="981212"/>
          </a:xfrm>
          <a:prstGeom prst="rect">
            <a:avLst/>
          </a:prstGeom>
        </p:spPr>
      </p:pic>
      <p:sp>
        <p:nvSpPr>
          <p:cNvPr id="10" name="文本框 9">
            <a:extLst>
              <a:ext uri="{FF2B5EF4-FFF2-40B4-BE49-F238E27FC236}">
                <a16:creationId xmlns:a16="http://schemas.microsoft.com/office/drawing/2014/main" id="{643B6DD6-522F-F9CB-566E-AA72A6E45991}"/>
              </a:ext>
            </a:extLst>
          </p:cNvPr>
          <p:cNvSpPr txBox="1"/>
          <p:nvPr/>
        </p:nvSpPr>
        <p:spPr>
          <a:xfrm>
            <a:off x="251298" y="3081063"/>
            <a:ext cx="4845996" cy="3372462"/>
          </a:xfrm>
          <a:prstGeom prst="rect">
            <a:avLst/>
          </a:prstGeom>
          <a:noFill/>
        </p:spPr>
        <p:txBody>
          <a:bodyPr wrap="square">
            <a:spAutoFit/>
          </a:bodyPr>
          <a:lstStyle/>
          <a:p>
            <a:pPr>
              <a:lnSpc>
                <a:spcPct val="150000"/>
              </a:lnSpc>
            </a:pPr>
            <a:r>
              <a:rPr lang="zh-CN" altLang="en-US" dirty="0"/>
              <a:t>例如，</a:t>
            </a:r>
            <a:endParaRPr lang="en-US" altLang="zh-CN" dirty="0"/>
          </a:p>
          <a:p>
            <a:pPr>
              <a:lnSpc>
                <a:spcPct val="150000"/>
              </a:lnSpc>
            </a:pPr>
            <a:r>
              <a:rPr lang="zh-CN" altLang="en-US" dirty="0"/>
              <a:t>对于以</a:t>
            </a:r>
            <a:r>
              <a:rPr lang="en-US" altLang="zh-CN" b="1" dirty="0"/>
              <a:t>f1</a:t>
            </a:r>
            <a:r>
              <a:rPr lang="en-US" altLang="zh-CN" dirty="0"/>
              <a:t>​</a:t>
            </a:r>
            <a:r>
              <a:rPr lang="zh-CN" altLang="en-US" dirty="0"/>
              <a:t>为关键字段的报文类型对，与</a:t>
            </a:r>
            <a:r>
              <a:rPr lang="en-US" altLang="zh-CN" dirty="0"/>
              <a:t>ts1​​</a:t>
            </a:r>
            <a:r>
              <a:rPr lang="zh-CN" altLang="en-US" dirty="0"/>
              <a:t>配对的聚类有 </a:t>
            </a:r>
            <a:r>
              <a:rPr lang="en-US" altLang="zh-CN" dirty="0"/>
              <a:t>4 </a:t>
            </a:r>
            <a:r>
              <a:rPr lang="zh-CN" altLang="en-US" dirty="0"/>
              <a:t>个（红色标注），其中 </a:t>
            </a:r>
            <a:r>
              <a:rPr lang="en-US" altLang="zh-CN" dirty="0"/>
              <a:t>2 </a:t>
            </a:r>
            <a:r>
              <a:rPr lang="zh-CN" altLang="en-US" dirty="0"/>
              <a:t>个为</a:t>
            </a:r>
            <a:r>
              <a:rPr lang="en-US" altLang="zh-CN" dirty="0"/>
              <a:t>tc1​​</a:t>
            </a:r>
            <a:r>
              <a:rPr lang="zh-CN" altLang="en-US" dirty="0"/>
              <a:t>，因此聚类</a:t>
            </a:r>
            <a:r>
              <a:rPr lang="en-US" altLang="zh-CN" dirty="0"/>
              <a:t>ts1​​</a:t>
            </a:r>
            <a:r>
              <a:rPr lang="zh-CN" altLang="en-US" dirty="0"/>
              <a:t>的</a:t>
            </a:r>
            <a:r>
              <a:rPr lang="en-US" altLang="zh-CN" dirty="0"/>
              <a:t>pr​</a:t>
            </a:r>
            <a:r>
              <a:rPr lang="zh-CN" altLang="en-US" dirty="0"/>
              <a:t>为 </a:t>
            </a:r>
            <a:r>
              <a:rPr lang="en-US" altLang="zh-CN" dirty="0"/>
              <a:t>0.50</a:t>
            </a:r>
            <a:r>
              <a:rPr lang="zh-CN" altLang="en-US" dirty="0"/>
              <a:t>。</a:t>
            </a:r>
            <a:endParaRPr lang="en-US" altLang="zh-CN" dirty="0"/>
          </a:p>
          <a:p>
            <a:pPr>
              <a:lnSpc>
                <a:spcPct val="150000"/>
              </a:lnSpc>
            </a:pPr>
            <a:endParaRPr lang="en-US" altLang="zh-CN" dirty="0"/>
          </a:p>
          <a:p>
            <a:pPr>
              <a:lnSpc>
                <a:spcPct val="150000"/>
              </a:lnSpc>
            </a:pPr>
            <a:r>
              <a:rPr lang="zh-CN" altLang="en-US" dirty="0"/>
              <a:t>以</a:t>
            </a:r>
            <a:r>
              <a:rPr lang="en-US" altLang="zh-CN" b="1" dirty="0"/>
              <a:t>f7</a:t>
            </a:r>
            <a:r>
              <a:rPr lang="en-US" altLang="zh-CN" dirty="0"/>
              <a:t>​</a:t>
            </a:r>
            <a:r>
              <a:rPr lang="zh-CN" altLang="en-US" dirty="0"/>
              <a:t>为关键字段时，仅存在两组唯一的聚类对，即 </a:t>
            </a:r>
            <a:r>
              <a:rPr lang="en-US" altLang="zh-CN" dirty="0"/>
              <a:t>&lt;tc1​​,ts1​​&gt; </a:t>
            </a:r>
            <a:r>
              <a:rPr lang="zh-CN" altLang="en-US" dirty="0"/>
              <a:t>与 </a:t>
            </a:r>
            <a:r>
              <a:rPr lang="en-US" altLang="zh-CN" dirty="0"/>
              <a:t>&lt;ts2​​,tc2​​&gt;</a:t>
            </a:r>
            <a:r>
              <a:rPr lang="zh-CN" altLang="en-US" dirty="0"/>
              <a:t>，因此所有聚类的</a:t>
            </a:r>
            <a:r>
              <a:rPr lang="en-US" altLang="zh-CN" dirty="0"/>
              <a:t>pr​</a:t>
            </a:r>
            <a:r>
              <a:rPr lang="zh-CN" altLang="en-US" dirty="0"/>
              <a:t>均为 </a:t>
            </a:r>
            <a:r>
              <a:rPr lang="en-US" altLang="zh-CN" dirty="0"/>
              <a:t>1</a:t>
            </a:r>
            <a:r>
              <a:rPr lang="zh-CN" altLang="en-US" dirty="0"/>
              <a:t>，说明其聚类质量远优于</a:t>
            </a:r>
            <a:r>
              <a:rPr lang="en-US" altLang="zh-CN" dirty="0"/>
              <a:t>f1​</a:t>
            </a:r>
            <a:r>
              <a:rPr lang="zh-CN" altLang="en-US" dirty="0"/>
              <a:t>。</a:t>
            </a:r>
          </a:p>
        </p:txBody>
      </p:sp>
    </p:spTree>
    <p:extLst>
      <p:ext uri="{BB962C8B-B14F-4D97-AF65-F5344CB8AC3E}">
        <p14:creationId xmlns:p14="http://schemas.microsoft.com/office/powerpoint/2010/main" val="2460711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9D8C561-5F01-BD74-69D8-BF798A49261F}"/>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2.3.3 </a:t>
            </a:r>
            <a:r>
              <a:rPr lang="zh-CN" altLang="en-US" b="1" dirty="0">
                <a:solidFill>
                  <a:schemeClr val="accent5"/>
                </a:solidFill>
              </a:rPr>
              <a:t>结构一致性约束（</a:t>
            </a:r>
            <a:r>
              <a:rPr lang="en-US" altLang="zh-CN" b="1" dirty="0">
                <a:solidFill>
                  <a:schemeClr val="accent5"/>
                </a:solidFill>
              </a:rPr>
              <a:t>S</a:t>
            </a:r>
            <a:r>
              <a:rPr lang="zh-CN" altLang="en-US" b="1" dirty="0">
                <a:solidFill>
                  <a:schemeClr val="accent5"/>
                </a:solidFill>
              </a:rPr>
              <a:t>）</a:t>
            </a:r>
          </a:p>
        </p:txBody>
      </p:sp>
      <p:pic>
        <p:nvPicPr>
          <p:cNvPr id="4" name="图片 3">
            <a:extLst>
              <a:ext uri="{FF2B5EF4-FFF2-40B4-BE49-F238E27FC236}">
                <a16:creationId xmlns:a16="http://schemas.microsoft.com/office/drawing/2014/main" id="{4E884EB2-98F1-F8B0-FDC7-802ADE7E88A8}"/>
              </a:ext>
            </a:extLst>
          </p:cNvPr>
          <p:cNvPicPr>
            <a:picLocks noChangeAspect="1"/>
          </p:cNvPicPr>
          <p:nvPr/>
        </p:nvPicPr>
        <p:blipFill>
          <a:blip r:embed="rId2"/>
          <a:srcRect l="21347" t="6953" r="18882" b="44860"/>
          <a:stretch>
            <a:fillRect/>
          </a:stretch>
        </p:blipFill>
        <p:spPr>
          <a:xfrm>
            <a:off x="3238499" y="3179937"/>
            <a:ext cx="4085617" cy="1094866"/>
          </a:xfrm>
          <a:prstGeom prst="rect">
            <a:avLst/>
          </a:prstGeom>
        </p:spPr>
      </p:pic>
      <p:sp>
        <p:nvSpPr>
          <p:cNvPr id="6" name="文本框 5">
            <a:extLst>
              <a:ext uri="{FF2B5EF4-FFF2-40B4-BE49-F238E27FC236}">
                <a16:creationId xmlns:a16="http://schemas.microsoft.com/office/drawing/2014/main" id="{59854C53-2850-19CC-3DBD-33EE3DF76352}"/>
              </a:ext>
            </a:extLst>
          </p:cNvPr>
          <p:cNvSpPr txBox="1"/>
          <p:nvPr/>
        </p:nvSpPr>
        <p:spPr>
          <a:xfrm>
            <a:off x="556097" y="405318"/>
            <a:ext cx="9366115" cy="1200329"/>
          </a:xfrm>
          <a:prstGeom prst="rect">
            <a:avLst/>
          </a:prstGeom>
          <a:noFill/>
        </p:spPr>
        <p:txBody>
          <a:bodyPr wrap="square">
            <a:spAutoFit/>
          </a:bodyPr>
          <a:lstStyle/>
          <a:p>
            <a:r>
              <a:rPr lang="zh-CN" altLang="en-US" dirty="0"/>
              <a:t>结构一致性约束的核心是：</a:t>
            </a:r>
            <a:endParaRPr lang="en-US" altLang="zh-CN" dirty="0"/>
          </a:p>
          <a:p>
            <a:pPr marL="742950" lvl="1" indent="-285750">
              <a:buFont typeface="Arial" panose="020B0604020202020204" pitchFamily="34" charset="0"/>
              <a:buChar char="•"/>
            </a:pPr>
            <a:r>
              <a:rPr lang="zh-CN" altLang="en-US" dirty="0"/>
              <a:t>同类型的报文共享相似的字段结构</a:t>
            </a:r>
            <a:endParaRPr lang="en-US" altLang="zh-CN" dirty="0"/>
          </a:p>
          <a:p>
            <a:pPr marL="742950" lvl="1" indent="-285750">
              <a:buFont typeface="Arial" panose="020B0604020202020204" pitchFamily="34" charset="0"/>
              <a:buChar char="•"/>
            </a:pPr>
            <a:r>
              <a:rPr lang="zh-CN" altLang="en-US" dirty="0"/>
              <a:t>不同类型的报文可能共享部分公共字段，但会被各自的独有字段分隔开</a:t>
            </a:r>
            <a:endParaRPr lang="en-US" altLang="zh-CN" dirty="0"/>
          </a:p>
          <a:p>
            <a:r>
              <a:rPr lang="zh-CN" altLang="en-US" dirty="0"/>
              <a:t>对这类报文进行对齐时，这些类型专属字段会导致比对结果中出现大量空位。</a:t>
            </a:r>
          </a:p>
        </p:txBody>
      </p:sp>
      <p:sp>
        <p:nvSpPr>
          <p:cNvPr id="8" name="文本框 7">
            <a:extLst>
              <a:ext uri="{FF2B5EF4-FFF2-40B4-BE49-F238E27FC236}">
                <a16:creationId xmlns:a16="http://schemas.microsoft.com/office/drawing/2014/main" id="{BC606DEC-1A5D-81BD-6EA0-5F99B305E722}"/>
              </a:ext>
            </a:extLst>
          </p:cNvPr>
          <p:cNvSpPr txBox="1"/>
          <p:nvPr/>
        </p:nvSpPr>
        <p:spPr>
          <a:xfrm>
            <a:off x="556097" y="2108298"/>
            <a:ext cx="9450422" cy="923330"/>
          </a:xfrm>
          <a:prstGeom prst="rect">
            <a:avLst/>
          </a:prstGeom>
          <a:noFill/>
        </p:spPr>
        <p:txBody>
          <a:bodyPr wrap="square">
            <a:spAutoFit/>
          </a:bodyPr>
          <a:lstStyle/>
          <a:p>
            <a:r>
              <a:rPr lang="zh-CN" altLang="en-US" dirty="0"/>
              <a:t>例如图 </a:t>
            </a:r>
            <a:r>
              <a:rPr lang="en-US" altLang="zh-CN" dirty="0"/>
              <a:t>9 </a:t>
            </a:r>
            <a:r>
              <a:rPr lang="zh-CN" altLang="en-US" dirty="0"/>
              <a:t>中，两条报文分属不同类型，拥有不同的字段结构，若被错误地聚为一类，为了对齐公共字段，比对结果中会插入大量空位（“</a:t>
            </a:r>
            <a:r>
              <a:rPr lang="en-US" altLang="zh-CN" dirty="0"/>
              <a:t>-”</a:t>
            </a:r>
            <a:r>
              <a:rPr lang="zh-CN" altLang="en-US" dirty="0"/>
              <a:t>）。尽管同类型报文的比对结果中也会因数据差异出现空位，但前者通常会产生数量显著更多的空位。</a:t>
            </a:r>
          </a:p>
        </p:txBody>
      </p:sp>
      <p:sp>
        <p:nvSpPr>
          <p:cNvPr id="10" name="文本框 9">
            <a:extLst>
              <a:ext uri="{FF2B5EF4-FFF2-40B4-BE49-F238E27FC236}">
                <a16:creationId xmlns:a16="http://schemas.microsoft.com/office/drawing/2014/main" id="{DA9B804F-6F26-B084-6505-B2AC15A1FEE2}"/>
              </a:ext>
            </a:extLst>
          </p:cNvPr>
          <p:cNvSpPr txBox="1"/>
          <p:nvPr/>
        </p:nvSpPr>
        <p:spPr>
          <a:xfrm>
            <a:off x="556097" y="4597093"/>
            <a:ext cx="9593094" cy="646331"/>
          </a:xfrm>
          <a:prstGeom prst="rect">
            <a:avLst/>
          </a:prstGeom>
          <a:noFill/>
        </p:spPr>
        <p:txBody>
          <a:bodyPr wrap="square">
            <a:spAutoFit/>
          </a:bodyPr>
          <a:lstStyle/>
          <a:p>
            <a:r>
              <a:rPr lang="zh-CN" altLang="en-US" dirty="0"/>
              <a:t>因此，基于候选字段完成聚类后，我们对同一聚类内的报文再次执行对齐，统计每条报文的平均空位数量，通过空位占比计算结构一致性约束的先验概率：</a:t>
            </a:r>
          </a:p>
        </p:txBody>
      </p:sp>
      <p:pic>
        <p:nvPicPr>
          <p:cNvPr id="12" name="图片 11">
            <a:extLst>
              <a:ext uri="{FF2B5EF4-FFF2-40B4-BE49-F238E27FC236}">
                <a16:creationId xmlns:a16="http://schemas.microsoft.com/office/drawing/2014/main" id="{E9FB3708-0FAE-6B14-C21C-2704F5CF8557}"/>
              </a:ext>
            </a:extLst>
          </p:cNvPr>
          <p:cNvPicPr>
            <a:picLocks noChangeAspect="1"/>
          </p:cNvPicPr>
          <p:nvPr/>
        </p:nvPicPr>
        <p:blipFill>
          <a:blip r:embed="rId3"/>
          <a:stretch>
            <a:fillRect/>
          </a:stretch>
        </p:blipFill>
        <p:spPr>
          <a:xfrm>
            <a:off x="2076314" y="3429000"/>
            <a:ext cx="971686" cy="390580"/>
          </a:xfrm>
          <a:prstGeom prst="rect">
            <a:avLst/>
          </a:prstGeom>
        </p:spPr>
      </p:pic>
      <p:pic>
        <p:nvPicPr>
          <p:cNvPr id="14" name="图片 13">
            <a:extLst>
              <a:ext uri="{FF2B5EF4-FFF2-40B4-BE49-F238E27FC236}">
                <a16:creationId xmlns:a16="http://schemas.microsoft.com/office/drawing/2014/main" id="{2599EAE9-4BCE-0F36-82B4-942D6D790164}"/>
              </a:ext>
            </a:extLst>
          </p:cNvPr>
          <p:cNvPicPr>
            <a:picLocks noChangeAspect="1"/>
          </p:cNvPicPr>
          <p:nvPr/>
        </p:nvPicPr>
        <p:blipFill>
          <a:blip r:embed="rId4"/>
          <a:srcRect l="1708" t="16858" b="16601"/>
          <a:stretch>
            <a:fillRect/>
          </a:stretch>
        </p:blipFill>
        <p:spPr>
          <a:xfrm>
            <a:off x="2758924" y="5492885"/>
            <a:ext cx="5187440" cy="843064"/>
          </a:xfrm>
          <a:prstGeom prst="rect">
            <a:avLst/>
          </a:prstGeom>
        </p:spPr>
      </p:pic>
    </p:spTree>
    <p:extLst>
      <p:ext uri="{BB962C8B-B14F-4D97-AF65-F5344CB8AC3E}">
        <p14:creationId xmlns:p14="http://schemas.microsoft.com/office/powerpoint/2010/main" val="1604512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69A216A-D1BE-CFE7-A7EE-1B2DEA6AE29C}"/>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2.3.4 </a:t>
            </a:r>
            <a:r>
              <a:rPr lang="zh-CN" altLang="en-US" b="1" dirty="0">
                <a:solidFill>
                  <a:schemeClr val="accent5"/>
                </a:solidFill>
              </a:rPr>
              <a:t>维度约束（</a:t>
            </a:r>
            <a:r>
              <a:rPr lang="en-US" altLang="zh-CN" b="1" dirty="0">
                <a:solidFill>
                  <a:schemeClr val="accent5"/>
                </a:solidFill>
              </a:rPr>
              <a:t>D</a:t>
            </a:r>
            <a:r>
              <a:rPr lang="zh-CN" altLang="en-US" b="1" dirty="0">
                <a:solidFill>
                  <a:schemeClr val="accent5"/>
                </a:solidFill>
              </a:rPr>
              <a:t>）</a:t>
            </a:r>
          </a:p>
        </p:txBody>
      </p:sp>
      <p:sp>
        <p:nvSpPr>
          <p:cNvPr id="4" name="文本框 3">
            <a:extLst>
              <a:ext uri="{FF2B5EF4-FFF2-40B4-BE49-F238E27FC236}">
                <a16:creationId xmlns:a16="http://schemas.microsoft.com/office/drawing/2014/main" id="{6A124F77-7AAE-D9C9-7934-6795E27CA87E}"/>
              </a:ext>
            </a:extLst>
          </p:cNvPr>
          <p:cNvSpPr txBox="1"/>
          <p:nvPr/>
        </p:nvSpPr>
        <p:spPr>
          <a:xfrm>
            <a:off x="231842" y="369332"/>
            <a:ext cx="6118698" cy="923330"/>
          </a:xfrm>
          <a:prstGeom prst="rect">
            <a:avLst/>
          </a:prstGeom>
          <a:noFill/>
        </p:spPr>
        <p:txBody>
          <a:bodyPr wrap="square">
            <a:spAutoFit/>
          </a:bodyPr>
          <a:lstStyle/>
          <a:p>
            <a:r>
              <a:rPr lang="zh-CN" altLang="en-US" dirty="0"/>
              <a:t>维度约束主要考量两个指标：</a:t>
            </a:r>
            <a:endParaRPr lang="en-US" altLang="zh-CN" dirty="0"/>
          </a:p>
          <a:p>
            <a:pPr marL="742950" lvl="1" indent="-285750">
              <a:buFont typeface="Arial" panose="020B0604020202020204" pitchFamily="34" charset="0"/>
              <a:buChar char="•"/>
            </a:pPr>
            <a:r>
              <a:rPr lang="zh-CN" altLang="en-US" dirty="0"/>
              <a:t>聚类的总数量</a:t>
            </a:r>
            <a:endParaRPr lang="en-US" altLang="zh-CN" dirty="0"/>
          </a:p>
          <a:p>
            <a:pPr marL="742950" lvl="1" indent="-285750">
              <a:buFont typeface="Arial" panose="020B0604020202020204" pitchFamily="34" charset="0"/>
              <a:buChar char="•"/>
            </a:pPr>
            <a:r>
              <a:rPr lang="zh-CN" altLang="en-US" dirty="0"/>
              <a:t>仅包含单条报文的聚类数量</a:t>
            </a:r>
          </a:p>
        </p:txBody>
      </p:sp>
      <p:sp>
        <p:nvSpPr>
          <p:cNvPr id="6" name="文本框 5">
            <a:extLst>
              <a:ext uri="{FF2B5EF4-FFF2-40B4-BE49-F238E27FC236}">
                <a16:creationId xmlns:a16="http://schemas.microsoft.com/office/drawing/2014/main" id="{BE2ADED2-AF17-270E-8061-672F86F88449}"/>
              </a:ext>
            </a:extLst>
          </p:cNvPr>
          <p:cNvSpPr txBox="1"/>
          <p:nvPr/>
        </p:nvSpPr>
        <p:spPr>
          <a:xfrm>
            <a:off x="231842" y="1477328"/>
            <a:ext cx="6118698" cy="369332"/>
          </a:xfrm>
          <a:prstGeom prst="rect">
            <a:avLst/>
          </a:prstGeom>
          <a:noFill/>
        </p:spPr>
        <p:txBody>
          <a:bodyPr wrap="square">
            <a:spAutoFit/>
          </a:bodyPr>
          <a:lstStyle/>
          <a:p>
            <a:r>
              <a:rPr lang="zh-CN" altLang="en-US" b="1" dirty="0"/>
              <a:t>第一个指标</a:t>
            </a:r>
            <a:r>
              <a:rPr lang="zh-CN" altLang="en-US" dirty="0"/>
              <a:t>的定义如下：</a:t>
            </a:r>
          </a:p>
        </p:txBody>
      </p:sp>
      <p:pic>
        <p:nvPicPr>
          <p:cNvPr id="8" name="图片 7">
            <a:extLst>
              <a:ext uri="{FF2B5EF4-FFF2-40B4-BE49-F238E27FC236}">
                <a16:creationId xmlns:a16="http://schemas.microsoft.com/office/drawing/2014/main" id="{8C80FD08-60A7-8A7A-C0EB-E73E097DD5DB}"/>
              </a:ext>
            </a:extLst>
          </p:cNvPr>
          <p:cNvPicPr>
            <a:picLocks noChangeAspect="1"/>
          </p:cNvPicPr>
          <p:nvPr/>
        </p:nvPicPr>
        <p:blipFill>
          <a:blip r:embed="rId2"/>
          <a:srcRect l="1100" t="15639" r="1741" b="11976"/>
          <a:stretch>
            <a:fillRect/>
          </a:stretch>
        </p:blipFill>
        <p:spPr>
          <a:xfrm>
            <a:off x="3291191" y="1324699"/>
            <a:ext cx="6867728" cy="1089498"/>
          </a:xfrm>
          <a:prstGeom prst="rect">
            <a:avLst/>
          </a:prstGeom>
        </p:spPr>
      </p:pic>
      <p:pic>
        <p:nvPicPr>
          <p:cNvPr id="10" name="图片 9">
            <a:extLst>
              <a:ext uri="{FF2B5EF4-FFF2-40B4-BE49-F238E27FC236}">
                <a16:creationId xmlns:a16="http://schemas.microsoft.com/office/drawing/2014/main" id="{3F4C2800-EF42-A017-6273-184AC5FCE971}"/>
              </a:ext>
            </a:extLst>
          </p:cNvPr>
          <p:cNvPicPr>
            <a:picLocks noChangeAspect="1"/>
          </p:cNvPicPr>
          <p:nvPr/>
        </p:nvPicPr>
        <p:blipFill>
          <a:blip r:embed="rId3"/>
          <a:srcRect l="1800" t="14921" b="11447"/>
          <a:stretch>
            <a:fillRect/>
          </a:stretch>
        </p:blipFill>
        <p:spPr>
          <a:xfrm>
            <a:off x="4419600" y="3631659"/>
            <a:ext cx="6408046" cy="1031132"/>
          </a:xfrm>
          <a:prstGeom prst="rect">
            <a:avLst/>
          </a:prstGeom>
        </p:spPr>
      </p:pic>
      <p:sp>
        <p:nvSpPr>
          <p:cNvPr id="12" name="文本框 11">
            <a:extLst>
              <a:ext uri="{FF2B5EF4-FFF2-40B4-BE49-F238E27FC236}">
                <a16:creationId xmlns:a16="http://schemas.microsoft.com/office/drawing/2014/main" id="{D682CF0C-9236-E2C7-3475-DE73510DDEF7}"/>
              </a:ext>
            </a:extLst>
          </p:cNvPr>
          <p:cNvSpPr txBox="1"/>
          <p:nvPr/>
        </p:nvSpPr>
        <p:spPr>
          <a:xfrm>
            <a:off x="296694" y="2789303"/>
            <a:ext cx="10299970" cy="646331"/>
          </a:xfrm>
          <a:prstGeom prst="rect">
            <a:avLst/>
          </a:prstGeom>
          <a:noFill/>
        </p:spPr>
        <p:txBody>
          <a:bodyPr wrap="square">
            <a:spAutoFit/>
          </a:bodyPr>
          <a:lstStyle/>
          <a:p>
            <a:r>
              <a:rPr lang="zh-CN" altLang="en-US" dirty="0"/>
              <a:t>将该指标与阈值</a:t>
            </a:r>
            <a:r>
              <a:rPr lang="en-US" altLang="zh-CN" dirty="0" err="1"/>
              <a:t>tvalue</a:t>
            </a:r>
            <a:r>
              <a:rPr lang="en-US" altLang="zh-CN" dirty="0"/>
              <a:t>​</a:t>
            </a:r>
            <a:r>
              <a:rPr lang="zh-CN" altLang="en-US" dirty="0"/>
              <a:t>进行对比，本文中保守地将该阈值设为 </a:t>
            </a:r>
            <a:r>
              <a:rPr lang="en-US" altLang="zh-CN" dirty="0"/>
              <a:t>0.5</a:t>
            </a:r>
            <a:r>
              <a:rPr lang="zh-CN" altLang="en-US" dirty="0"/>
              <a:t>。</a:t>
            </a:r>
            <a:endParaRPr lang="en-US" altLang="zh-CN" dirty="0"/>
          </a:p>
          <a:p>
            <a:r>
              <a:rPr lang="zh-CN" altLang="en-US" dirty="0"/>
              <a:t>若该指标大于阈值，说明候选字段生成了过多的聚类，其成为真实关键字段的概率更低。</a:t>
            </a:r>
          </a:p>
        </p:txBody>
      </p:sp>
      <p:sp>
        <p:nvSpPr>
          <p:cNvPr id="14" name="文本框 13">
            <a:extLst>
              <a:ext uri="{FF2B5EF4-FFF2-40B4-BE49-F238E27FC236}">
                <a16:creationId xmlns:a16="http://schemas.microsoft.com/office/drawing/2014/main" id="{A6DFD015-A9B9-4BA6-505B-86F8A1E3D918}"/>
              </a:ext>
            </a:extLst>
          </p:cNvPr>
          <p:cNvSpPr txBox="1"/>
          <p:nvPr/>
        </p:nvSpPr>
        <p:spPr>
          <a:xfrm>
            <a:off x="296694" y="3731946"/>
            <a:ext cx="6118698" cy="646331"/>
          </a:xfrm>
          <a:prstGeom prst="rect">
            <a:avLst/>
          </a:prstGeom>
          <a:noFill/>
        </p:spPr>
        <p:txBody>
          <a:bodyPr wrap="square">
            <a:spAutoFit/>
          </a:bodyPr>
          <a:lstStyle/>
          <a:p>
            <a:r>
              <a:rPr lang="zh-CN" altLang="en-US" b="1" dirty="0"/>
              <a:t>第二个指标</a:t>
            </a:r>
            <a:endParaRPr lang="en-US" altLang="zh-CN" b="1" dirty="0"/>
          </a:p>
          <a:p>
            <a:r>
              <a:rPr lang="zh-CN" altLang="en-US" dirty="0"/>
              <a:t>是单报文聚类占总聚类数量的比例：</a:t>
            </a:r>
          </a:p>
        </p:txBody>
      </p:sp>
      <p:sp>
        <p:nvSpPr>
          <p:cNvPr id="16" name="文本框 15">
            <a:extLst>
              <a:ext uri="{FF2B5EF4-FFF2-40B4-BE49-F238E27FC236}">
                <a16:creationId xmlns:a16="http://schemas.microsoft.com/office/drawing/2014/main" id="{B96B995C-801B-0E10-0BE1-BCB768A12331}"/>
              </a:ext>
            </a:extLst>
          </p:cNvPr>
          <p:cNvSpPr txBox="1"/>
          <p:nvPr/>
        </p:nvSpPr>
        <p:spPr>
          <a:xfrm>
            <a:off x="296694" y="4674150"/>
            <a:ext cx="6118698" cy="369332"/>
          </a:xfrm>
          <a:prstGeom prst="rect">
            <a:avLst/>
          </a:prstGeom>
          <a:noFill/>
        </p:spPr>
        <p:txBody>
          <a:bodyPr wrap="square">
            <a:spAutoFit/>
          </a:bodyPr>
          <a:lstStyle/>
          <a:p>
            <a:r>
              <a:rPr lang="zh-CN" altLang="en-US" dirty="0"/>
              <a:t>该指标同样与阈值</a:t>
            </a:r>
            <a:r>
              <a:rPr lang="en-US" altLang="zh-CN" dirty="0" err="1"/>
              <a:t>tsingle</a:t>
            </a:r>
            <a:r>
              <a:rPr lang="en-US" altLang="zh-CN" dirty="0"/>
              <a:t>​</a:t>
            </a:r>
            <a:r>
              <a:rPr lang="zh-CN" altLang="en-US" dirty="0"/>
              <a:t>对比，本文中该阈值也设为 </a:t>
            </a:r>
            <a:r>
              <a:rPr lang="en-US" altLang="zh-CN" dirty="0"/>
              <a:t>0.5</a:t>
            </a:r>
            <a:r>
              <a:rPr lang="zh-CN" altLang="en-US" dirty="0"/>
              <a:t>。</a:t>
            </a:r>
          </a:p>
        </p:txBody>
      </p:sp>
      <p:sp>
        <p:nvSpPr>
          <p:cNvPr id="18" name="文本框 17">
            <a:extLst>
              <a:ext uri="{FF2B5EF4-FFF2-40B4-BE49-F238E27FC236}">
                <a16:creationId xmlns:a16="http://schemas.microsoft.com/office/drawing/2014/main" id="{4E92C662-0A8A-F122-DBD7-0849D57A5AF6}"/>
              </a:ext>
            </a:extLst>
          </p:cNvPr>
          <p:cNvSpPr txBox="1"/>
          <p:nvPr/>
        </p:nvSpPr>
        <p:spPr>
          <a:xfrm>
            <a:off x="296694" y="5601162"/>
            <a:ext cx="10852014" cy="369332"/>
          </a:xfrm>
          <a:prstGeom prst="rect">
            <a:avLst/>
          </a:prstGeom>
          <a:noFill/>
        </p:spPr>
        <p:txBody>
          <a:bodyPr wrap="square">
            <a:spAutoFit/>
          </a:bodyPr>
          <a:lstStyle/>
          <a:p>
            <a:r>
              <a:rPr lang="zh-CN" altLang="en-US" dirty="0"/>
              <a:t>若两个指标的取值均小于对应阈值，则为维度约束</a:t>
            </a:r>
            <a:r>
              <a:rPr lang="en-US" altLang="zh-CN" dirty="0"/>
              <a:t>(pd)</a:t>
            </a:r>
            <a:r>
              <a:rPr lang="zh-CN" altLang="en-US" dirty="0"/>
              <a:t>赋予高概率（如</a:t>
            </a:r>
            <a:r>
              <a:rPr lang="en-US" altLang="zh-CN" dirty="0"/>
              <a:t>0.95</a:t>
            </a:r>
            <a:r>
              <a:rPr lang="zh-CN" altLang="en-US" dirty="0"/>
              <a:t>），否则设为低概率（如 </a:t>
            </a:r>
            <a:r>
              <a:rPr lang="en-US" altLang="zh-CN" dirty="0"/>
              <a:t>0.1</a:t>
            </a:r>
            <a:r>
              <a:rPr lang="zh-CN" altLang="en-US" dirty="0"/>
              <a:t>）</a:t>
            </a:r>
          </a:p>
        </p:txBody>
      </p:sp>
    </p:spTree>
    <p:extLst>
      <p:ext uri="{BB962C8B-B14F-4D97-AF65-F5344CB8AC3E}">
        <p14:creationId xmlns:p14="http://schemas.microsoft.com/office/powerpoint/2010/main" val="2461997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059D75F-0820-D671-3AFA-B2BD5355B7F6}"/>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2.3.5 </a:t>
            </a:r>
            <a:r>
              <a:rPr lang="zh-CN" altLang="en-US" b="1" dirty="0">
                <a:solidFill>
                  <a:schemeClr val="accent5"/>
                </a:solidFill>
              </a:rPr>
              <a:t>概率推理（</a:t>
            </a:r>
            <a:r>
              <a:rPr lang="en-US" altLang="zh-CN" b="1" dirty="0">
                <a:solidFill>
                  <a:schemeClr val="accent5"/>
                </a:solidFill>
              </a:rPr>
              <a:t>1</a:t>
            </a:r>
            <a:r>
              <a:rPr lang="zh-CN" altLang="en-US" b="1" dirty="0">
                <a:solidFill>
                  <a:schemeClr val="accent5"/>
                </a:solidFill>
              </a:rPr>
              <a:t>）</a:t>
            </a:r>
          </a:p>
        </p:txBody>
      </p:sp>
      <p:sp>
        <p:nvSpPr>
          <p:cNvPr id="4" name="文本框 3">
            <a:extLst>
              <a:ext uri="{FF2B5EF4-FFF2-40B4-BE49-F238E27FC236}">
                <a16:creationId xmlns:a16="http://schemas.microsoft.com/office/drawing/2014/main" id="{B94196AF-6401-DFA7-E002-37288DE602D6}"/>
              </a:ext>
            </a:extLst>
          </p:cNvPr>
          <p:cNvSpPr txBox="1"/>
          <p:nvPr/>
        </p:nvSpPr>
        <p:spPr>
          <a:xfrm>
            <a:off x="393970" y="447659"/>
            <a:ext cx="11143034" cy="1754326"/>
          </a:xfrm>
          <a:prstGeom prst="rect">
            <a:avLst/>
          </a:prstGeom>
          <a:noFill/>
        </p:spPr>
        <p:txBody>
          <a:bodyPr wrap="square">
            <a:spAutoFit/>
          </a:bodyPr>
          <a:lstStyle/>
          <a:p>
            <a:r>
              <a:rPr lang="en-US" altLang="zh-CN" b="1" dirty="0"/>
              <a:t>(1) </a:t>
            </a:r>
            <a:r>
              <a:rPr lang="zh-CN" altLang="en-US" b="1" dirty="0"/>
              <a:t>归一化</a:t>
            </a:r>
          </a:p>
          <a:p>
            <a:r>
              <a:rPr lang="zh-CN" altLang="en-US" dirty="0"/>
              <a:t>四类观测约束通过不同的指标表征，其数值并非通用的概率，且分布存在显著差异。</a:t>
            </a:r>
            <a:endParaRPr lang="en-US" altLang="zh-CN" dirty="0"/>
          </a:p>
          <a:p>
            <a:r>
              <a:rPr lang="zh-CN" altLang="en-US" dirty="0"/>
              <a:t>例如，</a:t>
            </a:r>
            <a:r>
              <a:rPr lang="en-US" altLang="zh-CN" dirty="0"/>
              <a:t>EER </a:t>
            </a:r>
            <a:r>
              <a:rPr lang="zh-CN" altLang="en-US" dirty="0"/>
              <a:t>通常分布在 </a:t>
            </a:r>
            <a:r>
              <a:rPr lang="en-US" altLang="zh-CN" dirty="0"/>
              <a:t>[0.3, 0.6] </a:t>
            </a:r>
            <a:r>
              <a:rPr lang="zh-CN" altLang="en-US" dirty="0"/>
              <a:t>区间内，而双端耦合约束的</a:t>
            </a:r>
            <a:r>
              <a:rPr lang="en-US" altLang="zh-CN" dirty="0"/>
              <a:t>pr​</a:t>
            </a:r>
            <a:r>
              <a:rPr lang="zh-CN" altLang="en-US" dirty="0"/>
              <a:t>最高可达 </a:t>
            </a:r>
            <a:r>
              <a:rPr lang="en-US" altLang="zh-CN" dirty="0"/>
              <a:t>1</a:t>
            </a:r>
            <a:r>
              <a:rPr lang="zh-CN" altLang="en-US" dirty="0"/>
              <a:t>。</a:t>
            </a:r>
            <a:endParaRPr lang="en-US" altLang="zh-CN" dirty="0"/>
          </a:p>
          <a:p>
            <a:r>
              <a:rPr lang="zh-CN" altLang="en-US" dirty="0"/>
              <a:t>若某一类观测约束的概率被限制在较小区间内，其在概率推理中的作用会弱于其他约束。</a:t>
            </a:r>
            <a:endParaRPr lang="en-US" altLang="zh-CN" dirty="0"/>
          </a:p>
          <a:p>
            <a:endParaRPr lang="zh-CN" altLang="en-US" dirty="0"/>
          </a:p>
          <a:p>
            <a:r>
              <a:rPr lang="zh-CN" altLang="en-US" dirty="0"/>
              <a:t>为避免该问题，在执行概率推理前，将所有候选字段的同类型约束概率，归一化到同一区间（如 </a:t>
            </a:r>
            <a:r>
              <a:rPr lang="en-US" altLang="zh-CN" dirty="0"/>
              <a:t>[0.1, 0.95]</a:t>
            </a:r>
            <a:r>
              <a:rPr lang="zh-CN" altLang="en-US" dirty="0"/>
              <a:t>）。</a:t>
            </a:r>
          </a:p>
        </p:txBody>
      </p:sp>
      <p:sp>
        <p:nvSpPr>
          <p:cNvPr id="6" name="文本框 5">
            <a:extLst>
              <a:ext uri="{FF2B5EF4-FFF2-40B4-BE49-F238E27FC236}">
                <a16:creationId xmlns:a16="http://schemas.microsoft.com/office/drawing/2014/main" id="{5B12A02A-32C5-2D8F-9F6C-81A7A3A7B806}"/>
              </a:ext>
            </a:extLst>
          </p:cNvPr>
          <p:cNvSpPr txBox="1"/>
          <p:nvPr/>
        </p:nvSpPr>
        <p:spPr>
          <a:xfrm>
            <a:off x="393969" y="2499717"/>
            <a:ext cx="10786353" cy="923330"/>
          </a:xfrm>
          <a:prstGeom prst="rect">
            <a:avLst/>
          </a:prstGeom>
          <a:noFill/>
        </p:spPr>
        <p:txBody>
          <a:bodyPr wrap="square">
            <a:spAutoFit/>
          </a:bodyPr>
          <a:lstStyle/>
          <a:p>
            <a:r>
              <a:rPr lang="zh-CN" altLang="en-US" b="1" dirty="0"/>
              <a:t>（</a:t>
            </a:r>
            <a:r>
              <a:rPr lang="en-US" altLang="zh-CN" b="1" dirty="0"/>
              <a:t>2</a:t>
            </a:r>
            <a:r>
              <a:rPr lang="zh-CN" altLang="en-US" b="1" dirty="0"/>
              <a:t>）概率推理</a:t>
            </a:r>
          </a:p>
          <a:p>
            <a:r>
              <a:rPr lang="zh-CN" altLang="en-US" dirty="0"/>
              <a:t>考量所有约束，构建联合分布。用布尔变量</a:t>
            </a:r>
            <a:r>
              <a:rPr lang="en-US" altLang="zh-CN" dirty="0"/>
              <a:t>k</a:t>
            </a:r>
            <a:r>
              <a:rPr lang="zh-CN" altLang="en-US" dirty="0"/>
              <a:t>表示关键字段谓词，</a:t>
            </a:r>
            <a:r>
              <a:rPr lang="en-US" altLang="zh-CN" dirty="0"/>
              <a:t>xi​</a:t>
            </a:r>
            <a:r>
              <a:rPr lang="zh-CN" altLang="en-US" dirty="0"/>
              <a:t>表示表 </a:t>
            </a:r>
            <a:r>
              <a:rPr lang="en-US" altLang="zh-CN" dirty="0"/>
              <a:t>I </a:t>
            </a:r>
            <a:r>
              <a:rPr lang="zh-CN" altLang="en-US" dirty="0"/>
              <a:t>中的观测谓词，所有约束均可表示为基于布尔变量的概率函数。</a:t>
            </a:r>
            <a:endParaRPr lang="en-US" altLang="zh-CN" dirty="0"/>
          </a:p>
        </p:txBody>
      </p:sp>
      <p:pic>
        <p:nvPicPr>
          <p:cNvPr id="14" name="图片 13">
            <a:extLst>
              <a:ext uri="{FF2B5EF4-FFF2-40B4-BE49-F238E27FC236}">
                <a16:creationId xmlns:a16="http://schemas.microsoft.com/office/drawing/2014/main" id="{5B105B4E-7392-2927-4758-5A4073EA86C9}"/>
              </a:ext>
            </a:extLst>
          </p:cNvPr>
          <p:cNvPicPr>
            <a:picLocks noChangeAspect="1"/>
          </p:cNvPicPr>
          <p:nvPr/>
        </p:nvPicPr>
        <p:blipFill>
          <a:blip r:embed="rId2"/>
          <a:stretch>
            <a:fillRect/>
          </a:stretch>
        </p:blipFill>
        <p:spPr>
          <a:xfrm>
            <a:off x="487833" y="3535675"/>
            <a:ext cx="3753427" cy="1268953"/>
          </a:xfrm>
          <a:prstGeom prst="rect">
            <a:avLst/>
          </a:prstGeom>
        </p:spPr>
      </p:pic>
      <p:pic>
        <p:nvPicPr>
          <p:cNvPr id="16" name="图片 15">
            <a:extLst>
              <a:ext uri="{FF2B5EF4-FFF2-40B4-BE49-F238E27FC236}">
                <a16:creationId xmlns:a16="http://schemas.microsoft.com/office/drawing/2014/main" id="{7EEB5999-D88F-22D2-955A-0030BBACF36B}"/>
              </a:ext>
            </a:extLst>
          </p:cNvPr>
          <p:cNvPicPr>
            <a:picLocks noChangeAspect="1"/>
          </p:cNvPicPr>
          <p:nvPr/>
        </p:nvPicPr>
        <p:blipFill>
          <a:blip r:embed="rId3"/>
          <a:stretch>
            <a:fillRect/>
          </a:stretch>
        </p:blipFill>
        <p:spPr>
          <a:xfrm>
            <a:off x="4958530" y="3535675"/>
            <a:ext cx="3542210" cy="1268953"/>
          </a:xfrm>
          <a:prstGeom prst="rect">
            <a:avLst/>
          </a:prstGeom>
        </p:spPr>
      </p:pic>
      <p:pic>
        <p:nvPicPr>
          <p:cNvPr id="18" name="图片 17">
            <a:extLst>
              <a:ext uri="{FF2B5EF4-FFF2-40B4-BE49-F238E27FC236}">
                <a16:creationId xmlns:a16="http://schemas.microsoft.com/office/drawing/2014/main" id="{24F997DC-C5AD-0230-B754-C44704E3068F}"/>
              </a:ext>
            </a:extLst>
          </p:cNvPr>
          <p:cNvPicPr>
            <a:picLocks noChangeAspect="1"/>
          </p:cNvPicPr>
          <p:nvPr/>
        </p:nvPicPr>
        <p:blipFill>
          <a:blip r:embed="rId4"/>
          <a:stretch>
            <a:fillRect/>
          </a:stretch>
        </p:blipFill>
        <p:spPr>
          <a:xfrm>
            <a:off x="487833" y="5252262"/>
            <a:ext cx="6976524" cy="1036188"/>
          </a:xfrm>
          <a:prstGeom prst="rect">
            <a:avLst/>
          </a:prstGeom>
        </p:spPr>
      </p:pic>
      <p:pic>
        <p:nvPicPr>
          <p:cNvPr id="20" name="图片 19">
            <a:extLst>
              <a:ext uri="{FF2B5EF4-FFF2-40B4-BE49-F238E27FC236}">
                <a16:creationId xmlns:a16="http://schemas.microsoft.com/office/drawing/2014/main" id="{8032737D-55D2-329D-5BC6-A4F93C2E8C23}"/>
              </a:ext>
            </a:extLst>
          </p:cNvPr>
          <p:cNvPicPr>
            <a:picLocks noChangeAspect="1"/>
          </p:cNvPicPr>
          <p:nvPr/>
        </p:nvPicPr>
        <p:blipFill>
          <a:blip r:embed="rId5"/>
          <a:stretch>
            <a:fillRect/>
          </a:stretch>
        </p:blipFill>
        <p:spPr>
          <a:xfrm>
            <a:off x="7795098" y="5277052"/>
            <a:ext cx="4274119" cy="1133289"/>
          </a:xfrm>
          <a:prstGeom prst="rect">
            <a:avLst/>
          </a:prstGeom>
        </p:spPr>
      </p:pic>
    </p:spTree>
    <p:extLst>
      <p:ext uri="{BB962C8B-B14F-4D97-AF65-F5344CB8AC3E}">
        <p14:creationId xmlns:p14="http://schemas.microsoft.com/office/powerpoint/2010/main" val="2695861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B964798-6D11-3D42-1B9C-C5368E1A5F21}"/>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2.3.5 </a:t>
            </a:r>
            <a:r>
              <a:rPr lang="zh-CN" altLang="en-US" b="1" dirty="0">
                <a:solidFill>
                  <a:schemeClr val="accent5"/>
                </a:solidFill>
              </a:rPr>
              <a:t>概率推理（</a:t>
            </a:r>
            <a:r>
              <a:rPr lang="en-US" altLang="zh-CN" b="1" dirty="0">
                <a:solidFill>
                  <a:schemeClr val="accent5"/>
                </a:solidFill>
              </a:rPr>
              <a:t>2</a:t>
            </a:r>
            <a:r>
              <a:rPr lang="zh-CN" altLang="en-US" b="1" dirty="0">
                <a:solidFill>
                  <a:schemeClr val="accent5"/>
                </a:solidFill>
              </a:rPr>
              <a:t>）</a:t>
            </a:r>
          </a:p>
        </p:txBody>
      </p:sp>
      <p:sp>
        <p:nvSpPr>
          <p:cNvPr id="4" name="文本框 3">
            <a:extLst>
              <a:ext uri="{FF2B5EF4-FFF2-40B4-BE49-F238E27FC236}">
                <a16:creationId xmlns:a16="http://schemas.microsoft.com/office/drawing/2014/main" id="{9E238EF7-4B74-489E-E049-27E37312AD61}"/>
              </a:ext>
            </a:extLst>
          </p:cNvPr>
          <p:cNvSpPr txBox="1"/>
          <p:nvPr/>
        </p:nvSpPr>
        <p:spPr>
          <a:xfrm>
            <a:off x="406941" y="1147864"/>
            <a:ext cx="4469860" cy="4524315"/>
          </a:xfrm>
          <a:prstGeom prst="rect">
            <a:avLst/>
          </a:prstGeom>
          <a:noFill/>
        </p:spPr>
        <p:txBody>
          <a:bodyPr wrap="square">
            <a:spAutoFit/>
          </a:bodyPr>
          <a:lstStyle/>
          <a:p>
            <a:r>
              <a:rPr lang="zh-CN" altLang="en-US" dirty="0"/>
              <a:t>表 </a:t>
            </a:r>
            <a:r>
              <a:rPr lang="en-US" altLang="zh-CN" dirty="0"/>
              <a:t>I </a:t>
            </a:r>
            <a:r>
              <a:rPr lang="zh-CN" altLang="en-US" dirty="0"/>
              <a:t>的前三列定义了谓词、对应的符号与描述。每个谓词均为布尔值，与系统中的一个随机变量相关联。下文将不区分随机变量与谓词两个术语。</a:t>
            </a:r>
          </a:p>
          <a:p>
            <a:r>
              <a:rPr lang="zh-CN" altLang="en-US" dirty="0"/>
              <a:t>其中，关键字段谓词</a:t>
            </a:r>
            <a:r>
              <a:rPr lang="en-US" altLang="zh-CN" dirty="0"/>
              <a:t>K(f)</a:t>
            </a:r>
            <a:r>
              <a:rPr lang="zh-CN" altLang="en-US" dirty="0"/>
              <a:t>用于判断字段</a:t>
            </a:r>
            <a:r>
              <a:rPr lang="en-US" altLang="zh-CN" dirty="0"/>
              <a:t>f</a:t>
            </a:r>
            <a:r>
              <a:rPr lang="zh-CN" altLang="en-US" dirty="0"/>
              <a:t>是否为关键字段，其余谓词均用于表征观测特征：</a:t>
            </a:r>
          </a:p>
          <a:p>
            <a:endParaRPr lang="zh-CN" altLang="en-US" dirty="0"/>
          </a:p>
          <a:p>
            <a:r>
              <a:rPr lang="en-US" altLang="zh-CN" dirty="0"/>
              <a:t>M(</a:t>
            </a:r>
            <a:r>
              <a:rPr lang="en-US" altLang="zh-CN" dirty="0" err="1"/>
              <a:t>f,c</a:t>
            </a:r>
            <a:r>
              <a:rPr lang="en-US" altLang="zh-CN" dirty="0"/>
              <a:t>)</a:t>
            </a:r>
            <a:r>
              <a:rPr lang="zh-CN" altLang="en-US" dirty="0"/>
              <a:t>：以</a:t>
            </a:r>
            <a:r>
              <a:rPr lang="en-US" altLang="zh-CN" dirty="0"/>
              <a:t>f</a:t>
            </a:r>
            <a:r>
              <a:rPr lang="zh-CN" altLang="en-US" dirty="0"/>
              <a:t>为关键字段生成的聚类</a:t>
            </a:r>
            <a:r>
              <a:rPr lang="en-US" altLang="zh-CN" dirty="0"/>
              <a:t>c</a:t>
            </a:r>
            <a:r>
              <a:rPr lang="zh-CN" altLang="en-US" dirty="0"/>
              <a:t>中，报文的类内相似度高于类间相似度；</a:t>
            </a:r>
          </a:p>
          <a:p>
            <a:r>
              <a:rPr lang="en-US" altLang="zh-CN" dirty="0"/>
              <a:t>R(</a:t>
            </a:r>
            <a:r>
              <a:rPr lang="en-US" altLang="zh-CN" dirty="0" err="1"/>
              <a:t>f,c</a:t>
            </a:r>
            <a:r>
              <a:rPr lang="en-US" altLang="zh-CN" dirty="0"/>
              <a:t>)</a:t>
            </a:r>
            <a:r>
              <a:rPr lang="zh-CN" altLang="en-US" dirty="0"/>
              <a:t>：聚类</a:t>
            </a:r>
            <a:r>
              <a:rPr lang="en-US" altLang="zh-CN" dirty="0"/>
              <a:t>c</a:t>
            </a:r>
            <a:r>
              <a:rPr lang="zh-CN" altLang="en-US" dirty="0"/>
              <a:t>中的报文，其对端的对应报文均属于同一个聚类；</a:t>
            </a:r>
          </a:p>
          <a:p>
            <a:r>
              <a:rPr lang="en-US" altLang="zh-CN" dirty="0"/>
              <a:t>S(</a:t>
            </a:r>
            <a:r>
              <a:rPr lang="en-US" altLang="zh-CN" dirty="0" err="1"/>
              <a:t>f,c</a:t>
            </a:r>
            <a:r>
              <a:rPr lang="en-US" altLang="zh-CN" dirty="0"/>
              <a:t>)</a:t>
            </a:r>
            <a:r>
              <a:rPr lang="zh-CN" altLang="en-US" dirty="0"/>
              <a:t>：聚类</a:t>
            </a:r>
            <a:r>
              <a:rPr lang="en-US" altLang="zh-CN" dirty="0"/>
              <a:t>c</a:t>
            </a:r>
            <a:r>
              <a:rPr lang="zh-CN" altLang="en-US" dirty="0"/>
              <a:t>中的报文拥有相似的字段结构；</a:t>
            </a:r>
          </a:p>
          <a:p>
            <a:r>
              <a:rPr lang="en-US" altLang="zh-CN" dirty="0"/>
              <a:t>D(f)</a:t>
            </a:r>
            <a:r>
              <a:rPr lang="zh-CN" altLang="en-US" dirty="0"/>
              <a:t>：全局约束谓词，表征以</a:t>
            </a:r>
            <a:r>
              <a:rPr lang="en-US" altLang="zh-CN" dirty="0"/>
              <a:t>f</a:t>
            </a:r>
            <a:r>
              <a:rPr lang="zh-CN" altLang="en-US" dirty="0"/>
              <a:t>为关键字段不会生成过量聚类，且每个聚类都包含足够数量的报文。</a:t>
            </a:r>
          </a:p>
        </p:txBody>
      </p:sp>
      <p:pic>
        <p:nvPicPr>
          <p:cNvPr id="6" name="图片 5">
            <a:extLst>
              <a:ext uri="{FF2B5EF4-FFF2-40B4-BE49-F238E27FC236}">
                <a16:creationId xmlns:a16="http://schemas.microsoft.com/office/drawing/2014/main" id="{B96450D1-6FDB-4CF4-8582-8D03A26D709B}"/>
              </a:ext>
            </a:extLst>
          </p:cNvPr>
          <p:cNvPicPr>
            <a:picLocks noChangeAspect="1"/>
          </p:cNvPicPr>
          <p:nvPr/>
        </p:nvPicPr>
        <p:blipFill>
          <a:blip r:embed="rId2"/>
          <a:stretch>
            <a:fillRect/>
          </a:stretch>
        </p:blipFill>
        <p:spPr>
          <a:xfrm>
            <a:off x="5278877" y="1147864"/>
            <a:ext cx="6295031" cy="4462152"/>
          </a:xfrm>
          <a:prstGeom prst="rect">
            <a:avLst/>
          </a:prstGeom>
        </p:spPr>
      </p:pic>
    </p:spTree>
    <p:extLst>
      <p:ext uri="{BB962C8B-B14F-4D97-AF65-F5344CB8AC3E}">
        <p14:creationId xmlns:p14="http://schemas.microsoft.com/office/powerpoint/2010/main" val="2678276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B40930F-DA20-3756-CE0B-C21324282EAC}"/>
              </a:ext>
            </a:extLst>
          </p:cNvPr>
          <p:cNvSpPr txBox="1"/>
          <p:nvPr/>
        </p:nvSpPr>
        <p:spPr>
          <a:xfrm>
            <a:off x="0" y="0"/>
            <a:ext cx="6096000" cy="369332"/>
          </a:xfrm>
          <a:prstGeom prst="rect">
            <a:avLst/>
          </a:prstGeom>
          <a:noFill/>
        </p:spPr>
        <p:txBody>
          <a:bodyPr wrap="square">
            <a:spAutoFit/>
          </a:bodyPr>
          <a:lstStyle/>
          <a:p>
            <a:r>
              <a:rPr lang="en-US" altLang="zh-CN" b="1">
                <a:solidFill>
                  <a:schemeClr val="accent5"/>
                </a:solidFill>
              </a:rPr>
              <a:t>2.4 </a:t>
            </a:r>
            <a:r>
              <a:rPr lang="zh-CN" altLang="en-US" b="1">
                <a:solidFill>
                  <a:schemeClr val="accent5"/>
                </a:solidFill>
              </a:rPr>
              <a:t>迭代对齐和聚类</a:t>
            </a:r>
            <a:endParaRPr lang="zh-CN" altLang="en-US" b="1" dirty="0">
              <a:solidFill>
                <a:schemeClr val="accent5"/>
              </a:solidFill>
            </a:endParaRPr>
          </a:p>
        </p:txBody>
      </p:sp>
      <p:sp>
        <p:nvSpPr>
          <p:cNvPr id="4" name="文本框 3">
            <a:extLst>
              <a:ext uri="{FF2B5EF4-FFF2-40B4-BE49-F238E27FC236}">
                <a16:creationId xmlns:a16="http://schemas.microsoft.com/office/drawing/2014/main" id="{9C4E49FB-7B94-B4F0-96CB-1D21689C8805}"/>
              </a:ext>
            </a:extLst>
          </p:cNvPr>
          <p:cNvSpPr txBox="1"/>
          <p:nvPr/>
        </p:nvSpPr>
        <p:spPr>
          <a:xfrm>
            <a:off x="484760" y="643115"/>
            <a:ext cx="10358337" cy="369332"/>
          </a:xfrm>
          <a:prstGeom prst="rect">
            <a:avLst/>
          </a:prstGeom>
          <a:noFill/>
        </p:spPr>
        <p:txBody>
          <a:bodyPr wrap="square">
            <a:spAutoFit/>
          </a:bodyPr>
          <a:lstStyle/>
          <a:p>
            <a:r>
              <a:rPr lang="zh-CN" altLang="en-US" dirty="0"/>
              <a:t>多序列比对（</a:t>
            </a:r>
            <a:r>
              <a:rPr lang="en-US" altLang="zh-CN" dirty="0"/>
              <a:t>MSA</a:t>
            </a:r>
            <a:r>
              <a:rPr lang="zh-CN" altLang="en-US" dirty="0"/>
              <a:t>）本身也具有内在不确定性，因此它在初始阶段未必就能产生我们期望的对齐结果。</a:t>
            </a:r>
          </a:p>
        </p:txBody>
      </p:sp>
      <p:sp>
        <p:nvSpPr>
          <p:cNvPr id="6" name="文本框 5">
            <a:extLst>
              <a:ext uri="{FF2B5EF4-FFF2-40B4-BE49-F238E27FC236}">
                <a16:creationId xmlns:a16="http://schemas.microsoft.com/office/drawing/2014/main" id="{2CD40D2A-10B4-31CD-EA1A-6411A9684CFD}"/>
              </a:ext>
            </a:extLst>
          </p:cNvPr>
          <p:cNvSpPr txBox="1"/>
          <p:nvPr/>
        </p:nvSpPr>
        <p:spPr>
          <a:xfrm>
            <a:off x="4677381" y="1286230"/>
            <a:ext cx="1973094" cy="369332"/>
          </a:xfrm>
          <a:prstGeom prst="rect">
            <a:avLst/>
          </a:prstGeom>
          <a:noFill/>
        </p:spPr>
        <p:txBody>
          <a:bodyPr wrap="square">
            <a:spAutoFit/>
          </a:bodyPr>
          <a:lstStyle/>
          <a:p>
            <a:pPr algn="ctr"/>
            <a:r>
              <a:rPr lang="zh-CN" altLang="en-US" dirty="0"/>
              <a:t>初始 </a:t>
            </a:r>
            <a:r>
              <a:rPr lang="en-US" altLang="zh-CN" dirty="0"/>
              <a:t>MSA </a:t>
            </a:r>
            <a:r>
              <a:rPr lang="zh-CN" altLang="en-US" dirty="0"/>
              <a:t>可能错</a:t>
            </a:r>
          </a:p>
        </p:txBody>
      </p:sp>
      <p:sp>
        <p:nvSpPr>
          <p:cNvPr id="7" name="箭头: 下 6">
            <a:extLst>
              <a:ext uri="{FF2B5EF4-FFF2-40B4-BE49-F238E27FC236}">
                <a16:creationId xmlns:a16="http://schemas.microsoft.com/office/drawing/2014/main" id="{983F6CD1-2CDE-C10B-2772-CAA24A64F37E}"/>
              </a:ext>
            </a:extLst>
          </p:cNvPr>
          <p:cNvSpPr/>
          <p:nvPr/>
        </p:nvSpPr>
        <p:spPr>
          <a:xfrm>
            <a:off x="5549626" y="1744679"/>
            <a:ext cx="233464" cy="3693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0522E949-622C-2EB2-907B-8C2B557BAFEA}"/>
              </a:ext>
            </a:extLst>
          </p:cNvPr>
          <p:cNvSpPr txBox="1"/>
          <p:nvPr/>
        </p:nvSpPr>
        <p:spPr>
          <a:xfrm>
            <a:off x="3487769" y="2203128"/>
            <a:ext cx="4352318" cy="369332"/>
          </a:xfrm>
          <a:prstGeom prst="rect">
            <a:avLst/>
          </a:prstGeom>
          <a:noFill/>
        </p:spPr>
        <p:txBody>
          <a:bodyPr wrap="square">
            <a:spAutoFit/>
          </a:bodyPr>
          <a:lstStyle/>
          <a:p>
            <a:pPr algn="ctr"/>
            <a:r>
              <a:rPr lang="zh-CN" altLang="en-US" dirty="0"/>
              <a:t>即使错，初始聚类也会减少簇内结构差异</a:t>
            </a:r>
          </a:p>
        </p:txBody>
      </p:sp>
      <p:sp>
        <p:nvSpPr>
          <p:cNvPr id="11" name="文本框 10">
            <a:extLst>
              <a:ext uri="{FF2B5EF4-FFF2-40B4-BE49-F238E27FC236}">
                <a16:creationId xmlns:a16="http://schemas.microsoft.com/office/drawing/2014/main" id="{7A4790B3-392C-8CAF-BFB4-8C53C4AB7526}"/>
              </a:ext>
            </a:extLst>
          </p:cNvPr>
          <p:cNvSpPr txBox="1"/>
          <p:nvPr/>
        </p:nvSpPr>
        <p:spPr>
          <a:xfrm>
            <a:off x="3516547" y="3344615"/>
            <a:ext cx="4294762" cy="369332"/>
          </a:xfrm>
          <a:prstGeom prst="rect">
            <a:avLst/>
          </a:prstGeom>
          <a:noFill/>
        </p:spPr>
        <p:txBody>
          <a:bodyPr wrap="square">
            <a:spAutoFit/>
          </a:bodyPr>
          <a:lstStyle/>
          <a:p>
            <a:pPr algn="ctr"/>
            <a:r>
              <a:rPr lang="zh-CN" altLang="en-US" dirty="0"/>
              <a:t>在更纯净的簇内重新 </a:t>
            </a:r>
            <a:r>
              <a:rPr lang="en-US" altLang="zh-CN" dirty="0"/>
              <a:t>MSA </a:t>
            </a:r>
            <a:r>
              <a:rPr lang="zh-CN" altLang="en-US" dirty="0"/>
              <a:t>与识别关键词</a:t>
            </a:r>
          </a:p>
        </p:txBody>
      </p:sp>
      <p:sp>
        <p:nvSpPr>
          <p:cNvPr id="12" name="箭头: 下 11">
            <a:extLst>
              <a:ext uri="{FF2B5EF4-FFF2-40B4-BE49-F238E27FC236}">
                <a16:creationId xmlns:a16="http://schemas.microsoft.com/office/drawing/2014/main" id="{A31CA6FA-56A3-2206-F0C7-6C61814187E9}"/>
              </a:ext>
            </a:extLst>
          </p:cNvPr>
          <p:cNvSpPr/>
          <p:nvPr/>
        </p:nvSpPr>
        <p:spPr>
          <a:xfrm>
            <a:off x="5547196" y="2774722"/>
            <a:ext cx="233464" cy="3693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CCBCE5BA-08DE-D634-33EC-BA596340D16C}"/>
              </a:ext>
            </a:extLst>
          </p:cNvPr>
          <p:cNvSpPr txBox="1"/>
          <p:nvPr/>
        </p:nvSpPr>
        <p:spPr>
          <a:xfrm>
            <a:off x="4437432" y="4419759"/>
            <a:ext cx="2452992" cy="369332"/>
          </a:xfrm>
          <a:prstGeom prst="rect">
            <a:avLst/>
          </a:prstGeom>
          <a:noFill/>
        </p:spPr>
        <p:txBody>
          <a:bodyPr wrap="square">
            <a:spAutoFit/>
          </a:bodyPr>
          <a:lstStyle/>
          <a:p>
            <a:pPr algn="ctr"/>
            <a:r>
              <a:rPr lang="zh-CN" altLang="en-US" dirty="0"/>
              <a:t>若全局更优则替换</a:t>
            </a:r>
          </a:p>
        </p:txBody>
      </p:sp>
      <p:sp>
        <p:nvSpPr>
          <p:cNvPr id="15" name="箭头: 下 14">
            <a:extLst>
              <a:ext uri="{FF2B5EF4-FFF2-40B4-BE49-F238E27FC236}">
                <a16:creationId xmlns:a16="http://schemas.microsoft.com/office/drawing/2014/main" id="{9EEC0091-9026-8AE2-6BD9-6130AC6F29D8}"/>
              </a:ext>
            </a:extLst>
          </p:cNvPr>
          <p:cNvSpPr/>
          <p:nvPr/>
        </p:nvSpPr>
        <p:spPr>
          <a:xfrm>
            <a:off x="5547196" y="3914508"/>
            <a:ext cx="233464" cy="3693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47B5752C-DD03-E618-3684-218AEBDCB4C6}"/>
              </a:ext>
            </a:extLst>
          </p:cNvPr>
          <p:cNvSpPr txBox="1"/>
          <p:nvPr/>
        </p:nvSpPr>
        <p:spPr>
          <a:xfrm>
            <a:off x="4580104" y="5571770"/>
            <a:ext cx="2167647" cy="369332"/>
          </a:xfrm>
          <a:prstGeom prst="rect">
            <a:avLst/>
          </a:prstGeom>
          <a:noFill/>
        </p:spPr>
        <p:txBody>
          <a:bodyPr wrap="square">
            <a:spAutoFit/>
          </a:bodyPr>
          <a:lstStyle/>
          <a:p>
            <a:pPr algn="ctr"/>
            <a:r>
              <a:rPr lang="zh-CN" altLang="en-US" dirty="0"/>
              <a:t>反复迭代直到收敛</a:t>
            </a:r>
          </a:p>
        </p:txBody>
      </p:sp>
      <p:sp>
        <p:nvSpPr>
          <p:cNvPr id="18" name="箭头: 下 17">
            <a:extLst>
              <a:ext uri="{FF2B5EF4-FFF2-40B4-BE49-F238E27FC236}">
                <a16:creationId xmlns:a16="http://schemas.microsoft.com/office/drawing/2014/main" id="{E80A72D9-20EC-4E92-7B6C-438FEC5641F9}"/>
              </a:ext>
            </a:extLst>
          </p:cNvPr>
          <p:cNvSpPr/>
          <p:nvPr/>
        </p:nvSpPr>
        <p:spPr>
          <a:xfrm>
            <a:off x="5547195" y="5066519"/>
            <a:ext cx="233464" cy="3693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5489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E2234-0C02-954F-28F7-E5237B0BF55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2863EFD2-3730-581D-B0AD-2D17457563CC}"/>
              </a:ext>
            </a:extLst>
          </p:cNvPr>
          <p:cNvSpPr txBox="1"/>
          <p:nvPr/>
        </p:nvSpPr>
        <p:spPr>
          <a:xfrm>
            <a:off x="0" y="0"/>
            <a:ext cx="6096000" cy="369332"/>
          </a:xfrm>
          <a:prstGeom prst="rect">
            <a:avLst/>
          </a:prstGeom>
          <a:noFill/>
        </p:spPr>
        <p:txBody>
          <a:bodyPr wrap="square">
            <a:spAutoFit/>
          </a:bodyPr>
          <a:lstStyle/>
          <a:p>
            <a:r>
              <a:rPr lang="en-US" altLang="zh-CN" b="1">
                <a:solidFill>
                  <a:schemeClr val="accent5"/>
                </a:solidFill>
              </a:rPr>
              <a:t>2.5 </a:t>
            </a:r>
            <a:r>
              <a:rPr lang="zh-CN" altLang="en-US" b="1">
                <a:solidFill>
                  <a:schemeClr val="accent5"/>
                </a:solidFill>
              </a:rPr>
              <a:t>格式和状态机推理</a:t>
            </a:r>
            <a:endParaRPr lang="zh-CN" altLang="en-US" b="1" dirty="0">
              <a:solidFill>
                <a:schemeClr val="accent5"/>
              </a:solidFill>
            </a:endParaRPr>
          </a:p>
        </p:txBody>
      </p:sp>
      <p:sp>
        <p:nvSpPr>
          <p:cNvPr id="4" name="文本框 3">
            <a:extLst>
              <a:ext uri="{FF2B5EF4-FFF2-40B4-BE49-F238E27FC236}">
                <a16:creationId xmlns:a16="http://schemas.microsoft.com/office/drawing/2014/main" id="{77DB0748-07FF-E9AB-2A4C-0460B6DE05DD}"/>
              </a:ext>
            </a:extLst>
          </p:cNvPr>
          <p:cNvSpPr txBox="1"/>
          <p:nvPr/>
        </p:nvSpPr>
        <p:spPr>
          <a:xfrm>
            <a:off x="432880" y="561627"/>
            <a:ext cx="10890115" cy="1477328"/>
          </a:xfrm>
          <a:prstGeom prst="rect">
            <a:avLst/>
          </a:prstGeom>
          <a:noFill/>
        </p:spPr>
        <p:txBody>
          <a:bodyPr wrap="square">
            <a:spAutoFit/>
          </a:bodyPr>
          <a:lstStyle/>
          <a:p>
            <a:r>
              <a:rPr lang="zh-CN" altLang="en-US" dirty="0"/>
              <a:t>在多序列比对之后，每条消息都会被划分为若干个已对齐字段（例如图 </a:t>
            </a:r>
            <a:r>
              <a:rPr lang="en-US" altLang="zh-CN" dirty="0"/>
              <a:t>4a</a:t>
            </a:r>
            <a:r>
              <a:rPr lang="zh-CN" altLang="en-US" dirty="0"/>
              <a:t>）。</a:t>
            </a:r>
            <a:endParaRPr lang="en-US" altLang="zh-CN" dirty="0"/>
          </a:p>
          <a:p>
            <a:r>
              <a:rPr lang="zh-CN" altLang="en-US" dirty="0"/>
              <a:t>经过迭代式对齐与聚类之后，每一种消息类型的格式就可以通过汇总同一簇中所有消息的字段信息而被直接恢复出来。</a:t>
            </a:r>
            <a:endParaRPr lang="en-US" altLang="zh-CN" dirty="0"/>
          </a:p>
          <a:p>
            <a:r>
              <a:rPr lang="zh-CN" altLang="en-US" dirty="0"/>
              <a:t>这里的格式由字段的长度（</a:t>
            </a:r>
            <a:r>
              <a:rPr lang="en-US" altLang="zh-CN" dirty="0"/>
              <a:t>L</a:t>
            </a:r>
            <a:r>
              <a:rPr lang="zh-CN" altLang="en-US" dirty="0"/>
              <a:t>）、取值（</a:t>
            </a:r>
            <a:r>
              <a:rPr lang="en-US" altLang="zh-CN" dirty="0"/>
              <a:t>V</a:t>
            </a:r>
            <a:r>
              <a:rPr lang="zh-CN" altLang="en-US" dirty="0"/>
              <a:t>）以及字段类型来定义，其中 </a:t>
            </a:r>
            <a:r>
              <a:rPr lang="en-US" altLang="zh-CN" dirty="0"/>
              <a:t>S </a:t>
            </a:r>
            <a:r>
              <a:rPr lang="zh-CN" altLang="en-US" dirty="0"/>
              <a:t>表示静态字段（</a:t>
            </a:r>
            <a:r>
              <a:rPr lang="en-US" altLang="zh-CN" dirty="0"/>
              <a:t>static field</a:t>
            </a:r>
            <a:r>
              <a:rPr lang="zh-CN" altLang="en-US" dirty="0"/>
              <a:t>，即具有固定值的字段），</a:t>
            </a:r>
            <a:r>
              <a:rPr lang="en-US" altLang="zh-CN" dirty="0"/>
              <a:t>D </a:t>
            </a:r>
            <a:r>
              <a:rPr lang="zh-CN" altLang="en-US" dirty="0"/>
              <a:t>表示动态字段（</a:t>
            </a:r>
            <a:r>
              <a:rPr lang="en-US" altLang="zh-CN" dirty="0"/>
              <a:t>dynamic field</a:t>
            </a:r>
            <a:r>
              <a:rPr lang="zh-CN" altLang="en-US" dirty="0"/>
              <a:t>，即可能取多个值的字段）。</a:t>
            </a:r>
          </a:p>
        </p:txBody>
      </p:sp>
      <p:sp>
        <p:nvSpPr>
          <p:cNvPr id="6" name="文本框 5">
            <a:extLst>
              <a:ext uri="{FF2B5EF4-FFF2-40B4-BE49-F238E27FC236}">
                <a16:creationId xmlns:a16="http://schemas.microsoft.com/office/drawing/2014/main" id="{AE866FD7-F032-5EA3-AB96-648F01ACD8EB}"/>
              </a:ext>
            </a:extLst>
          </p:cNvPr>
          <p:cNvSpPr txBox="1"/>
          <p:nvPr/>
        </p:nvSpPr>
        <p:spPr>
          <a:xfrm>
            <a:off x="432878" y="4631004"/>
            <a:ext cx="11220858" cy="923330"/>
          </a:xfrm>
          <a:prstGeom prst="rect">
            <a:avLst/>
          </a:prstGeom>
          <a:noFill/>
        </p:spPr>
        <p:txBody>
          <a:bodyPr wrap="square">
            <a:spAutoFit/>
          </a:bodyPr>
          <a:lstStyle/>
          <a:p>
            <a:r>
              <a:rPr lang="zh-CN" altLang="en-US" dirty="0"/>
              <a:t>例如，在图 </a:t>
            </a:r>
            <a:r>
              <a:rPr lang="en-US" altLang="zh-CN" dirty="0"/>
              <a:t>4a </a:t>
            </a:r>
            <a:r>
              <a:rPr lang="zh-CN" altLang="en-US" dirty="0"/>
              <a:t>中，字段 </a:t>
            </a:r>
            <a:r>
              <a:rPr lang="en-US" altLang="zh-CN" dirty="0"/>
              <a:t>f0 </a:t>
            </a:r>
            <a:r>
              <a:rPr lang="zh-CN" altLang="en-US" dirty="0"/>
              <a:t>可以表示为 </a:t>
            </a:r>
            <a:r>
              <a:rPr lang="en-US" altLang="zh-CN" dirty="0"/>
              <a:t>S(V = 0x05040)</a:t>
            </a:r>
            <a:r>
              <a:rPr lang="zh-CN" altLang="en-US" dirty="0"/>
              <a:t>；字段 </a:t>
            </a:r>
            <a:r>
              <a:rPr lang="en-US" altLang="zh-CN" dirty="0"/>
              <a:t>f7 </a:t>
            </a:r>
            <a:r>
              <a:rPr lang="zh-CN" altLang="en-US" dirty="0"/>
              <a:t>可以表示为 </a:t>
            </a:r>
            <a:r>
              <a:rPr lang="en-US" altLang="zh-CN" dirty="0"/>
              <a:t>D(L = 1, V = [0x08, 0x81])</a:t>
            </a:r>
            <a:r>
              <a:rPr lang="zh-CN" altLang="en-US" dirty="0"/>
              <a:t>，即一个长度为 </a:t>
            </a:r>
            <a:r>
              <a:rPr lang="en-US" altLang="zh-CN" dirty="0"/>
              <a:t>1</a:t>
            </a:r>
            <a:r>
              <a:rPr lang="zh-CN" altLang="en-US" dirty="0"/>
              <a:t>、可取两个候选值的动态字段；而字段 </a:t>
            </a:r>
            <a:r>
              <a:rPr lang="en-US" altLang="zh-CN" dirty="0"/>
              <a:t>f12 </a:t>
            </a:r>
            <a:r>
              <a:rPr lang="zh-CN" altLang="en-US" dirty="0"/>
              <a:t>可以表示为 </a:t>
            </a:r>
            <a:r>
              <a:rPr lang="en-US" altLang="zh-CN" dirty="0"/>
              <a:t>D(L = (0, 11))</a:t>
            </a:r>
            <a:r>
              <a:rPr lang="zh-CN" altLang="en-US" dirty="0"/>
              <a:t>，由于它在某些消息中为空，因此它属于变长字段或可选字段（</a:t>
            </a:r>
            <a:r>
              <a:rPr lang="en-US" altLang="zh-CN" dirty="0"/>
              <a:t>optional field</a:t>
            </a:r>
            <a:r>
              <a:rPr lang="zh-CN" altLang="en-US" dirty="0"/>
              <a:t>）。</a:t>
            </a:r>
          </a:p>
        </p:txBody>
      </p:sp>
      <p:pic>
        <p:nvPicPr>
          <p:cNvPr id="8" name="图片 7">
            <a:extLst>
              <a:ext uri="{FF2B5EF4-FFF2-40B4-BE49-F238E27FC236}">
                <a16:creationId xmlns:a16="http://schemas.microsoft.com/office/drawing/2014/main" id="{201B0BCC-8F60-073B-7042-02E1130362B1}"/>
              </a:ext>
            </a:extLst>
          </p:cNvPr>
          <p:cNvPicPr>
            <a:picLocks noChangeAspect="1"/>
          </p:cNvPicPr>
          <p:nvPr/>
        </p:nvPicPr>
        <p:blipFill>
          <a:blip r:embed="rId2"/>
          <a:stretch>
            <a:fillRect/>
          </a:stretch>
        </p:blipFill>
        <p:spPr>
          <a:xfrm>
            <a:off x="1396679" y="2038955"/>
            <a:ext cx="8962515" cy="2540223"/>
          </a:xfrm>
          <a:prstGeom prst="rect">
            <a:avLst/>
          </a:prstGeom>
        </p:spPr>
      </p:pic>
      <p:sp>
        <p:nvSpPr>
          <p:cNvPr id="10" name="文本框 9">
            <a:extLst>
              <a:ext uri="{FF2B5EF4-FFF2-40B4-BE49-F238E27FC236}">
                <a16:creationId xmlns:a16="http://schemas.microsoft.com/office/drawing/2014/main" id="{C407D257-BF76-365F-2006-99205A299322}"/>
              </a:ext>
            </a:extLst>
          </p:cNvPr>
          <p:cNvSpPr txBox="1"/>
          <p:nvPr/>
        </p:nvSpPr>
        <p:spPr>
          <a:xfrm>
            <a:off x="432878" y="5910216"/>
            <a:ext cx="11006850" cy="646331"/>
          </a:xfrm>
          <a:prstGeom prst="rect">
            <a:avLst/>
          </a:prstGeom>
          <a:noFill/>
        </p:spPr>
        <p:txBody>
          <a:bodyPr wrap="square">
            <a:spAutoFit/>
          </a:bodyPr>
          <a:lstStyle/>
          <a:p>
            <a:r>
              <a:rPr lang="zh-CN" altLang="en-US" dirty="0"/>
              <a:t>利用一项</a:t>
            </a:r>
            <a:r>
              <a:rPr lang="zh-CN" altLang="en-US" b="1" dirty="0"/>
              <a:t>已有技术</a:t>
            </a:r>
            <a:r>
              <a:rPr lang="zh-CN" altLang="en-US" dirty="0"/>
              <a:t>来推断状态机。该技术在消息类型被正确定义的情况下效果良好。其基本思想是：从轨迹中的每个会话中提取消息类型序列，并将这些序列聚合起来形成状态机。</a:t>
            </a:r>
          </a:p>
        </p:txBody>
      </p:sp>
      <p:cxnSp>
        <p:nvCxnSpPr>
          <p:cNvPr id="12" name="直接连接符 11">
            <a:extLst>
              <a:ext uri="{FF2B5EF4-FFF2-40B4-BE49-F238E27FC236}">
                <a16:creationId xmlns:a16="http://schemas.microsoft.com/office/drawing/2014/main" id="{3AF6FACC-41A1-14B7-7BA2-B02583CB4C66}"/>
              </a:ext>
            </a:extLst>
          </p:cNvPr>
          <p:cNvCxnSpPr/>
          <p:nvPr/>
        </p:nvCxnSpPr>
        <p:spPr>
          <a:xfrm>
            <a:off x="432878" y="5771745"/>
            <a:ext cx="113116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06403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AEB61B2-5E58-12C3-BA26-7D35651944B1}"/>
              </a:ext>
            </a:extLst>
          </p:cNvPr>
          <p:cNvSpPr txBox="1"/>
          <p:nvPr/>
        </p:nvSpPr>
        <p:spPr>
          <a:xfrm>
            <a:off x="810638" y="1384278"/>
            <a:ext cx="10278894" cy="646331"/>
          </a:xfrm>
          <a:prstGeom prst="rect">
            <a:avLst/>
          </a:prstGeom>
          <a:noFill/>
        </p:spPr>
        <p:txBody>
          <a:bodyPr wrap="square">
            <a:spAutoFit/>
          </a:bodyPr>
          <a:lstStyle/>
          <a:p>
            <a:r>
              <a:rPr lang="zh-CN" altLang="en-US" dirty="0"/>
              <a:t>将 </a:t>
            </a:r>
            <a:r>
              <a:rPr lang="en-US" altLang="zh-CN" dirty="0"/>
              <a:t>NETPLIER </a:t>
            </a:r>
            <a:r>
              <a:rPr lang="zh-CN" altLang="en-US" dirty="0"/>
              <a:t>与当前最优的两种方法 </a:t>
            </a:r>
            <a:r>
              <a:rPr lang="en-US" altLang="zh-CN" dirty="0" err="1"/>
              <a:t>Netzob</a:t>
            </a:r>
            <a:r>
              <a:rPr lang="zh-CN" altLang="en-US" dirty="0"/>
              <a:t>、</a:t>
            </a:r>
            <a:r>
              <a:rPr lang="en-US" altLang="zh-CN" dirty="0"/>
              <a:t>Discoverer </a:t>
            </a:r>
            <a:r>
              <a:rPr lang="zh-CN" altLang="en-US" dirty="0"/>
              <a:t>进行对比，从不同协议与不同规模数据集的聚类效果、格式推理、状态机推理等多个维度，展示 </a:t>
            </a:r>
            <a:r>
              <a:rPr lang="en-US" altLang="zh-CN" dirty="0"/>
              <a:t>NETPLIER </a:t>
            </a:r>
            <a:r>
              <a:rPr lang="zh-CN" altLang="en-US" dirty="0"/>
              <a:t>的技术优势</a:t>
            </a:r>
          </a:p>
        </p:txBody>
      </p:sp>
      <p:sp>
        <p:nvSpPr>
          <p:cNvPr id="4" name="文本框 3">
            <a:extLst>
              <a:ext uri="{FF2B5EF4-FFF2-40B4-BE49-F238E27FC236}">
                <a16:creationId xmlns:a16="http://schemas.microsoft.com/office/drawing/2014/main" id="{1D7A6D1E-D13F-875D-F89E-0CACCCEDAC82}"/>
              </a:ext>
            </a:extLst>
          </p:cNvPr>
          <p:cNvSpPr txBox="1"/>
          <p:nvPr/>
        </p:nvSpPr>
        <p:spPr>
          <a:xfrm>
            <a:off x="3048000" y="436065"/>
            <a:ext cx="6096000" cy="769441"/>
          </a:xfrm>
          <a:prstGeom prst="rect">
            <a:avLst/>
          </a:prstGeom>
          <a:noFill/>
        </p:spPr>
        <p:txBody>
          <a:bodyPr wrap="square">
            <a:spAutoFit/>
          </a:bodyPr>
          <a:lstStyle/>
          <a:p>
            <a:pPr algn="ctr"/>
            <a:r>
              <a:rPr lang="en-US" altLang="zh-CN" sz="4400" b="1" dirty="0"/>
              <a:t>3 </a:t>
            </a:r>
            <a:r>
              <a:rPr lang="en-US" altLang="zh-CN" sz="4400" b="1" dirty="0" err="1"/>
              <a:t>NetPlier</a:t>
            </a:r>
            <a:r>
              <a:rPr lang="zh-CN" altLang="en-US" sz="4400" b="1" dirty="0"/>
              <a:t>实验评估</a:t>
            </a:r>
          </a:p>
        </p:txBody>
      </p:sp>
      <p:sp>
        <p:nvSpPr>
          <p:cNvPr id="6" name="文本框 5">
            <a:extLst>
              <a:ext uri="{FF2B5EF4-FFF2-40B4-BE49-F238E27FC236}">
                <a16:creationId xmlns:a16="http://schemas.microsoft.com/office/drawing/2014/main" id="{B7424211-5B2B-8040-6EE6-3DF6823CD897}"/>
              </a:ext>
            </a:extLst>
          </p:cNvPr>
          <p:cNvSpPr txBox="1"/>
          <p:nvPr/>
        </p:nvSpPr>
        <p:spPr>
          <a:xfrm>
            <a:off x="810638" y="2861341"/>
            <a:ext cx="6096000" cy="1477328"/>
          </a:xfrm>
          <a:prstGeom prst="rect">
            <a:avLst/>
          </a:prstGeom>
          <a:noFill/>
        </p:spPr>
        <p:txBody>
          <a:bodyPr wrap="square">
            <a:spAutoFit/>
          </a:bodyPr>
          <a:lstStyle/>
          <a:p>
            <a:r>
              <a:rPr lang="zh-CN" altLang="en-US" b="1" dirty="0"/>
              <a:t>数据集：</a:t>
            </a:r>
            <a:r>
              <a:rPr lang="zh-CN" altLang="en-US" dirty="0"/>
              <a:t>基于多个公开的流量数据集构建了实验数据集，从中筛选了 </a:t>
            </a:r>
            <a:r>
              <a:rPr lang="en-US" altLang="zh-CN" dirty="0"/>
              <a:t>10 </a:t>
            </a:r>
            <a:r>
              <a:rPr lang="zh-CN" altLang="en-US" dirty="0"/>
              <a:t>种常用协议的报文，重点覆盖二进制协议。对于每种协议，筛选了至少 </a:t>
            </a:r>
            <a:r>
              <a:rPr lang="en-US" altLang="zh-CN" dirty="0"/>
              <a:t>1000 </a:t>
            </a:r>
            <a:r>
              <a:rPr lang="zh-CN" altLang="en-US" dirty="0"/>
              <a:t>条报文，仅 </a:t>
            </a:r>
            <a:r>
              <a:rPr lang="en-US" altLang="zh-CN" dirty="0"/>
              <a:t>TFTP </a:t>
            </a:r>
            <a:r>
              <a:rPr lang="zh-CN" altLang="en-US" dirty="0"/>
              <a:t>协议因可用报文数量不足，筛选了 </a:t>
            </a:r>
            <a:r>
              <a:rPr lang="en-US" altLang="zh-CN" dirty="0"/>
              <a:t>453 </a:t>
            </a:r>
            <a:r>
              <a:rPr lang="zh-CN" altLang="en-US" dirty="0"/>
              <a:t>条。表 </a:t>
            </a:r>
            <a:r>
              <a:rPr lang="en-US" altLang="zh-CN" dirty="0"/>
              <a:t>III </a:t>
            </a:r>
            <a:r>
              <a:rPr lang="zh-CN" altLang="en-US" dirty="0"/>
              <a:t>展示了数据集的统计信息</a:t>
            </a:r>
          </a:p>
        </p:txBody>
      </p:sp>
      <p:pic>
        <p:nvPicPr>
          <p:cNvPr id="8" name="图片 7">
            <a:extLst>
              <a:ext uri="{FF2B5EF4-FFF2-40B4-BE49-F238E27FC236}">
                <a16:creationId xmlns:a16="http://schemas.microsoft.com/office/drawing/2014/main" id="{89AA4173-CDA7-008F-D856-DA8DCA9285D4}"/>
              </a:ext>
            </a:extLst>
          </p:cNvPr>
          <p:cNvPicPr>
            <a:picLocks noChangeAspect="1"/>
          </p:cNvPicPr>
          <p:nvPr/>
        </p:nvPicPr>
        <p:blipFill>
          <a:blip r:embed="rId2"/>
          <a:srcRect l="643" t="2215" r="3613"/>
          <a:stretch>
            <a:fillRect/>
          </a:stretch>
        </p:blipFill>
        <p:spPr>
          <a:xfrm>
            <a:off x="6839469" y="2334929"/>
            <a:ext cx="5174443" cy="3138793"/>
          </a:xfrm>
          <a:prstGeom prst="rect">
            <a:avLst/>
          </a:prstGeom>
        </p:spPr>
      </p:pic>
    </p:spTree>
    <p:extLst>
      <p:ext uri="{BB962C8B-B14F-4D97-AF65-F5344CB8AC3E}">
        <p14:creationId xmlns:p14="http://schemas.microsoft.com/office/powerpoint/2010/main" val="3519590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C079F11-8225-0FC3-23F1-9AE05F07C251}"/>
              </a:ext>
            </a:extLst>
          </p:cNvPr>
          <p:cNvSpPr txBox="1"/>
          <p:nvPr/>
        </p:nvSpPr>
        <p:spPr>
          <a:xfrm>
            <a:off x="590145" y="882162"/>
            <a:ext cx="10116766" cy="2031325"/>
          </a:xfrm>
          <a:prstGeom prst="rect">
            <a:avLst/>
          </a:prstGeom>
          <a:noFill/>
        </p:spPr>
        <p:txBody>
          <a:bodyPr wrap="square">
            <a:spAutoFit/>
          </a:bodyPr>
          <a:lstStyle/>
          <a:p>
            <a:r>
              <a:rPr lang="zh-CN" altLang="en-US" dirty="0"/>
              <a:t>某些非关键词字段也可能起到与关键词相同的作用，并生成正确簇。因此，我们的评估重点放在聚类结果上，而不是关键词识别本身。</a:t>
            </a:r>
            <a:endParaRPr lang="en-US" altLang="zh-CN" dirty="0"/>
          </a:p>
          <a:p>
            <a:endParaRPr lang="en-US" altLang="zh-CN" dirty="0"/>
          </a:p>
          <a:p>
            <a:r>
              <a:rPr lang="zh-CN" altLang="en-US" dirty="0"/>
              <a:t>本文采用聚类性能评估中常用的两个目标，即</a:t>
            </a:r>
            <a:r>
              <a:rPr lang="zh-CN" altLang="en-US" b="1" dirty="0"/>
              <a:t>同质性</a:t>
            </a:r>
            <a:r>
              <a:rPr lang="zh-CN" altLang="en-US" dirty="0"/>
              <a:t>（</a:t>
            </a:r>
            <a:r>
              <a:rPr lang="en-US" altLang="zh-CN" dirty="0"/>
              <a:t>homogeneity</a:t>
            </a:r>
            <a:r>
              <a:rPr lang="zh-CN" altLang="en-US" dirty="0"/>
              <a:t>）和</a:t>
            </a:r>
            <a:r>
              <a:rPr lang="zh-CN" altLang="en-US" b="1" dirty="0"/>
              <a:t>完整性</a:t>
            </a:r>
            <a:r>
              <a:rPr lang="zh-CN" altLang="en-US" dirty="0"/>
              <a:t>（</a:t>
            </a:r>
            <a:r>
              <a:rPr lang="en-US" altLang="zh-CN" dirty="0"/>
              <a:t>completeness</a:t>
            </a:r>
            <a:r>
              <a:rPr lang="zh-CN" altLang="en-US" dirty="0"/>
              <a:t>）</a:t>
            </a:r>
            <a:endParaRPr lang="en-US" altLang="zh-CN" dirty="0"/>
          </a:p>
          <a:p>
            <a:endParaRPr lang="en-US" altLang="zh-CN" dirty="0"/>
          </a:p>
          <a:p>
            <a:pPr marL="285750" indent="-285750">
              <a:buFont typeface="Arial" panose="020B0604020202020204" pitchFamily="34" charset="0"/>
              <a:buChar char="•"/>
            </a:pPr>
            <a:r>
              <a:rPr lang="zh-CN" altLang="en-US" dirty="0"/>
              <a:t>同质性表示每个簇中只包含单一消息类型</a:t>
            </a:r>
            <a:endParaRPr lang="en-US" altLang="zh-CN" dirty="0"/>
          </a:p>
          <a:p>
            <a:pPr marL="285750" indent="-285750">
              <a:buFont typeface="Arial" panose="020B0604020202020204" pitchFamily="34" charset="0"/>
              <a:buChar char="•"/>
            </a:pPr>
            <a:r>
              <a:rPr lang="zh-CN" altLang="en-US" dirty="0"/>
              <a:t>完整性表示某一给定类型的所有消息都被分配到同一个簇</a:t>
            </a:r>
          </a:p>
        </p:txBody>
      </p:sp>
      <p:sp>
        <p:nvSpPr>
          <p:cNvPr id="4" name="文本框 3">
            <a:extLst>
              <a:ext uri="{FF2B5EF4-FFF2-40B4-BE49-F238E27FC236}">
                <a16:creationId xmlns:a16="http://schemas.microsoft.com/office/drawing/2014/main" id="{9D8CCD44-EF25-855C-679E-8C543D554883}"/>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3.1 </a:t>
            </a:r>
            <a:r>
              <a:rPr lang="zh-CN" altLang="en-US" b="1" dirty="0">
                <a:solidFill>
                  <a:schemeClr val="accent5"/>
                </a:solidFill>
              </a:rPr>
              <a:t>聚类评估指标（</a:t>
            </a:r>
            <a:r>
              <a:rPr lang="en-US" altLang="zh-CN" b="1" dirty="0">
                <a:solidFill>
                  <a:schemeClr val="accent5"/>
                </a:solidFill>
              </a:rPr>
              <a:t>1</a:t>
            </a:r>
            <a:r>
              <a:rPr lang="zh-CN" altLang="en-US" b="1" dirty="0">
                <a:solidFill>
                  <a:schemeClr val="accent5"/>
                </a:solidFill>
              </a:rPr>
              <a:t>）</a:t>
            </a:r>
          </a:p>
        </p:txBody>
      </p:sp>
      <p:sp>
        <p:nvSpPr>
          <p:cNvPr id="6" name="文本框 5">
            <a:extLst>
              <a:ext uri="{FF2B5EF4-FFF2-40B4-BE49-F238E27FC236}">
                <a16:creationId xmlns:a16="http://schemas.microsoft.com/office/drawing/2014/main" id="{95C6A4BF-7B7F-401B-CB5F-7E7B75B6FBE2}"/>
              </a:ext>
            </a:extLst>
          </p:cNvPr>
          <p:cNvSpPr txBox="1"/>
          <p:nvPr/>
        </p:nvSpPr>
        <p:spPr>
          <a:xfrm>
            <a:off x="590145" y="4444478"/>
            <a:ext cx="8884595" cy="369332"/>
          </a:xfrm>
          <a:prstGeom prst="rect">
            <a:avLst/>
          </a:prstGeom>
          <a:noFill/>
        </p:spPr>
        <p:txBody>
          <a:bodyPr wrap="square">
            <a:spAutoFit/>
          </a:bodyPr>
          <a:lstStyle/>
          <a:p>
            <a:r>
              <a:rPr lang="zh-CN" altLang="en-US" dirty="0"/>
              <a:t>为了同时考虑这两个指标，引入它们的调和平均数，称为 </a:t>
            </a:r>
            <a:r>
              <a:rPr lang="en-US" altLang="zh-CN" b="1" dirty="0"/>
              <a:t>V-measure</a:t>
            </a:r>
            <a:r>
              <a:rPr lang="zh-CN" altLang="en-US" dirty="0"/>
              <a:t>（</a:t>
            </a:r>
            <a:r>
              <a:rPr lang="en-US" altLang="zh-CN" dirty="0"/>
              <a:t>V</a:t>
            </a:r>
            <a:r>
              <a:rPr lang="zh-CN" altLang="en-US" dirty="0"/>
              <a:t>值）。</a:t>
            </a:r>
          </a:p>
        </p:txBody>
      </p:sp>
      <p:sp>
        <p:nvSpPr>
          <p:cNvPr id="8" name="文本框 7">
            <a:extLst>
              <a:ext uri="{FF2B5EF4-FFF2-40B4-BE49-F238E27FC236}">
                <a16:creationId xmlns:a16="http://schemas.microsoft.com/office/drawing/2014/main" id="{3D7FE3FA-8B3C-49BD-A26F-48D8F993A17E}"/>
              </a:ext>
            </a:extLst>
          </p:cNvPr>
          <p:cNvSpPr txBox="1"/>
          <p:nvPr/>
        </p:nvSpPr>
        <p:spPr>
          <a:xfrm>
            <a:off x="590145" y="3426317"/>
            <a:ext cx="6627778" cy="369332"/>
          </a:xfrm>
          <a:prstGeom prst="rect">
            <a:avLst/>
          </a:prstGeom>
          <a:noFill/>
        </p:spPr>
        <p:txBody>
          <a:bodyPr wrap="square">
            <a:spAutoFit/>
          </a:bodyPr>
          <a:lstStyle/>
          <a:p>
            <a:r>
              <a:rPr lang="zh-CN" altLang="en-US" dirty="0"/>
              <a:t>两个得分的取值范围均为 </a:t>
            </a:r>
            <a:r>
              <a:rPr lang="en-US" altLang="zh-CN" dirty="0"/>
              <a:t>0 </a:t>
            </a:r>
            <a:r>
              <a:rPr lang="zh-CN" altLang="en-US" dirty="0"/>
              <a:t>到 </a:t>
            </a:r>
            <a:r>
              <a:rPr lang="en-US" altLang="zh-CN" dirty="0"/>
              <a:t>1</a:t>
            </a:r>
            <a:r>
              <a:rPr lang="zh-CN" altLang="en-US" dirty="0"/>
              <a:t>，数值越高代表聚类效果越好。</a:t>
            </a:r>
          </a:p>
        </p:txBody>
      </p:sp>
    </p:spTree>
    <p:extLst>
      <p:ext uri="{BB962C8B-B14F-4D97-AF65-F5344CB8AC3E}">
        <p14:creationId xmlns:p14="http://schemas.microsoft.com/office/powerpoint/2010/main" val="34364070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E06134D-3862-20D2-8D98-45466C8B70B6}"/>
              </a:ext>
            </a:extLst>
          </p:cNvPr>
          <p:cNvPicPr>
            <a:picLocks noChangeAspect="1"/>
          </p:cNvPicPr>
          <p:nvPr/>
        </p:nvPicPr>
        <p:blipFill>
          <a:blip r:embed="rId2"/>
          <a:stretch>
            <a:fillRect/>
          </a:stretch>
        </p:blipFill>
        <p:spPr>
          <a:xfrm>
            <a:off x="2478661" y="100063"/>
            <a:ext cx="8909185" cy="6590355"/>
          </a:xfrm>
          <a:prstGeom prst="rect">
            <a:avLst/>
          </a:prstGeom>
        </p:spPr>
      </p:pic>
      <p:sp>
        <p:nvSpPr>
          <p:cNvPr id="4" name="文本框 3">
            <a:extLst>
              <a:ext uri="{FF2B5EF4-FFF2-40B4-BE49-F238E27FC236}">
                <a16:creationId xmlns:a16="http://schemas.microsoft.com/office/drawing/2014/main" id="{289BC649-5AAC-2A8A-5703-E1BA7D99364E}"/>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3.1 </a:t>
            </a:r>
            <a:r>
              <a:rPr lang="zh-CN" altLang="en-US" b="1" dirty="0">
                <a:solidFill>
                  <a:schemeClr val="accent5"/>
                </a:solidFill>
              </a:rPr>
              <a:t>聚类评估指标（</a:t>
            </a:r>
            <a:r>
              <a:rPr lang="en-US" altLang="zh-CN" b="1" dirty="0">
                <a:solidFill>
                  <a:schemeClr val="accent5"/>
                </a:solidFill>
              </a:rPr>
              <a:t>2</a:t>
            </a:r>
            <a:r>
              <a:rPr lang="zh-CN" altLang="en-US" b="1" dirty="0">
                <a:solidFill>
                  <a:schemeClr val="accent5"/>
                </a:solidFill>
              </a:rPr>
              <a:t>）</a:t>
            </a:r>
          </a:p>
        </p:txBody>
      </p:sp>
    </p:spTree>
    <p:extLst>
      <p:ext uri="{BB962C8B-B14F-4D97-AF65-F5344CB8AC3E}">
        <p14:creationId xmlns:p14="http://schemas.microsoft.com/office/powerpoint/2010/main" val="9191279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77CB6D4-04C5-4F83-EC17-9B4C80A70C91}"/>
              </a:ext>
            </a:extLst>
          </p:cNvPr>
          <p:cNvPicPr>
            <a:picLocks noChangeAspect="1"/>
          </p:cNvPicPr>
          <p:nvPr/>
        </p:nvPicPr>
        <p:blipFill>
          <a:blip r:embed="rId2"/>
          <a:srcRect t="1636" r="874" b="4142"/>
          <a:stretch>
            <a:fillRect/>
          </a:stretch>
        </p:blipFill>
        <p:spPr>
          <a:xfrm>
            <a:off x="594564" y="372755"/>
            <a:ext cx="4690799" cy="3056245"/>
          </a:xfrm>
          <a:prstGeom prst="rect">
            <a:avLst/>
          </a:prstGeom>
        </p:spPr>
      </p:pic>
      <p:sp>
        <p:nvSpPr>
          <p:cNvPr id="6" name="文本框 5">
            <a:extLst>
              <a:ext uri="{FF2B5EF4-FFF2-40B4-BE49-F238E27FC236}">
                <a16:creationId xmlns:a16="http://schemas.microsoft.com/office/drawing/2014/main" id="{8C77485E-E6C4-6663-AC26-DE947103C79D}"/>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3.2 </a:t>
            </a:r>
            <a:r>
              <a:rPr lang="zh-CN" altLang="en-US" b="1" dirty="0">
                <a:solidFill>
                  <a:schemeClr val="accent5"/>
                </a:solidFill>
              </a:rPr>
              <a:t>不同协议聚类结果评估</a:t>
            </a:r>
          </a:p>
        </p:txBody>
      </p:sp>
      <p:pic>
        <p:nvPicPr>
          <p:cNvPr id="8" name="图片 7">
            <a:extLst>
              <a:ext uri="{FF2B5EF4-FFF2-40B4-BE49-F238E27FC236}">
                <a16:creationId xmlns:a16="http://schemas.microsoft.com/office/drawing/2014/main" id="{EAEE1C72-6E3D-E4DF-5F81-2CE36AF7E932}"/>
              </a:ext>
            </a:extLst>
          </p:cNvPr>
          <p:cNvPicPr>
            <a:picLocks noChangeAspect="1"/>
          </p:cNvPicPr>
          <p:nvPr/>
        </p:nvPicPr>
        <p:blipFill>
          <a:blip r:embed="rId3"/>
          <a:srcRect l="1431" t="811" r="484" b="-1"/>
          <a:stretch>
            <a:fillRect/>
          </a:stretch>
        </p:blipFill>
        <p:spPr>
          <a:xfrm>
            <a:off x="6284068" y="369332"/>
            <a:ext cx="4690799" cy="3059668"/>
          </a:xfrm>
          <a:prstGeom prst="rect">
            <a:avLst/>
          </a:prstGeom>
        </p:spPr>
      </p:pic>
      <p:pic>
        <p:nvPicPr>
          <p:cNvPr id="10" name="图片 9">
            <a:extLst>
              <a:ext uri="{FF2B5EF4-FFF2-40B4-BE49-F238E27FC236}">
                <a16:creationId xmlns:a16="http://schemas.microsoft.com/office/drawing/2014/main" id="{4A2628F8-2389-8970-798E-119A3F208458}"/>
              </a:ext>
            </a:extLst>
          </p:cNvPr>
          <p:cNvPicPr>
            <a:picLocks noChangeAspect="1"/>
          </p:cNvPicPr>
          <p:nvPr/>
        </p:nvPicPr>
        <p:blipFill>
          <a:blip r:embed="rId4"/>
          <a:srcRect l="685" t="1934" r="1080" b="1157"/>
          <a:stretch>
            <a:fillRect/>
          </a:stretch>
        </p:blipFill>
        <p:spPr>
          <a:xfrm>
            <a:off x="3399656" y="3481199"/>
            <a:ext cx="5178358" cy="3379911"/>
          </a:xfrm>
          <a:prstGeom prst="rect">
            <a:avLst/>
          </a:prstGeom>
        </p:spPr>
      </p:pic>
    </p:spTree>
    <p:extLst>
      <p:ext uri="{BB962C8B-B14F-4D97-AF65-F5344CB8AC3E}">
        <p14:creationId xmlns:p14="http://schemas.microsoft.com/office/powerpoint/2010/main" val="26055598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3E34D34-1463-92D0-8FEB-CFE44AD6E6CF}"/>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3.3 </a:t>
            </a:r>
            <a:r>
              <a:rPr lang="zh-CN" altLang="en-US" b="1" dirty="0">
                <a:solidFill>
                  <a:schemeClr val="accent5"/>
                </a:solidFill>
              </a:rPr>
              <a:t>不同规模数据集上的聚类结果</a:t>
            </a:r>
          </a:p>
        </p:txBody>
      </p:sp>
      <p:pic>
        <p:nvPicPr>
          <p:cNvPr id="4" name="图片 3">
            <a:extLst>
              <a:ext uri="{FF2B5EF4-FFF2-40B4-BE49-F238E27FC236}">
                <a16:creationId xmlns:a16="http://schemas.microsoft.com/office/drawing/2014/main" id="{3EEF568F-CA94-570F-FA93-A1AF43A57E87}"/>
              </a:ext>
            </a:extLst>
          </p:cNvPr>
          <p:cNvPicPr>
            <a:picLocks noChangeAspect="1"/>
          </p:cNvPicPr>
          <p:nvPr/>
        </p:nvPicPr>
        <p:blipFill>
          <a:blip r:embed="rId2"/>
          <a:stretch>
            <a:fillRect/>
          </a:stretch>
        </p:blipFill>
        <p:spPr>
          <a:xfrm>
            <a:off x="492868" y="369332"/>
            <a:ext cx="4552545" cy="2935753"/>
          </a:xfrm>
          <a:prstGeom prst="rect">
            <a:avLst/>
          </a:prstGeom>
        </p:spPr>
      </p:pic>
      <p:pic>
        <p:nvPicPr>
          <p:cNvPr id="6" name="图片 5">
            <a:extLst>
              <a:ext uri="{FF2B5EF4-FFF2-40B4-BE49-F238E27FC236}">
                <a16:creationId xmlns:a16="http://schemas.microsoft.com/office/drawing/2014/main" id="{569AD6A3-22A8-4EA5-5905-FC0566863CEC}"/>
              </a:ext>
            </a:extLst>
          </p:cNvPr>
          <p:cNvPicPr>
            <a:picLocks noChangeAspect="1"/>
          </p:cNvPicPr>
          <p:nvPr/>
        </p:nvPicPr>
        <p:blipFill>
          <a:blip r:embed="rId3"/>
          <a:stretch>
            <a:fillRect/>
          </a:stretch>
        </p:blipFill>
        <p:spPr>
          <a:xfrm>
            <a:off x="6705599" y="334566"/>
            <a:ext cx="4677309" cy="2989338"/>
          </a:xfrm>
          <a:prstGeom prst="rect">
            <a:avLst/>
          </a:prstGeom>
        </p:spPr>
      </p:pic>
      <p:pic>
        <p:nvPicPr>
          <p:cNvPr id="8" name="图片 7">
            <a:extLst>
              <a:ext uri="{FF2B5EF4-FFF2-40B4-BE49-F238E27FC236}">
                <a16:creationId xmlns:a16="http://schemas.microsoft.com/office/drawing/2014/main" id="{394F0F90-9BFD-5DA6-D5BB-9FD53BD32D3D}"/>
              </a:ext>
            </a:extLst>
          </p:cNvPr>
          <p:cNvPicPr>
            <a:picLocks noChangeAspect="1"/>
          </p:cNvPicPr>
          <p:nvPr/>
        </p:nvPicPr>
        <p:blipFill>
          <a:blip r:embed="rId4"/>
          <a:srcRect b="804"/>
          <a:stretch>
            <a:fillRect/>
          </a:stretch>
        </p:blipFill>
        <p:spPr>
          <a:xfrm>
            <a:off x="3375492" y="3372255"/>
            <a:ext cx="5441016" cy="3485745"/>
          </a:xfrm>
          <a:prstGeom prst="rect">
            <a:avLst/>
          </a:prstGeom>
        </p:spPr>
      </p:pic>
    </p:spTree>
    <p:extLst>
      <p:ext uri="{BB962C8B-B14F-4D97-AF65-F5344CB8AC3E}">
        <p14:creationId xmlns:p14="http://schemas.microsoft.com/office/powerpoint/2010/main" val="13687768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A755AF9-A765-FEF0-F181-6C8C449D37BE}"/>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3.4 </a:t>
            </a:r>
            <a:r>
              <a:rPr lang="zh-CN" altLang="en-US" b="1" dirty="0">
                <a:solidFill>
                  <a:schemeClr val="accent5"/>
                </a:solidFill>
              </a:rPr>
              <a:t>性能开销</a:t>
            </a:r>
          </a:p>
        </p:txBody>
      </p:sp>
      <p:sp>
        <p:nvSpPr>
          <p:cNvPr id="4" name="文本框 3">
            <a:extLst>
              <a:ext uri="{FF2B5EF4-FFF2-40B4-BE49-F238E27FC236}">
                <a16:creationId xmlns:a16="http://schemas.microsoft.com/office/drawing/2014/main" id="{D155C928-FB28-F547-2B12-C94D0EE185DA}"/>
              </a:ext>
            </a:extLst>
          </p:cNvPr>
          <p:cNvSpPr txBox="1"/>
          <p:nvPr/>
        </p:nvSpPr>
        <p:spPr>
          <a:xfrm>
            <a:off x="653374" y="688511"/>
            <a:ext cx="10436158" cy="369332"/>
          </a:xfrm>
          <a:prstGeom prst="rect">
            <a:avLst/>
          </a:prstGeom>
          <a:noFill/>
        </p:spPr>
        <p:txBody>
          <a:bodyPr wrap="square">
            <a:spAutoFit/>
          </a:bodyPr>
          <a:lstStyle/>
          <a:p>
            <a:r>
              <a:rPr lang="zh-CN" altLang="en-US" dirty="0"/>
              <a:t>所有实验均在一台配备 </a:t>
            </a:r>
            <a:r>
              <a:rPr lang="en-US" altLang="zh-CN" dirty="0"/>
              <a:t>32 </a:t>
            </a:r>
            <a:r>
              <a:rPr lang="zh-CN" altLang="en-US" dirty="0"/>
              <a:t>核 </a:t>
            </a:r>
            <a:r>
              <a:rPr lang="en-US" altLang="zh-CN" dirty="0"/>
              <a:t>CPU</a:t>
            </a:r>
            <a:r>
              <a:rPr lang="zh-CN" altLang="en-US" dirty="0"/>
              <a:t>（</a:t>
            </a:r>
            <a:r>
              <a:rPr lang="en-US" altLang="zh-CN" dirty="0"/>
              <a:t>Intel Xeon E5-2690 @ 2.90GHz</a:t>
            </a:r>
            <a:r>
              <a:rPr lang="zh-CN" altLang="en-US" dirty="0"/>
              <a:t>）、</a:t>
            </a:r>
            <a:r>
              <a:rPr lang="en-US" altLang="zh-CN" dirty="0"/>
              <a:t>128GB </a:t>
            </a:r>
            <a:r>
              <a:rPr lang="zh-CN" altLang="en-US" dirty="0"/>
              <a:t>内存的服务器上完成。</a:t>
            </a:r>
          </a:p>
        </p:txBody>
      </p:sp>
      <p:sp>
        <p:nvSpPr>
          <p:cNvPr id="6" name="文本框 5">
            <a:extLst>
              <a:ext uri="{FF2B5EF4-FFF2-40B4-BE49-F238E27FC236}">
                <a16:creationId xmlns:a16="http://schemas.microsoft.com/office/drawing/2014/main" id="{6DD5F516-1E3D-335E-F058-07034875E7FD}"/>
              </a:ext>
            </a:extLst>
          </p:cNvPr>
          <p:cNvSpPr txBox="1"/>
          <p:nvPr/>
        </p:nvSpPr>
        <p:spPr>
          <a:xfrm>
            <a:off x="653374" y="4912482"/>
            <a:ext cx="10528848" cy="646331"/>
          </a:xfrm>
          <a:prstGeom prst="rect">
            <a:avLst/>
          </a:prstGeom>
          <a:noFill/>
        </p:spPr>
        <p:txBody>
          <a:bodyPr wrap="square">
            <a:spAutoFit/>
          </a:bodyPr>
          <a:lstStyle/>
          <a:p>
            <a:r>
              <a:rPr lang="zh-CN" altLang="en-US" dirty="0"/>
              <a:t>表 </a:t>
            </a:r>
            <a:r>
              <a:rPr lang="en-US" altLang="zh-CN" dirty="0"/>
              <a:t>IV </a:t>
            </a:r>
            <a:r>
              <a:rPr lang="zh-CN" altLang="en-US" dirty="0"/>
              <a:t>展示了在包含 </a:t>
            </a:r>
            <a:r>
              <a:rPr lang="en-US" altLang="zh-CN" dirty="0"/>
              <a:t>1000 </a:t>
            </a:r>
            <a:r>
              <a:rPr lang="zh-CN" altLang="en-US" dirty="0"/>
              <a:t>条报文的数据集上，各方法的执行时间与最大内存占用。其中，</a:t>
            </a:r>
            <a:r>
              <a:rPr lang="en-US" altLang="zh-CN" dirty="0"/>
              <a:t>NETPLIER </a:t>
            </a:r>
            <a:r>
              <a:rPr lang="zh-CN" altLang="en-US" dirty="0"/>
              <a:t>与 </a:t>
            </a:r>
            <a:r>
              <a:rPr lang="en-US" altLang="zh-CN" dirty="0"/>
              <a:t>Discoverer </a:t>
            </a:r>
            <a:r>
              <a:rPr lang="zh-CN" altLang="en-US" dirty="0"/>
              <a:t>在聚类的同时生成了每个聚类的格式信息，而 </a:t>
            </a:r>
            <a:r>
              <a:rPr lang="en-US" altLang="zh-CN" dirty="0" err="1"/>
              <a:t>Netzob</a:t>
            </a:r>
            <a:r>
              <a:rPr lang="en-US" altLang="zh-CN" dirty="0"/>
              <a:t> </a:t>
            </a:r>
            <a:r>
              <a:rPr lang="zh-CN" altLang="en-US" dirty="0"/>
              <a:t>仅完成了聚类操作。</a:t>
            </a:r>
          </a:p>
        </p:txBody>
      </p:sp>
      <p:pic>
        <p:nvPicPr>
          <p:cNvPr id="8" name="图片 7">
            <a:extLst>
              <a:ext uri="{FF2B5EF4-FFF2-40B4-BE49-F238E27FC236}">
                <a16:creationId xmlns:a16="http://schemas.microsoft.com/office/drawing/2014/main" id="{BE47A934-245F-E306-6C23-87AC3AC9CC71}"/>
              </a:ext>
            </a:extLst>
          </p:cNvPr>
          <p:cNvPicPr>
            <a:picLocks noChangeAspect="1"/>
          </p:cNvPicPr>
          <p:nvPr/>
        </p:nvPicPr>
        <p:blipFill>
          <a:blip r:embed="rId2"/>
          <a:stretch>
            <a:fillRect/>
          </a:stretch>
        </p:blipFill>
        <p:spPr>
          <a:xfrm>
            <a:off x="560684" y="1057843"/>
            <a:ext cx="10621538" cy="3854639"/>
          </a:xfrm>
          <a:prstGeom prst="rect">
            <a:avLst/>
          </a:prstGeom>
        </p:spPr>
      </p:pic>
      <p:sp>
        <p:nvSpPr>
          <p:cNvPr id="10" name="文本框 9">
            <a:extLst>
              <a:ext uri="{FF2B5EF4-FFF2-40B4-BE49-F238E27FC236}">
                <a16:creationId xmlns:a16="http://schemas.microsoft.com/office/drawing/2014/main" id="{719F9DC3-043E-0465-4575-8726A661032D}"/>
              </a:ext>
            </a:extLst>
          </p:cNvPr>
          <p:cNvSpPr txBox="1"/>
          <p:nvPr/>
        </p:nvSpPr>
        <p:spPr>
          <a:xfrm>
            <a:off x="653374" y="5600993"/>
            <a:ext cx="10528848" cy="923330"/>
          </a:xfrm>
          <a:prstGeom prst="rect">
            <a:avLst/>
          </a:prstGeom>
          <a:noFill/>
        </p:spPr>
        <p:txBody>
          <a:bodyPr wrap="square">
            <a:spAutoFit/>
          </a:bodyPr>
          <a:lstStyle/>
          <a:p>
            <a:r>
              <a:rPr lang="zh-CN" altLang="en-US" b="1" dirty="0"/>
              <a:t>时间复杂度</a:t>
            </a:r>
            <a:endParaRPr lang="en-US" altLang="zh-CN" b="1" dirty="0"/>
          </a:p>
          <a:p>
            <a:r>
              <a:rPr lang="zh-CN" altLang="en-US" dirty="0"/>
              <a:t>多序列比对（</a:t>
            </a:r>
            <a:r>
              <a:rPr lang="en-US" altLang="zh-CN" dirty="0"/>
              <a:t>MSA</a:t>
            </a:r>
            <a:r>
              <a:rPr lang="zh-CN" altLang="en-US" dirty="0"/>
              <a:t>）：</a:t>
            </a:r>
            <a:r>
              <a:rPr lang="en-US" altLang="zh-CN" dirty="0"/>
              <a:t>O(N∗L)~O(L∗N²)</a:t>
            </a:r>
            <a:r>
              <a:rPr lang="zh-CN" altLang="en-US" dirty="0"/>
              <a:t>，（</a:t>
            </a:r>
            <a:r>
              <a:rPr lang="en-US" altLang="zh-CN" dirty="0"/>
              <a:t>N</a:t>
            </a:r>
            <a:r>
              <a:rPr lang="zh-CN" altLang="en-US" dirty="0"/>
              <a:t>为报文数量，</a:t>
            </a:r>
            <a:r>
              <a:rPr lang="en-US" altLang="zh-CN" dirty="0"/>
              <a:t>L</a:t>
            </a:r>
            <a:r>
              <a:rPr lang="zh-CN" altLang="en-US" dirty="0"/>
              <a:t>为报文长度）</a:t>
            </a:r>
            <a:endParaRPr lang="en-US" altLang="zh-CN" dirty="0"/>
          </a:p>
          <a:p>
            <a:r>
              <a:rPr lang="zh-CN" altLang="en-US" dirty="0"/>
              <a:t>约束条件生成：</a:t>
            </a:r>
            <a:r>
              <a:rPr lang="en-US" altLang="zh-CN" dirty="0"/>
              <a:t>O(N²)</a:t>
            </a:r>
            <a:endParaRPr lang="zh-CN" altLang="en-US" dirty="0"/>
          </a:p>
        </p:txBody>
      </p:sp>
    </p:spTree>
    <p:extLst>
      <p:ext uri="{BB962C8B-B14F-4D97-AF65-F5344CB8AC3E}">
        <p14:creationId xmlns:p14="http://schemas.microsoft.com/office/powerpoint/2010/main" val="2356891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230438A-DFD3-C615-D3A1-920FF970D626}"/>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3.5 </a:t>
            </a:r>
            <a:r>
              <a:rPr lang="zh-CN" altLang="en-US" b="1" dirty="0">
                <a:solidFill>
                  <a:schemeClr val="accent5"/>
                </a:solidFill>
              </a:rPr>
              <a:t>格式推理效果评估</a:t>
            </a:r>
          </a:p>
        </p:txBody>
      </p:sp>
      <p:sp>
        <p:nvSpPr>
          <p:cNvPr id="4" name="文本框 3">
            <a:extLst>
              <a:ext uri="{FF2B5EF4-FFF2-40B4-BE49-F238E27FC236}">
                <a16:creationId xmlns:a16="http://schemas.microsoft.com/office/drawing/2014/main" id="{E2C14606-2C70-E913-19B7-3185F99EA33B}"/>
              </a:ext>
            </a:extLst>
          </p:cNvPr>
          <p:cNvSpPr txBox="1"/>
          <p:nvPr/>
        </p:nvSpPr>
        <p:spPr>
          <a:xfrm>
            <a:off x="316148" y="437453"/>
            <a:ext cx="10890115" cy="1200329"/>
          </a:xfrm>
          <a:prstGeom prst="rect">
            <a:avLst/>
          </a:prstGeom>
          <a:noFill/>
        </p:spPr>
        <p:txBody>
          <a:bodyPr wrap="square">
            <a:spAutoFit/>
          </a:bodyPr>
          <a:lstStyle/>
          <a:p>
            <a:r>
              <a:rPr lang="zh-CN" altLang="en-US" dirty="0"/>
              <a:t>定义：</a:t>
            </a:r>
            <a:endParaRPr lang="en-US" altLang="zh-CN" dirty="0"/>
          </a:p>
          <a:p>
            <a:pPr marL="285750" indent="-285750">
              <a:buFont typeface="Arial" panose="020B0604020202020204" pitchFamily="34" charset="0"/>
              <a:buChar char="•"/>
            </a:pPr>
            <a:r>
              <a:rPr lang="zh-CN" altLang="en-US" dirty="0"/>
              <a:t>若推导字段是单个真实字段的一部分，或合并了多个连续的真实字段，视为</a:t>
            </a:r>
            <a:r>
              <a:rPr lang="zh-CN" altLang="en-US" b="1" dirty="0"/>
              <a:t>正确字段</a:t>
            </a:r>
            <a:endParaRPr lang="en-US" altLang="zh-CN" b="1" dirty="0"/>
          </a:p>
          <a:p>
            <a:pPr marL="285750" indent="-285750">
              <a:buFont typeface="Arial" panose="020B0604020202020204" pitchFamily="34" charset="0"/>
              <a:buChar char="•"/>
            </a:pPr>
            <a:r>
              <a:rPr lang="zh-CN" altLang="en-US" dirty="0"/>
              <a:t>若推导字段与真实字段完全匹配，视为</a:t>
            </a:r>
            <a:r>
              <a:rPr lang="zh-CN" altLang="en-US" b="1" dirty="0"/>
              <a:t>精准字段</a:t>
            </a:r>
            <a:endParaRPr lang="en-US" altLang="zh-CN" b="1" dirty="0"/>
          </a:p>
          <a:p>
            <a:pPr marL="285750" indent="-285750">
              <a:buFont typeface="Arial" panose="020B0604020202020204" pitchFamily="34" charset="0"/>
              <a:buChar char="•"/>
            </a:pPr>
            <a:r>
              <a:rPr lang="zh-CN" altLang="en-US" dirty="0"/>
              <a:t>若推导字段包含多个不完整的真实字段，或将动态字段误判为静态字段，视为</a:t>
            </a:r>
            <a:r>
              <a:rPr lang="zh-CN" altLang="en-US" b="1" dirty="0"/>
              <a:t>错误字段</a:t>
            </a:r>
            <a:endParaRPr lang="zh-CN" altLang="en-US" dirty="0"/>
          </a:p>
        </p:txBody>
      </p:sp>
      <p:pic>
        <p:nvPicPr>
          <p:cNvPr id="6" name="图片 5">
            <a:extLst>
              <a:ext uri="{FF2B5EF4-FFF2-40B4-BE49-F238E27FC236}">
                <a16:creationId xmlns:a16="http://schemas.microsoft.com/office/drawing/2014/main" id="{34468F87-C660-7E31-DCD3-356682E8B3E2}"/>
              </a:ext>
            </a:extLst>
          </p:cNvPr>
          <p:cNvPicPr>
            <a:picLocks noChangeAspect="1"/>
          </p:cNvPicPr>
          <p:nvPr/>
        </p:nvPicPr>
        <p:blipFill>
          <a:blip r:embed="rId2"/>
          <a:stretch>
            <a:fillRect/>
          </a:stretch>
        </p:blipFill>
        <p:spPr>
          <a:xfrm>
            <a:off x="1334788" y="1578739"/>
            <a:ext cx="3872755" cy="760720"/>
          </a:xfrm>
          <a:prstGeom prst="rect">
            <a:avLst/>
          </a:prstGeom>
        </p:spPr>
      </p:pic>
      <p:sp>
        <p:nvSpPr>
          <p:cNvPr id="8" name="文本框 7">
            <a:extLst>
              <a:ext uri="{FF2B5EF4-FFF2-40B4-BE49-F238E27FC236}">
                <a16:creationId xmlns:a16="http://schemas.microsoft.com/office/drawing/2014/main" id="{6187C420-A922-34C8-2AD2-276BFEA8F213}"/>
              </a:ext>
            </a:extLst>
          </p:cNvPr>
          <p:cNvSpPr txBox="1"/>
          <p:nvPr/>
        </p:nvSpPr>
        <p:spPr>
          <a:xfrm>
            <a:off x="387485" y="1705903"/>
            <a:ext cx="947303" cy="369332"/>
          </a:xfrm>
          <a:prstGeom prst="rect">
            <a:avLst/>
          </a:prstGeom>
          <a:noFill/>
        </p:spPr>
        <p:txBody>
          <a:bodyPr wrap="square">
            <a:spAutoFit/>
          </a:bodyPr>
          <a:lstStyle/>
          <a:p>
            <a:r>
              <a:rPr lang="zh-CN" altLang="en-US" dirty="0"/>
              <a:t>正确率</a:t>
            </a:r>
          </a:p>
        </p:txBody>
      </p:sp>
      <p:sp>
        <p:nvSpPr>
          <p:cNvPr id="10" name="文本框 9">
            <a:extLst>
              <a:ext uri="{FF2B5EF4-FFF2-40B4-BE49-F238E27FC236}">
                <a16:creationId xmlns:a16="http://schemas.microsoft.com/office/drawing/2014/main" id="{E3D6E959-4BD6-ED99-7049-E62358FE5DAF}"/>
              </a:ext>
            </a:extLst>
          </p:cNvPr>
          <p:cNvSpPr txBox="1"/>
          <p:nvPr/>
        </p:nvSpPr>
        <p:spPr>
          <a:xfrm>
            <a:off x="6154846" y="1830190"/>
            <a:ext cx="941962" cy="369332"/>
          </a:xfrm>
          <a:prstGeom prst="rect">
            <a:avLst/>
          </a:prstGeom>
          <a:noFill/>
        </p:spPr>
        <p:txBody>
          <a:bodyPr wrap="square">
            <a:spAutoFit/>
          </a:bodyPr>
          <a:lstStyle/>
          <a:p>
            <a:r>
              <a:rPr lang="zh-CN" altLang="en-US" dirty="0"/>
              <a:t>精准率</a:t>
            </a:r>
          </a:p>
        </p:txBody>
      </p:sp>
      <p:pic>
        <p:nvPicPr>
          <p:cNvPr id="12" name="图片 11">
            <a:extLst>
              <a:ext uri="{FF2B5EF4-FFF2-40B4-BE49-F238E27FC236}">
                <a16:creationId xmlns:a16="http://schemas.microsoft.com/office/drawing/2014/main" id="{E345AF7B-273A-A3EC-1166-C98843F46C94}"/>
              </a:ext>
            </a:extLst>
          </p:cNvPr>
          <p:cNvPicPr>
            <a:picLocks noChangeAspect="1"/>
          </p:cNvPicPr>
          <p:nvPr/>
        </p:nvPicPr>
        <p:blipFill>
          <a:blip r:embed="rId3"/>
          <a:stretch>
            <a:fillRect/>
          </a:stretch>
        </p:blipFill>
        <p:spPr>
          <a:xfrm>
            <a:off x="7334760" y="1666916"/>
            <a:ext cx="3456458" cy="695880"/>
          </a:xfrm>
          <a:prstGeom prst="rect">
            <a:avLst/>
          </a:prstGeom>
        </p:spPr>
      </p:pic>
      <p:pic>
        <p:nvPicPr>
          <p:cNvPr id="14" name="图片 13">
            <a:extLst>
              <a:ext uri="{FF2B5EF4-FFF2-40B4-BE49-F238E27FC236}">
                <a16:creationId xmlns:a16="http://schemas.microsoft.com/office/drawing/2014/main" id="{D3B2B33A-F41F-BB69-1DC7-8ECDD797E275}"/>
              </a:ext>
            </a:extLst>
          </p:cNvPr>
          <p:cNvPicPr>
            <a:picLocks noChangeAspect="1"/>
          </p:cNvPicPr>
          <p:nvPr/>
        </p:nvPicPr>
        <p:blipFill>
          <a:blip r:embed="rId4"/>
          <a:stretch>
            <a:fillRect/>
          </a:stretch>
        </p:blipFill>
        <p:spPr>
          <a:xfrm>
            <a:off x="2581422" y="2282496"/>
            <a:ext cx="6359566" cy="4575504"/>
          </a:xfrm>
          <a:prstGeom prst="rect">
            <a:avLst/>
          </a:prstGeom>
          <a:ln w="6350">
            <a:noFill/>
          </a:ln>
        </p:spPr>
      </p:pic>
      <p:cxnSp>
        <p:nvCxnSpPr>
          <p:cNvPr id="18" name="直接箭头连接符 17">
            <a:extLst>
              <a:ext uri="{FF2B5EF4-FFF2-40B4-BE49-F238E27FC236}">
                <a16:creationId xmlns:a16="http://schemas.microsoft.com/office/drawing/2014/main" id="{929DB076-5ADC-4E17-D169-C108C39E3F47}"/>
              </a:ext>
            </a:extLst>
          </p:cNvPr>
          <p:cNvCxnSpPr/>
          <p:nvPr/>
        </p:nvCxnSpPr>
        <p:spPr>
          <a:xfrm flipH="1" flipV="1">
            <a:off x="2380034" y="5920902"/>
            <a:ext cx="1802860" cy="4798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95FF7C05-24D1-5E5C-051F-AD02B8FB67D2}"/>
              </a:ext>
            </a:extLst>
          </p:cNvPr>
          <p:cNvSpPr/>
          <p:nvPr/>
        </p:nvSpPr>
        <p:spPr>
          <a:xfrm>
            <a:off x="4220941" y="6348919"/>
            <a:ext cx="1316476" cy="278860"/>
          </a:xfrm>
          <a:prstGeom prst="rect">
            <a:avLst/>
          </a:prstGeom>
          <a:noFill/>
          <a:ln w="127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C0D9C624-9C41-612F-D20E-0BF1F0E0D1FC}"/>
              </a:ext>
            </a:extLst>
          </p:cNvPr>
          <p:cNvSpPr txBox="1"/>
          <p:nvPr/>
        </p:nvSpPr>
        <p:spPr>
          <a:xfrm>
            <a:off x="1733703" y="5718798"/>
            <a:ext cx="646331" cy="369332"/>
          </a:xfrm>
          <a:prstGeom prst="rect">
            <a:avLst/>
          </a:prstGeom>
          <a:noFill/>
        </p:spPr>
        <p:txBody>
          <a:bodyPr wrap="none" rtlCol="0">
            <a:spAutoFit/>
          </a:bodyPr>
          <a:lstStyle/>
          <a:p>
            <a:r>
              <a:rPr lang="zh-CN" altLang="en-US" dirty="0">
                <a:solidFill>
                  <a:schemeClr val="accent1"/>
                </a:solidFill>
              </a:rPr>
              <a:t>超时</a:t>
            </a:r>
          </a:p>
        </p:txBody>
      </p:sp>
    </p:spTree>
    <p:extLst>
      <p:ext uri="{BB962C8B-B14F-4D97-AF65-F5344CB8AC3E}">
        <p14:creationId xmlns:p14="http://schemas.microsoft.com/office/powerpoint/2010/main" val="5421526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AFE5C45-A94C-98F3-E14C-48DFEB0ED77D}"/>
              </a:ext>
            </a:extLst>
          </p:cNvPr>
          <p:cNvPicPr>
            <a:picLocks noChangeAspect="1"/>
          </p:cNvPicPr>
          <p:nvPr/>
        </p:nvPicPr>
        <p:blipFill>
          <a:blip r:embed="rId2"/>
          <a:srcRect l="1699" r="1114" b="1202"/>
          <a:stretch>
            <a:fillRect/>
          </a:stretch>
        </p:blipFill>
        <p:spPr>
          <a:xfrm>
            <a:off x="2761710" y="2067371"/>
            <a:ext cx="6668579" cy="3996204"/>
          </a:xfrm>
          <a:prstGeom prst="rect">
            <a:avLst/>
          </a:prstGeom>
        </p:spPr>
      </p:pic>
      <p:sp>
        <p:nvSpPr>
          <p:cNvPr id="4" name="文本框 3">
            <a:extLst>
              <a:ext uri="{FF2B5EF4-FFF2-40B4-BE49-F238E27FC236}">
                <a16:creationId xmlns:a16="http://schemas.microsoft.com/office/drawing/2014/main" id="{EFDF96C7-F90C-25FC-4050-F03DC74DFAC3}"/>
              </a:ext>
            </a:extLst>
          </p:cNvPr>
          <p:cNvSpPr txBox="1"/>
          <p:nvPr/>
        </p:nvSpPr>
        <p:spPr>
          <a:xfrm>
            <a:off x="0" y="0"/>
            <a:ext cx="6096000" cy="369332"/>
          </a:xfrm>
          <a:prstGeom prst="rect">
            <a:avLst/>
          </a:prstGeom>
          <a:noFill/>
        </p:spPr>
        <p:txBody>
          <a:bodyPr wrap="square">
            <a:spAutoFit/>
          </a:bodyPr>
          <a:lstStyle/>
          <a:p>
            <a:r>
              <a:rPr lang="en-US" altLang="zh-CN" b="1" dirty="0">
                <a:solidFill>
                  <a:schemeClr val="accent5"/>
                </a:solidFill>
              </a:rPr>
              <a:t>3.6 </a:t>
            </a:r>
            <a:r>
              <a:rPr lang="zh-CN" altLang="en-US" b="1" dirty="0">
                <a:solidFill>
                  <a:schemeClr val="accent5"/>
                </a:solidFill>
              </a:rPr>
              <a:t>状态机推理效果评估</a:t>
            </a:r>
          </a:p>
        </p:txBody>
      </p:sp>
      <p:sp>
        <p:nvSpPr>
          <p:cNvPr id="6" name="文本框 5">
            <a:extLst>
              <a:ext uri="{FF2B5EF4-FFF2-40B4-BE49-F238E27FC236}">
                <a16:creationId xmlns:a16="http://schemas.microsoft.com/office/drawing/2014/main" id="{F15A94F1-80FE-572C-B788-942DD30B5DC2}"/>
              </a:ext>
            </a:extLst>
          </p:cNvPr>
          <p:cNvSpPr txBox="1"/>
          <p:nvPr/>
        </p:nvSpPr>
        <p:spPr>
          <a:xfrm>
            <a:off x="659859" y="511182"/>
            <a:ext cx="10578830" cy="1200329"/>
          </a:xfrm>
          <a:prstGeom prst="rect">
            <a:avLst/>
          </a:prstGeom>
          <a:noFill/>
        </p:spPr>
        <p:txBody>
          <a:bodyPr wrap="square">
            <a:spAutoFit/>
          </a:bodyPr>
          <a:lstStyle/>
          <a:p>
            <a:r>
              <a:rPr lang="zh-CN" altLang="en-US" dirty="0"/>
              <a:t>状态机推理的有效性，直接由聚类结果决定。</a:t>
            </a:r>
            <a:endParaRPr lang="en-US" altLang="zh-CN" dirty="0"/>
          </a:p>
          <a:p>
            <a:r>
              <a:rPr lang="zh-CN" altLang="en-US" dirty="0"/>
              <a:t>聚类的完整性不足，会导致状态数量过量，使状态机过于复杂，无法提供有效信息。</a:t>
            </a:r>
            <a:endParaRPr lang="en-US" altLang="zh-CN" dirty="0"/>
          </a:p>
          <a:p>
            <a:endParaRPr lang="en-US" altLang="zh-CN" dirty="0"/>
          </a:p>
          <a:p>
            <a:r>
              <a:rPr lang="zh-CN" altLang="en-US" dirty="0"/>
              <a:t>表 </a:t>
            </a:r>
            <a:r>
              <a:rPr lang="en-US" altLang="zh-CN" dirty="0"/>
              <a:t>VI </a:t>
            </a:r>
            <a:r>
              <a:rPr lang="zh-CN" altLang="en-US" dirty="0"/>
              <a:t>展示了推导得到的状态机状态数量，其中真实基准值由协议规范计算得出。</a:t>
            </a:r>
          </a:p>
        </p:txBody>
      </p:sp>
    </p:spTree>
    <p:extLst>
      <p:ext uri="{BB962C8B-B14F-4D97-AF65-F5344CB8AC3E}">
        <p14:creationId xmlns:p14="http://schemas.microsoft.com/office/powerpoint/2010/main" val="211905172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1382</TotalTime>
  <Words>2811</Words>
  <Application>Microsoft Office PowerPoint</Application>
  <PresentationFormat>宽屏</PresentationFormat>
  <Paragraphs>194</Paragraphs>
  <Slides>29</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29</vt:i4>
      </vt:variant>
    </vt:vector>
  </HeadingPairs>
  <TitlesOfParts>
    <vt:vector size="34" baseType="lpstr">
      <vt:lpstr>ui-sans-serif</vt:lpstr>
      <vt:lpstr>等线</vt:lpstr>
      <vt:lpstr>等线 Light</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奕辉 赵</dc:creator>
  <cp:lastModifiedBy>奕辉 赵</cp:lastModifiedBy>
  <cp:revision>291</cp:revision>
  <dcterms:created xsi:type="dcterms:W3CDTF">2026-04-20T01:32:12Z</dcterms:created>
  <dcterms:modified xsi:type="dcterms:W3CDTF">2026-04-21T01:13:08Z</dcterms:modified>
</cp:coreProperties>
</file>