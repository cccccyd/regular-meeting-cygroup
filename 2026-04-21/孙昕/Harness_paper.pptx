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8" r:id="rId4"/>
    <p:sldId id="273" r:id="rId6"/>
    <p:sldId id="260" r:id="rId7"/>
    <p:sldId id="262" r:id="rId8"/>
    <p:sldId id="261" r:id="rId9"/>
    <p:sldId id="263" r:id="rId10"/>
    <p:sldId id="264" r:id="rId11"/>
    <p:sldId id="275" r:id="rId12"/>
    <p:sldId id="276" r:id="rId13"/>
    <p:sldId id="277" r:id="rId14"/>
    <p:sldId id="267" r:id="rId15"/>
    <p:sldId id="268" r:id="rId16"/>
    <p:sldId id="270" r:id="rId17"/>
    <p:sldId id="271"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1D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833" autoAdjust="0"/>
  </p:normalViewPr>
  <p:slideViewPr>
    <p:cSldViewPr snapToGrid="0" snapToObjects="1" showGuides="1">
      <p:cViewPr varScale="1">
        <p:scale>
          <a:sx n="80" d="100"/>
          <a:sy n="80" d="100"/>
        </p:scale>
        <p:origin x="744" y="90"/>
      </p:cViewPr>
      <p:guideLst>
        <p:guide orient="horz" pos="2160"/>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0087EC-7856-4AC0-83A6-4D61959747D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5C61DA-65F5-4E02-8A69-0EFC379003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5C61DA-65F5-4E02-8A69-0EFC379003E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3657600" cy="203200"/>
          </a:xfrm>
          <a:prstGeom prst="rect">
            <a:avLst/>
          </a:prstGeom>
          <a:noFill/>
        </p:spPr>
        <p:txBody>
          <a:bodyPr wrap="square">
            <a:spAutoFit/>
          </a:bodyPr>
          <a:lstStyle/>
          <a:p>
            <a:pPr algn="l"/>
            <a:r>
              <a:rPr sz="1300" b="1">
                <a:solidFill>
                  <a:srgbClr val="D62828"/>
                </a:solidFill>
                <a:latin typeface="Arial" panose="020B0604020202020204"/>
              </a:rPr>
              <a:t>USENIX SECURITY 2025</a:t>
            </a:r>
            <a:endParaRPr sz="1300" b="1">
              <a:solidFill>
                <a:srgbClr val="D62828"/>
              </a:solidFill>
              <a:latin typeface="Arial" panose="020B0604020202020204"/>
            </a:endParaRPr>
          </a:p>
        </p:txBody>
      </p:sp>
      <p:sp>
        <p:nvSpPr>
          <p:cNvPr id="5" name="Rectangle 4"/>
          <p:cNvSpPr/>
          <p:nvPr/>
        </p:nvSpPr>
        <p:spPr>
          <a:xfrm>
            <a:off x="731520" y="1325880"/>
            <a:ext cx="3200400" cy="508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7315200" cy="1188720"/>
          </a:xfrm>
          <a:prstGeom prst="rect">
            <a:avLst/>
          </a:prstGeom>
          <a:noFill/>
        </p:spPr>
        <p:txBody>
          <a:bodyPr wrap="square">
            <a:spAutoFit/>
          </a:bodyPr>
          <a:lstStyle/>
          <a:p>
            <a:pPr algn="l"/>
            <a:r>
              <a:rPr sz="6400" b="1">
                <a:solidFill>
                  <a:srgbClr val="FFFFFF"/>
                </a:solidFill>
                <a:latin typeface="Arial" panose="020B0604020202020204"/>
              </a:rPr>
              <a:t>Harness</a:t>
            </a:r>
            <a:endParaRPr sz="6400" b="1">
              <a:solidFill>
                <a:srgbClr val="FFFFFF"/>
              </a:solidFill>
              <a:latin typeface="Arial" panose="020B0604020202020204"/>
            </a:endParaRPr>
          </a:p>
        </p:txBody>
      </p:sp>
      <p:sp>
        <p:nvSpPr>
          <p:cNvPr id="7" name="TextBox 6"/>
          <p:cNvSpPr txBox="1"/>
          <p:nvPr/>
        </p:nvSpPr>
        <p:spPr>
          <a:xfrm>
            <a:off x="731520" y="2834640"/>
            <a:ext cx="9144000" cy="914400"/>
          </a:xfrm>
          <a:prstGeom prst="rect">
            <a:avLst/>
          </a:prstGeom>
          <a:noFill/>
        </p:spPr>
        <p:txBody>
          <a:bodyPr wrap="square">
            <a:spAutoFit/>
          </a:bodyPr>
          <a:lstStyle/>
          <a:p>
            <a:pPr algn="l"/>
            <a:r>
              <a:rPr sz="1800" b="0">
                <a:solidFill>
                  <a:srgbClr val="CCCCCC"/>
                </a:solidFill>
                <a:latin typeface="Arial" panose="020B0604020202020204"/>
              </a:rPr>
              <a:t>Transparent and Lightweight Protection of Vehicle Control
on Untrusted Android Automotive Operating System</a:t>
            </a:r>
            <a:endParaRPr sz="1800" b="0">
              <a:solidFill>
                <a:srgbClr val="CCCCCC"/>
              </a:solidFill>
              <a:latin typeface="Arial" panose="020B0604020202020204"/>
            </a:endParaRPr>
          </a:p>
        </p:txBody>
      </p:sp>
      <p:sp>
        <p:nvSpPr>
          <p:cNvPr id="8" name="Rectangle 7"/>
          <p:cNvSpPr/>
          <p:nvPr/>
        </p:nvSpPr>
        <p:spPr>
          <a:xfrm>
            <a:off x="731520" y="3931920"/>
            <a:ext cx="1828800" cy="2794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720" y="3977639"/>
            <a:ext cx="1737360" cy="203200"/>
          </a:xfrm>
          <a:prstGeom prst="rect">
            <a:avLst/>
          </a:prstGeom>
          <a:noFill/>
        </p:spPr>
        <p:txBody>
          <a:bodyPr wrap="square">
            <a:spAutoFit/>
          </a:bodyPr>
          <a:lstStyle/>
          <a:p>
            <a:pPr algn="l"/>
            <a:r>
              <a:rPr sz="1000" b="1">
                <a:solidFill>
                  <a:srgbClr val="FFFFFF"/>
                </a:solidFill>
                <a:latin typeface="Arial" panose="020B0604020202020204"/>
              </a:rPr>
              <a:t>System Security</a:t>
            </a:r>
            <a:endParaRPr sz="1000" b="1">
              <a:solidFill>
                <a:srgbClr val="FFFFFF"/>
              </a:solidFill>
              <a:latin typeface="Arial" panose="020B0604020202020204"/>
            </a:endParaRPr>
          </a:p>
        </p:txBody>
      </p:sp>
      <p:sp>
        <p:nvSpPr>
          <p:cNvPr id="10" name="Rectangle 9"/>
          <p:cNvSpPr/>
          <p:nvPr/>
        </p:nvSpPr>
        <p:spPr>
          <a:xfrm>
            <a:off x="2651760" y="3931920"/>
            <a:ext cx="1828800" cy="2794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27960" y="3977639"/>
            <a:ext cx="1737360" cy="203200"/>
          </a:xfrm>
          <a:prstGeom prst="rect">
            <a:avLst/>
          </a:prstGeom>
          <a:noFill/>
        </p:spPr>
        <p:txBody>
          <a:bodyPr wrap="square">
            <a:spAutoFit/>
          </a:bodyPr>
          <a:lstStyle/>
          <a:p>
            <a:pPr algn="l"/>
            <a:r>
              <a:rPr sz="1000" b="1">
                <a:solidFill>
                  <a:srgbClr val="FFFFFF"/>
                </a:solidFill>
                <a:latin typeface="Arial" panose="020B0604020202020204"/>
              </a:rPr>
              <a:t>Virtualization</a:t>
            </a:r>
            <a:endParaRPr sz="1000" b="1">
              <a:solidFill>
                <a:srgbClr val="FFFFFF"/>
              </a:solidFill>
              <a:latin typeface="Arial" panose="020B0604020202020204"/>
            </a:endParaRPr>
          </a:p>
        </p:txBody>
      </p:sp>
      <p:sp>
        <p:nvSpPr>
          <p:cNvPr id="12" name="Rectangle 11"/>
          <p:cNvSpPr/>
          <p:nvPr/>
        </p:nvSpPr>
        <p:spPr>
          <a:xfrm>
            <a:off x="4572000" y="3931920"/>
            <a:ext cx="1828800" cy="2794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3977639"/>
            <a:ext cx="1737360" cy="203200"/>
          </a:xfrm>
          <a:prstGeom prst="rect">
            <a:avLst/>
          </a:prstGeom>
          <a:noFill/>
        </p:spPr>
        <p:txBody>
          <a:bodyPr wrap="square">
            <a:spAutoFit/>
          </a:bodyPr>
          <a:lstStyle/>
          <a:p>
            <a:pPr algn="l"/>
            <a:r>
              <a:rPr sz="1000" b="1">
                <a:solidFill>
                  <a:srgbClr val="FFFFFF"/>
                </a:solidFill>
                <a:latin typeface="Arial" panose="020B0604020202020204"/>
              </a:rPr>
              <a:t>Automotive</a:t>
            </a:r>
            <a:endParaRPr sz="1000" b="1">
              <a:solidFill>
                <a:srgbClr val="FFFFFF"/>
              </a:solidFill>
              <a:latin typeface="Arial" panose="020B0604020202020204"/>
            </a:endParaRPr>
          </a:p>
        </p:txBody>
      </p:sp>
      <p:sp>
        <p:nvSpPr>
          <p:cNvPr id="14" name="Rectangle 13"/>
          <p:cNvSpPr/>
          <p:nvPr/>
        </p:nvSpPr>
        <p:spPr>
          <a:xfrm>
            <a:off x="731520" y="4572000"/>
            <a:ext cx="10725912"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54880"/>
            <a:ext cx="1828800" cy="203200"/>
          </a:xfrm>
          <a:prstGeom prst="rect">
            <a:avLst/>
          </a:prstGeom>
          <a:noFill/>
        </p:spPr>
        <p:txBody>
          <a:bodyPr wrap="square">
            <a:spAutoFit/>
          </a:bodyPr>
          <a:lstStyle/>
          <a:p>
            <a:pPr algn="l"/>
            <a:r>
              <a:rPr sz="1000" b="0">
                <a:solidFill>
                  <a:srgbClr val="888888"/>
                </a:solidFill>
                <a:latin typeface="Arial" panose="020B0604020202020204"/>
              </a:rPr>
              <a:t>作者团队</a:t>
            </a:r>
            <a:endParaRPr sz="1000" b="0">
              <a:solidFill>
                <a:srgbClr val="888888"/>
              </a:solidFill>
              <a:latin typeface="Arial" panose="020B0604020202020204"/>
            </a:endParaRPr>
          </a:p>
        </p:txBody>
      </p:sp>
      <p:sp>
        <p:nvSpPr>
          <p:cNvPr id="16" name="TextBox 15"/>
          <p:cNvSpPr txBox="1"/>
          <p:nvPr/>
        </p:nvSpPr>
        <p:spPr>
          <a:xfrm>
            <a:off x="731520" y="4983480"/>
            <a:ext cx="10058400" cy="279400"/>
          </a:xfrm>
          <a:prstGeom prst="rect">
            <a:avLst/>
          </a:prstGeom>
          <a:noFill/>
        </p:spPr>
        <p:txBody>
          <a:bodyPr wrap="square">
            <a:spAutoFit/>
          </a:bodyPr>
          <a:lstStyle/>
          <a:p>
            <a:pPr algn="l"/>
            <a:r>
              <a:rPr sz="1300" b="0">
                <a:solidFill>
                  <a:srgbClr val="CCCCCC"/>
                </a:solidFill>
                <a:latin typeface="Arial" panose="020B0604020202020204"/>
              </a:rPr>
              <a:t>Haochen Gong · Siyu Hong · Shenyi Yang · Rui Chang · Wenbo Shen · Ziqi Yuan · Chenyang Yu · Yajin Zhou</a:t>
            </a:r>
            <a:endParaRPr sz="1300" b="0">
              <a:solidFill>
                <a:srgbClr val="CCCCCC"/>
              </a:solidFill>
              <a:latin typeface="Arial" panose="020B0604020202020204"/>
            </a:endParaRPr>
          </a:p>
        </p:txBody>
      </p:sp>
      <p:sp>
        <p:nvSpPr>
          <p:cNvPr id="17" name="TextBox 16"/>
          <p:cNvSpPr txBox="1"/>
          <p:nvPr/>
        </p:nvSpPr>
        <p:spPr>
          <a:xfrm>
            <a:off x="731520" y="5303520"/>
            <a:ext cx="5486400" cy="228600"/>
          </a:xfrm>
          <a:prstGeom prst="rect">
            <a:avLst/>
          </a:prstGeom>
          <a:noFill/>
        </p:spPr>
        <p:txBody>
          <a:bodyPr wrap="square">
            <a:spAutoFit/>
          </a:bodyPr>
          <a:lstStyle/>
          <a:p>
            <a:pPr algn="l"/>
            <a:r>
              <a:rPr sz="1200" b="0">
                <a:solidFill>
                  <a:srgbClr val="666666"/>
                </a:solidFill>
                <a:latin typeface="Arial" panose="020B0604020202020204"/>
              </a:rPr>
              <a:t>浙江大学  ·  Zhejiang University</a:t>
            </a:r>
            <a:endParaRPr sz="1200" b="0">
              <a:solidFill>
                <a:srgbClr val="666666"/>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6894" y="0"/>
            <a:ext cx="3657600" cy="400110"/>
          </a:xfrm>
          <a:prstGeom prst="rect">
            <a:avLst/>
          </a:prstGeom>
          <a:noFill/>
        </p:spPr>
        <p:txBody>
          <a:bodyPr wrap="square">
            <a:spAutoFit/>
          </a:bodyPr>
          <a:lstStyle/>
          <a:p>
            <a:pPr algn="l"/>
            <a:r>
              <a:rPr sz="2000" b="1" dirty="0">
                <a:solidFill>
                  <a:srgbClr val="D62828"/>
                </a:solidFill>
                <a:latin typeface="黑体" panose="02010609060101010101" pitchFamily="49" charset="-122"/>
                <a:ea typeface="黑体" panose="02010609060101010101" pitchFamily="49" charset="-122"/>
              </a:rPr>
              <a:t>BACKGROUND</a:t>
            </a:r>
            <a:endParaRPr sz="2000" b="1" dirty="0">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206894" y="27432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黑体" panose="02010609060101010101" pitchFamily="49" charset="-122"/>
              <a:ea typeface="黑体" panose="02010609060101010101" pitchFamily="49" charset="-122"/>
            </a:endParaRPr>
          </a:p>
        </p:txBody>
      </p:sp>
      <p:sp>
        <p:nvSpPr>
          <p:cNvPr id="9" name="TextBox 8"/>
          <p:cNvSpPr txBox="1"/>
          <p:nvPr/>
        </p:nvSpPr>
        <p:spPr>
          <a:xfrm>
            <a:off x="470189" y="597107"/>
            <a:ext cx="5029200" cy="400110"/>
          </a:xfrm>
          <a:prstGeom prst="rect">
            <a:avLst/>
          </a:prstGeom>
          <a:noFill/>
        </p:spPr>
        <p:txBody>
          <a:bodyPr wrap="square">
            <a:spAutoFit/>
          </a:bodyPr>
          <a:lstStyle/>
          <a:p>
            <a:pPr algn="l"/>
            <a:r>
              <a:rPr sz="2000" b="1" dirty="0" err="1">
                <a:solidFill>
                  <a:srgbClr val="111111"/>
                </a:solidFill>
                <a:latin typeface="黑体" panose="02010609060101010101" pitchFamily="49" charset="-122"/>
                <a:ea typeface="黑体" panose="02010609060101010101" pitchFamily="49" charset="-122"/>
              </a:rPr>
              <a:t>软件定义车辆</a:t>
            </a:r>
            <a:r>
              <a:rPr sz="2000" b="1" dirty="0">
                <a:solidFill>
                  <a:srgbClr val="111111"/>
                </a:solidFill>
                <a:latin typeface="黑体" panose="02010609060101010101" pitchFamily="49" charset="-122"/>
                <a:ea typeface="黑体" panose="02010609060101010101" pitchFamily="49" charset="-122"/>
              </a:rPr>
              <a:t> (SDV)</a:t>
            </a:r>
            <a:endParaRPr sz="2000" b="1" dirty="0">
              <a:solidFill>
                <a:srgbClr val="111111"/>
              </a:solidFill>
              <a:latin typeface="黑体" panose="02010609060101010101" pitchFamily="49" charset="-122"/>
              <a:ea typeface="黑体" panose="02010609060101010101" pitchFamily="49" charset="-122"/>
            </a:endParaRPr>
          </a:p>
        </p:txBody>
      </p:sp>
      <p:sp>
        <p:nvSpPr>
          <p:cNvPr id="10" name="TextBox 9"/>
          <p:cNvSpPr txBox="1"/>
          <p:nvPr/>
        </p:nvSpPr>
        <p:spPr>
          <a:xfrm>
            <a:off x="470189" y="1010738"/>
            <a:ext cx="5303520" cy="2821285"/>
          </a:xfrm>
          <a:prstGeom prst="rect">
            <a:avLst/>
          </a:prstGeom>
          <a:noFill/>
        </p:spPr>
        <p:txBody>
          <a:bodyPr wrap="square">
            <a:spAutoFit/>
          </a:bodyPr>
          <a:lstStyle/>
          <a:p>
            <a:pPr>
              <a:spcBef>
                <a:spcPts val="400"/>
              </a:spcBef>
            </a:pPr>
            <a:r>
              <a:rPr sz="2000" dirty="0" err="1">
                <a:solidFill>
                  <a:srgbClr val="111111"/>
                </a:solidFill>
                <a:latin typeface="黑体" panose="02010609060101010101" pitchFamily="49" charset="-122"/>
                <a:ea typeface="黑体" panose="02010609060101010101" pitchFamily="49" charset="-122"/>
              </a:rPr>
              <a:t>车载信息娱乐系统</a:t>
            </a:r>
            <a:r>
              <a:rPr sz="2000" dirty="0">
                <a:solidFill>
                  <a:srgbClr val="111111"/>
                </a:solidFill>
                <a:latin typeface="黑体" panose="02010609060101010101" pitchFamily="49" charset="-122"/>
                <a:ea typeface="黑体" panose="02010609060101010101" pitchFamily="49" charset="-122"/>
              </a:rPr>
              <a:t> (IVI) </a:t>
            </a:r>
            <a:r>
              <a:rPr sz="2000" dirty="0" err="1">
                <a:solidFill>
                  <a:srgbClr val="111111"/>
                </a:solidFill>
                <a:latin typeface="黑体" panose="02010609060101010101" pitchFamily="49" charset="-122"/>
                <a:ea typeface="黑体" panose="02010609060101010101" pitchFamily="49" charset="-122"/>
              </a:rPr>
              <a:t>与车辆</a:t>
            </a:r>
            <a:r>
              <a:rPr sz="2000" dirty="0">
                <a:solidFill>
                  <a:srgbClr val="111111"/>
                </a:solidFill>
                <a:latin typeface="黑体" panose="02010609060101010101" pitchFamily="49" charset="-122"/>
                <a:ea typeface="黑体" panose="02010609060101010101" pitchFamily="49" charset="-122"/>
              </a:rPr>
              <a:t> ECU </a:t>
            </a:r>
            <a:r>
              <a:rPr sz="2000" dirty="0" err="1">
                <a:solidFill>
                  <a:srgbClr val="111111"/>
                </a:solidFill>
                <a:latin typeface="黑体" panose="02010609060101010101" pitchFamily="49" charset="-122"/>
                <a:ea typeface="黑体" panose="02010609060101010101" pitchFamily="49" charset="-122"/>
              </a:rPr>
              <a:t>通过车载网络</a:t>
            </a:r>
            <a:r>
              <a:rPr sz="2000" dirty="0">
                <a:solidFill>
                  <a:srgbClr val="111111"/>
                </a:solidFill>
                <a:latin typeface="黑体" panose="02010609060101010101" pitchFamily="49" charset="-122"/>
                <a:ea typeface="黑体" panose="02010609060101010101" pitchFamily="49" charset="-122"/>
              </a:rPr>
              <a:t> (IVN) </a:t>
            </a:r>
            <a:r>
              <a:rPr sz="2000" dirty="0" err="1">
                <a:solidFill>
                  <a:srgbClr val="111111"/>
                </a:solidFill>
                <a:latin typeface="黑体" panose="02010609060101010101" pitchFamily="49" charset="-122"/>
                <a:ea typeface="黑体" panose="02010609060101010101" pitchFamily="49" charset="-122"/>
              </a:rPr>
              <a:t>连接</a:t>
            </a:r>
            <a:endParaRPr sz="2000" dirty="0">
              <a:solidFill>
                <a:srgbClr val="111111"/>
              </a:solidFill>
              <a:latin typeface="黑体" panose="02010609060101010101" pitchFamily="49" charset="-122"/>
              <a:ea typeface="黑体" panose="02010609060101010101" pitchFamily="49" charset="-122"/>
            </a:endParaRPr>
          </a:p>
          <a:p>
            <a:pPr>
              <a:spcBef>
                <a:spcPts val="400"/>
              </a:spcBef>
            </a:pPr>
            <a:r>
              <a:rPr sz="2000" dirty="0">
                <a:solidFill>
                  <a:srgbClr val="111111"/>
                </a:solidFill>
                <a:latin typeface="黑体" panose="02010609060101010101" pitchFamily="49" charset="-122"/>
                <a:ea typeface="黑体" panose="02010609060101010101" pitchFamily="49" charset="-122"/>
              </a:rPr>
              <a:t> Android Automotive OS (AAOS) </a:t>
            </a:r>
            <a:r>
              <a:rPr sz="2000" dirty="0" err="1">
                <a:solidFill>
                  <a:srgbClr val="111111"/>
                </a:solidFill>
                <a:latin typeface="黑体" panose="02010609060101010101" pitchFamily="49" charset="-122"/>
                <a:ea typeface="黑体" panose="02010609060101010101" pitchFamily="49" charset="-122"/>
              </a:rPr>
              <a:t>因生态丰富被广泛采用</a:t>
            </a:r>
            <a:endParaRPr sz="2000" dirty="0">
              <a:solidFill>
                <a:srgbClr val="111111"/>
              </a:solidFill>
              <a:latin typeface="黑体" panose="02010609060101010101" pitchFamily="49" charset="-122"/>
              <a:ea typeface="黑体" panose="02010609060101010101" pitchFamily="49" charset="-122"/>
            </a:endParaRPr>
          </a:p>
          <a:p>
            <a:r>
              <a:rPr sz="2000" dirty="0">
                <a:solidFill>
                  <a:srgbClr val="111111"/>
                </a:solidFill>
                <a:latin typeface="黑体" panose="02010609060101010101" pitchFamily="49" charset="-122"/>
                <a:ea typeface="黑体" panose="02010609060101010101" pitchFamily="49" charset="-122"/>
              </a:rPr>
              <a:t>IVI </a:t>
            </a:r>
            <a:r>
              <a:rPr sz="2000" dirty="0" err="1">
                <a:solidFill>
                  <a:srgbClr val="111111"/>
                </a:solidFill>
                <a:latin typeface="黑体" panose="02010609060101010101" pitchFamily="49" charset="-122"/>
                <a:ea typeface="黑体" panose="02010609060101010101" pitchFamily="49" charset="-122"/>
              </a:rPr>
              <a:t>可整合车辆控制能力，提供智能交互体验</a:t>
            </a:r>
            <a:br>
              <a:rPr lang="en-US" sz="2000" dirty="0">
                <a:solidFill>
                  <a:srgbClr val="111111"/>
                </a:solidFill>
                <a:latin typeface="黑体" panose="02010609060101010101" pitchFamily="49" charset="-122"/>
                <a:ea typeface="黑体" panose="02010609060101010101" pitchFamily="49" charset="-122"/>
              </a:rPr>
            </a:br>
            <a:br>
              <a:rPr lang="en-US" sz="2000" dirty="0">
                <a:solidFill>
                  <a:srgbClr val="111111"/>
                </a:solidFill>
                <a:latin typeface="黑体" panose="02010609060101010101" pitchFamily="49" charset="-122"/>
                <a:ea typeface="黑体" panose="02010609060101010101" pitchFamily="49" charset="-122"/>
              </a:rPr>
            </a:br>
            <a:r>
              <a:rPr lang="zh-CN" altLang="en-US" dirty="0">
                <a:latin typeface="黑体" panose="02010609060101010101" pitchFamily="49" charset="-122"/>
                <a:ea typeface="黑体" panose="02010609060101010101" pitchFamily="49" charset="-122"/>
              </a:rPr>
              <a:t>针对</a:t>
            </a:r>
            <a:r>
              <a:rPr lang="en-US" altLang="zh-CN" dirty="0">
                <a:latin typeface="黑体" panose="02010609060101010101" pitchFamily="49" charset="-122"/>
                <a:ea typeface="黑体" panose="02010609060101010101" pitchFamily="49" charset="-122"/>
              </a:rPr>
              <a:t>IVI</a:t>
            </a:r>
            <a:r>
              <a:rPr lang="zh-CN" altLang="en-US" dirty="0">
                <a:latin typeface="黑体" panose="02010609060101010101" pitchFamily="49" charset="-122"/>
                <a:ea typeface="黑体" panose="02010609060101010101" pitchFamily="49" charset="-122"/>
              </a:rPr>
              <a:t>的攻击，可成为完全掌控整车的突破口</a:t>
            </a:r>
            <a:endParaRPr lang="zh-CN" altLang="en-US" sz="2000"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例如：车门锁、车窗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座椅位置、换挡、驻车制动</a:t>
            </a:r>
            <a:endParaRPr sz="2000" dirty="0">
              <a:solidFill>
                <a:srgbClr val="111111"/>
              </a:solidFill>
              <a:latin typeface="黑体" panose="02010609060101010101" pitchFamily="49" charset="-122"/>
              <a:ea typeface="黑体" panose="02010609060101010101" pitchFamily="49" charset="-122"/>
            </a:endParaRPr>
          </a:p>
        </p:txBody>
      </p:sp>
      <p:sp>
        <p:nvSpPr>
          <p:cNvPr id="11" name="TextBox 10"/>
          <p:cNvSpPr txBox="1"/>
          <p:nvPr/>
        </p:nvSpPr>
        <p:spPr>
          <a:xfrm>
            <a:off x="6126480" y="506944"/>
            <a:ext cx="5029200" cy="400110"/>
          </a:xfrm>
          <a:prstGeom prst="rect">
            <a:avLst/>
          </a:prstGeom>
          <a:noFill/>
        </p:spPr>
        <p:txBody>
          <a:bodyPr wrap="square">
            <a:spAutoFit/>
          </a:bodyPr>
          <a:lstStyle/>
          <a:p>
            <a:pPr algn="l"/>
            <a:r>
              <a:rPr sz="2000" b="1" dirty="0" err="1">
                <a:solidFill>
                  <a:srgbClr val="111111"/>
                </a:solidFill>
                <a:latin typeface="黑体" panose="02010609060101010101" pitchFamily="49" charset="-122"/>
                <a:ea typeface="黑体" panose="02010609060101010101" pitchFamily="49" charset="-122"/>
              </a:rPr>
              <a:t>安全挑战</a:t>
            </a:r>
            <a:endParaRPr sz="2000" b="1" dirty="0">
              <a:solidFill>
                <a:srgbClr val="111111"/>
              </a:solidFill>
              <a:latin typeface="黑体" panose="02010609060101010101" pitchFamily="49" charset="-122"/>
              <a:ea typeface="黑体" panose="02010609060101010101" pitchFamily="49" charset="-122"/>
            </a:endParaRPr>
          </a:p>
        </p:txBody>
      </p:sp>
      <p:sp>
        <p:nvSpPr>
          <p:cNvPr id="12" name="TextBox 11"/>
          <p:cNvSpPr txBox="1"/>
          <p:nvPr/>
        </p:nvSpPr>
        <p:spPr>
          <a:xfrm>
            <a:off x="6094412" y="929278"/>
            <a:ext cx="5303520" cy="4914166"/>
          </a:xfrm>
          <a:prstGeom prst="rect">
            <a:avLst/>
          </a:prstGeom>
          <a:noFill/>
        </p:spPr>
        <p:txBody>
          <a:bodyPr wrap="square">
            <a:spAutoFit/>
          </a:bodyPr>
          <a:lstStyle/>
          <a:p>
            <a:pPr>
              <a:spcBef>
                <a:spcPts val="400"/>
              </a:spcBef>
            </a:pP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TCB</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（可信计算基）过大：</a:t>
            </a: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Android </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的可信计算基涵盖了过多的组件，包括 </a:t>
            </a: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Linux </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内核、设备驱动、用户空间系统服务和应用程序。大量闭源软件（如闭源驱动和库）难以修改或分解。</a:t>
            </a:r>
            <a:endPar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endParaRPr>
          </a:p>
          <a:p>
            <a:pPr>
              <a:spcBef>
                <a:spcPts val="400"/>
              </a:spcBef>
            </a:pPr>
            <a:endPar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endParaRPr>
          </a:p>
          <a:p>
            <a:pPr>
              <a:spcBef>
                <a:spcPts val="400"/>
              </a:spcBef>
            </a:pP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第三方应用扩大攻击面：</a:t>
            </a: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Android </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允许安装第三方应用，这进一步扩大了系统的攻击面。</a:t>
            </a:r>
            <a:endPar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endParaRPr>
          </a:p>
          <a:p>
            <a:pPr>
              <a:spcBef>
                <a:spcPts val="400"/>
              </a:spcBef>
            </a:pPr>
            <a:endPar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endParaRPr>
          </a:p>
          <a:p>
            <a:pPr>
              <a:spcBef>
                <a:spcPts val="400"/>
              </a:spcBef>
            </a:pP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攻击后果严重：攻击者一旦利用 </a:t>
            </a: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IVI </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系统中的漏洞，可以绕过 </a:t>
            </a: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IVN </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直接向 </a:t>
            </a:r>
            <a: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t>ECU </a:t>
            </a:r>
            <a:r>
              <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rPr>
              <a:t>注入恶意控制命令，从而控制整辆车的运行，这对人身安全和财产安全构成严重威胁。</a:t>
            </a:r>
            <a:br>
              <a:rPr lang="en-US" altLang="zh-CN" sz="2000" dirty="0">
                <a:solidFill>
                  <a:srgbClr val="111111"/>
                </a:solidFill>
                <a:latin typeface="黑体" panose="02010609060101010101" pitchFamily="49" charset="-122"/>
                <a:ea typeface="黑体" panose="02010609060101010101" pitchFamily="49" charset="-122"/>
                <a:cs typeface="Arial" panose="020B0604020202020204" pitchFamily="34" charset="0"/>
              </a:rPr>
            </a:br>
            <a:r>
              <a:rPr lang="zh-CN" altLang="en-US" sz="2000" dirty="0">
                <a:latin typeface="黑体" panose="02010609060101010101" pitchFamily="49" charset="-122"/>
                <a:ea typeface="黑体" panose="02010609060101010101" pitchFamily="49" charset="-122"/>
              </a:rPr>
              <a:t>改造困难：大量闭源库和驱动难以直接拆分或修改</a:t>
            </a:r>
            <a:endParaRPr lang="zh-CN" altLang="en-US" sz="2000" dirty="0">
              <a:solidFill>
                <a:srgbClr val="111111"/>
              </a:solidFill>
              <a:latin typeface="黑体" panose="02010609060101010101" pitchFamily="49" charset="-122"/>
              <a:ea typeface="黑体" panose="02010609060101010101" pitchFamily="49" charset="-122"/>
              <a:cs typeface="Arial" panose="020B0604020202020204" pitchFamily="34" charset="0"/>
            </a:endParaRPr>
          </a:p>
        </p:txBody>
      </p:sp>
      <p:sp>
        <p:nvSpPr>
          <p:cNvPr id="16" name="文本框 15"/>
          <p:cNvSpPr txBox="1"/>
          <p:nvPr/>
        </p:nvSpPr>
        <p:spPr>
          <a:xfrm>
            <a:off x="632008" y="5799228"/>
            <a:ext cx="9062099" cy="923330"/>
          </a:xfrm>
          <a:prstGeom prst="rect">
            <a:avLst/>
          </a:prstGeom>
          <a:noFill/>
        </p:spPr>
        <p:txBody>
          <a:bodyPr wrap="square">
            <a:spAutoFit/>
          </a:bodyPr>
          <a:lstStyle/>
          <a:p>
            <a:pPr marL="400050" indent="-400050">
              <a:buAutoNum type="romanUcPeriod"/>
            </a:pPr>
            <a:r>
              <a:rPr lang="zh-CN" altLang="en-US" dirty="0">
                <a:latin typeface="黑体" panose="02010609060101010101" pitchFamily="49" charset="-122"/>
                <a:ea typeface="黑体" panose="02010609060101010101" pitchFamily="49" charset="-122"/>
              </a:rPr>
              <a:t>系统性地研究 </a:t>
            </a:r>
            <a:r>
              <a:rPr lang="en-US" altLang="zh-CN" dirty="0">
                <a:latin typeface="黑体" panose="02010609060101010101" pitchFamily="49" charset="-122"/>
                <a:ea typeface="黑体" panose="02010609060101010101" pitchFamily="49" charset="-122"/>
              </a:rPr>
              <a:t>AAOS </a:t>
            </a:r>
            <a:r>
              <a:rPr lang="zh-CN" altLang="en-US" dirty="0">
                <a:latin typeface="黑体" panose="02010609060101010101" pitchFamily="49" charset="-122"/>
                <a:ea typeface="黑体" panose="02010609060101010101" pitchFamily="49" charset="-122"/>
              </a:rPr>
              <a:t>整车控制链攻击面的工作。</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II. </a:t>
            </a:r>
            <a:r>
              <a:rPr lang="zh-CN" altLang="en-US" dirty="0">
                <a:latin typeface="黑体" panose="02010609060101010101" pitchFamily="49" charset="-122"/>
                <a:ea typeface="黑体" panose="02010609060101010101" pitchFamily="49" charset="-122"/>
              </a:rPr>
              <a:t>提出了一个基于 </a:t>
            </a:r>
            <a:r>
              <a:rPr lang="en-US" altLang="zh-CN" dirty="0">
                <a:latin typeface="黑体" panose="02010609060101010101" pitchFamily="49" charset="-122"/>
                <a:ea typeface="黑体" panose="02010609060101010101" pitchFamily="49" charset="-122"/>
              </a:rPr>
              <a:t>hypervisor </a:t>
            </a:r>
            <a:r>
              <a:rPr lang="zh-CN" altLang="en-US" dirty="0">
                <a:latin typeface="黑体" panose="02010609060101010101" pitchFamily="49" charset="-122"/>
                <a:ea typeface="黑体" panose="02010609060101010101" pitchFamily="49" charset="-122"/>
              </a:rPr>
              <a:t>的框架，透明且高效地保护车辆控制链免受不可信 </a:t>
            </a:r>
            <a:r>
              <a:rPr lang="en-US" altLang="zh-CN" dirty="0">
                <a:latin typeface="黑体" panose="02010609060101010101" pitchFamily="49" charset="-122"/>
                <a:ea typeface="黑体" panose="02010609060101010101" pitchFamily="49" charset="-122"/>
              </a:rPr>
              <a:t>AAOS </a:t>
            </a:r>
            <a:r>
              <a:rPr lang="zh-CN" altLang="en-US" dirty="0">
                <a:latin typeface="黑体" panose="02010609060101010101" pitchFamily="49" charset="-122"/>
                <a:ea typeface="黑体" panose="02010609060101010101" pitchFamily="49" charset="-122"/>
              </a:rPr>
              <a:t>的威胁。该框架允许开发者将未修改的用户空间组件放入 </a:t>
            </a:r>
            <a:r>
              <a:rPr lang="en-US" altLang="zh-CN" dirty="0">
                <a:latin typeface="黑体" panose="02010609060101010101" pitchFamily="49" charset="-122"/>
                <a:ea typeface="黑体" panose="02010609060101010101" pitchFamily="49" charset="-122"/>
              </a:rPr>
              <a:t>Enclave </a:t>
            </a:r>
            <a:r>
              <a:rPr lang="zh-CN" altLang="en-US" dirty="0">
                <a:latin typeface="黑体" panose="02010609060101010101" pitchFamily="49" charset="-122"/>
                <a:ea typeface="黑体" panose="02010609060101010101" pitchFamily="49" charset="-122"/>
              </a:rPr>
              <a:t>中运行。</a:t>
            </a:r>
            <a:endParaRPr lang="zh-CN" altLang="en-US" dirty="0">
              <a:latin typeface="黑体" panose="02010609060101010101" pitchFamily="49" charset="-122"/>
              <a:ea typeface="黑体" panose="02010609060101010101" pitchFamily="49" charset="-122"/>
            </a:endParaRPr>
          </a:p>
        </p:txBody>
      </p:sp>
      <p:sp>
        <p:nvSpPr>
          <p:cNvPr id="18" name="文本框 17"/>
          <p:cNvSpPr txBox="1"/>
          <p:nvPr/>
        </p:nvSpPr>
        <p:spPr>
          <a:xfrm>
            <a:off x="47445" y="5426279"/>
            <a:ext cx="6149008" cy="417165"/>
          </a:xfrm>
          <a:prstGeom prst="rect">
            <a:avLst/>
          </a:prstGeom>
          <a:noFill/>
        </p:spPr>
        <p:txBody>
          <a:bodyPr wrap="square">
            <a:spAutoFit/>
          </a:bodyPr>
          <a:lstStyle/>
          <a:p>
            <a:pPr indent="457200">
              <a:lnSpc>
                <a:spcPct val="130000"/>
              </a:lnSpc>
              <a:spcAft>
                <a:spcPts val="600"/>
              </a:spcAft>
            </a:pPr>
            <a:r>
              <a:rPr lang="zh-CN" altLang="en-US" sz="1800" b="1" dirty="0">
                <a:latin typeface="Times New Roman" panose="02020603050405020304" pitchFamily="18" charset="0"/>
                <a:ea typeface="苹方 中等" panose="020B0400000000000000" pitchFamily="34" charset="-122"/>
                <a:cs typeface="Times New Roman" panose="02020603050405020304" pitchFamily="18" charset="0"/>
              </a:rPr>
              <a:t>主要贡献：</a:t>
            </a:r>
            <a:endParaRPr lang="en-US" altLang="zh-CN" sz="1800" b="1"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 name="TextBox 5"/>
          <p:cNvSpPr txBox="1"/>
          <p:nvPr/>
        </p:nvSpPr>
        <p:spPr>
          <a:xfrm>
            <a:off x="114531" y="32786"/>
            <a:ext cx="3657600" cy="369332"/>
          </a:xfrm>
          <a:prstGeom prst="rect">
            <a:avLst/>
          </a:prstGeom>
          <a:noFill/>
        </p:spPr>
        <p:txBody>
          <a:bodyPr wrap="square">
            <a:spAutoFit/>
          </a:bodyPr>
          <a:lstStyle/>
          <a:p>
            <a:pPr algn="l"/>
            <a:r>
              <a:rPr b="1" dirty="0">
                <a:solidFill>
                  <a:srgbClr val="D62828"/>
                </a:solidFill>
                <a:latin typeface="黑体" panose="02010609060101010101" pitchFamily="49" charset="-122"/>
                <a:ea typeface="黑体" panose="02010609060101010101" pitchFamily="49" charset="-122"/>
              </a:rPr>
              <a:t>BACKGROUND</a:t>
            </a:r>
            <a:endParaRPr b="1" dirty="0">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114531" y="307106"/>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 name="文本框 15"/>
          <p:cNvSpPr txBox="1"/>
          <p:nvPr/>
        </p:nvSpPr>
        <p:spPr>
          <a:xfrm>
            <a:off x="548640" y="1096215"/>
            <a:ext cx="6149008" cy="369332"/>
          </a:xfrm>
          <a:prstGeom prst="rect">
            <a:avLst/>
          </a:prstGeom>
          <a:noFill/>
        </p:spPr>
        <p:txBody>
          <a:bodyPr wrap="square">
            <a:spAutoFit/>
          </a:bodyPr>
          <a:lstStyle/>
          <a:p>
            <a:r>
              <a:rPr lang="zh-CN" altLang="en-US" dirty="0">
                <a:solidFill>
                  <a:srgbClr val="111111"/>
                </a:solidFill>
                <a:latin typeface="黑体" panose="02010609060101010101" pitchFamily="49" charset="-122"/>
                <a:ea typeface="黑体" panose="02010609060101010101" pitchFamily="49" charset="-122"/>
                <a:cs typeface="Arial" panose="020B0604020202020204" pitchFamily="34" charset="0"/>
              </a:rPr>
              <a:t>可信计算基</a:t>
            </a:r>
            <a:r>
              <a:rPr lang="en-US" altLang="zh-CN" dirty="0">
                <a:latin typeface="黑体" panose="02010609060101010101" pitchFamily="49" charset="-122"/>
                <a:ea typeface="黑体" panose="02010609060101010101" pitchFamily="49" charset="-122"/>
              </a:rPr>
              <a:t>  Trusted Computing Base </a:t>
            </a:r>
            <a:r>
              <a:rPr lang="zh-CN" altLang="en-US" dirty="0">
                <a:latin typeface="黑体" panose="02010609060101010101" pitchFamily="49" charset="-122"/>
                <a:ea typeface="黑体" panose="02010609060101010101" pitchFamily="49" charset="-122"/>
              </a:rPr>
              <a:t>（</a:t>
            </a:r>
            <a:r>
              <a:rPr lang="en-US" altLang="zh-CN" dirty="0">
                <a:solidFill>
                  <a:srgbClr val="111111"/>
                </a:solidFill>
                <a:latin typeface="黑体" panose="02010609060101010101" pitchFamily="49" charset="-122"/>
                <a:ea typeface="黑体" panose="02010609060101010101" pitchFamily="49" charset="-122"/>
                <a:cs typeface="Arial" panose="020B0604020202020204" pitchFamily="34" charset="0"/>
              </a:rPr>
              <a:t>TCB</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18" name="文本框 17"/>
          <p:cNvSpPr txBox="1"/>
          <p:nvPr/>
        </p:nvSpPr>
        <p:spPr>
          <a:xfrm>
            <a:off x="500270" y="1513198"/>
            <a:ext cx="6149008" cy="646331"/>
          </a:xfrm>
          <a:prstGeom prst="rect">
            <a:avLst/>
          </a:prstGeom>
          <a:noFill/>
        </p:spPr>
        <p:txBody>
          <a:bodyPr wrap="square">
            <a:spAutoFit/>
          </a:bodyPr>
          <a:lstStyle/>
          <a:p>
            <a:r>
              <a:rPr lang="zh-CN" altLang="en-US" dirty="0">
                <a:solidFill>
                  <a:srgbClr val="000000"/>
                </a:solidFill>
                <a:effectLst/>
                <a:latin typeface="黑体" panose="02010609060101010101" pitchFamily="49" charset="-122"/>
                <a:ea typeface="黑体" panose="02010609060101010101" pitchFamily="49" charset="-122"/>
              </a:rPr>
              <a:t>定义</a:t>
            </a:r>
            <a:r>
              <a:rPr lang="zh-CN" altLang="en-US" dirty="0">
                <a:latin typeface="黑体" panose="02010609060101010101" pitchFamily="49" charset="-122"/>
                <a:ea typeface="黑体" panose="02010609060101010101" pitchFamily="49" charset="-122"/>
              </a:rPr>
              <a:t>：一个系统中所有必须被信任、因为一旦它们出错或被攻破就会破坏系统安全性的那部分软硬件集合</a:t>
            </a:r>
            <a:endParaRPr lang="en-US" altLang="zh-CN" dirty="0">
              <a:latin typeface="黑体" panose="02010609060101010101" pitchFamily="49" charset="-122"/>
              <a:ea typeface="黑体" panose="02010609060101010101" pitchFamily="49" charset="-122"/>
            </a:endParaRPr>
          </a:p>
        </p:txBody>
      </p:sp>
      <p:sp>
        <p:nvSpPr>
          <p:cNvPr id="22" name="文本框 21"/>
          <p:cNvSpPr txBox="1"/>
          <p:nvPr/>
        </p:nvSpPr>
        <p:spPr>
          <a:xfrm>
            <a:off x="457200" y="2316381"/>
            <a:ext cx="6149008" cy="2585323"/>
          </a:xfrm>
          <a:prstGeom prst="rect">
            <a:avLst/>
          </a:prstGeom>
          <a:noFill/>
        </p:spPr>
        <p:txBody>
          <a:bodyPr wrap="square">
            <a:spAutoFit/>
          </a:bodyPr>
          <a:lstStyle/>
          <a:p>
            <a:pPr>
              <a:buNone/>
            </a:pPr>
            <a:r>
              <a:rPr lang="zh-CN" altLang="en-US" dirty="0">
                <a:latin typeface="黑体" panose="02010609060101010101" pitchFamily="49" charset="-122"/>
                <a:ea typeface="黑体" panose="02010609060101010101" pitchFamily="49" charset="-122"/>
              </a:rPr>
              <a:t>比如一个系统要保证“普通用户不能获得 </a:t>
            </a:r>
            <a:r>
              <a:rPr lang="en-US" altLang="zh-CN" dirty="0">
                <a:latin typeface="黑体" panose="02010609060101010101" pitchFamily="49" charset="-122"/>
                <a:ea typeface="黑体" panose="02010609060101010101" pitchFamily="49" charset="-122"/>
              </a:rPr>
              <a:t>root </a:t>
            </a:r>
            <a:r>
              <a:rPr lang="zh-CN" altLang="en-US" dirty="0">
                <a:latin typeface="黑体" panose="02010609060101010101" pitchFamily="49" charset="-122"/>
                <a:ea typeface="黑体" panose="02010609060101010101" pitchFamily="49" charset="-122"/>
              </a:rPr>
              <a:t>权限”，那么凡是会影响这条安全目标成立的部分，都可能属于</a:t>
            </a:r>
            <a:r>
              <a:rPr lang="en-US" altLang="zh-CN" dirty="0">
                <a:latin typeface="黑体" panose="02010609060101010101" pitchFamily="49" charset="-122"/>
                <a:ea typeface="黑体" panose="02010609060101010101" pitchFamily="49" charset="-122"/>
              </a:rPr>
              <a:t>TCB</a:t>
            </a:r>
            <a:r>
              <a:rPr lang="zh-CN" altLang="en-US" dirty="0">
                <a:latin typeface="黑体" panose="02010609060101010101" pitchFamily="49" charset="-122"/>
                <a:ea typeface="黑体" panose="02010609060101010101" pitchFamily="49" charset="-122"/>
              </a:rPr>
              <a:t>，例如：</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内核 </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权限检查机制 </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关键系统服务 </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安全模块 </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某些硬件机制 </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启动链和可信启动组件</a:t>
            </a:r>
            <a:endParaRPr lang="zh-CN" altLang="en-US" dirty="0">
              <a:latin typeface="黑体" panose="02010609060101010101" pitchFamily="49" charset="-122"/>
              <a:ea typeface="黑体" panose="02010609060101010101" pitchFamily="49" charset="-122"/>
            </a:endParaRPr>
          </a:p>
        </p:txBody>
      </p:sp>
      <p:sp>
        <p:nvSpPr>
          <p:cNvPr id="25" name="Rectangle 3"/>
          <p:cNvSpPr>
            <a:spLocks noChangeArrowheads="1"/>
          </p:cNvSpPr>
          <p:nvPr/>
        </p:nvSpPr>
        <p:spPr bwMode="auto">
          <a:xfrm>
            <a:off x="981474" y="5429372"/>
            <a:ext cx="102258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在 AAOS 中，TCB 很容易膨胀到 kernel、driver、system service、framework、app 等多个层次 </a:t>
            </a:r>
            <a:endPar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pP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这篇论文的出发点就是：</a:t>
            </a:r>
            <a:r>
              <a:rPr kumimoji="0" lang="zh-CN" altLang="zh-CN"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缩小 AAOS 的 TCB，只把真正必须信任的车控组件放进保护域 </a:t>
            </a:r>
            <a:endParaRPr kumimoji="0" lang="zh-CN" altLang="zh-CN"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27" name="文本框 26"/>
          <p:cNvSpPr txBox="1"/>
          <p:nvPr/>
        </p:nvSpPr>
        <p:spPr>
          <a:xfrm>
            <a:off x="6697648" y="1360443"/>
            <a:ext cx="5125544" cy="2308324"/>
          </a:xfrm>
          <a:prstGeom prst="rect">
            <a:avLst/>
          </a:prstGeom>
          <a:noFill/>
        </p:spPr>
        <p:txBody>
          <a:bodyPr wrap="square">
            <a:spAutoFit/>
          </a:bodyPr>
          <a:lstStyle/>
          <a:p>
            <a:r>
              <a:rPr lang="en-US" altLang="zh-CN" sz="1800" b="1" kern="1200" dirty="0">
                <a:solidFill>
                  <a:schemeClr val="tx1"/>
                </a:solidFill>
                <a:effectLst/>
                <a:latin typeface="+mn-lt"/>
                <a:ea typeface="+mn-ea"/>
                <a:cs typeface="+mn-cs"/>
              </a:rPr>
              <a:t>Hypervisor</a:t>
            </a:r>
            <a:r>
              <a:rPr lang="zh-CN" altLang="en-US" sz="1800" b="1" kern="1200" dirty="0">
                <a:solidFill>
                  <a:schemeClr val="tx1"/>
                </a:solidFill>
                <a:effectLst/>
                <a:latin typeface="+mn-lt"/>
                <a:ea typeface="+mn-ea"/>
                <a:cs typeface="+mn-cs"/>
              </a:rPr>
              <a:t>（虚拟机监视器 </a:t>
            </a:r>
            <a:r>
              <a:rPr lang="en-US" altLang="zh-CN" sz="1800" b="1" kern="1200" dirty="0">
                <a:solidFill>
                  <a:schemeClr val="tx1"/>
                </a:solidFill>
                <a:effectLst/>
                <a:latin typeface="+mn-lt"/>
                <a:ea typeface="+mn-ea"/>
                <a:cs typeface="+mn-cs"/>
              </a:rPr>
              <a:t>/ VMM</a:t>
            </a:r>
            <a:r>
              <a:rPr lang="zh-CN" altLang="en-US" sz="1800" b="1" kern="1200" dirty="0">
                <a:solidFill>
                  <a:schemeClr val="tx1"/>
                </a:solidFill>
                <a:effectLst/>
                <a:latin typeface="+mn-lt"/>
                <a:ea typeface="+mn-ea"/>
                <a:cs typeface="+mn-cs"/>
              </a:rPr>
              <a:t>）</a:t>
            </a:r>
            <a:r>
              <a:rPr lang="zh-CN" altLang="en-US" dirty="0"/>
              <a:t> 是虚拟化技术的核心，它是创建、运行和管理虚拟机（</a:t>
            </a:r>
            <a:r>
              <a:rPr lang="en-US" altLang="zh-CN" dirty="0"/>
              <a:t>VM</a:t>
            </a:r>
            <a:r>
              <a:rPr lang="zh-CN" altLang="en-US" dirty="0"/>
              <a:t>）的软件 </a:t>
            </a:r>
            <a:r>
              <a:rPr lang="en-US" altLang="zh-CN" dirty="0"/>
              <a:t>/ </a:t>
            </a:r>
            <a:r>
              <a:rPr lang="zh-CN" altLang="en-US" dirty="0"/>
              <a:t>固件 </a:t>
            </a:r>
            <a:r>
              <a:rPr lang="en-US" altLang="zh-CN" dirty="0"/>
              <a:t>/ </a:t>
            </a:r>
            <a:r>
              <a:rPr lang="zh-CN" altLang="en-US" dirty="0"/>
              <a:t>硬件层，让一台物理机同时运行多个独立操作系统，共享底层硬件资源。</a:t>
            </a:r>
            <a:br>
              <a:rPr lang="en-US" altLang="zh-CN" dirty="0"/>
            </a:br>
            <a:r>
              <a:rPr lang="en-US" altLang="zh-CN" sz="1800" b="1" kern="1200" dirty="0">
                <a:solidFill>
                  <a:schemeClr val="tx1"/>
                </a:solidFill>
                <a:effectLst/>
                <a:latin typeface="+mn-lt"/>
                <a:ea typeface="+mn-ea"/>
                <a:cs typeface="+mn-cs"/>
              </a:rPr>
              <a:t>Enclave</a:t>
            </a:r>
            <a:r>
              <a:rPr lang="zh-CN" altLang="en-US" sz="1800" b="1" kern="1200" dirty="0">
                <a:solidFill>
                  <a:schemeClr val="tx1"/>
                </a:solidFill>
                <a:effectLst/>
                <a:latin typeface="+mn-lt"/>
                <a:ea typeface="+mn-ea"/>
                <a:cs typeface="+mn-cs"/>
              </a:rPr>
              <a:t>（飞地 </a:t>
            </a:r>
            <a:r>
              <a:rPr lang="en-US" altLang="zh-CN" sz="1800" b="1" kern="1200" dirty="0">
                <a:solidFill>
                  <a:schemeClr val="tx1"/>
                </a:solidFill>
                <a:effectLst/>
                <a:latin typeface="+mn-lt"/>
                <a:ea typeface="+mn-ea"/>
                <a:cs typeface="+mn-cs"/>
              </a:rPr>
              <a:t>/ </a:t>
            </a:r>
            <a:r>
              <a:rPr lang="zh-CN" altLang="en-US" sz="1800" b="1" kern="1200" dirty="0">
                <a:solidFill>
                  <a:schemeClr val="tx1"/>
                </a:solidFill>
                <a:effectLst/>
                <a:latin typeface="+mn-lt"/>
                <a:ea typeface="+mn-ea"/>
                <a:cs typeface="+mn-cs"/>
              </a:rPr>
              <a:t>安全飞地）</a:t>
            </a:r>
            <a:r>
              <a:rPr lang="zh-CN" altLang="en-US" dirty="0"/>
              <a:t> 是</a:t>
            </a:r>
            <a:r>
              <a:rPr lang="zh-CN" altLang="en-US" sz="1800" kern="1200" dirty="0">
                <a:solidFill>
                  <a:schemeClr val="tx1"/>
                </a:solidFill>
                <a:effectLst/>
                <a:latin typeface="+mn-lt"/>
                <a:ea typeface="+mn-ea"/>
                <a:cs typeface="+mn-cs"/>
              </a:rPr>
              <a:t>硬件级 </a:t>
            </a:r>
            <a:r>
              <a:rPr lang="en-US" altLang="zh-CN" sz="1800" kern="1200" dirty="0">
                <a:solidFill>
                  <a:schemeClr val="tx1"/>
                </a:solidFill>
                <a:effectLst/>
                <a:latin typeface="+mn-lt"/>
                <a:ea typeface="+mn-ea"/>
                <a:cs typeface="+mn-cs"/>
              </a:rPr>
              <a:t>/ </a:t>
            </a:r>
            <a:r>
              <a:rPr lang="zh-CN" altLang="en-US" sz="1800" kern="1200" dirty="0">
                <a:solidFill>
                  <a:schemeClr val="tx1"/>
                </a:solidFill>
                <a:effectLst/>
                <a:latin typeface="+mn-lt"/>
                <a:ea typeface="+mn-ea"/>
                <a:cs typeface="+mn-cs"/>
              </a:rPr>
              <a:t>强隔离的可信执行环境（</a:t>
            </a:r>
            <a:r>
              <a:rPr lang="en-US" altLang="zh-CN" sz="1800" kern="1200" dirty="0">
                <a:solidFill>
                  <a:schemeClr val="tx1"/>
                </a:solidFill>
                <a:effectLst/>
                <a:latin typeface="+mn-lt"/>
                <a:ea typeface="+mn-ea"/>
                <a:cs typeface="+mn-cs"/>
              </a:rPr>
              <a:t>TEE</a:t>
            </a:r>
            <a:r>
              <a:rPr lang="zh-CN" altLang="en-US" sz="1800" kern="1200" dirty="0">
                <a:solidFill>
                  <a:schemeClr val="tx1"/>
                </a:solidFill>
                <a:effectLst/>
                <a:latin typeface="+mn-lt"/>
                <a:ea typeface="+mn-ea"/>
                <a:cs typeface="+mn-cs"/>
              </a:rPr>
              <a:t>）</a:t>
            </a:r>
            <a:r>
              <a:rPr lang="zh-CN" altLang="en-US" dirty="0"/>
              <a:t>，在内存中创建加密隔离区，保护代码与数据的机密性和完整</a:t>
            </a:r>
            <a:br>
              <a:rPr lang="en-US" altLang="zh-CN" dirty="0"/>
            </a:b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 name="TextBox 2"/>
          <p:cNvSpPr txBox="1"/>
          <p:nvPr/>
        </p:nvSpPr>
        <p:spPr>
          <a:xfrm>
            <a:off x="365760" y="50800"/>
            <a:ext cx="4572000" cy="261610"/>
          </a:xfrm>
          <a:prstGeom prst="rect">
            <a:avLst/>
          </a:prstGeom>
          <a:noFill/>
        </p:spPr>
        <p:txBody>
          <a:bodyPr wrap="square">
            <a:spAutoFit/>
          </a:bodyPr>
          <a:lstStyle/>
          <a:p>
            <a:pPr algn="l"/>
            <a:r>
              <a:rPr sz="1100" b="0">
                <a:solidFill>
                  <a:srgbClr val="666666"/>
                </a:solidFill>
                <a:latin typeface="黑体" panose="02010609060101010101" pitchFamily="49" charset="-122"/>
                <a:ea typeface="黑体" panose="02010609060101010101" pitchFamily="49" charset="-122"/>
              </a:rPr>
              <a:t>攻击面分析  Attack Surface</a:t>
            </a:r>
            <a:endParaRPr sz="1100" b="0">
              <a:solidFill>
                <a:srgbClr val="666666"/>
              </a:solidFill>
              <a:latin typeface="黑体" panose="02010609060101010101" pitchFamily="49" charset="-122"/>
              <a:ea typeface="黑体" panose="02010609060101010101" pitchFamily="49" charset="-122"/>
            </a:endParaRPr>
          </a:p>
        </p:txBody>
      </p:sp>
      <p:sp>
        <p:nvSpPr>
          <p:cNvPr id="6" name="TextBox 5"/>
          <p:cNvSpPr txBox="1"/>
          <p:nvPr/>
        </p:nvSpPr>
        <p:spPr>
          <a:xfrm>
            <a:off x="548640" y="594360"/>
            <a:ext cx="3657600" cy="276999"/>
          </a:xfrm>
          <a:prstGeom prst="rect">
            <a:avLst/>
          </a:prstGeom>
          <a:noFill/>
        </p:spPr>
        <p:txBody>
          <a:bodyPr wrap="square">
            <a:spAutoFit/>
          </a:bodyPr>
          <a:lstStyle/>
          <a:p>
            <a:pPr algn="l"/>
            <a:r>
              <a:rPr sz="1200" b="1">
                <a:solidFill>
                  <a:srgbClr val="D62828"/>
                </a:solidFill>
                <a:latin typeface="黑体" panose="02010609060101010101" pitchFamily="49" charset="-122"/>
                <a:ea typeface="黑体" panose="02010609060101010101" pitchFamily="49" charset="-122"/>
              </a:rPr>
              <a:t>ATTACK SURFACE</a:t>
            </a:r>
            <a:endParaRPr sz="1200" b="1">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548640" y="86868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 name="TextBox 7"/>
          <p:cNvSpPr txBox="1"/>
          <p:nvPr/>
        </p:nvSpPr>
        <p:spPr>
          <a:xfrm>
            <a:off x="548640" y="960120"/>
            <a:ext cx="7315200" cy="492443"/>
          </a:xfrm>
          <a:prstGeom prst="rect">
            <a:avLst/>
          </a:prstGeom>
          <a:noFill/>
        </p:spPr>
        <p:txBody>
          <a:bodyPr wrap="square">
            <a:spAutoFit/>
          </a:bodyPr>
          <a:lstStyle/>
          <a:p>
            <a:pPr algn="l"/>
            <a:r>
              <a:rPr sz="2600" b="1" dirty="0" err="1">
                <a:solidFill>
                  <a:srgbClr val="111111"/>
                </a:solidFill>
                <a:latin typeface="黑体" panose="02010609060101010101" pitchFamily="49" charset="-122"/>
                <a:ea typeface="黑体" panose="02010609060101010101" pitchFamily="49" charset="-122"/>
              </a:rPr>
              <a:t>整车控制链</a:t>
            </a:r>
            <a:r>
              <a:rPr sz="2600" b="1" dirty="0">
                <a:solidFill>
                  <a:srgbClr val="111111"/>
                </a:solidFill>
                <a:latin typeface="黑体" panose="02010609060101010101" pitchFamily="49" charset="-122"/>
                <a:ea typeface="黑体" panose="02010609060101010101" pitchFamily="49" charset="-122"/>
              </a:rPr>
              <a:t> — </a:t>
            </a:r>
            <a:r>
              <a:rPr sz="2600" b="1" dirty="0" err="1">
                <a:solidFill>
                  <a:srgbClr val="111111"/>
                </a:solidFill>
                <a:latin typeface="黑体" panose="02010609060101010101" pitchFamily="49" charset="-122"/>
                <a:ea typeface="黑体" panose="02010609060101010101" pitchFamily="49" charset="-122"/>
              </a:rPr>
              <a:t>三阶段</a:t>
            </a:r>
            <a:endParaRPr sz="2600" b="1" dirty="0">
              <a:solidFill>
                <a:srgbClr val="111111"/>
              </a:solidFill>
              <a:latin typeface="黑体" panose="02010609060101010101" pitchFamily="49" charset="-122"/>
              <a:ea typeface="黑体" panose="02010609060101010101" pitchFamily="49" charset="-122"/>
            </a:endParaRPr>
          </a:p>
        </p:txBody>
      </p:sp>
      <p:sp>
        <p:nvSpPr>
          <p:cNvPr id="10" name="Rectangle 9"/>
          <p:cNvSpPr/>
          <p:nvPr/>
        </p:nvSpPr>
        <p:spPr>
          <a:xfrm>
            <a:off x="457200" y="1450757"/>
            <a:ext cx="3485322" cy="2206266"/>
          </a:xfrm>
          <a:prstGeom prst="rect">
            <a:avLst/>
          </a:prstGeom>
          <a:solidFill>
            <a:srgbClr val="FFFFFF"/>
          </a:solidFill>
          <a:ln w="381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 name="Rectangle 10"/>
          <p:cNvSpPr/>
          <p:nvPr/>
        </p:nvSpPr>
        <p:spPr>
          <a:xfrm>
            <a:off x="457200" y="1450757"/>
            <a:ext cx="356616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 name="TextBox 11"/>
          <p:cNvSpPr txBox="1"/>
          <p:nvPr/>
        </p:nvSpPr>
        <p:spPr>
          <a:xfrm>
            <a:off x="533400" y="1478189"/>
            <a:ext cx="1828800" cy="292388"/>
          </a:xfrm>
          <a:prstGeom prst="rect">
            <a:avLst/>
          </a:prstGeom>
          <a:noFill/>
        </p:spPr>
        <p:txBody>
          <a:bodyPr wrap="square">
            <a:spAutoFit/>
          </a:bodyPr>
          <a:lstStyle/>
          <a:p>
            <a:pPr algn="l"/>
            <a:r>
              <a:rPr sz="1300" b="1">
                <a:solidFill>
                  <a:srgbClr val="FFFFFF"/>
                </a:solidFill>
                <a:latin typeface="黑体" panose="02010609060101010101" pitchFamily="49" charset="-122"/>
                <a:ea typeface="黑体" panose="02010609060101010101" pitchFamily="49" charset="-122"/>
              </a:rPr>
              <a:t>Stage 1</a:t>
            </a:r>
            <a:endParaRPr sz="1300" b="1">
              <a:solidFill>
                <a:srgbClr val="FFFFFF"/>
              </a:solidFill>
              <a:latin typeface="黑体" panose="02010609060101010101" pitchFamily="49" charset="-122"/>
              <a:ea typeface="黑体" panose="02010609060101010101" pitchFamily="49" charset="-122"/>
            </a:endParaRPr>
          </a:p>
        </p:txBody>
      </p:sp>
      <p:sp>
        <p:nvSpPr>
          <p:cNvPr id="13" name="TextBox 12"/>
          <p:cNvSpPr txBox="1"/>
          <p:nvPr/>
        </p:nvSpPr>
        <p:spPr>
          <a:xfrm>
            <a:off x="533400" y="1907957"/>
            <a:ext cx="3291840" cy="338554"/>
          </a:xfrm>
          <a:prstGeom prst="rect">
            <a:avLst/>
          </a:prstGeom>
          <a:noFill/>
        </p:spPr>
        <p:txBody>
          <a:bodyPr wrap="square">
            <a:spAutoFit/>
          </a:bodyPr>
          <a:lstStyle/>
          <a:p>
            <a:pPr algn="l"/>
            <a:r>
              <a:rPr sz="1600" b="1">
                <a:solidFill>
                  <a:srgbClr val="111111"/>
                </a:solidFill>
                <a:latin typeface="黑体" panose="02010609060101010101" pitchFamily="49" charset="-122"/>
                <a:ea typeface="黑体" panose="02010609060101010101" pitchFamily="49" charset="-122"/>
              </a:rPr>
              <a:t>HMI 阶段</a:t>
            </a:r>
            <a:endParaRPr sz="1600" b="1">
              <a:solidFill>
                <a:srgbClr val="111111"/>
              </a:solidFill>
              <a:latin typeface="黑体" panose="02010609060101010101" pitchFamily="49" charset="-122"/>
              <a:ea typeface="黑体" panose="02010609060101010101" pitchFamily="49" charset="-122"/>
            </a:endParaRPr>
          </a:p>
        </p:txBody>
      </p:sp>
      <p:sp>
        <p:nvSpPr>
          <p:cNvPr id="15" name="Rectangle 14"/>
          <p:cNvSpPr/>
          <p:nvPr/>
        </p:nvSpPr>
        <p:spPr>
          <a:xfrm>
            <a:off x="4297680" y="1450757"/>
            <a:ext cx="3576320" cy="2206266"/>
          </a:xfrm>
          <a:prstGeom prst="rect">
            <a:avLst/>
          </a:prstGeom>
          <a:solidFill>
            <a:srgbClr val="FFFFFF"/>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 name="Rectangle 15"/>
          <p:cNvSpPr/>
          <p:nvPr/>
        </p:nvSpPr>
        <p:spPr>
          <a:xfrm>
            <a:off x="4297680" y="1450757"/>
            <a:ext cx="356616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7" name="TextBox 16"/>
          <p:cNvSpPr txBox="1"/>
          <p:nvPr/>
        </p:nvSpPr>
        <p:spPr>
          <a:xfrm>
            <a:off x="4373880" y="1478189"/>
            <a:ext cx="1828800" cy="292388"/>
          </a:xfrm>
          <a:prstGeom prst="rect">
            <a:avLst/>
          </a:prstGeom>
          <a:noFill/>
        </p:spPr>
        <p:txBody>
          <a:bodyPr wrap="square">
            <a:spAutoFit/>
          </a:bodyPr>
          <a:lstStyle/>
          <a:p>
            <a:pPr algn="l"/>
            <a:r>
              <a:rPr sz="1300" b="1">
                <a:solidFill>
                  <a:srgbClr val="FFFFFF"/>
                </a:solidFill>
                <a:latin typeface="黑体" panose="02010609060101010101" pitchFamily="49" charset="-122"/>
                <a:ea typeface="黑体" panose="02010609060101010101" pitchFamily="49" charset="-122"/>
              </a:rPr>
              <a:t>Stage 2</a:t>
            </a:r>
            <a:endParaRPr sz="1300" b="1">
              <a:solidFill>
                <a:srgbClr val="FFFFFF"/>
              </a:solidFill>
              <a:latin typeface="黑体" panose="02010609060101010101" pitchFamily="49" charset="-122"/>
              <a:ea typeface="黑体" panose="02010609060101010101" pitchFamily="49" charset="-122"/>
            </a:endParaRPr>
          </a:p>
        </p:txBody>
      </p:sp>
      <p:sp>
        <p:nvSpPr>
          <p:cNvPr id="18" name="TextBox 17"/>
          <p:cNvSpPr txBox="1"/>
          <p:nvPr/>
        </p:nvSpPr>
        <p:spPr>
          <a:xfrm>
            <a:off x="4281065" y="1907957"/>
            <a:ext cx="3291840" cy="338554"/>
          </a:xfrm>
          <a:prstGeom prst="rect">
            <a:avLst/>
          </a:prstGeom>
          <a:noFill/>
        </p:spPr>
        <p:txBody>
          <a:bodyPr wrap="square">
            <a:spAutoFit/>
          </a:bodyPr>
          <a:lstStyle/>
          <a:p>
            <a:pPr algn="l"/>
            <a:r>
              <a:rPr sz="1600" b="1" dirty="0" err="1">
                <a:solidFill>
                  <a:srgbClr val="111111"/>
                </a:solidFill>
                <a:latin typeface="黑体" panose="02010609060101010101" pitchFamily="49" charset="-122"/>
                <a:ea typeface="黑体" panose="02010609060101010101" pitchFamily="49" charset="-122"/>
              </a:rPr>
              <a:t>处理阶段</a:t>
            </a:r>
            <a:endParaRPr sz="1600" b="1" dirty="0">
              <a:solidFill>
                <a:srgbClr val="111111"/>
              </a:solidFill>
              <a:latin typeface="黑体" panose="02010609060101010101" pitchFamily="49" charset="-122"/>
              <a:ea typeface="黑体" panose="02010609060101010101" pitchFamily="49" charset="-122"/>
            </a:endParaRPr>
          </a:p>
        </p:txBody>
      </p:sp>
      <p:sp>
        <p:nvSpPr>
          <p:cNvPr id="20" name="Rectangle 19"/>
          <p:cNvSpPr/>
          <p:nvPr/>
        </p:nvSpPr>
        <p:spPr>
          <a:xfrm>
            <a:off x="8138160" y="1450757"/>
            <a:ext cx="3566160" cy="2206266"/>
          </a:xfrm>
          <a:prstGeom prst="rect">
            <a:avLst/>
          </a:prstGeom>
          <a:solidFill>
            <a:srgbClr val="FFFFFF"/>
          </a:solidFill>
          <a:ln w="38100">
            <a:solidFill>
              <a:srgbClr val="951D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1" name="Rectangle 20"/>
          <p:cNvSpPr/>
          <p:nvPr/>
        </p:nvSpPr>
        <p:spPr>
          <a:xfrm>
            <a:off x="8138160" y="1450757"/>
            <a:ext cx="3566160" cy="457200"/>
          </a:xfrm>
          <a:prstGeom prst="rect">
            <a:avLst/>
          </a:prstGeom>
          <a:solidFill>
            <a:srgbClr val="951D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951D06"/>
              </a:solidFill>
              <a:latin typeface="黑体" panose="02010609060101010101" pitchFamily="49" charset="-122"/>
              <a:ea typeface="黑体" panose="02010609060101010101" pitchFamily="49" charset="-122"/>
            </a:endParaRPr>
          </a:p>
        </p:txBody>
      </p:sp>
      <p:sp>
        <p:nvSpPr>
          <p:cNvPr id="22" name="TextBox 21"/>
          <p:cNvSpPr txBox="1"/>
          <p:nvPr/>
        </p:nvSpPr>
        <p:spPr>
          <a:xfrm>
            <a:off x="8214360" y="1478189"/>
            <a:ext cx="1828800" cy="292388"/>
          </a:xfrm>
          <a:prstGeom prst="rect">
            <a:avLst/>
          </a:prstGeom>
          <a:noFill/>
        </p:spPr>
        <p:txBody>
          <a:bodyPr wrap="square">
            <a:spAutoFit/>
          </a:bodyPr>
          <a:lstStyle/>
          <a:p>
            <a:pPr algn="l"/>
            <a:r>
              <a:rPr sz="1300" b="1">
                <a:solidFill>
                  <a:srgbClr val="FFFFFF"/>
                </a:solidFill>
                <a:latin typeface="黑体" panose="02010609060101010101" pitchFamily="49" charset="-122"/>
                <a:ea typeface="黑体" panose="02010609060101010101" pitchFamily="49" charset="-122"/>
              </a:rPr>
              <a:t>Stage 3</a:t>
            </a:r>
            <a:endParaRPr sz="1300" b="1">
              <a:solidFill>
                <a:srgbClr val="FFFFFF"/>
              </a:solidFill>
              <a:latin typeface="黑体" panose="02010609060101010101" pitchFamily="49" charset="-122"/>
              <a:ea typeface="黑体" panose="02010609060101010101" pitchFamily="49" charset="-122"/>
            </a:endParaRPr>
          </a:p>
        </p:txBody>
      </p:sp>
      <p:sp>
        <p:nvSpPr>
          <p:cNvPr id="23" name="TextBox 22"/>
          <p:cNvSpPr txBox="1"/>
          <p:nvPr/>
        </p:nvSpPr>
        <p:spPr>
          <a:xfrm>
            <a:off x="8214360" y="1907957"/>
            <a:ext cx="3291840" cy="338554"/>
          </a:xfrm>
          <a:prstGeom prst="rect">
            <a:avLst/>
          </a:prstGeom>
          <a:noFill/>
        </p:spPr>
        <p:txBody>
          <a:bodyPr wrap="square">
            <a:spAutoFit/>
          </a:bodyPr>
          <a:lstStyle/>
          <a:p>
            <a:pPr algn="l"/>
            <a:r>
              <a:rPr sz="1600" b="1">
                <a:solidFill>
                  <a:srgbClr val="111111"/>
                </a:solidFill>
                <a:latin typeface="黑体" panose="02010609060101010101" pitchFamily="49" charset="-122"/>
                <a:ea typeface="黑体" panose="02010609060101010101" pitchFamily="49" charset="-122"/>
              </a:rPr>
              <a:t>输出阶段</a:t>
            </a:r>
            <a:endParaRPr sz="1600" b="1">
              <a:solidFill>
                <a:srgbClr val="111111"/>
              </a:solidFill>
              <a:latin typeface="黑体" panose="02010609060101010101" pitchFamily="49" charset="-122"/>
              <a:ea typeface="黑体" panose="02010609060101010101" pitchFamily="49" charset="-122"/>
            </a:endParaRPr>
          </a:p>
        </p:txBody>
      </p:sp>
      <p:pic>
        <p:nvPicPr>
          <p:cNvPr id="28" name="图片 27"/>
          <p:cNvPicPr>
            <a:picLocks noChangeAspect="1"/>
          </p:cNvPicPr>
          <p:nvPr/>
        </p:nvPicPr>
        <p:blipFill>
          <a:blip r:embed="rId1"/>
          <a:stretch>
            <a:fillRect/>
          </a:stretch>
        </p:blipFill>
        <p:spPr>
          <a:xfrm>
            <a:off x="2737492" y="3797274"/>
            <a:ext cx="5921496" cy="3041164"/>
          </a:xfrm>
          <a:prstGeom prst="rect">
            <a:avLst/>
          </a:prstGeom>
        </p:spPr>
      </p:pic>
      <p:sp>
        <p:nvSpPr>
          <p:cNvPr id="31" name="Rectangle 3"/>
          <p:cNvSpPr>
            <a:spLocks noChangeArrowheads="1"/>
          </p:cNvSpPr>
          <p:nvPr/>
        </p:nvSpPr>
        <p:spPr bwMode="auto">
          <a:xfrm>
            <a:off x="484505" y="2040143"/>
            <a:ext cx="356616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GUI 显示链：App → Surface/HWC/DRM </a:t>
            </a:r>
            <a:endParaRPr kumimoji="0" lang="zh-CN" altLang="zh-CN" sz="1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输入分发链：Touch → Input subsystem → IMS → App </a:t>
            </a:r>
            <a:endParaRPr kumimoji="0" lang="zh-CN" altLang="zh-CN" sz="1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风险：</a:t>
            </a: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GUI confusion / forged touch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32" name="Rectangle 4"/>
          <p:cNvSpPr>
            <a:spLocks noChangeArrowheads="1"/>
          </p:cNvSpPr>
          <p:nvPr/>
        </p:nvSpPr>
        <p:spPr bwMode="auto">
          <a:xfrm>
            <a:off x="4328673" y="2018810"/>
            <a:ext cx="358277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App 通过 Binder 调用 CarService / VHAL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在此阶段做出车控决策并下发控制请求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风险：service forgery / Binder tampering / unauthorized API call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33" name="Rectangle 5"/>
          <p:cNvSpPr>
            <a:spLocks noChangeArrowheads="1"/>
          </p:cNvSpPr>
          <p:nvPr/>
        </p:nvSpPr>
        <p:spPr bwMode="auto">
          <a:xfrm>
            <a:off x="8175608" y="2126531"/>
            <a:ext cx="308233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VHAL 通过 IVN 与 ECU 通信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ECU 执行具体车辆控制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风险：IVN command injection / replay </a:t>
            </a:r>
            <a:endParaRPr kumimoji="0" lang="zh-CN" altLang="zh-CN" sz="14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35" name="文本框 34"/>
          <p:cNvSpPr txBox="1"/>
          <p:nvPr/>
        </p:nvSpPr>
        <p:spPr>
          <a:xfrm>
            <a:off x="78375" y="3996903"/>
            <a:ext cx="2659117" cy="584775"/>
          </a:xfrm>
          <a:prstGeom prst="rect">
            <a:avLst/>
          </a:prstGeom>
          <a:noFill/>
        </p:spPr>
        <p:txBody>
          <a:bodyPr wrap="square">
            <a:spAutoFit/>
          </a:bodyPr>
          <a:lstStyle/>
          <a:p>
            <a:r>
              <a:rPr lang="en-US" altLang="zh-CN" sz="1600" kern="1200" dirty="0">
                <a:solidFill>
                  <a:schemeClr val="tx1"/>
                </a:solidFill>
                <a:effectLst/>
                <a:latin typeface="黑体" panose="02010609060101010101" pitchFamily="49" charset="-122"/>
                <a:ea typeface="黑体" panose="02010609060101010101" pitchFamily="49" charset="-122"/>
              </a:rPr>
              <a:t>HWC (Hardware Composer)</a:t>
            </a:r>
            <a:r>
              <a:rPr lang="zh-CN" altLang="en-US" sz="1600" dirty="0">
                <a:latin typeface="黑体" panose="02010609060101010101" pitchFamily="49" charset="-122"/>
                <a:ea typeface="黑体" panose="02010609060101010101" pitchFamily="49" charset="-122"/>
              </a:rPr>
              <a:t>：负责硬件加速图层合成</a:t>
            </a:r>
            <a:endParaRPr lang="zh-CN" altLang="en-US" sz="1600" dirty="0">
              <a:latin typeface="黑体" panose="02010609060101010101" pitchFamily="49" charset="-122"/>
              <a:ea typeface="黑体" panose="02010609060101010101" pitchFamily="49" charset="-122"/>
            </a:endParaRPr>
          </a:p>
        </p:txBody>
      </p:sp>
      <p:sp>
        <p:nvSpPr>
          <p:cNvPr id="37" name="文本框 36"/>
          <p:cNvSpPr txBox="1"/>
          <p:nvPr/>
        </p:nvSpPr>
        <p:spPr>
          <a:xfrm>
            <a:off x="78375" y="4650580"/>
            <a:ext cx="2362200" cy="830997"/>
          </a:xfrm>
          <a:prstGeom prst="rect">
            <a:avLst/>
          </a:prstGeom>
          <a:noFill/>
        </p:spPr>
        <p:txBody>
          <a:bodyPr wrap="square">
            <a:spAutoFit/>
          </a:bodyPr>
          <a:lstStyle/>
          <a:p>
            <a:r>
              <a:rPr lang="en-US" altLang="zh-CN" sz="1600" dirty="0">
                <a:solidFill>
                  <a:srgbClr val="000000"/>
                </a:solidFill>
                <a:effectLst/>
                <a:latin typeface="黑体" panose="02010609060101010101" pitchFamily="49" charset="-122"/>
                <a:ea typeface="黑体" panose="02010609060101010101" pitchFamily="49" charset="-122"/>
              </a:rPr>
              <a:t>DRM</a:t>
            </a:r>
            <a:r>
              <a:rPr lang="zh-CN" altLang="en-US" sz="1600" dirty="0">
                <a:latin typeface="黑体" panose="02010609060101010101" pitchFamily="49" charset="-122"/>
                <a:ea typeface="黑体" panose="02010609060101010101" pitchFamily="49" charset="-122"/>
              </a:rPr>
              <a:t>是 </a:t>
            </a:r>
            <a:r>
              <a:rPr lang="en-US" altLang="zh-CN" sz="1600" dirty="0">
                <a:latin typeface="黑体" panose="02010609060101010101" pitchFamily="49" charset="-122"/>
                <a:ea typeface="黑体" panose="02010609060101010101" pitchFamily="49" charset="-122"/>
              </a:rPr>
              <a:t>Linux </a:t>
            </a:r>
            <a:r>
              <a:rPr lang="zh-CN" altLang="en-US" sz="1600" dirty="0">
                <a:latin typeface="黑体" panose="02010609060101010101" pitchFamily="49" charset="-122"/>
                <a:ea typeface="黑体" panose="02010609060101010101" pitchFamily="49" charset="-122"/>
              </a:rPr>
              <a:t>内核中负责</a:t>
            </a:r>
            <a:r>
              <a:rPr lang="zh-CN" altLang="en-US" sz="1600" dirty="0">
                <a:solidFill>
                  <a:srgbClr val="000000"/>
                </a:solidFill>
                <a:effectLst/>
                <a:latin typeface="黑体" panose="02010609060101010101" pitchFamily="49" charset="-122"/>
                <a:ea typeface="黑体" panose="02010609060101010101" pitchFamily="49" charset="-122"/>
              </a:rPr>
              <a:t>显示管理与渲染控制</a:t>
            </a:r>
            <a:r>
              <a:rPr lang="zh-CN" altLang="en-US" sz="1600" dirty="0">
                <a:latin typeface="黑体" panose="02010609060101010101" pitchFamily="49" charset="-122"/>
                <a:ea typeface="黑体" panose="02010609060101010101" pitchFamily="49" charset="-122"/>
              </a:rPr>
              <a:t>的核心子系统</a:t>
            </a:r>
            <a:endParaRPr lang="zh-CN" altLang="en-US" sz="1600" dirty="0">
              <a:latin typeface="黑体" panose="02010609060101010101" pitchFamily="49" charset="-122"/>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 name="TextBox 2"/>
          <p:cNvSpPr txBox="1"/>
          <p:nvPr/>
        </p:nvSpPr>
        <p:spPr>
          <a:xfrm>
            <a:off x="365760" y="50800"/>
            <a:ext cx="4572000" cy="261610"/>
          </a:xfrm>
          <a:prstGeom prst="rect">
            <a:avLst/>
          </a:prstGeom>
          <a:noFill/>
        </p:spPr>
        <p:txBody>
          <a:bodyPr wrap="square">
            <a:spAutoFit/>
          </a:bodyPr>
          <a:lstStyle/>
          <a:p>
            <a:pPr algn="l"/>
            <a:r>
              <a:rPr sz="1100" b="0">
                <a:solidFill>
                  <a:srgbClr val="666666"/>
                </a:solidFill>
                <a:latin typeface="黑体" panose="02010609060101010101" pitchFamily="49" charset="-122"/>
                <a:ea typeface="黑体" panose="02010609060101010101" pitchFamily="49" charset="-122"/>
              </a:rPr>
              <a:t>安全需求  Security Requirements</a:t>
            </a:r>
            <a:endParaRPr sz="1100" b="0">
              <a:solidFill>
                <a:srgbClr val="666666"/>
              </a:solidFill>
              <a:latin typeface="黑体" panose="02010609060101010101" pitchFamily="49" charset="-122"/>
              <a:ea typeface="黑体" panose="02010609060101010101" pitchFamily="49" charset="-122"/>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 name="TextBox 5"/>
          <p:cNvSpPr txBox="1"/>
          <p:nvPr/>
        </p:nvSpPr>
        <p:spPr>
          <a:xfrm>
            <a:off x="548640" y="594360"/>
            <a:ext cx="3657600" cy="276999"/>
          </a:xfrm>
          <a:prstGeom prst="rect">
            <a:avLst/>
          </a:prstGeom>
          <a:noFill/>
        </p:spPr>
        <p:txBody>
          <a:bodyPr wrap="square">
            <a:spAutoFit/>
          </a:bodyPr>
          <a:lstStyle/>
          <a:p>
            <a:pPr algn="l"/>
            <a:r>
              <a:rPr sz="1200" b="1">
                <a:solidFill>
                  <a:srgbClr val="D62828"/>
                </a:solidFill>
                <a:latin typeface="黑体" panose="02010609060101010101" pitchFamily="49" charset="-122"/>
                <a:ea typeface="黑体" panose="02010609060101010101" pitchFamily="49" charset="-122"/>
              </a:rPr>
              <a:t>SECURITY REQUIREMENTS</a:t>
            </a:r>
            <a:endParaRPr sz="1200" b="1">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548640" y="86868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 name="TextBox 7"/>
          <p:cNvSpPr txBox="1"/>
          <p:nvPr/>
        </p:nvSpPr>
        <p:spPr>
          <a:xfrm>
            <a:off x="548640" y="960120"/>
            <a:ext cx="7315200" cy="492443"/>
          </a:xfrm>
          <a:prstGeom prst="rect">
            <a:avLst/>
          </a:prstGeom>
          <a:noFill/>
        </p:spPr>
        <p:txBody>
          <a:bodyPr wrap="square">
            <a:spAutoFit/>
          </a:bodyPr>
          <a:lstStyle/>
          <a:p>
            <a:pPr algn="l"/>
            <a:r>
              <a:rPr sz="2600" b="1" dirty="0" err="1">
                <a:solidFill>
                  <a:srgbClr val="111111"/>
                </a:solidFill>
                <a:latin typeface="黑体" panose="02010609060101010101" pitchFamily="49" charset="-122"/>
                <a:ea typeface="黑体" panose="02010609060101010101" pitchFamily="49" charset="-122"/>
              </a:rPr>
              <a:t>四大安全需求与保护域</a:t>
            </a:r>
            <a:endParaRPr sz="2600" b="1" dirty="0">
              <a:solidFill>
                <a:srgbClr val="111111"/>
              </a:solidFill>
              <a:latin typeface="黑体" panose="02010609060101010101" pitchFamily="49" charset="-122"/>
              <a:ea typeface="黑体" panose="02010609060101010101" pitchFamily="49" charset="-122"/>
            </a:endParaRPr>
          </a:p>
        </p:txBody>
      </p:sp>
      <p:sp>
        <p:nvSpPr>
          <p:cNvPr id="9" name="Rectangle 8"/>
          <p:cNvSpPr/>
          <p:nvPr/>
        </p:nvSpPr>
        <p:spPr>
          <a:xfrm>
            <a:off x="548640" y="1508760"/>
            <a:ext cx="6217920" cy="74980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 name="Rectangle 9"/>
          <p:cNvSpPr/>
          <p:nvPr/>
        </p:nvSpPr>
        <p:spPr>
          <a:xfrm>
            <a:off x="548640" y="1508760"/>
            <a:ext cx="548640" cy="74980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 name="TextBox 10"/>
          <p:cNvSpPr txBox="1"/>
          <p:nvPr/>
        </p:nvSpPr>
        <p:spPr>
          <a:xfrm>
            <a:off x="548640" y="1711960"/>
            <a:ext cx="548640" cy="381000"/>
          </a:xfrm>
          <a:prstGeom prst="rect">
            <a:avLst/>
          </a:prstGeom>
          <a:noFill/>
        </p:spPr>
        <p:txBody>
          <a:bodyPr wrap="square">
            <a:spAutoFit/>
          </a:bodyPr>
          <a:lstStyle/>
          <a:p>
            <a:pPr algn="ctr"/>
            <a:r>
              <a:rPr sz="1800" b="1">
                <a:solidFill>
                  <a:srgbClr val="FFFFFF"/>
                </a:solidFill>
                <a:latin typeface="黑体" panose="02010609060101010101" pitchFamily="49" charset="-122"/>
                <a:ea typeface="黑体" panose="02010609060101010101" pitchFamily="49" charset="-122"/>
              </a:rPr>
              <a:t>R1</a:t>
            </a:r>
            <a:endParaRPr sz="1800" b="1">
              <a:solidFill>
                <a:srgbClr val="FFFFFF"/>
              </a:solidFill>
              <a:latin typeface="黑体" panose="02010609060101010101" pitchFamily="49" charset="-122"/>
              <a:ea typeface="黑体" panose="02010609060101010101" pitchFamily="49" charset="-122"/>
            </a:endParaRPr>
          </a:p>
        </p:txBody>
      </p:sp>
      <p:sp>
        <p:nvSpPr>
          <p:cNvPr id="12" name="TextBox 11"/>
          <p:cNvSpPr txBox="1"/>
          <p:nvPr/>
        </p:nvSpPr>
        <p:spPr>
          <a:xfrm>
            <a:off x="1188720" y="1559560"/>
            <a:ext cx="5303520" cy="307777"/>
          </a:xfrm>
          <a:prstGeom prst="rect">
            <a:avLst/>
          </a:prstGeom>
          <a:noFill/>
        </p:spPr>
        <p:txBody>
          <a:bodyPr wrap="square">
            <a:spAutoFit/>
          </a:bodyPr>
          <a:lstStyle/>
          <a:p>
            <a:pPr algn="l"/>
            <a:r>
              <a:rPr sz="1400" b="1" dirty="0" err="1">
                <a:solidFill>
                  <a:srgbClr val="111111"/>
                </a:solidFill>
                <a:latin typeface="黑体" panose="02010609060101010101" pitchFamily="49" charset="-122"/>
                <a:ea typeface="黑体" panose="02010609060101010101" pitchFamily="49" charset="-122"/>
              </a:rPr>
              <a:t>安全的输出控制</a:t>
            </a:r>
            <a:endParaRPr sz="1400" b="1" dirty="0">
              <a:solidFill>
                <a:srgbClr val="111111"/>
              </a:solidFill>
              <a:latin typeface="黑体" panose="02010609060101010101" pitchFamily="49" charset="-122"/>
              <a:ea typeface="黑体" panose="02010609060101010101" pitchFamily="49" charset="-122"/>
            </a:endParaRPr>
          </a:p>
        </p:txBody>
      </p:sp>
      <p:sp>
        <p:nvSpPr>
          <p:cNvPr id="13" name="TextBox 12"/>
          <p:cNvSpPr txBox="1"/>
          <p:nvPr/>
        </p:nvSpPr>
        <p:spPr>
          <a:xfrm>
            <a:off x="1188720" y="1889760"/>
            <a:ext cx="5303520" cy="261610"/>
          </a:xfrm>
          <a:prstGeom prst="rect">
            <a:avLst/>
          </a:prstGeom>
          <a:noFill/>
        </p:spPr>
        <p:txBody>
          <a:bodyPr wrap="square">
            <a:spAutoFit/>
          </a:bodyPr>
          <a:lstStyle/>
          <a:p>
            <a:r>
              <a:rPr lang="zh-CN" altLang="en-US" sz="1100" dirty="0">
                <a:latin typeface="黑体" panose="02010609060101010101" pitchFamily="49" charset="-122"/>
                <a:ea typeface="黑体" panose="02010609060101010101" pitchFamily="49" charset="-122"/>
              </a:rPr>
              <a:t>只有保护域内组件可以向 </a:t>
            </a:r>
            <a:r>
              <a:rPr lang="en-US" altLang="zh-CN" sz="1100" dirty="0">
                <a:latin typeface="黑体" panose="02010609060101010101" pitchFamily="49" charset="-122"/>
                <a:ea typeface="黑体" panose="02010609060101010101" pitchFamily="49" charset="-122"/>
              </a:rPr>
              <a:t>ECU </a:t>
            </a:r>
            <a:r>
              <a:rPr lang="zh-CN" altLang="en-US" sz="1100" dirty="0">
                <a:latin typeface="黑体" panose="02010609060101010101" pitchFamily="49" charset="-122"/>
                <a:ea typeface="黑体" panose="02010609060101010101" pitchFamily="49" charset="-122"/>
              </a:rPr>
              <a:t>发控制</a:t>
            </a:r>
            <a:endParaRPr sz="1100" b="0" dirty="0">
              <a:solidFill>
                <a:srgbClr val="666666"/>
              </a:solidFill>
              <a:latin typeface="黑体" panose="02010609060101010101" pitchFamily="49" charset="-122"/>
              <a:ea typeface="黑体" panose="02010609060101010101" pitchFamily="49" charset="-122"/>
            </a:endParaRPr>
          </a:p>
        </p:txBody>
      </p:sp>
      <p:sp>
        <p:nvSpPr>
          <p:cNvPr id="14" name="Rectangle 13"/>
          <p:cNvSpPr/>
          <p:nvPr/>
        </p:nvSpPr>
        <p:spPr>
          <a:xfrm>
            <a:off x="548640" y="2377439"/>
            <a:ext cx="6217920" cy="74980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 name="Rectangle 14"/>
          <p:cNvSpPr/>
          <p:nvPr/>
        </p:nvSpPr>
        <p:spPr>
          <a:xfrm>
            <a:off x="548640" y="2377439"/>
            <a:ext cx="548640" cy="74980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 name="TextBox 15"/>
          <p:cNvSpPr txBox="1"/>
          <p:nvPr/>
        </p:nvSpPr>
        <p:spPr>
          <a:xfrm>
            <a:off x="548640" y="2580639"/>
            <a:ext cx="548640" cy="381000"/>
          </a:xfrm>
          <a:prstGeom prst="rect">
            <a:avLst/>
          </a:prstGeom>
          <a:noFill/>
        </p:spPr>
        <p:txBody>
          <a:bodyPr wrap="square">
            <a:spAutoFit/>
          </a:bodyPr>
          <a:lstStyle/>
          <a:p>
            <a:pPr algn="ctr"/>
            <a:r>
              <a:rPr sz="1800" b="1">
                <a:solidFill>
                  <a:srgbClr val="FFFFFF"/>
                </a:solidFill>
                <a:latin typeface="黑体" panose="02010609060101010101" pitchFamily="49" charset="-122"/>
                <a:ea typeface="黑体" panose="02010609060101010101" pitchFamily="49" charset="-122"/>
              </a:rPr>
              <a:t>R2</a:t>
            </a:r>
            <a:endParaRPr sz="1800" b="1">
              <a:solidFill>
                <a:srgbClr val="FFFFFF"/>
              </a:solidFill>
              <a:latin typeface="黑体" panose="02010609060101010101" pitchFamily="49" charset="-122"/>
              <a:ea typeface="黑体" panose="02010609060101010101" pitchFamily="49" charset="-122"/>
            </a:endParaRPr>
          </a:p>
        </p:txBody>
      </p:sp>
      <p:sp>
        <p:nvSpPr>
          <p:cNvPr id="17" name="TextBox 16"/>
          <p:cNvSpPr txBox="1"/>
          <p:nvPr/>
        </p:nvSpPr>
        <p:spPr>
          <a:xfrm>
            <a:off x="1188720" y="2428239"/>
            <a:ext cx="5303520" cy="307777"/>
          </a:xfrm>
          <a:prstGeom prst="rect">
            <a:avLst/>
          </a:prstGeom>
          <a:noFill/>
        </p:spPr>
        <p:txBody>
          <a:bodyPr wrap="square">
            <a:spAutoFit/>
          </a:bodyPr>
          <a:lstStyle/>
          <a:p>
            <a:pPr algn="l"/>
            <a:r>
              <a:rPr sz="1400" b="1">
                <a:solidFill>
                  <a:srgbClr val="111111"/>
                </a:solidFill>
                <a:latin typeface="黑体" panose="02010609060101010101" pitchFamily="49" charset="-122"/>
                <a:ea typeface="黑体" panose="02010609060101010101" pitchFamily="49" charset="-122"/>
              </a:rPr>
              <a:t>内存与寄存器隔离</a:t>
            </a:r>
            <a:endParaRPr sz="1400" b="1">
              <a:solidFill>
                <a:srgbClr val="111111"/>
              </a:solidFill>
              <a:latin typeface="黑体" panose="02010609060101010101" pitchFamily="49" charset="-122"/>
              <a:ea typeface="黑体" panose="02010609060101010101" pitchFamily="49" charset="-122"/>
            </a:endParaRPr>
          </a:p>
        </p:txBody>
      </p:sp>
      <p:sp>
        <p:nvSpPr>
          <p:cNvPr id="18" name="TextBox 17"/>
          <p:cNvSpPr txBox="1"/>
          <p:nvPr/>
        </p:nvSpPr>
        <p:spPr>
          <a:xfrm>
            <a:off x="1188720" y="2758439"/>
            <a:ext cx="5303520" cy="261610"/>
          </a:xfrm>
          <a:prstGeom prst="rect">
            <a:avLst/>
          </a:prstGeom>
          <a:noFill/>
        </p:spPr>
        <p:txBody>
          <a:bodyPr wrap="square">
            <a:spAutoFit/>
          </a:bodyPr>
          <a:lstStyle/>
          <a:p>
            <a:r>
              <a:rPr lang="zh-CN" altLang="en-US" sz="1100" dirty="0">
                <a:latin typeface="黑体" panose="02010609060101010101" pitchFamily="49" charset="-122"/>
                <a:ea typeface="黑体" panose="02010609060101010101" pitchFamily="49" charset="-122"/>
              </a:rPr>
              <a:t>保护域状态不能被不可信 </a:t>
            </a:r>
            <a:r>
              <a:rPr lang="en-US" altLang="zh-CN" sz="1100" dirty="0">
                <a:latin typeface="黑体" panose="02010609060101010101" pitchFamily="49" charset="-122"/>
                <a:ea typeface="黑体" panose="02010609060101010101" pitchFamily="49" charset="-122"/>
              </a:rPr>
              <a:t>OS </a:t>
            </a:r>
            <a:r>
              <a:rPr lang="zh-CN" altLang="en-US" sz="1100" dirty="0">
                <a:latin typeface="黑体" panose="02010609060101010101" pitchFamily="49" charset="-122"/>
                <a:ea typeface="黑体" panose="02010609060101010101" pitchFamily="49" charset="-122"/>
              </a:rPr>
              <a:t>篡改</a:t>
            </a:r>
            <a:endParaRPr sz="1100" b="0" dirty="0">
              <a:solidFill>
                <a:srgbClr val="666666"/>
              </a:solidFill>
              <a:latin typeface="黑体" panose="02010609060101010101" pitchFamily="49" charset="-122"/>
              <a:ea typeface="黑体" panose="02010609060101010101" pitchFamily="49" charset="-122"/>
            </a:endParaRPr>
          </a:p>
        </p:txBody>
      </p:sp>
      <p:sp>
        <p:nvSpPr>
          <p:cNvPr id="19" name="Rectangle 18"/>
          <p:cNvSpPr/>
          <p:nvPr/>
        </p:nvSpPr>
        <p:spPr>
          <a:xfrm>
            <a:off x="548640" y="3246120"/>
            <a:ext cx="6217920" cy="74980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0" name="Rectangle 19"/>
          <p:cNvSpPr/>
          <p:nvPr/>
        </p:nvSpPr>
        <p:spPr>
          <a:xfrm>
            <a:off x="548640" y="3246120"/>
            <a:ext cx="548640" cy="74980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1" name="TextBox 20"/>
          <p:cNvSpPr txBox="1"/>
          <p:nvPr/>
        </p:nvSpPr>
        <p:spPr>
          <a:xfrm>
            <a:off x="548640" y="3449320"/>
            <a:ext cx="548640" cy="381000"/>
          </a:xfrm>
          <a:prstGeom prst="rect">
            <a:avLst/>
          </a:prstGeom>
          <a:noFill/>
        </p:spPr>
        <p:txBody>
          <a:bodyPr wrap="square">
            <a:spAutoFit/>
          </a:bodyPr>
          <a:lstStyle/>
          <a:p>
            <a:pPr algn="ctr"/>
            <a:r>
              <a:rPr sz="1800" b="1">
                <a:solidFill>
                  <a:srgbClr val="FFFFFF"/>
                </a:solidFill>
                <a:latin typeface="黑体" panose="02010609060101010101" pitchFamily="49" charset="-122"/>
                <a:ea typeface="黑体" panose="02010609060101010101" pitchFamily="49" charset="-122"/>
              </a:rPr>
              <a:t>R3</a:t>
            </a:r>
            <a:endParaRPr sz="1800" b="1">
              <a:solidFill>
                <a:srgbClr val="FFFFFF"/>
              </a:solidFill>
              <a:latin typeface="黑体" panose="02010609060101010101" pitchFamily="49" charset="-122"/>
              <a:ea typeface="黑体" panose="02010609060101010101" pitchFamily="49" charset="-122"/>
            </a:endParaRPr>
          </a:p>
        </p:txBody>
      </p:sp>
      <p:sp>
        <p:nvSpPr>
          <p:cNvPr id="22" name="TextBox 21"/>
          <p:cNvSpPr txBox="1"/>
          <p:nvPr/>
        </p:nvSpPr>
        <p:spPr>
          <a:xfrm>
            <a:off x="1188720" y="3296920"/>
            <a:ext cx="5303520" cy="307777"/>
          </a:xfrm>
          <a:prstGeom prst="rect">
            <a:avLst/>
          </a:prstGeom>
          <a:noFill/>
        </p:spPr>
        <p:txBody>
          <a:bodyPr wrap="square">
            <a:spAutoFit/>
          </a:bodyPr>
          <a:lstStyle/>
          <a:p>
            <a:pPr algn="l"/>
            <a:r>
              <a:rPr sz="1400" b="1">
                <a:solidFill>
                  <a:srgbClr val="111111"/>
                </a:solidFill>
                <a:latin typeface="黑体" panose="02010609060101010101" pitchFamily="49" charset="-122"/>
                <a:ea typeface="黑体" panose="02010609060101010101" pitchFamily="49" charset="-122"/>
              </a:rPr>
              <a:t>安全进程间通信</a:t>
            </a:r>
            <a:endParaRPr sz="1400" b="1">
              <a:solidFill>
                <a:srgbClr val="111111"/>
              </a:solidFill>
              <a:latin typeface="黑体" panose="02010609060101010101" pitchFamily="49" charset="-122"/>
              <a:ea typeface="黑体" panose="02010609060101010101" pitchFamily="49" charset="-122"/>
            </a:endParaRPr>
          </a:p>
        </p:txBody>
      </p:sp>
      <p:sp>
        <p:nvSpPr>
          <p:cNvPr id="23" name="TextBox 22"/>
          <p:cNvSpPr txBox="1"/>
          <p:nvPr/>
        </p:nvSpPr>
        <p:spPr>
          <a:xfrm>
            <a:off x="1188720" y="3627120"/>
            <a:ext cx="5303520" cy="261610"/>
          </a:xfrm>
          <a:prstGeom prst="rect">
            <a:avLst/>
          </a:prstGeom>
          <a:noFill/>
        </p:spPr>
        <p:txBody>
          <a:bodyPr wrap="square">
            <a:spAutoFit/>
          </a:bodyPr>
          <a:lstStyle/>
          <a:p>
            <a:r>
              <a:rPr lang="zh-CN" altLang="en-US" sz="1100" dirty="0">
                <a:latin typeface="黑体" panose="02010609060101010101" pitchFamily="49" charset="-122"/>
                <a:ea typeface="黑体" panose="02010609060101010101" pitchFamily="49" charset="-122"/>
              </a:rPr>
              <a:t>关键 </a:t>
            </a:r>
            <a:r>
              <a:rPr lang="en-US" altLang="zh-CN" sz="1100" dirty="0">
                <a:latin typeface="黑体" panose="02010609060101010101" pitchFamily="49" charset="-122"/>
                <a:ea typeface="黑体" panose="02010609060101010101" pitchFamily="49" charset="-122"/>
              </a:rPr>
              <a:t>Binder/IPC </a:t>
            </a:r>
            <a:r>
              <a:rPr lang="zh-CN" altLang="en-US" sz="1100" dirty="0">
                <a:latin typeface="黑体" panose="02010609060101010101" pitchFamily="49" charset="-122"/>
                <a:ea typeface="黑体" panose="02010609060101010101" pitchFamily="49" charset="-122"/>
              </a:rPr>
              <a:t>通信不可伪造、不可篡改</a:t>
            </a:r>
            <a:endParaRPr sz="1100" b="0" dirty="0">
              <a:solidFill>
                <a:srgbClr val="666666"/>
              </a:solidFill>
              <a:latin typeface="黑体" panose="02010609060101010101" pitchFamily="49" charset="-122"/>
              <a:ea typeface="黑体" panose="02010609060101010101" pitchFamily="49" charset="-122"/>
            </a:endParaRPr>
          </a:p>
        </p:txBody>
      </p:sp>
      <p:sp>
        <p:nvSpPr>
          <p:cNvPr id="24" name="Rectangle 23"/>
          <p:cNvSpPr/>
          <p:nvPr/>
        </p:nvSpPr>
        <p:spPr>
          <a:xfrm>
            <a:off x="548640" y="4114800"/>
            <a:ext cx="6217920" cy="74980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5" name="Rectangle 24"/>
          <p:cNvSpPr/>
          <p:nvPr/>
        </p:nvSpPr>
        <p:spPr>
          <a:xfrm>
            <a:off x="548640" y="4114800"/>
            <a:ext cx="548640" cy="74980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6" name="TextBox 25"/>
          <p:cNvSpPr txBox="1"/>
          <p:nvPr/>
        </p:nvSpPr>
        <p:spPr>
          <a:xfrm>
            <a:off x="548640" y="4318000"/>
            <a:ext cx="548640" cy="381000"/>
          </a:xfrm>
          <a:prstGeom prst="rect">
            <a:avLst/>
          </a:prstGeom>
          <a:noFill/>
        </p:spPr>
        <p:txBody>
          <a:bodyPr wrap="square">
            <a:spAutoFit/>
          </a:bodyPr>
          <a:lstStyle/>
          <a:p>
            <a:pPr algn="ctr"/>
            <a:r>
              <a:rPr sz="1800" b="1">
                <a:solidFill>
                  <a:srgbClr val="FFFFFF"/>
                </a:solidFill>
                <a:latin typeface="黑体" panose="02010609060101010101" pitchFamily="49" charset="-122"/>
                <a:ea typeface="黑体" panose="02010609060101010101" pitchFamily="49" charset="-122"/>
              </a:rPr>
              <a:t>R4</a:t>
            </a:r>
            <a:endParaRPr sz="1800" b="1">
              <a:solidFill>
                <a:srgbClr val="FFFFFF"/>
              </a:solidFill>
              <a:latin typeface="黑体" panose="02010609060101010101" pitchFamily="49" charset="-122"/>
              <a:ea typeface="黑体" panose="02010609060101010101" pitchFamily="49" charset="-122"/>
            </a:endParaRPr>
          </a:p>
        </p:txBody>
      </p:sp>
      <p:sp>
        <p:nvSpPr>
          <p:cNvPr id="27" name="TextBox 26"/>
          <p:cNvSpPr txBox="1"/>
          <p:nvPr/>
        </p:nvSpPr>
        <p:spPr>
          <a:xfrm>
            <a:off x="1188720" y="4165600"/>
            <a:ext cx="5303520" cy="307777"/>
          </a:xfrm>
          <a:prstGeom prst="rect">
            <a:avLst/>
          </a:prstGeom>
          <a:noFill/>
        </p:spPr>
        <p:txBody>
          <a:bodyPr wrap="square">
            <a:spAutoFit/>
          </a:bodyPr>
          <a:lstStyle/>
          <a:p>
            <a:pPr algn="l"/>
            <a:r>
              <a:rPr sz="1400" b="1">
                <a:solidFill>
                  <a:srgbClr val="111111"/>
                </a:solidFill>
                <a:latin typeface="黑体" panose="02010609060101010101" pitchFamily="49" charset="-122"/>
                <a:ea typeface="黑体" panose="02010609060101010101" pitchFamily="49" charset="-122"/>
              </a:rPr>
              <a:t>HMI 保护</a:t>
            </a:r>
            <a:endParaRPr sz="1400" b="1">
              <a:solidFill>
                <a:srgbClr val="111111"/>
              </a:solidFill>
              <a:latin typeface="黑体" panose="02010609060101010101" pitchFamily="49" charset="-122"/>
              <a:ea typeface="黑体" panose="02010609060101010101" pitchFamily="49" charset="-122"/>
            </a:endParaRPr>
          </a:p>
        </p:txBody>
      </p:sp>
      <p:sp>
        <p:nvSpPr>
          <p:cNvPr id="28" name="TextBox 27"/>
          <p:cNvSpPr txBox="1"/>
          <p:nvPr/>
        </p:nvSpPr>
        <p:spPr>
          <a:xfrm>
            <a:off x="1188720" y="4495800"/>
            <a:ext cx="5303520" cy="261610"/>
          </a:xfrm>
          <a:prstGeom prst="rect">
            <a:avLst/>
          </a:prstGeom>
          <a:noFill/>
        </p:spPr>
        <p:txBody>
          <a:bodyPr wrap="square">
            <a:spAutoFit/>
          </a:bodyPr>
          <a:lstStyle/>
          <a:p>
            <a:r>
              <a:rPr lang="zh-CN" altLang="en-US" sz="1100" dirty="0">
                <a:latin typeface="黑体" panose="02010609060101010101" pitchFamily="49" charset="-122"/>
                <a:ea typeface="黑体" panose="02010609060101010101" pitchFamily="49" charset="-122"/>
              </a:rPr>
              <a:t>用户看到正确 </a:t>
            </a:r>
            <a:r>
              <a:rPr lang="en-US" altLang="zh-CN" sz="1100" dirty="0">
                <a:latin typeface="黑体" panose="02010609060101010101" pitchFamily="49" charset="-122"/>
                <a:ea typeface="黑体" panose="02010609060101010101" pitchFamily="49" charset="-122"/>
              </a:rPr>
              <a:t>GUI</a:t>
            </a:r>
            <a:r>
              <a:rPr lang="zh-CN" altLang="en-US" sz="1100" dirty="0">
                <a:latin typeface="黑体" panose="02010609060101010101" pitchFamily="49" charset="-122"/>
                <a:ea typeface="黑体" panose="02010609060101010101" pitchFamily="49" charset="-122"/>
              </a:rPr>
              <a:t>，触摸事件也正确分发</a:t>
            </a:r>
            <a:endParaRPr sz="1100" b="0" dirty="0">
              <a:solidFill>
                <a:srgbClr val="666666"/>
              </a:solidFill>
              <a:latin typeface="黑体" panose="02010609060101010101" pitchFamily="49" charset="-122"/>
              <a:ea typeface="黑体" panose="02010609060101010101" pitchFamily="49" charset="-122"/>
            </a:endParaRPr>
          </a:p>
        </p:txBody>
      </p:sp>
      <p:sp>
        <p:nvSpPr>
          <p:cNvPr id="29" name="Rectangle 28"/>
          <p:cNvSpPr/>
          <p:nvPr/>
        </p:nvSpPr>
        <p:spPr>
          <a:xfrm>
            <a:off x="7040880" y="1508760"/>
            <a:ext cx="4480560" cy="1828800"/>
          </a:xfrm>
          <a:prstGeom prst="rect">
            <a:avLst/>
          </a:prstGeom>
          <a:solidFill>
            <a:srgbClr val="F0FAF0"/>
          </a:solidFill>
          <a:ln w="25400">
            <a:solidFill>
              <a:srgbClr val="2A9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0" name="TextBox 29"/>
          <p:cNvSpPr txBox="1"/>
          <p:nvPr/>
        </p:nvSpPr>
        <p:spPr>
          <a:xfrm>
            <a:off x="7223760" y="1600200"/>
            <a:ext cx="4114800" cy="292388"/>
          </a:xfrm>
          <a:prstGeom prst="rect">
            <a:avLst/>
          </a:prstGeom>
          <a:noFill/>
        </p:spPr>
        <p:txBody>
          <a:bodyPr wrap="square">
            <a:spAutoFit/>
          </a:bodyPr>
          <a:lstStyle/>
          <a:p>
            <a:pPr algn="l"/>
            <a:r>
              <a:rPr lang="zh-CN" altLang="en-US" sz="1300" b="1" dirty="0">
                <a:solidFill>
                  <a:srgbClr val="1A6A1A"/>
                </a:solidFill>
                <a:latin typeface="黑体" panose="02010609060101010101" pitchFamily="49" charset="-122"/>
                <a:ea typeface="黑体" panose="02010609060101010101" pitchFamily="49" charset="-122"/>
              </a:rPr>
              <a:t>保护域</a:t>
            </a:r>
            <a:endParaRPr sz="1300" b="1" dirty="0">
              <a:solidFill>
                <a:srgbClr val="1A6A1A"/>
              </a:solidFill>
              <a:latin typeface="黑体" panose="02010609060101010101" pitchFamily="49" charset="-122"/>
              <a:ea typeface="黑体" panose="02010609060101010101" pitchFamily="49" charset="-122"/>
            </a:endParaRPr>
          </a:p>
        </p:txBody>
      </p:sp>
      <p:sp>
        <p:nvSpPr>
          <p:cNvPr id="31" name="TextBox 30"/>
          <p:cNvSpPr txBox="1"/>
          <p:nvPr/>
        </p:nvSpPr>
        <p:spPr>
          <a:xfrm>
            <a:off x="7223760" y="1920240"/>
            <a:ext cx="4114800" cy="482183"/>
          </a:xfrm>
          <a:prstGeom prst="rect">
            <a:avLst/>
          </a:prstGeom>
          <a:noFill/>
        </p:spPr>
        <p:txBody>
          <a:bodyPr wrap="square">
            <a:spAutoFit/>
          </a:bodyPr>
          <a:lstStyle/>
          <a:p>
            <a:pPr>
              <a:spcBef>
                <a:spcPts val="400"/>
              </a:spcBef>
            </a:pPr>
            <a:r>
              <a:rPr sz="1100" dirty="0">
                <a:solidFill>
                  <a:srgbClr val="1A6A1A"/>
                </a:solidFill>
                <a:latin typeface="黑体" panose="02010609060101010101" pitchFamily="49" charset="-122"/>
                <a:ea typeface="黑体" panose="02010609060101010101" pitchFamily="49" charset="-122"/>
              </a:rPr>
              <a:t>●  </a:t>
            </a:r>
            <a:r>
              <a:rPr sz="1100" dirty="0" err="1">
                <a:solidFill>
                  <a:srgbClr val="1A6A1A"/>
                </a:solidFill>
                <a:latin typeface="黑体" panose="02010609060101010101" pitchFamily="49" charset="-122"/>
                <a:ea typeface="黑体" panose="02010609060101010101" pitchFamily="49" charset="-122"/>
              </a:rPr>
              <a:t>车辆控制</a:t>
            </a:r>
            <a:r>
              <a:rPr sz="1100" dirty="0">
                <a:solidFill>
                  <a:srgbClr val="1A6A1A"/>
                </a:solidFill>
                <a:latin typeface="黑体" panose="02010609060101010101" pitchFamily="49" charset="-122"/>
                <a:ea typeface="黑体" panose="02010609060101010101" pitchFamily="49" charset="-122"/>
              </a:rPr>
              <a:t> App (Car Control Apps)</a:t>
            </a:r>
            <a:endParaRPr sz="1100" dirty="0">
              <a:solidFill>
                <a:srgbClr val="1A6A1A"/>
              </a:solidFill>
              <a:latin typeface="黑体" panose="02010609060101010101" pitchFamily="49" charset="-122"/>
              <a:ea typeface="黑体" panose="02010609060101010101" pitchFamily="49" charset="-122"/>
            </a:endParaRPr>
          </a:p>
          <a:p>
            <a:pPr>
              <a:spcBef>
                <a:spcPts val="400"/>
              </a:spcBef>
            </a:pPr>
            <a:r>
              <a:rPr sz="1100" dirty="0">
                <a:solidFill>
                  <a:srgbClr val="1A6A1A"/>
                </a:solidFill>
                <a:latin typeface="黑体" panose="02010609060101010101" pitchFamily="49" charset="-122"/>
                <a:ea typeface="黑体" panose="02010609060101010101" pitchFamily="49" charset="-122"/>
              </a:rPr>
              <a:t>●  </a:t>
            </a:r>
            <a:r>
              <a:rPr sz="1100" dirty="0" err="1">
                <a:solidFill>
                  <a:srgbClr val="1A6A1A"/>
                </a:solidFill>
                <a:latin typeface="黑体" panose="02010609060101010101" pitchFamily="49" charset="-122"/>
                <a:ea typeface="黑体" panose="02010609060101010101" pitchFamily="49" charset="-122"/>
              </a:rPr>
              <a:t>CarService</a:t>
            </a:r>
            <a:r>
              <a:rPr sz="1100" dirty="0">
                <a:solidFill>
                  <a:srgbClr val="1A6A1A"/>
                </a:solidFill>
                <a:latin typeface="黑体" panose="02010609060101010101" pitchFamily="49" charset="-122"/>
                <a:ea typeface="黑体" panose="02010609060101010101" pitchFamily="49" charset="-122"/>
              </a:rPr>
              <a:t> · VHAL · HWC · Zygote</a:t>
            </a:r>
            <a:endParaRPr sz="1100" dirty="0">
              <a:solidFill>
                <a:srgbClr val="1A6A1A"/>
              </a:solidFill>
              <a:latin typeface="黑体" panose="02010609060101010101" pitchFamily="49" charset="-122"/>
              <a:ea typeface="黑体" panose="02010609060101010101" pitchFamily="49" charset="-122"/>
            </a:endParaRPr>
          </a:p>
        </p:txBody>
      </p:sp>
      <p:sp>
        <p:nvSpPr>
          <p:cNvPr id="32" name="Rectangle 31"/>
          <p:cNvSpPr/>
          <p:nvPr/>
        </p:nvSpPr>
        <p:spPr>
          <a:xfrm>
            <a:off x="7040880" y="3474720"/>
            <a:ext cx="4480560" cy="1280160"/>
          </a:xfrm>
          <a:prstGeom prst="rect">
            <a:avLst/>
          </a:prstGeom>
          <a:solidFill>
            <a:srgbClr val="FCE8E8"/>
          </a:solidFill>
          <a:ln w="19050">
            <a:solidFill>
              <a:srgbClr val="D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3" name="TextBox 32"/>
          <p:cNvSpPr txBox="1"/>
          <p:nvPr/>
        </p:nvSpPr>
        <p:spPr>
          <a:xfrm>
            <a:off x="7223760" y="3566160"/>
            <a:ext cx="4114800" cy="292388"/>
          </a:xfrm>
          <a:prstGeom prst="rect">
            <a:avLst/>
          </a:prstGeom>
          <a:noFill/>
        </p:spPr>
        <p:txBody>
          <a:bodyPr wrap="square">
            <a:spAutoFit/>
          </a:bodyPr>
          <a:lstStyle/>
          <a:p>
            <a:pPr algn="l"/>
            <a:r>
              <a:rPr sz="1300" b="1">
                <a:solidFill>
                  <a:srgbClr val="D62828"/>
                </a:solidFill>
                <a:latin typeface="黑体" panose="02010609060101010101" pitchFamily="49" charset="-122"/>
                <a:ea typeface="黑体" panose="02010609060101010101" pitchFamily="49" charset="-122"/>
              </a:rPr>
              <a:t>排除在外</a:t>
            </a:r>
            <a:endParaRPr sz="1300" b="1">
              <a:solidFill>
                <a:srgbClr val="D62828"/>
              </a:solidFill>
              <a:latin typeface="黑体" panose="02010609060101010101" pitchFamily="49" charset="-122"/>
              <a:ea typeface="黑体" panose="02010609060101010101" pitchFamily="49" charset="-122"/>
            </a:endParaRPr>
          </a:p>
        </p:txBody>
      </p:sp>
      <p:sp>
        <p:nvSpPr>
          <p:cNvPr id="34" name="TextBox 33"/>
          <p:cNvSpPr txBox="1"/>
          <p:nvPr/>
        </p:nvSpPr>
        <p:spPr>
          <a:xfrm>
            <a:off x="7223760" y="3840480"/>
            <a:ext cx="4114800" cy="430887"/>
          </a:xfrm>
          <a:prstGeom prst="rect">
            <a:avLst/>
          </a:prstGeom>
          <a:noFill/>
        </p:spPr>
        <p:txBody>
          <a:bodyPr wrap="square">
            <a:spAutoFit/>
          </a:bodyPr>
          <a:lstStyle/>
          <a:p>
            <a:r>
              <a:rPr lang="en-US" altLang="zh-CN" sz="1100" dirty="0" err="1"/>
              <a:t>SystemServer</a:t>
            </a:r>
            <a:r>
              <a:rPr lang="en-US" altLang="zh-CN" sz="1100" dirty="0"/>
              <a:t> / IMS / </a:t>
            </a:r>
            <a:r>
              <a:rPr lang="en-US" altLang="zh-CN" sz="1100" dirty="0" err="1"/>
              <a:t>SurfaceFlinger</a:t>
            </a:r>
            <a:r>
              <a:rPr lang="en-US" altLang="zh-CN" sz="1100" dirty="0"/>
              <a:t> </a:t>
            </a:r>
            <a:r>
              <a:rPr lang="zh-CN" altLang="en-US" sz="1100" dirty="0"/>
              <a:t>等</a:t>
            </a:r>
            <a:r>
              <a:rPr sz="1100" b="0" dirty="0">
                <a:solidFill>
                  <a:srgbClr val="666666"/>
                </a:solidFill>
                <a:latin typeface="黑体" panose="02010609060101010101" pitchFamily="49" charset="-122"/>
                <a:ea typeface="黑体" panose="02010609060101010101" pitchFamily="49" charset="-122"/>
              </a:rPr>
              <a:t>
</a:t>
            </a:r>
            <a:r>
              <a:rPr lang="zh-CN" altLang="en-US" sz="1100" dirty="0"/>
              <a:t>原因：外部接口多、代码大、攻击面大，不适合直接纳入可信域</a:t>
            </a:r>
            <a:endParaRPr sz="1100" b="0" dirty="0">
              <a:solidFill>
                <a:srgbClr val="666666"/>
              </a:solidFill>
              <a:latin typeface="黑体" panose="02010609060101010101" pitchFamily="49" charset="-122"/>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 name="TextBox 2"/>
          <p:cNvSpPr txBox="1"/>
          <p:nvPr/>
        </p:nvSpPr>
        <p:spPr>
          <a:xfrm>
            <a:off x="365760" y="50800"/>
            <a:ext cx="4572000" cy="261610"/>
          </a:xfrm>
          <a:prstGeom prst="rect">
            <a:avLst/>
          </a:prstGeom>
          <a:noFill/>
        </p:spPr>
        <p:txBody>
          <a:bodyPr wrap="square">
            <a:spAutoFit/>
          </a:bodyPr>
          <a:lstStyle/>
          <a:p>
            <a:pPr algn="l"/>
            <a:r>
              <a:rPr sz="1100" b="0">
                <a:solidFill>
                  <a:srgbClr val="666666"/>
                </a:solidFill>
                <a:latin typeface="黑体" panose="02010609060101010101" pitchFamily="49" charset="-122"/>
                <a:ea typeface="黑体" panose="02010609060101010101" pitchFamily="49" charset="-122"/>
              </a:rPr>
              <a:t>攻击面分析  Attack Strategies</a:t>
            </a:r>
            <a:endParaRPr sz="1100" b="0">
              <a:solidFill>
                <a:srgbClr val="666666"/>
              </a:solidFill>
              <a:latin typeface="黑体" panose="02010609060101010101" pitchFamily="49" charset="-122"/>
              <a:ea typeface="黑体" panose="02010609060101010101" pitchFamily="49" charset="-122"/>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 name="TextBox 5"/>
          <p:cNvSpPr txBox="1"/>
          <p:nvPr/>
        </p:nvSpPr>
        <p:spPr>
          <a:xfrm>
            <a:off x="457200" y="566928"/>
            <a:ext cx="3657600" cy="276999"/>
          </a:xfrm>
          <a:prstGeom prst="rect">
            <a:avLst/>
          </a:prstGeom>
          <a:noFill/>
        </p:spPr>
        <p:txBody>
          <a:bodyPr wrap="square">
            <a:spAutoFit/>
          </a:bodyPr>
          <a:lstStyle/>
          <a:p>
            <a:pPr algn="l"/>
            <a:r>
              <a:rPr sz="1200" b="1">
                <a:solidFill>
                  <a:srgbClr val="D62828"/>
                </a:solidFill>
                <a:latin typeface="黑体" panose="02010609060101010101" pitchFamily="49" charset="-122"/>
                <a:ea typeface="黑体" panose="02010609060101010101" pitchFamily="49" charset="-122"/>
              </a:rPr>
              <a:t>ATTACK STRATEGIES</a:t>
            </a:r>
            <a:endParaRPr sz="1200" b="1">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457200" y="841248"/>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 name="TextBox 7"/>
          <p:cNvSpPr txBox="1"/>
          <p:nvPr/>
        </p:nvSpPr>
        <p:spPr>
          <a:xfrm>
            <a:off x="457200" y="932688"/>
            <a:ext cx="7315200" cy="461665"/>
          </a:xfrm>
          <a:prstGeom prst="rect">
            <a:avLst/>
          </a:prstGeom>
          <a:noFill/>
        </p:spPr>
        <p:txBody>
          <a:bodyPr wrap="square">
            <a:spAutoFit/>
          </a:bodyPr>
          <a:lstStyle/>
          <a:p>
            <a:r>
              <a:rPr lang="en-US" altLang="zh-CN" sz="2400" dirty="0">
                <a:latin typeface="黑体" panose="02010609060101010101" pitchFamily="49" charset="-122"/>
                <a:ea typeface="黑体" panose="02010609060101010101" pitchFamily="49" charset="-122"/>
              </a:rPr>
              <a:t>13 </a:t>
            </a:r>
            <a:r>
              <a:rPr lang="zh-CN" altLang="en-US" sz="2400" dirty="0">
                <a:latin typeface="黑体" panose="02010609060101010101" pitchFamily="49" charset="-122"/>
                <a:ea typeface="黑体" panose="02010609060101010101" pitchFamily="49" charset="-122"/>
              </a:rPr>
              <a:t>种攻击策略及其对应防护需求</a:t>
            </a:r>
            <a:endParaRPr sz="2400" b="1" dirty="0">
              <a:solidFill>
                <a:srgbClr val="111111"/>
              </a:solidFill>
              <a:latin typeface="黑体" panose="02010609060101010101" pitchFamily="49" charset="-122"/>
              <a:ea typeface="黑体" panose="02010609060101010101" pitchFamily="49" charset="-122"/>
            </a:endParaRPr>
          </a:p>
        </p:txBody>
      </p:sp>
      <p:sp>
        <p:nvSpPr>
          <p:cNvPr id="9" name="Rectangle 8"/>
          <p:cNvSpPr/>
          <p:nvPr/>
        </p:nvSpPr>
        <p:spPr>
          <a:xfrm>
            <a:off x="365760" y="1417320"/>
            <a:ext cx="548640"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 name="TextBox 9"/>
          <p:cNvSpPr txBox="1"/>
          <p:nvPr/>
        </p:nvSpPr>
        <p:spPr>
          <a:xfrm>
            <a:off x="416560" y="1468120"/>
            <a:ext cx="447040" cy="261610"/>
          </a:xfrm>
          <a:prstGeom prst="rect">
            <a:avLst/>
          </a:prstGeom>
          <a:noFill/>
        </p:spPr>
        <p:txBody>
          <a:bodyPr wrap="square">
            <a:spAutoFit/>
          </a:bodyPr>
          <a:lstStyle/>
          <a:p>
            <a:pPr algn="ctr"/>
            <a:r>
              <a:rPr sz="1100" b="1">
                <a:solidFill>
                  <a:srgbClr val="FFFFFF"/>
                </a:solidFill>
                <a:latin typeface="黑体" panose="02010609060101010101" pitchFamily="49" charset="-122"/>
                <a:ea typeface="黑体" panose="02010609060101010101" pitchFamily="49" charset="-122"/>
              </a:rPr>
              <a:t>ID</a:t>
            </a:r>
            <a:endParaRPr sz="1100" b="1">
              <a:solidFill>
                <a:srgbClr val="FFFFFF"/>
              </a:solidFill>
              <a:latin typeface="黑体" panose="02010609060101010101" pitchFamily="49" charset="-122"/>
              <a:ea typeface="黑体" panose="02010609060101010101" pitchFamily="49" charset="-122"/>
            </a:endParaRPr>
          </a:p>
        </p:txBody>
      </p:sp>
      <p:sp>
        <p:nvSpPr>
          <p:cNvPr id="11" name="Rectangle 10"/>
          <p:cNvSpPr/>
          <p:nvPr/>
        </p:nvSpPr>
        <p:spPr>
          <a:xfrm>
            <a:off x="914400" y="1417320"/>
            <a:ext cx="5943600"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 name="TextBox 11"/>
          <p:cNvSpPr txBox="1"/>
          <p:nvPr/>
        </p:nvSpPr>
        <p:spPr>
          <a:xfrm>
            <a:off x="965200" y="1468120"/>
            <a:ext cx="5842000" cy="261610"/>
          </a:xfrm>
          <a:prstGeom prst="rect">
            <a:avLst/>
          </a:prstGeom>
          <a:noFill/>
        </p:spPr>
        <p:txBody>
          <a:bodyPr wrap="square">
            <a:spAutoFit/>
          </a:bodyPr>
          <a:lstStyle/>
          <a:p>
            <a:pPr algn="ctr"/>
            <a:r>
              <a:rPr sz="1100" b="1">
                <a:solidFill>
                  <a:srgbClr val="FFFFFF"/>
                </a:solidFill>
                <a:latin typeface="黑体" panose="02010609060101010101" pitchFamily="49" charset="-122"/>
                <a:ea typeface="黑体" panose="02010609060101010101" pitchFamily="49" charset="-122"/>
              </a:rPr>
              <a:t>攻击描述</a:t>
            </a:r>
            <a:endParaRPr sz="1100" b="1">
              <a:solidFill>
                <a:srgbClr val="FFFFFF"/>
              </a:solidFill>
              <a:latin typeface="黑体" panose="02010609060101010101" pitchFamily="49" charset="-122"/>
              <a:ea typeface="黑体" panose="02010609060101010101" pitchFamily="49" charset="-122"/>
            </a:endParaRPr>
          </a:p>
        </p:txBody>
      </p:sp>
      <p:sp>
        <p:nvSpPr>
          <p:cNvPr id="13" name="Rectangle 12"/>
          <p:cNvSpPr/>
          <p:nvPr/>
        </p:nvSpPr>
        <p:spPr>
          <a:xfrm>
            <a:off x="6858000" y="1417320"/>
            <a:ext cx="1371600"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4" name="TextBox 13"/>
          <p:cNvSpPr txBox="1"/>
          <p:nvPr/>
        </p:nvSpPr>
        <p:spPr>
          <a:xfrm>
            <a:off x="6908800" y="1468120"/>
            <a:ext cx="1270000" cy="261610"/>
          </a:xfrm>
          <a:prstGeom prst="rect">
            <a:avLst/>
          </a:prstGeom>
          <a:noFill/>
        </p:spPr>
        <p:txBody>
          <a:bodyPr wrap="square">
            <a:spAutoFit/>
          </a:bodyPr>
          <a:lstStyle/>
          <a:p>
            <a:pPr algn="ctr"/>
            <a:r>
              <a:rPr sz="1100" b="1">
                <a:solidFill>
                  <a:srgbClr val="FFFFFF"/>
                </a:solidFill>
                <a:latin typeface="黑体" panose="02010609060101010101" pitchFamily="49" charset="-122"/>
                <a:ea typeface="黑体" panose="02010609060101010101" pitchFamily="49" charset="-122"/>
              </a:rPr>
              <a:t>位置</a:t>
            </a:r>
            <a:endParaRPr sz="1100" b="1">
              <a:solidFill>
                <a:srgbClr val="FFFFFF"/>
              </a:solidFill>
              <a:latin typeface="黑体" panose="02010609060101010101" pitchFamily="49" charset="-122"/>
              <a:ea typeface="黑体" panose="02010609060101010101" pitchFamily="49" charset="-122"/>
            </a:endParaRPr>
          </a:p>
        </p:txBody>
      </p:sp>
      <p:sp>
        <p:nvSpPr>
          <p:cNvPr id="15" name="Rectangle 14"/>
          <p:cNvSpPr/>
          <p:nvPr/>
        </p:nvSpPr>
        <p:spPr>
          <a:xfrm>
            <a:off x="8128000" y="1417320"/>
            <a:ext cx="548640"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 name="TextBox 15"/>
          <p:cNvSpPr txBox="1"/>
          <p:nvPr/>
        </p:nvSpPr>
        <p:spPr>
          <a:xfrm>
            <a:off x="8178800" y="1468120"/>
            <a:ext cx="447040" cy="261610"/>
          </a:xfrm>
          <a:prstGeom prst="rect">
            <a:avLst/>
          </a:prstGeom>
          <a:noFill/>
        </p:spPr>
        <p:txBody>
          <a:bodyPr wrap="square">
            <a:spAutoFit/>
          </a:bodyPr>
          <a:lstStyle/>
          <a:p>
            <a:pPr algn="ctr"/>
            <a:r>
              <a:rPr sz="1100" b="1" dirty="0">
                <a:solidFill>
                  <a:srgbClr val="FFFFFF"/>
                </a:solidFill>
                <a:latin typeface="黑体" panose="02010609060101010101" pitchFamily="49" charset="-122"/>
                <a:ea typeface="黑体" panose="02010609060101010101" pitchFamily="49" charset="-122"/>
              </a:rPr>
              <a:t>R2</a:t>
            </a:r>
            <a:endParaRPr sz="1100" b="1" dirty="0">
              <a:solidFill>
                <a:srgbClr val="FFFFFF"/>
              </a:solidFill>
              <a:latin typeface="黑体" panose="02010609060101010101" pitchFamily="49" charset="-122"/>
              <a:ea typeface="黑体" panose="02010609060101010101" pitchFamily="49" charset="-122"/>
            </a:endParaRPr>
          </a:p>
        </p:txBody>
      </p:sp>
      <p:sp>
        <p:nvSpPr>
          <p:cNvPr id="17" name="Rectangle 16"/>
          <p:cNvSpPr/>
          <p:nvPr/>
        </p:nvSpPr>
        <p:spPr>
          <a:xfrm>
            <a:off x="8676640" y="1417320"/>
            <a:ext cx="548640"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8" name="TextBox 17"/>
          <p:cNvSpPr txBox="1"/>
          <p:nvPr/>
        </p:nvSpPr>
        <p:spPr>
          <a:xfrm>
            <a:off x="8727440" y="1468120"/>
            <a:ext cx="447040" cy="261610"/>
          </a:xfrm>
          <a:prstGeom prst="rect">
            <a:avLst/>
          </a:prstGeom>
          <a:noFill/>
        </p:spPr>
        <p:txBody>
          <a:bodyPr wrap="square">
            <a:spAutoFit/>
          </a:bodyPr>
          <a:lstStyle/>
          <a:p>
            <a:pPr algn="ctr"/>
            <a:r>
              <a:rPr sz="1100" b="1">
                <a:solidFill>
                  <a:srgbClr val="FFFFFF"/>
                </a:solidFill>
                <a:latin typeface="黑体" panose="02010609060101010101" pitchFamily="49" charset="-122"/>
                <a:ea typeface="黑体" panose="02010609060101010101" pitchFamily="49" charset="-122"/>
              </a:rPr>
              <a:t>R3</a:t>
            </a:r>
            <a:endParaRPr sz="1100" b="1">
              <a:solidFill>
                <a:srgbClr val="FFFFFF"/>
              </a:solidFill>
              <a:latin typeface="黑体" panose="02010609060101010101" pitchFamily="49" charset="-122"/>
              <a:ea typeface="黑体" panose="02010609060101010101" pitchFamily="49" charset="-122"/>
            </a:endParaRPr>
          </a:p>
        </p:txBody>
      </p:sp>
      <p:sp>
        <p:nvSpPr>
          <p:cNvPr id="19" name="Rectangle 18"/>
          <p:cNvSpPr/>
          <p:nvPr/>
        </p:nvSpPr>
        <p:spPr>
          <a:xfrm>
            <a:off x="9225280" y="1417320"/>
            <a:ext cx="548640"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0" name="TextBox 19"/>
          <p:cNvSpPr txBox="1"/>
          <p:nvPr/>
        </p:nvSpPr>
        <p:spPr>
          <a:xfrm>
            <a:off x="9263380" y="1458986"/>
            <a:ext cx="447040" cy="261610"/>
          </a:xfrm>
          <a:prstGeom prst="rect">
            <a:avLst/>
          </a:prstGeom>
          <a:noFill/>
        </p:spPr>
        <p:txBody>
          <a:bodyPr wrap="square">
            <a:spAutoFit/>
          </a:bodyPr>
          <a:lstStyle/>
          <a:p>
            <a:pPr algn="ctr"/>
            <a:r>
              <a:rPr sz="1100" b="1">
                <a:solidFill>
                  <a:srgbClr val="FFFFFF"/>
                </a:solidFill>
                <a:latin typeface="黑体" panose="02010609060101010101" pitchFamily="49" charset="-122"/>
                <a:ea typeface="黑体" panose="02010609060101010101" pitchFamily="49" charset="-122"/>
              </a:rPr>
              <a:t>R4</a:t>
            </a:r>
            <a:endParaRPr sz="1100" b="1">
              <a:solidFill>
                <a:srgbClr val="FFFFFF"/>
              </a:solidFill>
              <a:latin typeface="黑体" panose="02010609060101010101" pitchFamily="49" charset="-122"/>
              <a:ea typeface="黑体" panose="02010609060101010101" pitchFamily="49" charset="-122"/>
            </a:endParaRPr>
          </a:p>
        </p:txBody>
      </p:sp>
      <p:sp>
        <p:nvSpPr>
          <p:cNvPr id="21" name="Rectangle 20"/>
          <p:cNvSpPr/>
          <p:nvPr/>
        </p:nvSpPr>
        <p:spPr>
          <a:xfrm>
            <a:off x="365760" y="176479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2" name="TextBox 21"/>
          <p:cNvSpPr txBox="1"/>
          <p:nvPr/>
        </p:nvSpPr>
        <p:spPr>
          <a:xfrm>
            <a:off x="403860" y="1802892"/>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A1</a:t>
            </a:r>
            <a:endParaRPr sz="1000" b="0">
              <a:solidFill>
                <a:srgbClr val="D62828"/>
              </a:solidFill>
              <a:latin typeface="黑体" panose="02010609060101010101" pitchFamily="49" charset="-122"/>
              <a:ea typeface="黑体" panose="02010609060101010101" pitchFamily="49" charset="-122"/>
            </a:endParaRPr>
          </a:p>
        </p:txBody>
      </p:sp>
      <p:sp>
        <p:nvSpPr>
          <p:cNvPr id="23" name="Rectangle 22"/>
          <p:cNvSpPr/>
          <p:nvPr/>
        </p:nvSpPr>
        <p:spPr>
          <a:xfrm>
            <a:off x="914400" y="1764792"/>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4" name="TextBox 23"/>
          <p:cNvSpPr txBox="1"/>
          <p:nvPr/>
        </p:nvSpPr>
        <p:spPr>
          <a:xfrm>
            <a:off x="952500" y="1802892"/>
            <a:ext cx="5867400" cy="246221"/>
          </a:xfrm>
          <a:prstGeom prst="rect">
            <a:avLst/>
          </a:prstGeom>
          <a:noFill/>
        </p:spPr>
        <p:txBody>
          <a:bodyPr wrap="square">
            <a:spAutoFit/>
          </a:bodyPr>
          <a:lstStyle/>
          <a:p>
            <a:pPr algn="l"/>
            <a:r>
              <a:rPr sz="1000" b="0" dirty="0" err="1">
                <a:solidFill>
                  <a:srgbClr val="111111"/>
                </a:solidFill>
                <a:latin typeface="黑体" panose="02010609060101010101" pitchFamily="49" charset="-122"/>
                <a:ea typeface="黑体" panose="02010609060101010101" pitchFamily="49" charset="-122"/>
              </a:rPr>
              <a:t>非法寄存器访问</a:t>
            </a:r>
            <a:r>
              <a:rPr sz="1000" b="0" dirty="0">
                <a:solidFill>
                  <a:srgbClr val="111111"/>
                </a:solidFill>
                <a:latin typeface="黑体" panose="02010609060101010101" pitchFamily="49" charset="-122"/>
                <a:ea typeface="黑体" panose="02010609060101010101" pitchFamily="49" charset="-122"/>
              </a:rPr>
              <a:t> (CPU </a:t>
            </a:r>
            <a:r>
              <a:rPr sz="1000" b="0" dirty="0" err="1">
                <a:solidFill>
                  <a:srgbClr val="111111"/>
                </a:solidFill>
                <a:latin typeface="黑体" panose="02010609060101010101" pitchFamily="49" charset="-122"/>
                <a:ea typeface="黑体" panose="02010609060101010101" pitchFamily="49" charset="-122"/>
              </a:rPr>
              <a:t>上下文劫持</a:t>
            </a:r>
            <a:r>
              <a:rPr sz="1000" b="0" dirty="0">
                <a:solidFill>
                  <a:srgbClr val="111111"/>
                </a:solidFill>
                <a:latin typeface="黑体" panose="02010609060101010101" pitchFamily="49" charset="-122"/>
                <a:ea typeface="黑体" panose="02010609060101010101" pitchFamily="49" charset="-122"/>
              </a:rPr>
              <a:t>)</a:t>
            </a:r>
            <a:endParaRPr sz="1000" b="0" dirty="0">
              <a:solidFill>
                <a:srgbClr val="111111"/>
              </a:solidFill>
              <a:latin typeface="黑体" panose="02010609060101010101" pitchFamily="49" charset="-122"/>
              <a:ea typeface="黑体" panose="02010609060101010101" pitchFamily="49" charset="-122"/>
            </a:endParaRPr>
          </a:p>
        </p:txBody>
      </p:sp>
      <p:sp>
        <p:nvSpPr>
          <p:cNvPr id="25" name="Rectangle 24"/>
          <p:cNvSpPr/>
          <p:nvPr/>
        </p:nvSpPr>
        <p:spPr>
          <a:xfrm>
            <a:off x="6858000" y="1764792"/>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6" name="TextBox 25"/>
          <p:cNvSpPr txBox="1"/>
          <p:nvPr/>
        </p:nvSpPr>
        <p:spPr>
          <a:xfrm>
            <a:off x="6896100" y="1802892"/>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所有进程</a:t>
            </a:r>
            <a:endParaRPr sz="1000" b="0">
              <a:solidFill>
                <a:srgbClr val="111111"/>
              </a:solidFill>
              <a:latin typeface="黑体" panose="02010609060101010101" pitchFamily="49" charset="-122"/>
              <a:ea typeface="黑体" panose="02010609060101010101" pitchFamily="49" charset="-122"/>
            </a:endParaRPr>
          </a:p>
        </p:txBody>
      </p:sp>
      <p:sp>
        <p:nvSpPr>
          <p:cNvPr id="27" name="Rectangle 26"/>
          <p:cNvSpPr/>
          <p:nvPr/>
        </p:nvSpPr>
        <p:spPr>
          <a:xfrm>
            <a:off x="8128000" y="176479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8" name="TextBox 27"/>
          <p:cNvSpPr txBox="1"/>
          <p:nvPr/>
        </p:nvSpPr>
        <p:spPr>
          <a:xfrm>
            <a:off x="8166100" y="1802892"/>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29" name="Rectangle 28"/>
          <p:cNvSpPr/>
          <p:nvPr/>
        </p:nvSpPr>
        <p:spPr>
          <a:xfrm>
            <a:off x="8676640" y="176479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0" name="TextBox 29"/>
          <p:cNvSpPr txBox="1"/>
          <p:nvPr/>
        </p:nvSpPr>
        <p:spPr>
          <a:xfrm>
            <a:off x="8714740" y="1802892"/>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31" name="Rectangle 30"/>
          <p:cNvSpPr/>
          <p:nvPr/>
        </p:nvSpPr>
        <p:spPr>
          <a:xfrm>
            <a:off x="9225280" y="176479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2" name="TextBox 31"/>
          <p:cNvSpPr txBox="1"/>
          <p:nvPr/>
        </p:nvSpPr>
        <p:spPr>
          <a:xfrm>
            <a:off x="9263380" y="1802892"/>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33" name="Rectangle 32"/>
          <p:cNvSpPr/>
          <p:nvPr/>
        </p:nvSpPr>
        <p:spPr>
          <a:xfrm>
            <a:off x="365760" y="211226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4" name="TextBox 33"/>
          <p:cNvSpPr txBox="1"/>
          <p:nvPr/>
        </p:nvSpPr>
        <p:spPr>
          <a:xfrm>
            <a:off x="403860" y="2150364"/>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A2</a:t>
            </a:r>
            <a:endParaRPr sz="1000" b="0">
              <a:solidFill>
                <a:srgbClr val="D62828"/>
              </a:solidFill>
              <a:latin typeface="黑体" panose="02010609060101010101" pitchFamily="49" charset="-122"/>
              <a:ea typeface="黑体" panose="02010609060101010101" pitchFamily="49" charset="-122"/>
            </a:endParaRPr>
          </a:p>
        </p:txBody>
      </p:sp>
      <p:sp>
        <p:nvSpPr>
          <p:cNvPr id="35" name="Rectangle 34"/>
          <p:cNvSpPr/>
          <p:nvPr/>
        </p:nvSpPr>
        <p:spPr>
          <a:xfrm>
            <a:off x="914400" y="2112264"/>
            <a:ext cx="5943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6" name="TextBox 35"/>
          <p:cNvSpPr txBox="1"/>
          <p:nvPr/>
        </p:nvSpPr>
        <p:spPr>
          <a:xfrm>
            <a:off x="952500" y="2150364"/>
            <a:ext cx="5867400" cy="246221"/>
          </a:xfrm>
          <a:prstGeom prst="rect">
            <a:avLst/>
          </a:prstGeom>
          <a:noFill/>
        </p:spPr>
        <p:txBody>
          <a:bodyPr wrap="square">
            <a:spAutoFit/>
          </a:bodyPr>
          <a:lstStyle/>
          <a:p>
            <a:pPr algn="l"/>
            <a:r>
              <a:rPr sz="1000" b="0" dirty="0" err="1">
                <a:solidFill>
                  <a:srgbClr val="111111"/>
                </a:solidFill>
                <a:latin typeface="黑体" panose="02010609060101010101" pitchFamily="49" charset="-122"/>
                <a:ea typeface="黑体" panose="02010609060101010101" pitchFamily="49" charset="-122"/>
              </a:rPr>
              <a:t>非法页映射</a:t>
            </a:r>
            <a:r>
              <a:rPr sz="1000" b="0" dirty="0">
                <a:solidFill>
                  <a:srgbClr val="111111"/>
                </a:solidFill>
                <a:latin typeface="黑体" panose="02010609060101010101" pitchFamily="49" charset="-122"/>
                <a:ea typeface="黑体" panose="02010609060101010101" pitchFamily="49" charset="-122"/>
              </a:rPr>
              <a:t> (</a:t>
            </a:r>
            <a:r>
              <a:rPr sz="1000" b="0" dirty="0" err="1">
                <a:solidFill>
                  <a:srgbClr val="111111"/>
                </a:solidFill>
                <a:latin typeface="黑体" panose="02010609060101010101" pitchFamily="49" charset="-122"/>
                <a:ea typeface="黑体" panose="02010609060101010101" pitchFamily="49" charset="-122"/>
              </a:rPr>
              <a:t>破坏内存完整性</a:t>
            </a:r>
            <a:r>
              <a:rPr sz="1000" b="0" dirty="0">
                <a:solidFill>
                  <a:srgbClr val="111111"/>
                </a:solidFill>
                <a:latin typeface="黑体" panose="02010609060101010101" pitchFamily="49" charset="-122"/>
                <a:ea typeface="黑体" panose="02010609060101010101" pitchFamily="49" charset="-122"/>
              </a:rPr>
              <a:t>)</a:t>
            </a:r>
            <a:endParaRPr sz="1000" b="0" dirty="0">
              <a:solidFill>
                <a:srgbClr val="111111"/>
              </a:solidFill>
              <a:latin typeface="黑体" panose="02010609060101010101" pitchFamily="49" charset="-122"/>
              <a:ea typeface="黑体" panose="02010609060101010101" pitchFamily="49" charset="-122"/>
            </a:endParaRPr>
          </a:p>
        </p:txBody>
      </p:sp>
      <p:sp>
        <p:nvSpPr>
          <p:cNvPr id="37" name="Rectangle 36"/>
          <p:cNvSpPr/>
          <p:nvPr/>
        </p:nvSpPr>
        <p:spPr>
          <a:xfrm>
            <a:off x="6858000" y="2112264"/>
            <a:ext cx="1371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8" name="TextBox 37"/>
          <p:cNvSpPr txBox="1"/>
          <p:nvPr/>
        </p:nvSpPr>
        <p:spPr>
          <a:xfrm>
            <a:off x="6896100" y="2150364"/>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所有进程</a:t>
            </a:r>
            <a:endParaRPr sz="1000" b="0">
              <a:solidFill>
                <a:srgbClr val="111111"/>
              </a:solidFill>
              <a:latin typeface="黑体" panose="02010609060101010101" pitchFamily="49" charset="-122"/>
              <a:ea typeface="黑体" panose="02010609060101010101" pitchFamily="49" charset="-122"/>
            </a:endParaRPr>
          </a:p>
        </p:txBody>
      </p:sp>
      <p:sp>
        <p:nvSpPr>
          <p:cNvPr id="39" name="Rectangle 38"/>
          <p:cNvSpPr/>
          <p:nvPr/>
        </p:nvSpPr>
        <p:spPr>
          <a:xfrm>
            <a:off x="8128000" y="211226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40" name="TextBox 39"/>
          <p:cNvSpPr txBox="1"/>
          <p:nvPr/>
        </p:nvSpPr>
        <p:spPr>
          <a:xfrm>
            <a:off x="8166100" y="2150364"/>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41" name="Rectangle 40"/>
          <p:cNvSpPr/>
          <p:nvPr/>
        </p:nvSpPr>
        <p:spPr>
          <a:xfrm>
            <a:off x="8676640" y="211226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42" name="TextBox 41"/>
          <p:cNvSpPr txBox="1"/>
          <p:nvPr/>
        </p:nvSpPr>
        <p:spPr>
          <a:xfrm>
            <a:off x="8714740" y="2150364"/>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43" name="Rectangle 42"/>
          <p:cNvSpPr/>
          <p:nvPr/>
        </p:nvSpPr>
        <p:spPr>
          <a:xfrm>
            <a:off x="9225280" y="211226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44" name="TextBox 43"/>
          <p:cNvSpPr txBox="1"/>
          <p:nvPr/>
        </p:nvSpPr>
        <p:spPr>
          <a:xfrm>
            <a:off x="9263380" y="2150364"/>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45" name="Rectangle 44"/>
          <p:cNvSpPr/>
          <p:nvPr/>
        </p:nvSpPr>
        <p:spPr>
          <a:xfrm>
            <a:off x="365760" y="245973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46" name="TextBox 45"/>
          <p:cNvSpPr txBox="1"/>
          <p:nvPr/>
        </p:nvSpPr>
        <p:spPr>
          <a:xfrm>
            <a:off x="403860" y="2497836"/>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A3</a:t>
            </a:r>
            <a:endParaRPr sz="1000" b="0">
              <a:solidFill>
                <a:srgbClr val="D62828"/>
              </a:solidFill>
              <a:latin typeface="黑体" panose="02010609060101010101" pitchFamily="49" charset="-122"/>
              <a:ea typeface="黑体" panose="02010609060101010101" pitchFamily="49" charset="-122"/>
            </a:endParaRPr>
          </a:p>
        </p:txBody>
      </p:sp>
      <p:sp>
        <p:nvSpPr>
          <p:cNvPr id="47" name="Rectangle 46"/>
          <p:cNvSpPr/>
          <p:nvPr/>
        </p:nvSpPr>
        <p:spPr>
          <a:xfrm>
            <a:off x="914400" y="2459736"/>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48" name="TextBox 47"/>
          <p:cNvSpPr txBox="1"/>
          <p:nvPr/>
        </p:nvSpPr>
        <p:spPr>
          <a:xfrm>
            <a:off x="952500" y="2497836"/>
            <a:ext cx="5867400" cy="246221"/>
          </a:xfrm>
          <a:prstGeom prst="rect">
            <a:avLst/>
          </a:prstGeom>
          <a:noFill/>
        </p:spPr>
        <p:txBody>
          <a:bodyPr wrap="square">
            <a:spAutoFit/>
          </a:bodyPr>
          <a:lstStyle/>
          <a:p>
            <a:pPr algn="l"/>
            <a:r>
              <a:rPr sz="1000" b="0" dirty="0" err="1">
                <a:solidFill>
                  <a:srgbClr val="111111"/>
                </a:solidFill>
                <a:latin typeface="黑体" panose="02010609060101010101" pitchFamily="49" charset="-122"/>
                <a:ea typeface="黑体" panose="02010609060101010101" pitchFamily="49" charset="-122"/>
              </a:rPr>
              <a:t>无效系统调用返回值</a:t>
            </a:r>
            <a:r>
              <a:rPr sz="1000" b="0" dirty="0">
                <a:solidFill>
                  <a:srgbClr val="111111"/>
                </a:solidFill>
                <a:latin typeface="黑体" panose="02010609060101010101" pitchFamily="49" charset="-122"/>
                <a:ea typeface="黑体" panose="02010609060101010101" pitchFamily="49" charset="-122"/>
              </a:rPr>
              <a:t> (Iago </a:t>
            </a:r>
            <a:r>
              <a:rPr sz="1000" b="0" dirty="0" err="1">
                <a:solidFill>
                  <a:srgbClr val="111111"/>
                </a:solidFill>
                <a:latin typeface="黑体" panose="02010609060101010101" pitchFamily="49" charset="-122"/>
                <a:ea typeface="黑体" panose="02010609060101010101" pitchFamily="49" charset="-122"/>
              </a:rPr>
              <a:t>攻击</a:t>
            </a:r>
            <a:r>
              <a:rPr sz="1000" b="0" dirty="0">
                <a:solidFill>
                  <a:srgbClr val="111111"/>
                </a:solidFill>
                <a:latin typeface="黑体" panose="02010609060101010101" pitchFamily="49" charset="-122"/>
                <a:ea typeface="黑体" panose="02010609060101010101" pitchFamily="49" charset="-122"/>
              </a:rPr>
              <a:t>)</a:t>
            </a:r>
            <a:endParaRPr sz="1000" b="0" dirty="0">
              <a:solidFill>
                <a:srgbClr val="111111"/>
              </a:solidFill>
              <a:latin typeface="黑体" panose="02010609060101010101" pitchFamily="49" charset="-122"/>
              <a:ea typeface="黑体" panose="02010609060101010101" pitchFamily="49" charset="-122"/>
            </a:endParaRPr>
          </a:p>
        </p:txBody>
      </p:sp>
      <p:sp>
        <p:nvSpPr>
          <p:cNvPr id="49" name="Rectangle 48"/>
          <p:cNvSpPr/>
          <p:nvPr/>
        </p:nvSpPr>
        <p:spPr>
          <a:xfrm>
            <a:off x="6858000" y="2459736"/>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50" name="TextBox 49"/>
          <p:cNvSpPr txBox="1"/>
          <p:nvPr/>
        </p:nvSpPr>
        <p:spPr>
          <a:xfrm>
            <a:off x="6896100" y="2497836"/>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所有进程</a:t>
            </a:r>
            <a:endParaRPr sz="1000" b="0">
              <a:solidFill>
                <a:srgbClr val="111111"/>
              </a:solidFill>
              <a:latin typeface="黑体" panose="02010609060101010101" pitchFamily="49" charset="-122"/>
              <a:ea typeface="黑体" panose="02010609060101010101" pitchFamily="49" charset="-122"/>
            </a:endParaRPr>
          </a:p>
        </p:txBody>
      </p:sp>
      <p:sp>
        <p:nvSpPr>
          <p:cNvPr id="51" name="Rectangle 50"/>
          <p:cNvSpPr/>
          <p:nvPr/>
        </p:nvSpPr>
        <p:spPr>
          <a:xfrm>
            <a:off x="8128000" y="245973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52" name="TextBox 51"/>
          <p:cNvSpPr txBox="1"/>
          <p:nvPr/>
        </p:nvSpPr>
        <p:spPr>
          <a:xfrm>
            <a:off x="8166100" y="2497836"/>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53" name="Rectangle 52"/>
          <p:cNvSpPr/>
          <p:nvPr/>
        </p:nvSpPr>
        <p:spPr>
          <a:xfrm>
            <a:off x="8676640" y="245973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54" name="TextBox 53"/>
          <p:cNvSpPr txBox="1"/>
          <p:nvPr/>
        </p:nvSpPr>
        <p:spPr>
          <a:xfrm>
            <a:off x="8714740" y="2497836"/>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55" name="Rectangle 54"/>
          <p:cNvSpPr/>
          <p:nvPr/>
        </p:nvSpPr>
        <p:spPr>
          <a:xfrm>
            <a:off x="9225280" y="245973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56" name="TextBox 55"/>
          <p:cNvSpPr txBox="1"/>
          <p:nvPr/>
        </p:nvSpPr>
        <p:spPr>
          <a:xfrm>
            <a:off x="9263380" y="2497836"/>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57" name="Rectangle 56"/>
          <p:cNvSpPr/>
          <p:nvPr/>
        </p:nvSpPr>
        <p:spPr>
          <a:xfrm>
            <a:off x="365760" y="2807208"/>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58" name="TextBox 57"/>
          <p:cNvSpPr txBox="1"/>
          <p:nvPr/>
        </p:nvSpPr>
        <p:spPr>
          <a:xfrm>
            <a:off x="403860" y="2845308"/>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A4</a:t>
            </a:r>
            <a:endParaRPr sz="1000" b="0">
              <a:solidFill>
                <a:srgbClr val="D62828"/>
              </a:solidFill>
              <a:latin typeface="黑体" panose="02010609060101010101" pitchFamily="49" charset="-122"/>
              <a:ea typeface="黑体" panose="02010609060101010101" pitchFamily="49" charset="-122"/>
            </a:endParaRPr>
          </a:p>
        </p:txBody>
      </p:sp>
      <p:sp>
        <p:nvSpPr>
          <p:cNvPr id="59" name="Rectangle 58"/>
          <p:cNvSpPr/>
          <p:nvPr/>
        </p:nvSpPr>
        <p:spPr>
          <a:xfrm>
            <a:off x="914400" y="2807208"/>
            <a:ext cx="5943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0" name="TextBox 59"/>
          <p:cNvSpPr txBox="1"/>
          <p:nvPr/>
        </p:nvSpPr>
        <p:spPr>
          <a:xfrm>
            <a:off x="952500" y="2845308"/>
            <a:ext cx="5867400" cy="246221"/>
          </a:xfrm>
          <a:prstGeom prst="rect">
            <a:avLst/>
          </a:prstGeom>
          <a:noFill/>
        </p:spPr>
        <p:txBody>
          <a:bodyPr wrap="square">
            <a:spAutoFit/>
          </a:bodyPr>
          <a:lstStyle/>
          <a:p>
            <a:pPr algn="l"/>
            <a:r>
              <a:rPr sz="1000" b="0">
                <a:solidFill>
                  <a:srgbClr val="111111"/>
                </a:solidFill>
                <a:latin typeface="黑体" panose="02010609060101010101" pitchFamily="49" charset="-122"/>
                <a:ea typeface="黑体" panose="02010609060101010101" pitchFamily="49" charset="-122"/>
              </a:rPr>
              <a:t>设备驱动劫持</a:t>
            </a:r>
            <a:endParaRPr sz="1000" b="0">
              <a:solidFill>
                <a:srgbClr val="111111"/>
              </a:solidFill>
              <a:latin typeface="黑体" panose="02010609060101010101" pitchFamily="49" charset="-122"/>
              <a:ea typeface="黑体" panose="02010609060101010101" pitchFamily="49" charset="-122"/>
            </a:endParaRPr>
          </a:p>
        </p:txBody>
      </p:sp>
      <p:sp>
        <p:nvSpPr>
          <p:cNvPr id="61" name="Rectangle 60"/>
          <p:cNvSpPr/>
          <p:nvPr/>
        </p:nvSpPr>
        <p:spPr>
          <a:xfrm>
            <a:off x="6858000" y="2807208"/>
            <a:ext cx="1371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2" name="TextBox 61"/>
          <p:cNvSpPr txBox="1"/>
          <p:nvPr/>
        </p:nvSpPr>
        <p:spPr>
          <a:xfrm>
            <a:off x="6896100" y="2845308"/>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内核 / 驱动</a:t>
            </a:r>
            <a:endParaRPr sz="1000" b="0">
              <a:solidFill>
                <a:srgbClr val="111111"/>
              </a:solidFill>
              <a:latin typeface="黑体" panose="02010609060101010101" pitchFamily="49" charset="-122"/>
              <a:ea typeface="黑体" panose="02010609060101010101" pitchFamily="49" charset="-122"/>
            </a:endParaRPr>
          </a:p>
        </p:txBody>
      </p:sp>
      <p:sp>
        <p:nvSpPr>
          <p:cNvPr id="63" name="Rectangle 62"/>
          <p:cNvSpPr/>
          <p:nvPr/>
        </p:nvSpPr>
        <p:spPr>
          <a:xfrm>
            <a:off x="8128000" y="2807208"/>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4" name="TextBox 63"/>
          <p:cNvSpPr txBox="1"/>
          <p:nvPr/>
        </p:nvSpPr>
        <p:spPr>
          <a:xfrm>
            <a:off x="8166100" y="2845308"/>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65" name="Rectangle 64"/>
          <p:cNvSpPr/>
          <p:nvPr/>
        </p:nvSpPr>
        <p:spPr>
          <a:xfrm>
            <a:off x="8676640" y="2807208"/>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6" name="TextBox 65"/>
          <p:cNvSpPr txBox="1"/>
          <p:nvPr/>
        </p:nvSpPr>
        <p:spPr>
          <a:xfrm>
            <a:off x="8714740" y="2845308"/>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67" name="Rectangle 66"/>
          <p:cNvSpPr/>
          <p:nvPr/>
        </p:nvSpPr>
        <p:spPr>
          <a:xfrm>
            <a:off x="9225280" y="2807208"/>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8" name="TextBox 67"/>
          <p:cNvSpPr txBox="1"/>
          <p:nvPr/>
        </p:nvSpPr>
        <p:spPr>
          <a:xfrm>
            <a:off x="9263380" y="2845308"/>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69" name="Rectangle 68"/>
          <p:cNvSpPr/>
          <p:nvPr/>
        </p:nvSpPr>
        <p:spPr>
          <a:xfrm>
            <a:off x="365760" y="3154680"/>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70" name="TextBox 69"/>
          <p:cNvSpPr txBox="1"/>
          <p:nvPr/>
        </p:nvSpPr>
        <p:spPr>
          <a:xfrm>
            <a:off x="403860" y="3192780"/>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A5</a:t>
            </a:r>
            <a:endParaRPr sz="1000" b="0">
              <a:solidFill>
                <a:srgbClr val="D62828"/>
              </a:solidFill>
              <a:latin typeface="黑体" panose="02010609060101010101" pitchFamily="49" charset="-122"/>
              <a:ea typeface="黑体" panose="02010609060101010101" pitchFamily="49" charset="-122"/>
            </a:endParaRPr>
          </a:p>
        </p:txBody>
      </p:sp>
      <p:sp>
        <p:nvSpPr>
          <p:cNvPr id="71" name="Rectangle 70"/>
          <p:cNvSpPr/>
          <p:nvPr/>
        </p:nvSpPr>
        <p:spPr>
          <a:xfrm>
            <a:off x="914400" y="3154680"/>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72" name="TextBox 71"/>
          <p:cNvSpPr txBox="1"/>
          <p:nvPr/>
        </p:nvSpPr>
        <p:spPr>
          <a:xfrm>
            <a:off x="952500" y="3192780"/>
            <a:ext cx="5867400" cy="246221"/>
          </a:xfrm>
          <a:prstGeom prst="rect">
            <a:avLst/>
          </a:prstGeom>
          <a:noFill/>
        </p:spPr>
        <p:txBody>
          <a:bodyPr wrap="square">
            <a:spAutoFit/>
          </a:bodyPr>
          <a:lstStyle/>
          <a:p>
            <a:pPr algn="l"/>
            <a:r>
              <a:rPr sz="1000" b="0" dirty="0" err="1">
                <a:solidFill>
                  <a:srgbClr val="111111"/>
                </a:solidFill>
                <a:latin typeface="黑体" panose="02010609060101010101" pitchFamily="49" charset="-122"/>
                <a:ea typeface="黑体" panose="02010609060101010101" pitchFamily="49" charset="-122"/>
              </a:rPr>
              <a:t>服务伪造</a:t>
            </a:r>
            <a:r>
              <a:rPr sz="1000" b="0" dirty="0">
                <a:solidFill>
                  <a:srgbClr val="111111"/>
                </a:solidFill>
                <a:latin typeface="黑体" panose="02010609060101010101" pitchFamily="49" charset="-122"/>
                <a:ea typeface="黑体" panose="02010609060101010101" pitchFamily="49" charset="-122"/>
              </a:rPr>
              <a:t> (</a:t>
            </a:r>
            <a:r>
              <a:rPr sz="1000" b="0" dirty="0" err="1">
                <a:solidFill>
                  <a:srgbClr val="111111"/>
                </a:solidFill>
                <a:latin typeface="黑体" panose="02010609060101010101" pitchFamily="49" charset="-122"/>
                <a:ea typeface="黑体" panose="02010609060101010101" pitchFamily="49" charset="-122"/>
              </a:rPr>
              <a:t>ServiceManager</a:t>
            </a:r>
            <a:r>
              <a:rPr sz="1000" b="0" dirty="0">
                <a:solidFill>
                  <a:srgbClr val="111111"/>
                </a:solidFill>
                <a:latin typeface="黑体" panose="02010609060101010101" pitchFamily="49" charset="-122"/>
                <a:ea typeface="黑体" panose="02010609060101010101" pitchFamily="49" charset="-122"/>
              </a:rPr>
              <a:t> / AMS </a:t>
            </a:r>
            <a:r>
              <a:rPr sz="1000" b="0" dirty="0" err="1">
                <a:solidFill>
                  <a:srgbClr val="111111"/>
                </a:solidFill>
                <a:latin typeface="黑体" panose="02010609060101010101" pitchFamily="49" charset="-122"/>
                <a:ea typeface="黑体" panose="02010609060101010101" pitchFamily="49" charset="-122"/>
              </a:rPr>
              <a:t>欺骗</a:t>
            </a:r>
            <a:r>
              <a:rPr sz="1000" b="0" dirty="0">
                <a:solidFill>
                  <a:srgbClr val="111111"/>
                </a:solidFill>
                <a:latin typeface="黑体" panose="02010609060101010101" pitchFamily="49" charset="-122"/>
                <a:ea typeface="黑体" panose="02010609060101010101" pitchFamily="49" charset="-122"/>
              </a:rPr>
              <a:t>)</a:t>
            </a:r>
            <a:endParaRPr sz="1000" b="0" dirty="0">
              <a:solidFill>
                <a:srgbClr val="111111"/>
              </a:solidFill>
              <a:latin typeface="黑体" panose="02010609060101010101" pitchFamily="49" charset="-122"/>
              <a:ea typeface="黑体" panose="02010609060101010101" pitchFamily="49" charset="-122"/>
            </a:endParaRPr>
          </a:p>
        </p:txBody>
      </p:sp>
      <p:sp>
        <p:nvSpPr>
          <p:cNvPr id="73" name="Rectangle 72"/>
          <p:cNvSpPr/>
          <p:nvPr/>
        </p:nvSpPr>
        <p:spPr>
          <a:xfrm>
            <a:off x="6858000" y="3154680"/>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74" name="TextBox 73"/>
          <p:cNvSpPr txBox="1"/>
          <p:nvPr/>
        </p:nvSpPr>
        <p:spPr>
          <a:xfrm>
            <a:off x="6896100" y="3192780"/>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用户空间</a:t>
            </a:r>
            <a:endParaRPr sz="1000" b="0">
              <a:solidFill>
                <a:srgbClr val="111111"/>
              </a:solidFill>
              <a:latin typeface="黑体" panose="02010609060101010101" pitchFamily="49" charset="-122"/>
              <a:ea typeface="黑体" panose="02010609060101010101" pitchFamily="49" charset="-122"/>
            </a:endParaRPr>
          </a:p>
        </p:txBody>
      </p:sp>
      <p:sp>
        <p:nvSpPr>
          <p:cNvPr id="75" name="Rectangle 74"/>
          <p:cNvSpPr/>
          <p:nvPr/>
        </p:nvSpPr>
        <p:spPr>
          <a:xfrm>
            <a:off x="8128000" y="3154680"/>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76" name="TextBox 75"/>
          <p:cNvSpPr txBox="1"/>
          <p:nvPr/>
        </p:nvSpPr>
        <p:spPr>
          <a:xfrm>
            <a:off x="8166100" y="3192780"/>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77" name="Rectangle 76"/>
          <p:cNvSpPr/>
          <p:nvPr/>
        </p:nvSpPr>
        <p:spPr>
          <a:xfrm>
            <a:off x="8676640" y="3154680"/>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78" name="TextBox 77"/>
          <p:cNvSpPr txBox="1"/>
          <p:nvPr/>
        </p:nvSpPr>
        <p:spPr>
          <a:xfrm>
            <a:off x="8714740" y="3192780"/>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79" name="Rectangle 78"/>
          <p:cNvSpPr/>
          <p:nvPr/>
        </p:nvSpPr>
        <p:spPr>
          <a:xfrm>
            <a:off x="9225280" y="3154680"/>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0" name="TextBox 79"/>
          <p:cNvSpPr txBox="1"/>
          <p:nvPr/>
        </p:nvSpPr>
        <p:spPr>
          <a:xfrm>
            <a:off x="9263380" y="3192780"/>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81" name="Rectangle 80"/>
          <p:cNvSpPr/>
          <p:nvPr/>
        </p:nvSpPr>
        <p:spPr>
          <a:xfrm>
            <a:off x="365760" y="3502152"/>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2" name="TextBox 81"/>
          <p:cNvSpPr txBox="1"/>
          <p:nvPr/>
        </p:nvSpPr>
        <p:spPr>
          <a:xfrm>
            <a:off x="403860" y="3540252"/>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A6</a:t>
            </a:r>
            <a:endParaRPr sz="1000" b="0">
              <a:solidFill>
                <a:srgbClr val="D62828"/>
              </a:solidFill>
              <a:latin typeface="黑体" panose="02010609060101010101" pitchFamily="49" charset="-122"/>
              <a:ea typeface="黑体" panose="02010609060101010101" pitchFamily="49" charset="-122"/>
            </a:endParaRPr>
          </a:p>
        </p:txBody>
      </p:sp>
      <p:sp>
        <p:nvSpPr>
          <p:cNvPr id="83" name="Rectangle 82"/>
          <p:cNvSpPr/>
          <p:nvPr/>
        </p:nvSpPr>
        <p:spPr>
          <a:xfrm>
            <a:off x="914400" y="3502152"/>
            <a:ext cx="5943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4" name="TextBox 83"/>
          <p:cNvSpPr txBox="1"/>
          <p:nvPr/>
        </p:nvSpPr>
        <p:spPr>
          <a:xfrm>
            <a:off x="952500" y="3540252"/>
            <a:ext cx="5867400" cy="246221"/>
          </a:xfrm>
          <a:prstGeom prst="rect">
            <a:avLst/>
          </a:prstGeom>
          <a:noFill/>
        </p:spPr>
        <p:txBody>
          <a:bodyPr wrap="square">
            <a:spAutoFit/>
          </a:bodyPr>
          <a:lstStyle/>
          <a:p>
            <a:pPr algn="l"/>
            <a:r>
              <a:rPr sz="1000" b="0" dirty="0" err="1">
                <a:solidFill>
                  <a:srgbClr val="111111"/>
                </a:solidFill>
                <a:latin typeface="黑体" panose="02010609060101010101" pitchFamily="49" charset="-122"/>
                <a:ea typeface="黑体" panose="02010609060101010101" pitchFamily="49" charset="-122"/>
              </a:rPr>
              <a:t>恶意数据分发</a:t>
            </a:r>
            <a:r>
              <a:rPr sz="1000" b="0" dirty="0">
                <a:solidFill>
                  <a:srgbClr val="111111"/>
                </a:solidFill>
                <a:latin typeface="黑体" panose="02010609060101010101" pitchFamily="49" charset="-122"/>
                <a:ea typeface="黑体" panose="02010609060101010101" pitchFamily="49" charset="-122"/>
              </a:rPr>
              <a:t> / Binder </a:t>
            </a:r>
            <a:r>
              <a:rPr sz="1000" b="0" dirty="0" err="1">
                <a:solidFill>
                  <a:srgbClr val="111111"/>
                </a:solidFill>
                <a:latin typeface="黑体" panose="02010609060101010101" pitchFamily="49" charset="-122"/>
                <a:ea typeface="黑体" panose="02010609060101010101" pitchFamily="49" charset="-122"/>
              </a:rPr>
              <a:t>会话劫持</a:t>
            </a:r>
            <a:endParaRPr sz="1000" b="0" dirty="0">
              <a:solidFill>
                <a:srgbClr val="111111"/>
              </a:solidFill>
              <a:latin typeface="黑体" panose="02010609060101010101" pitchFamily="49" charset="-122"/>
              <a:ea typeface="黑体" panose="02010609060101010101" pitchFamily="49" charset="-122"/>
            </a:endParaRPr>
          </a:p>
        </p:txBody>
      </p:sp>
      <p:sp>
        <p:nvSpPr>
          <p:cNvPr id="85" name="Rectangle 84"/>
          <p:cNvSpPr/>
          <p:nvPr/>
        </p:nvSpPr>
        <p:spPr>
          <a:xfrm>
            <a:off x="6858000" y="3502152"/>
            <a:ext cx="1371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6" name="TextBox 85"/>
          <p:cNvSpPr txBox="1"/>
          <p:nvPr/>
        </p:nvSpPr>
        <p:spPr>
          <a:xfrm>
            <a:off x="6896100" y="3540252"/>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用户空间</a:t>
            </a:r>
            <a:endParaRPr sz="1000" b="0">
              <a:solidFill>
                <a:srgbClr val="111111"/>
              </a:solidFill>
              <a:latin typeface="黑体" panose="02010609060101010101" pitchFamily="49" charset="-122"/>
              <a:ea typeface="黑体" panose="02010609060101010101" pitchFamily="49" charset="-122"/>
            </a:endParaRPr>
          </a:p>
        </p:txBody>
      </p:sp>
      <p:sp>
        <p:nvSpPr>
          <p:cNvPr id="87" name="Rectangle 86"/>
          <p:cNvSpPr/>
          <p:nvPr/>
        </p:nvSpPr>
        <p:spPr>
          <a:xfrm>
            <a:off x="8128000" y="3502152"/>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8" name="TextBox 87"/>
          <p:cNvSpPr txBox="1"/>
          <p:nvPr/>
        </p:nvSpPr>
        <p:spPr>
          <a:xfrm>
            <a:off x="8166100" y="3540252"/>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89" name="Rectangle 88"/>
          <p:cNvSpPr/>
          <p:nvPr/>
        </p:nvSpPr>
        <p:spPr>
          <a:xfrm>
            <a:off x="8676640" y="3502152"/>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90" name="TextBox 89"/>
          <p:cNvSpPr txBox="1"/>
          <p:nvPr/>
        </p:nvSpPr>
        <p:spPr>
          <a:xfrm>
            <a:off x="8714740" y="3540252"/>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91" name="Rectangle 90"/>
          <p:cNvSpPr/>
          <p:nvPr/>
        </p:nvSpPr>
        <p:spPr>
          <a:xfrm>
            <a:off x="9225280" y="3502152"/>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92" name="TextBox 91"/>
          <p:cNvSpPr txBox="1"/>
          <p:nvPr/>
        </p:nvSpPr>
        <p:spPr>
          <a:xfrm>
            <a:off x="9263380" y="3540252"/>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93" name="Rectangle 92"/>
          <p:cNvSpPr/>
          <p:nvPr/>
        </p:nvSpPr>
        <p:spPr>
          <a:xfrm>
            <a:off x="365760" y="3849624"/>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94" name="TextBox 93"/>
          <p:cNvSpPr txBox="1"/>
          <p:nvPr/>
        </p:nvSpPr>
        <p:spPr>
          <a:xfrm>
            <a:off x="403860" y="3887724"/>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A7</a:t>
            </a:r>
            <a:endParaRPr sz="1000" b="0">
              <a:solidFill>
                <a:srgbClr val="D62828"/>
              </a:solidFill>
              <a:latin typeface="黑体" panose="02010609060101010101" pitchFamily="49" charset="-122"/>
              <a:ea typeface="黑体" panose="02010609060101010101" pitchFamily="49" charset="-122"/>
            </a:endParaRPr>
          </a:p>
        </p:txBody>
      </p:sp>
      <p:sp>
        <p:nvSpPr>
          <p:cNvPr id="95" name="Rectangle 94"/>
          <p:cNvSpPr/>
          <p:nvPr/>
        </p:nvSpPr>
        <p:spPr>
          <a:xfrm>
            <a:off x="914400" y="3849624"/>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96" name="TextBox 95"/>
          <p:cNvSpPr txBox="1"/>
          <p:nvPr/>
        </p:nvSpPr>
        <p:spPr>
          <a:xfrm>
            <a:off x="952500" y="3887724"/>
            <a:ext cx="5867400" cy="246221"/>
          </a:xfrm>
          <a:prstGeom prst="rect">
            <a:avLst/>
          </a:prstGeom>
          <a:noFill/>
        </p:spPr>
        <p:txBody>
          <a:bodyPr wrap="square">
            <a:spAutoFit/>
          </a:bodyPr>
          <a:lstStyle/>
          <a:p>
            <a:pPr algn="l"/>
            <a:r>
              <a:rPr sz="1000" b="0">
                <a:solidFill>
                  <a:srgbClr val="111111"/>
                </a:solidFill>
                <a:latin typeface="黑体" panose="02010609060101010101" pitchFamily="49" charset="-122"/>
                <a:ea typeface="黑体" panose="02010609060101010101" pitchFamily="49" charset="-122"/>
              </a:rPr>
              <a:t>非法内存访问</a:t>
            </a:r>
            <a:endParaRPr sz="1000" b="0">
              <a:solidFill>
                <a:srgbClr val="111111"/>
              </a:solidFill>
              <a:latin typeface="黑体" panose="02010609060101010101" pitchFamily="49" charset="-122"/>
              <a:ea typeface="黑体" panose="02010609060101010101" pitchFamily="49" charset="-122"/>
            </a:endParaRPr>
          </a:p>
        </p:txBody>
      </p:sp>
      <p:sp>
        <p:nvSpPr>
          <p:cNvPr id="97" name="Rectangle 96"/>
          <p:cNvSpPr/>
          <p:nvPr/>
        </p:nvSpPr>
        <p:spPr>
          <a:xfrm>
            <a:off x="6858000" y="3849624"/>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98" name="TextBox 97"/>
          <p:cNvSpPr txBox="1"/>
          <p:nvPr/>
        </p:nvSpPr>
        <p:spPr>
          <a:xfrm>
            <a:off x="6896100" y="3887724"/>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所有进程</a:t>
            </a:r>
            <a:endParaRPr sz="1000" b="0">
              <a:solidFill>
                <a:srgbClr val="111111"/>
              </a:solidFill>
              <a:latin typeface="黑体" panose="02010609060101010101" pitchFamily="49" charset="-122"/>
              <a:ea typeface="黑体" panose="02010609060101010101" pitchFamily="49" charset="-122"/>
            </a:endParaRPr>
          </a:p>
        </p:txBody>
      </p:sp>
      <p:sp>
        <p:nvSpPr>
          <p:cNvPr id="99" name="Rectangle 98"/>
          <p:cNvSpPr/>
          <p:nvPr/>
        </p:nvSpPr>
        <p:spPr>
          <a:xfrm>
            <a:off x="8128000" y="3849624"/>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0" name="TextBox 99"/>
          <p:cNvSpPr txBox="1"/>
          <p:nvPr/>
        </p:nvSpPr>
        <p:spPr>
          <a:xfrm>
            <a:off x="8166100" y="3887724"/>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01" name="Rectangle 100"/>
          <p:cNvSpPr/>
          <p:nvPr/>
        </p:nvSpPr>
        <p:spPr>
          <a:xfrm>
            <a:off x="8676640" y="3849624"/>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2" name="TextBox 101"/>
          <p:cNvSpPr txBox="1"/>
          <p:nvPr/>
        </p:nvSpPr>
        <p:spPr>
          <a:xfrm>
            <a:off x="8714740" y="3887724"/>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03" name="Rectangle 102"/>
          <p:cNvSpPr/>
          <p:nvPr/>
        </p:nvSpPr>
        <p:spPr>
          <a:xfrm>
            <a:off x="9225280" y="3849624"/>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4" name="TextBox 103"/>
          <p:cNvSpPr txBox="1"/>
          <p:nvPr/>
        </p:nvSpPr>
        <p:spPr>
          <a:xfrm>
            <a:off x="9263380" y="3887724"/>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05" name="Rectangle 104"/>
          <p:cNvSpPr/>
          <p:nvPr/>
        </p:nvSpPr>
        <p:spPr>
          <a:xfrm>
            <a:off x="365760" y="4197096"/>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6" name="TextBox 105"/>
          <p:cNvSpPr txBox="1"/>
          <p:nvPr/>
        </p:nvSpPr>
        <p:spPr>
          <a:xfrm>
            <a:off x="403860" y="4235196"/>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A8</a:t>
            </a:r>
            <a:endParaRPr sz="1000" b="0">
              <a:solidFill>
                <a:srgbClr val="D62828"/>
              </a:solidFill>
              <a:latin typeface="黑体" panose="02010609060101010101" pitchFamily="49" charset="-122"/>
              <a:ea typeface="黑体" panose="02010609060101010101" pitchFamily="49" charset="-122"/>
            </a:endParaRPr>
          </a:p>
        </p:txBody>
      </p:sp>
      <p:sp>
        <p:nvSpPr>
          <p:cNvPr id="107" name="Rectangle 106"/>
          <p:cNvSpPr/>
          <p:nvPr/>
        </p:nvSpPr>
        <p:spPr>
          <a:xfrm>
            <a:off x="914400" y="4197096"/>
            <a:ext cx="5943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08" name="TextBox 107"/>
          <p:cNvSpPr txBox="1"/>
          <p:nvPr/>
        </p:nvSpPr>
        <p:spPr>
          <a:xfrm>
            <a:off x="952500" y="4235196"/>
            <a:ext cx="5867400" cy="246221"/>
          </a:xfrm>
          <a:prstGeom prst="rect">
            <a:avLst/>
          </a:prstGeom>
          <a:noFill/>
        </p:spPr>
        <p:txBody>
          <a:bodyPr wrap="square">
            <a:spAutoFit/>
          </a:bodyPr>
          <a:lstStyle/>
          <a:p>
            <a:pPr algn="l"/>
            <a:r>
              <a:rPr sz="1000" b="0" dirty="0" err="1">
                <a:solidFill>
                  <a:srgbClr val="111111"/>
                </a:solidFill>
                <a:latin typeface="黑体" panose="02010609060101010101" pitchFamily="49" charset="-122"/>
                <a:ea typeface="黑体" panose="02010609060101010101" pitchFamily="49" charset="-122"/>
              </a:rPr>
              <a:t>未授权系统调用</a:t>
            </a:r>
            <a:r>
              <a:rPr sz="1000" b="0" dirty="0">
                <a:solidFill>
                  <a:srgbClr val="111111"/>
                </a:solidFill>
                <a:latin typeface="黑体" panose="02010609060101010101" pitchFamily="49" charset="-122"/>
                <a:ea typeface="黑体" panose="02010609060101010101" pitchFamily="49" charset="-122"/>
              </a:rPr>
              <a:t> / </a:t>
            </a:r>
            <a:r>
              <a:rPr sz="1000" b="0" dirty="0" err="1">
                <a:solidFill>
                  <a:srgbClr val="111111"/>
                </a:solidFill>
                <a:latin typeface="黑体" panose="02010609060101010101" pitchFamily="49" charset="-122"/>
                <a:ea typeface="黑体" panose="02010609060101010101" pitchFamily="49" charset="-122"/>
              </a:rPr>
              <a:t>ioctl</a:t>
            </a:r>
            <a:r>
              <a:rPr sz="1000" b="0" dirty="0">
                <a:solidFill>
                  <a:srgbClr val="111111"/>
                </a:solidFill>
                <a:latin typeface="黑体" panose="02010609060101010101" pitchFamily="49" charset="-122"/>
                <a:ea typeface="黑体" panose="02010609060101010101" pitchFamily="49" charset="-122"/>
              </a:rPr>
              <a:t> </a:t>
            </a:r>
            <a:r>
              <a:rPr sz="1000" b="0" dirty="0" err="1">
                <a:solidFill>
                  <a:srgbClr val="111111"/>
                </a:solidFill>
                <a:latin typeface="黑体" panose="02010609060101010101" pitchFamily="49" charset="-122"/>
                <a:ea typeface="黑体" panose="02010609060101010101" pitchFamily="49" charset="-122"/>
              </a:rPr>
              <a:t>注入</a:t>
            </a:r>
            <a:endParaRPr sz="1000" b="0" dirty="0">
              <a:solidFill>
                <a:srgbClr val="111111"/>
              </a:solidFill>
              <a:latin typeface="黑体" panose="02010609060101010101" pitchFamily="49" charset="-122"/>
              <a:ea typeface="黑体" panose="02010609060101010101" pitchFamily="49" charset="-122"/>
            </a:endParaRPr>
          </a:p>
        </p:txBody>
      </p:sp>
      <p:sp>
        <p:nvSpPr>
          <p:cNvPr id="109" name="Rectangle 108"/>
          <p:cNvSpPr/>
          <p:nvPr/>
        </p:nvSpPr>
        <p:spPr>
          <a:xfrm>
            <a:off x="6858000" y="4197096"/>
            <a:ext cx="1371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0" name="TextBox 109"/>
          <p:cNvSpPr txBox="1"/>
          <p:nvPr/>
        </p:nvSpPr>
        <p:spPr>
          <a:xfrm>
            <a:off x="6896100" y="4235196"/>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内核</a:t>
            </a:r>
            <a:endParaRPr sz="1000" b="0">
              <a:solidFill>
                <a:srgbClr val="111111"/>
              </a:solidFill>
              <a:latin typeface="黑体" panose="02010609060101010101" pitchFamily="49" charset="-122"/>
              <a:ea typeface="黑体" panose="02010609060101010101" pitchFamily="49" charset="-122"/>
            </a:endParaRPr>
          </a:p>
        </p:txBody>
      </p:sp>
      <p:sp>
        <p:nvSpPr>
          <p:cNvPr id="111" name="Rectangle 110"/>
          <p:cNvSpPr/>
          <p:nvPr/>
        </p:nvSpPr>
        <p:spPr>
          <a:xfrm>
            <a:off x="8128000" y="4197096"/>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2" name="TextBox 111"/>
          <p:cNvSpPr txBox="1"/>
          <p:nvPr/>
        </p:nvSpPr>
        <p:spPr>
          <a:xfrm>
            <a:off x="8166100" y="4235196"/>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13" name="Rectangle 112"/>
          <p:cNvSpPr/>
          <p:nvPr/>
        </p:nvSpPr>
        <p:spPr>
          <a:xfrm>
            <a:off x="8676640" y="4197096"/>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4" name="TextBox 113"/>
          <p:cNvSpPr txBox="1"/>
          <p:nvPr/>
        </p:nvSpPr>
        <p:spPr>
          <a:xfrm>
            <a:off x="8714740" y="4235196"/>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15" name="Rectangle 114"/>
          <p:cNvSpPr/>
          <p:nvPr/>
        </p:nvSpPr>
        <p:spPr>
          <a:xfrm>
            <a:off x="9225280" y="4197096"/>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6" name="TextBox 115"/>
          <p:cNvSpPr txBox="1"/>
          <p:nvPr/>
        </p:nvSpPr>
        <p:spPr>
          <a:xfrm>
            <a:off x="9263380" y="4235196"/>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17" name="Rectangle 116"/>
          <p:cNvSpPr/>
          <p:nvPr/>
        </p:nvSpPr>
        <p:spPr>
          <a:xfrm>
            <a:off x="365760" y="4544568"/>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18" name="TextBox 117"/>
          <p:cNvSpPr txBox="1"/>
          <p:nvPr/>
        </p:nvSpPr>
        <p:spPr>
          <a:xfrm>
            <a:off x="403860" y="4582668"/>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A9</a:t>
            </a:r>
            <a:endParaRPr sz="1000" b="0">
              <a:solidFill>
                <a:srgbClr val="D62828"/>
              </a:solidFill>
              <a:latin typeface="黑体" panose="02010609060101010101" pitchFamily="49" charset="-122"/>
              <a:ea typeface="黑体" panose="02010609060101010101" pitchFamily="49" charset="-122"/>
            </a:endParaRPr>
          </a:p>
        </p:txBody>
      </p:sp>
      <p:sp>
        <p:nvSpPr>
          <p:cNvPr id="119" name="Rectangle 118"/>
          <p:cNvSpPr/>
          <p:nvPr/>
        </p:nvSpPr>
        <p:spPr>
          <a:xfrm>
            <a:off x="914400" y="4544568"/>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0" name="TextBox 119"/>
          <p:cNvSpPr txBox="1"/>
          <p:nvPr/>
        </p:nvSpPr>
        <p:spPr>
          <a:xfrm>
            <a:off x="952500" y="4582668"/>
            <a:ext cx="5867400" cy="246221"/>
          </a:xfrm>
          <a:prstGeom prst="rect">
            <a:avLst/>
          </a:prstGeom>
          <a:noFill/>
        </p:spPr>
        <p:txBody>
          <a:bodyPr wrap="square">
            <a:spAutoFit/>
          </a:bodyPr>
          <a:lstStyle/>
          <a:p>
            <a:pPr algn="l"/>
            <a:r>
              <a:rPr sz="1000" b="0">
                <a:solidFill>
                  <a:srgbClr val="111111"/>
                </a:solidFill>
                <a:latin typeface="黑体" panose="02010609060101010101" pitchFamily="49" charset="-122"/>
                <a:ea typeface="黑体" panose="02010609060101010101" pitchFamily="49" charset="-122"/>
              </a:rPr>
              <a:t>可执行文件篡改</a:t>
            </a:r>
            <a:endParaRPr sz="1000" b="0">
              <a:solidFill>
                <a:srgbClr val="111111"/>
              </a:solidFill>
              <a:latin typeface="黑体" panose="02010609060101010101" pitchFamily="49" charset="-122"/>
              <a:ea typeface="黑体" panose="02010609060101010101" pitchFamily="49" charset="-122"/>
            </a:endParaRPr>
          </a:p>
        </p:txBody>
      </p:sp>
      <p:sp>
        <p:nvSpPr>
          <p:cNvPr id="121" name="Rectangle 120"/>
          <p:cNvSpPr/>
          <p:nvPr/>
        </p:nvSpPr>
        <p:spPr>
          <a:xfrm>
            <a:off x="6858000" y="4544568"/>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2" name="TextBox 121"/>
          <p:cNvSpPr txBox="1"/>
          <p:nvPr/>
        </p:nvSpPr>
        <p:spPr>
          <a:xfrm>
            <a:off x="6896100" y="4582668"/>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所有进程</a:t>
            </a:r>
            <a:endParaRPr sz="1000" b="0">
              <a:solidFill>
                <a:srgbClr val="111111"/>
              </a:solidFill>
              <a:latin typeface="黑体" panose="02010609060101010101" pitchFamily="49" charset="-122"/>
              <a:ea typeface="黑体" panose="02010609060101010101" pitchFamily="49" charset="-122"/>
            </a:endParaRPr>
          </a:p>
        </p:txBody>
      </p:sp>
      <p:sp>
        <p:nvSpPr>
          <p:cNvPr id="123" name="Rectangle 122"/>
          <p:cNvSpPr/>
          <p:nvPr/>
        </p:nvSpPr>
        <p:spPr>
          <a:xfrm>
            <a:off x="8128000" y="4544568"/>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4" name="TextBox 123"/>
          <p:cNvSpPr txBox="1"/>
          <p:nvPr/>
        </p:nvSpPr>
        <p:spPr>
          <a:xfrm>
            <a:off x="8166100" y="4582668"/>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25" name="Rectangle 124"/>
          <p:cNvSpPr/>
          <p:nvPr/>
        </p:nvSpPr>
        <p:spPr>
          <a:xfrm>
            <a:off x="8676640" y="4544568"/>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6" name="TextBox 125"/>
          <p:cNvSpPr txBox="1"/>
          <p:nvPr/>
        </p:nvSpPr>
        <p:spPr>
          <a:xfrm>
            <a:off x="8714740" y="4582668"/>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27" name="Rectangle 126"/>
          <p:cNvSpPr/>
          <p:nvPr/>
        </p:nvSpPr>
        <p:spPr>
          <a:xfrm>
            <a:off x="9225280" y="4544568"/>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8" name="TextBox 127"/>
          <p:cNvSpPr txBox="1"/>
          <p:nvPr/>
        </p:nvSpPr>
        <p:spPr>
          <a:xfrm>
            <a:off x="9263380" y="4582668"/>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29" name="Rectangle 128"/>
          <p:cNvSpPr/>
          <p:nvPr/>
        </p:nvSpPr>
        <p:spPr>
          <a:xfrm>
            <a:off x="365760" y="4892040"/>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30" name="TextBox 129"/>
          <p:cNvSpPr txBox="1"/>
          <p:nvPr/>
        </p:nvSpPr>
        <p:spPr>
          <a:xfrm>
            <a:off x="403860" y="4930140"/>
            <a:ext cx="472440" cy="246221"/>
          </a:xfrm>
          <a:prstGeom prst="rect">
            <a:avLst/>
          </a:prstGeom>
          <a:noFill/>
        </p:spPr>
        <p:txBody>
          <a:bodyPr wrap="square">
            <a:spAutoFit/>
          </a:bodyPr>
          <a:lstStyle/>
          <a:p>
            <a:pPr algn="ctr"/>
            <a:r>
              <a:rPr sz="1000" b="0">
                <a:solidFill>
                  <a:srgbClr val="D62828"/>
                </a:solidFill>
                <a:latin typeface="黑体" panose="02010609060101010101" pitchFamily="49" charset="-122"/>
                <a:ea typeface="黑体" panose="02010609060101010101" pitchFamily="49" charset="-122"/>
              </a:rPr>
              <a:t>A10</a:t>
            </a:r>
            <a:endParaRPr sz="1000" b="0">
              <a:solidFill>
                <a:srgbClr val="D62828"/>
              </a:solidFill>
              <a:latin typeface="黑体" panose="02010609060101010101" pitchFamily="49" charset="-122"/>
              <a:ea typeface="黑体" panose="02010609060101010101" pitchFamily="49" charset="-122"/>
            </a:endParaRPr>
          </a:p>
        </p:txBody>
      </p:sp>
      <p:sp>
        <p:nvSpPr>
          <p:cNvPr id="131" name="Rectangle 130"/>
          <p:cNvSpPr/>
          <p:nvPr/>
        </p:nvSpPr>
        <p:spPr>
          <a:xfrm>
            <a:off x="914400" y="4892040"/>
            <a:ext cx="5943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32" name="TextBox 131"/>
          <p:cNvSpPr txBox="1"/>
          <p:nvPr/>
        </p:nvSpPr>
        <p:spPr>
          <a:xfrm>
            <a:off x="952500" y="4930140"/>
            <a:ext cx="5867400" cy="246221"/>
          </a:xfrm>
          <a:prstGeom prst="rect">
            <a:avLst/>
          </a:prstGeom>
          <a:noFill/>
        </p:spPr>
        <p:txBody>
          <a:bodyPr wrap="square">
            <a:spAutoFit/>
          </a:bodyPr>
          <a:lstStyle/>
          <a:p>
            <a:pPr algn="l"/>
            <a:r>
              <a:rPr sz="1000" b="0">
                <a:solidFill>
                  <a:srgbClr val="111111"/>
                </a:solidFill>
                <a:latin typeface="黑体" panose="02010609060101010101" pitchFamily="49" charset="-122"/>
                <a:ea typeface="黑体" panose="02010609060101010101" pitchFamily="49" charset="-122"/>
              </a:rPr>
              <a:t>配置文件篡改</a:t>
            </a:r>
            <a:endParaRPr sz="1000" b="0">
              <a:solidFill>
                <a:srgbClr val="111111"/>
              </a:solidFill>
              <a:latin typeface="黑体" panose="02010609060101010101" pitchFamily="49" charset="-122"/>
              <a:ea typeface="黑体" panose="02010609060101010101" pitchFamily="49" charset="-122"/>
            </a:endParaRPr>
          </a:p>
        </p:txBody>
      </p:sp>
      <p:sp>
        <p:nvSpPr>
          <p:cNvPr id="133" name="Rectangle 132"/>
          <p:cNvSpPr/>
          <p:nvPr/>
        </p:nvSpPr>
        <p:spPr>
          <a:xfrm>
            <a:off x="6858000" y="4892040"/>
            <a:ext cx="1371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34" name="TextBox 133"/>
          <p:cNvSpPr txBox="1"/>
          <p:nvPr/>
        </p:nvSpPr>
        <p:spPr>
          <a:xfrm>
            <a:off x="6896100" y="4930140"/>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CarService / VHAL</a:t>
            </a:r>
            <a:endParaRPr sz="1000" b="0">
              <a:solidFill>
                <a:srgbClr val="111111"/>
              </a:solidFill>
              <a:latin typeface="黑体" panose="02010609060101010101" pitchFamily="49" charset="-122"/>
              <a:ea typeface="黑体" panose="02010609060101010101" pitchFamily="49" charset="-122"/>
            </a:endParaRPr>
          </a:p>
        </p:txBody>
      </p:sp>
      <p:sp>
        <p:nvSpPr>
          <p:cNvPr id="135" name="Rectangle 134"/>
          <p:cNvSpPr/>
          <p:nvPr/>
        </p:nvSpPr>
        <p:spPr>
          <a:xfrm>
            <a:off x="8128000" y="4892040"/>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36" name="TextBox 135"/>
          <p:cNvSpPr txBox="1"/>
          <p:nvPr/>
        </p:nvSpPr>
        <p:spPr>
          <a:xfrm>
            <a:off x="8166100" y="4930140"/>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37" name="Rectangle 136"/>
          <p:cNvSpPr/>
          <p:nvPr/>
        </p:nvSpPr>
        <p:spPr>
          <a:xfrm>
            <a:off x="8676640" y="4892040"/>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38" name="TextBox 137"/>
          <p:cNvSpPr txBox="1"/>
          <p:nvPr/>
        </p:nvSpPr>
        <p:spPr>
          <a:xfrm>
            <a:off x="8714740" y="4930140"/>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39" name="Rectangle 138"/>
          <p:cNvSpPr/>
          <p:nvPr/>
        </p:nvSpPr>
        <p:spPr>
          <a:xfrm>
            <a:off x="9225280" y="4892040"/>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40" name="TextBox 139"/>
          <p:cNvSpPr txBox="1"/>
          <p:nvPr/>
        </p:nvSpPr>
        <p:spPr>
          <a:xfrm>
            <a:off x="9263380" y="4930140"/>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41" name="Rectangle 140"/>
          <p:cNvSpPr/>
          <p:nvPr/>
        </p:nvSpPr>
        <p:spPr>
          <a:xfrm>
            <a:off x="365760" y="523951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42" name="TextBox 141"/>
          <p:cNvSpPr txBox="1"/>
          <p:nvPr/>
        </p:nvSpPr>
        <p:spPr>
          <a:xfrm>
            <a:off x="403860" y="5277612"/>
            <a:ext cx="47244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HA1</a:t>
            </a:r>
            <a:endParaRPr sz="1000" b="0">
              <a:solidFill>
                <a:srgbClr val="111111"/>
              </a:solidFill>
              <a:latin typeface="黑体" panose="02010609060101010101" pitchFamily="49" charset="-122"/>
              <a:ea typeface="黑体" panose="02010609060101010101" pitchFamily="49" charset="-122"/>
            </a:endParaRPr>
          </a:p>
        </p:txBody>
      </p:sp>
      <p:sp>
        <p:nvSpPr>
          <p:cNvPr id="143" name="Rectangle 142"/>
          <p:cNvSpPr/>
          <p:nvPr/>
        </p:nvSpPr>
        <p:spPr>
          <a:xfrm>
            <a:off x="914400" y="5239512"/>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44" name="TextBox 143"/>
          <p:cNvSpPr txBox="1"/>
          <p:nvPr/>
        </p:nvSpPr>
        <p:spPr>
          <a:xfrm>
            <a:off x="952500" y="5277612"/>
            <a:ext cx="5867400" cy="246221"/>
          </a:xfrm>
          <a:prstGeom prst="rect">
            <a:avLst/>
          </a:prstGeom>
          <a:noFill/>
        </p:spPr>
        <p:txBody>
          <a:bodyPr wrap="square">
            <a:spAutoFit/>
          </a:bodyPr>
          <a:lstStyle/>
          <a:p>
            <a:pPr algn="l"/>
            <a:r>
              <a:rPr sz="1000" b="0">
                <a:solidFill>
                  <a:srgbClr val="111111"/>
                </a:solidFill>
                <a:latin typeface="黑体" panose="02010609060101010101" pitchFamily="49" charset="-122"/>
                <a:ea typeface="黑体" panose="02010609060101010101" pitchFamily="49" charset="-122"/>
              </a:rPr>
              <a:t>未授权 API 调用</a:t>
            </a:r>
            <a:endParaRPr sz="1000" b="0">
              <a:solidFill>
                <a:srgbClr val="111111"/>
              </a:solidFill>
              <a:latin typeface="黑体" panose="02010609060101010101" pitchFamily="49" charset="-122"/>
              <a:ea typeface="黑体" panose="02010609060101010101" pitchFamily="49" charset="-122"/>
            </a:endParaRPr>
          </a:p>
        </p:txBody>
      </p:sp>
      <p:sp>
        <p:nvSpPr>
          <p:cNvPr id="145" name="Rectangle 144"/>
          <p:cNvSpPr/>
          <p:nvPr/>
        </p:nvSpPr>
        <p:spPr>
          <a:xfrm>
            <a:off x="6858000" y="5239512"/>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46" name="TextBox 145"/>
          <p:cNvSpPr txBox="1"/>
          <p:nvPr/>
        </p:nvSpPr>
        <p:spPr>
          <a:xfrm>
            <a:off x="6896100" y="5277612"/>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Binder IPC</a:t>
            </a:r>
            <a:endParaRPr sz="1000" b="0">
              <a:solidFill>
                <a:srgbClr val="111111"/>
              </a:solidFill>
              <a:latin typeface="黑体" panose="02010609060101010101" pitchFamily="49" charset="-122"/>
              <a:ea typeface="黑体" panose="02010609060101010101" pitchFamily="49" charset="-122"/>
            </a:endParaRPr>
          </a:p>
        </p:txBody>
      </p:sp>
      <p:sp>
        <p:nvSpPr>
          <p:cNvPr id="147" name="Rectangle 146"/>
          <p:cNvSpPr/>
          <p:nvPr/>
        </p:nvSpPr>
        <p:spPr>
          <a:xfrm>
            <a:off x="8128000" y="523951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48" name="TextBox 147"/>
          <p:cNvSpPr txBox="1"/>
          <p:nvPr/>
        </p:nvSpPr>
        <p:spPr>
          <a:xfrm>
            <a:off x="8166100" y="5277612"/>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49" name="Rectangle 148"/>
          <p:cNvSpPr/>
          <p:nvPr/>
        </p:nvSpPr>
        <p:spPr>
          <a:xfrm>
            <a:off x="8676640" y="523951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0" name="TextBox 149"/>
          <p:cNvSpPr txBox="1"/>
          <p:nvPr/>
        </p:nvSpPr>
        <p:spPr>
          <a:xfrm>
            <a:off x="8714740" y="5277612"/>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51" name="Rectangle 150"/>
          <p:cNvSpPr/>
          <p:nvPr/>
        </p:nvSpPr>
        <p:spPr>
          <a:xfrm>
            <a:off x="9225280" y="5239512"/>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2" name="TextBox 151"/>
          <p:cNvSpPr txBox="1"/>
          <p:nvPr/>
        </p:nvSpPr>
        <p:spPr>
          <a:xfrm>
            <a:off x="9263380" y="5277612"/>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53" name="Rectangle 152"/>
          <p:cNvSpPr/>
          <p:nvPr/>
        </p:nvSpPr>
        <p:spPr>
          <a:xfrm>
            <a:off x="365760" y="558698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4" name="TextBox 153"/>
          <p:cNvSpPr txBox="1"/>
          <p:nvPr/>
        </p:nvSpPr>
        <p:spPr>
          <a:xfrm>
            <a:off x="403860" y="5625084"/>
            <a:ext cx="47244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HA2</a:t>
            </a:r>
            <a:endParaRPr sz="1000" b="0">
              <a:solidFill>
                <a:srgbClr val="111111"/>
              </a:solidFill>
              <a:latin typeface="黑体" panose="02010609060101010101" pitchFamily="49" charset="-122"/>
              <a:ea typeface="黑体" panose="02010609060101010101" pitchFamily="49" charset="-122"/>
            </a:endParaRPr>
          </a:p>
        </p:txBody>
      </p:sp>
      <p:sp>
        <p:nvSpPr>
          <p:cNvPr id="155" name="Rectangle 154"/>
          <p:cNvSpPr/>
          <p:nvPr/>
        </p:nvSpPr>
        <p:spPr>
          <a:xfrm>
            <a:off x="914400" y="5586984"/>
            <a:ext cx="5943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6" name="TextBox 155"/>
          <p:cNvSpPr txBox="1"/>
          <p:nvPr/>
        </p:nvSpPr>
        <p:spPr>
          <a:xfrm>
            <a:off x="952500" y="5625084"/>
            <a:ext cx="5867400" cy="246221"/>
          </a:xfrm>
          <a:prstGeom prst="rect">
            <a:avLst/>
          </a:prstGeom>
          <a:noFill/>
        </p:spPr>
        <p:txBody>
          <a:bodyPr wrap="square">
            <a:spAutoFit/>
          </a:bodyPr>
          <a:lstStyle/>
          <a:p>
            <a:pPr algn="l"/>
            <a:r>
              <a:rPr sz="1000" b="0" dirty="0">
                <a:solidFill>
                  <a:srgbClr val="111111"/>
                </a:solidFill>
                <a:latin typeface="黑体" panose="02010609060101010101" pitchFamily="49" charset="-122"/>
                <a:ea typeface="黑体" panose="02010609060101010101" pitchFamily="49" charset="-122"/>
              </a:rPr>
              <a:t>GUI </a:t>
            </a:r>
            <a:r>
              <a:rPr sz="1000" b="0" dirty="0" err="1">
                <a:solidFill>
                  <a:srgbClr val="111111"/>
                </a:solidFill>
                <a:latin typeface="黑体" panose="02010609060101010101" pitchFamily="49" charset="-122"/>
                <a:ea typeface="黑体" panose="02010609060101010101" pitchFamily="49" charset="-122"/>
              </a:rPr>
              <a:t>混淆攻击</a:t>
            </a:r>
            <a:r>
              <a:rPr sz="1000" b="0" dirty="0">
                <a:solidFill>
                  <a:srgbClr val="111111"/>
                </a:solidFill>
                <a:latin typeface="黑体" panose="02010609060101010101" pitchFamily="49" charset="-122"/>
                <a:ea typeface="黑体" panose="02010609060101010101" pitchFamily="49" charset="-122"/>
              </a:rPr>
              <a:t> (</a:t>
            </a:r>
            <a:r>
              <a:rPr sz="1000" b="0" dirty="0" err="1">
                <a:solidFill>
                  <a:srgbClr val="111111"/>
                </a:solidFill>
                <a:latin typeface="黑体" panose="02010609060101010101" pitchFamily="49" charset="-122"/>
                <a:ea typeface="黑体" panose="02010609060101010101" pitchFamily="49" charset="-122"/>
              </a:rPr>
              <a:t>Tapjacking</a:t>
            </a:r>
            <a:r>
              <a:rPr sz="1000" b="0" dirty="0">
                <a:solidFill>
                  <a:srgbClr val="111111"/>
                </a:solidFill>
                <a:latin typeface="黑体" panose="02010609060101010101" pitchFamily="49" charset="-122"/>
                <a:ea typeface="黑体" panose="02010609060101010101" pitchFamily="49" charset="-122"/>
              </a:rPr>
              <a:t> / Overlay)</a:t>
            </a:r>
            <a:endParaRPr sz="1000" b="0" dirty="0">
              <a:solidFill>
                <a:srgbClr val="111111"/>
              </a:solidFill>
              <a:latin typeface="黑体" panose="02010609060101010101" pitchFamily="49" charset="-122"/>
              <a:ea typeface="黑体" panose="02010609060101010101" pitchFamily="49" charset="-122"/>
            </a:endParaRPr>
          </a:p>
        </p:txBody>
      </p:sp>
      <p:sp>
        <p:nvSpPr>
          <p:cNvPr id="157" name="Rectangle 156"/>
          <p:cNvSpPr/>
          <p:nvPr/>
        </p:nvSpPr>
        <p:spPr>
          <a:xfrm>
            <a:off x="6858000" y="5586984"/>
            <a:ext cx="137160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8" name="TextBox 157"/>
          <p:cNvSpPr txBox="1"/>
          <p:nvPr/>
        </p:nvSpPr>
        <p:spPr>
          <a:xfrm>
            <a:off x="6896100" y="5625084"/>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HMI</a:t>
            </a:r>
            <a:endParaRPr sz="1000" b="0">
              <a:solidFill>
                <a:srgbClr val="111111"/>
              </a:solidFill>
              <a:latin typeface="黑体" panose="02010609060101010101" pitchFamily="49" charset="-122"/>
              <a:ea typeface="黑体" panose="02010609060101010101" pitchFamily="49" charset="-122"/>
            </a:endParaRPr>
          </a:p>
        </p:txBody>
      </p:sp>
      <p:sp>
        <p:nvSpPr>
          <p:cNvPr id="159" name="Rectangle 158"/>
          <p:cNvSpPr/>
          <p:nvPr/>
        </p:nvSpPr>
        <p:spPr>
          <a:xfrm>
            <a:off x="8128000" y="558698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0" name="TextBox 159"/>
          <p:cNvSpPr txBox="1"/>
          <p:nvPr/>
        </p:nvSpPr>
        <p:spPr>
          <a:xfrm>
            <a:off x="8166100" y="5625084"/>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61" name="Rectangle 160"/>
          <p:cNvSpPr/>
          <p:nvPr/>
        </p:nvSpPr>
        <p:spPr>
          <a:xfrm>
            <a:off x="8676640" y="558698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2" name="TextBox 161"/>
          <p:cNvSpPr txBox="1"/>
          <p:nvPr/>
        </p:nvSpPr>
        <p:spPr>
          <a:xfrm>
            <a:off x="8714740" y="5625084"/>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63" name="Rectangle 162"/>
          <p:cNvSpPr/>
          <p:nvPr/>
        </p:nvSpPr>
        <p:spPr>
          <a:xfrm>
            <a:off x="9225280" y="5586984"/>
            <a:ext cx="548640" cy="34747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4" name="TextBox 163"/>
          <p:cNvSpPr txBox="1"/>
          <p:nvPr/>
        </p:nvSpPr>
        <p:spPr>
          <a:xfrm>
            <a:off x="9263380" y="5625084"/>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65" name="Rectangle 164"/>
          <p:cNvSpPr/>
          <p:nvPr/>
        </p:nvSpPr>
        <p:spPr>
          <a:xfrm>
            <a:off x="365760" y="593445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6" name="TextBox 165"/>
          <p:cNvSpPr txBox="1"/>
          <p:nvPr/>
        </p:nvSpPr>
        <p:spPr>
          <a:xfrm>
            <a:off x="403860" y="5972556"/>
            <a:ext cx="47244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HA3</a:t>
            </a:r>
            <a:endParaRPr sz="1000" b="0">
              <a:solidFill>
                <a:srgbClr val="111111"/>
              </a:solidFill>
              <a:latin typeface="黑体" panose="02010609060101010101" pitchFamily="49" charset="-122"/>
              <a:ea typeface="黑体" panose="02010609060101010101" pitchFamily="49" charset="-122"/>
            </a:endParaRPr>
          </a:p>
        </p:txBody>
      </p:sp>
      <p:sp>
        <p:nvSpPr>
          <p:cNvPr id="167" name="Rectangle 166"/>
          <p:cNvSpPr/>
          <p:nvPr/>
        </p:nvSpPr>
        <p:spPr>
          <a:xfrm>
            <a:off x="914400" y="5934456"/>
            <a:ext cx="5943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68" name="TextBox 167"/>
          <p:cNvSpPr txBox="1"/>
          <p:nvPr/>
        </p:nvSpPr>
        <p:spPr>
          <a:xfrm>
            <a:off x="952500" y="5972556"/>
            <a:ext cx="5867400" cy="246221"/>
          </a:xfrm>
          <a:prstGeom prst="rect">
            <a:avLst/>
          </a:prstGeom>
          <a:noFill/>
        </p:spPr>
        <p:txBody>
          <a:bodyPr wrap="square">
            <a:spAutoFit/>
          </a:bodyPr>
          <a:lstStyle/>
          <a:p>
            <a:pPr algn="l"/>
            <a:r>
              <a:rPr sz="1000" b="0">
                <a:solidFill>
                  <a:srgbClr val="111111"/>
                </a:solidFill>
                <a:latin typeface="黑体" panose="02010609060101010101" pitchFamily="49" charset="-122"/>
                <a:ea typeface="黑体" panose="02010609060101010101" pitchFamily="49" charset="-122"/>
              </a:rPr>
              <a:t>触摸输入伪造</a:t>
            </a:r>
            <a:endParaRPr sz="1000" b="0">
              <a:solidFill>
                <a:srgbClr val="111111"/>
              </a:solidFill>
              <a:latin typeface="黑体" panose="02010609060101010101" pitchFamily="49" charset="-122"/>
              <a:ea typeface="黑体" panose="02010609060101010101" pitchFamily="49" charset="-122"/>
            </a:endParaRPr>
          </a:p>
        </p:txBody>
      </p:sp>
      <p:sp>
        <p:nvSpPr>
          <p:cNvPr id="169" name="Rectangle 168"/>
          <p:cNvSpPr/>
          <p:nvPr/>
        </p:nvSpPr>
        <p:spPr>
          <a:xfrm>
            <a:off x="6858000" y="5934456"/>
            <a:ext cx="137160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70" name="TextBox 169"/>
          <p:cNvSpPr txBox="1"/>
          <p:nvPr/>
        </p:nvSpPr>
        <p:spPr>
          <a:xfrm>
            <a:off x="6896100" y="5972556"/>
            <a:ext cx="1295400" cy="246221"/>
          </a:xfrm>
          <a:prstGeom prst="rect">
            <a:avLst/>
          </a:prstGeom>
          <a:noFill/>
        </p:spPr>
        <p:txBody>
          <a:bodyPr wrap="square">
            <a:spAutoFit/>
          </a:bodyPr>
          <a:lstStyle/>
          <a:p>
            <a:pPr algn="ctr"/>
            <a:r>
              <a:rPr sz="1000" b="0">
                <a:solidFill>
                  <a:srgbClr val="111111"/>
                </a:solidFill>
                <a:latin typeface="黑体" panose="02010609060101010101" pitchFamily="49" charset="-122"/>
                <a:ea typeface="黑体" panose="02010609060101010101" pitchFamily="49" charset="-122"/>
              </a:rPr>
              <a:t>Input</a:t>
            </a:r>
            <a:endParaRPr sz="1000" b="0">
              <a:solidFill>
                <a:srgbClr val="111111"/>
              </a:solidFill>
              <a:latin typeface="黑体" panose="02010609060101010101" pitchFamily="49" charset="-122"/>
              <a:ea typeface="黑体" panose="02010609060101010101" pitchFamily="49" charset="-122"/>
            </a:endParaRPr>
          </a:p>
        </p:txBody>
      </p:sp>
      <p:sp>
        <p:nvSpPr>
          <p:cNvPr id="171" name="Rectangle 170"/>
          <p:cNvSpPr/>
          <p:nvPr/>
        </p:nvSpPr>
        <p:spPr>
          <a:xfrm>
            <a:off x="8128000" y="593445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72" name="TextBox 171"/>
          <p:cNvSpPr txBox="1"/>
          <p:nvPr/>
        </p:nvSpPr>
        <p:spPr>
          <a:xfrm>
            <a:off x="8267700" y="5972556"/>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73" name="Rectangle 172"/>
          <p:cNvSpPr/>
          <p:nvPr/>
        </p:nvSpPr>
        <p:spPr>
          <a:xfrm>
            <a:off x="8676640" y="593445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74" name="TextBox 173"/>
          <p:cNvSpPr txBox="1"/>
          <p:nvPr/>
        </p:nvSpPr>
        <p:spPr>
          <a:xfrm>
            <a:off x="8816340" y="5972556"/>
            <a:ext cx="472440" cy="369332"/>
          </a:xfrm>
          <a:prstGeom prst="rect">
            <a:avLst/>
          </a:prstGeom>
          <a:noFill/>
        </p:spPr>
        <p:txBody>
          <a:bodyPr wrap="square">
            <a:spAutoFit/>
          </a:bodyPr>
          <a:lstStyle/>
          <a:p>
            <a:pPr algn="ctr"/>
            <a:endParaRPr>
              <a:latin typeface="黑体" panose="02010609060101010101" pitchFamily="49" charset="-122"/>
              <a:ea typeface="黑体" panose="02010609060101010101" pitchFamily="49" charset="-122"/>
            </a:endParaRPr>
          </a:p>
        </p:txBody>
      </p:sp>
      <p:sp>
        <p:nvSpPr>
          <p:cNvPr id="175" name="Rectangle 174"/>
          <p:cNvSpPr/>
          <p:nvPr/>
        </p:nvSpPr>
        <p:spPr>
          <a:xfrm>
            <a:off x="9225280" y="5934456"/>
            <a:ext cx="548640" cy="347472"/>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76" name="TextBox 175"/>
          <p:cNvSpPr txBox="1"/>
          <p:nvPr/>
        </p:nvSpPr>
        <p:spPr>
          <a:xfrm>
            <a:off x="9263380" y="5972556"/>
            <a:ext cx="472440" cy="246221"/>
          </a:xfrm>
          <a:prstGeom prst="rect">
            <a:avLst/>
          </a:prstGeom>
          <a:noFill/>
        </p:spPr>
        <p:txBody>
          <a:bodyPr wrap="square">
            <a:spAutoFit/>
          </a:bodyPr>
          <a:lstStyle/>
          <a:p>
            <a:pPr algn="ctr"/>
            <a:r>
              <a:rPr sz="1000" b="1">
                <a:solidFill>
                  <a:srgbClr val="2A9D2A"/>
                </a:solidFill>
                <a:latin typeface="黑体" panose="02010609060101010101" pitchFamily="49" charset="-122"/>
                <a:ea typeface="黑体" panose="02010609060101010101" pitchFamily="49" charset="-122"/>
              </a:rPr>
              <a:t>✓</a:t>
            </a:r>
            <a:endParaRPr sz="1000" b="1">
              <a:solidFill>
                <a:srgbClr val="2A9D2A"/>
              </a:solidFill>
              <a:latin typeface="黑体" panose="02010609060101010101" pitchFamily="49" charset="-122"/>
              <a:ea typeface="黑体" panose="02010609060101010101" pitchFamily="49" charset="-122"/>
            </a:endParaRPr>
          </a:p>
        </p:txBody>
      </p:sp>
      <p:sp>
        <p:nvSpPr>
          <p:cNvPr id="177" name="TextBox 176"/>
          <p:cNvSpPr txBox="1"/>
          <p:nvPr/>
        </p:nvSpPr>
        <p:spPr>
          <a:xfrm>
            <a:off x="416560" y="6505448"/>
            <a:ext cx="10058400" cy="261610"/>
          </a:xfrm>
          <a:prstGeom prst="rect">
            <a:avLst/>
          </a:prstGeom>
          <a:noFill/>
        </p:spPr>
        <p:txBody>
          <a:bodyPr wrap="square">
            <a:spAutoFit/>
          </a:bodyPr>
          <a:lstStyle/>
          <a:p>
            <a:pPr algn="ctr"/>
            <a:r>
              <a:rPr sz="1100" b="0">
                <a:solidFill>
                  <a:srgbClr val="666666"/>
                </a:solidFill>
                <a:latin typeface="黑体" panose="02010609060101010101" pitchFamily="49" charset="-122"/>
                <a:ea typeface="黑体" panose="02010609060101010101" pitchFamily="49" charset="-122"/>
              </a:rPr>
              <a:t>R2: 内存与寄存器隔离   |   R3: 安全 Binder 通信   |   R4: HMI 保护</a:t>
            </a:r>
            <a:endParaRPr sz="1100" b="0">
              <a:solidFill>
                <a:srgbClr val="666666"/>
              </a:solidFill>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0"/>
            <a:ext cx="3657600" cy="203200"/>
          </a:xfrm>
          <a:prstGeom prst="rect">
            <a:avLst/>
          </a:prstGeom>
          <a:noFill/>
        </p:spPr>
        <p:txBody>
          <a:bodyPr wrap="square">
            <a:spAutoFit/>
          </a:bodyPr>
          <a:lstStyle/>
          <a:p>
            <a:pPr algn="l"/>
            <a:r>
              <a:rPr sz="1200" b="1">
                <a:solidFill>
                  <a:srgbClr val="D62828"/>
                </a:solidFill>
                <a:latin typeface="Arial" panose="020B0604020202020204"/>
              </a:rPr>
              <a:t>SYSTEM DESIGN</a:t>
            </a:r>
            <a:endParaRPr sz="1200" b="1">
              <a:solidFill>
                <a:srgbClr val="D62828"/>
              </a:solidFill>
              <a:latin typeface="Arial" panose="020B0604020202020204"/>
            </a:endParaRPr>
          </a:p>
        </p:txBody>
      </p:sp>
      <p:sp>
        <p:nvSpPr>
          <p:cNvPr id="7" name="Rectangle 6"/>
          <p:cNvSpPr/>
          <p:nvPr/>
        </p:nvSpPr>
        <p:spPr>
          <a:xfrm>
            <a:off x="0" y="27432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图片 43"/>
          <p:cNvPicPr>
            <a:picLocks noChangeAspect="1"/>
          </p:cNvPicPr>
          <p:nvPr/>
        </p:nvPicPr>
        <p:blipFill>
          <a:blip r:embed="rId1"/>
          <a:stretch>
            <a:fillRect/>
          </a:stretch>
        </p:blipFill>
        <p:spPr>
          <a:xfrm>
            <a:off x="1510049" y="383540"/>
            <a:ext cx="9530865" cy="5430774"/>
          </a:xfrm>
          <a:prstGeom prst="rect">
            <a:avLst/>
          </a:prstGeom>
        </p:spPr>
      </p:pic>
      <p:sp>
        <p:nvSpPr>
          <p:cNvPr id="45" name="Rectangle 1"/>
          <p:cNvSpPr>
            <a:spLocks noChangeArrowheads="1"/>
          </p:cNvSpPr>
          <p:nvPr/>
        </p:nvSpPr>
        <p:spPr bwMode="auto">
          <a:xfrm>
            <a:off x="1510049" y="5733958"/>
            <a:ext cx="84640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zh-CN" sz="18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在 hypervisor 层引入 Harness Lowvisor，对关键车控链进行保护 </a:t>
            </a:r>
            <a:endParaRPr kumimoji="0" lang="zh-CN" altLang="zh-CN" sz="18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pPr>
            <a:r>
              <a:rPr kumimoji="0" lang="zh-CN" altLang="zh-CN" sz="180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通过 Memory / Binder / HMI / Encrypted Channel 分别满足 R2–R4 与 R1 </a:t>
            </a:r>
            <a:endParaRPr kumimoji="0" lang="zh-CN" altLang="zh-CN" sz="180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 name="TextBox 2"/>
          <p:cNvSpPr txBox="1"/>
          <p:nvPr/>
        </p:nvSpPr>
        <p:spPr>
          <a:xfrm>
            <a:off x="365760" y="50800"/>
            <a:ext cx="4572000" cy="261610"/>
          </a:xfrm>
          <a:prstGeom prst="rect">
            <a:avLst/>
          </a:prstGeom>
          <a:noFill/>
        </p:spPr>
        <p:txBody>
          <a:bodyPr wrap="square">
            <a:spAutoFit/>
          </a:bodyPr>
          <a:lstStyle/>
          <a:p>
            <a:pPr algn="l"/>
            <a:r>
              <a:rPr sz="1100" b="0">
                <a:solidFill>
                  <a:srgbClr val="666666"/>
                </a:solidFill>
                <a:latin typeface="黑体" panose="02010609060101010101" pitchFamily="49" charset="-122"/>
                <a:ea typeface="黑体" panose="02010609060101010101" pitchFamily="49" charset="-122"/>
              </a:rPr>
              <a:t>关键技术  Key Technique 1</a:t>
            </a:r>
            <a:endParaRPr sz="1100" b="0">
              <a:solidFill>
                <a:srgbClr val="666666"/>
              </a:solidFill>
              <a:latin typeface="黑体" panose="02010609060101010101" pitchFamily="49" charset="-122"/>
              <a:ea typeface="黑体" panose="02010609060101010101" pitchFamily="49" charset="-122"/>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 name="TextBox 5"/>
          <p:cNvSpPr txBox="1"/>
          <p:nvPr/>
        </p:nvSpPr>
        <p:spPr>
          <a:xfrm>
            <a:off x="548640" y="594360"/>
            <a:ext cx="3657600" cy="276999"/>
          </a:xfrm>
          <a:prstGeom prst="rect">
            <a:avLst/>
          </a:prstGeom>
          <a:noFill/>
        </p:spPr>
        <p:txBody>
          <a:bodyPr wrap="square">
            <a:spAutoFit/>
          </a:bodyPr>
          <a:lstStyle/>
          <a:p>
            <a:pPr algn="l"/>
            <a:r>
              <a:rPr sz="1200" b="1">
                <a:solidFill>
                  <a:srgbClr val="D62828"/>
                </a:solidFill>
                <a:latin typeface="黑体" panose="02010609060101010101" pitchFamily="49" charset="-122"/>
                <a:ea typeface="黑体" panose="02010609060101010101" pitchFamily="49" charset="-122"/>
              </a:rPr>
              <a:t>KEY TECHNIQUE 1</a:t>
            </a:r>
            <a:endParaRPr sz="1200" b="1">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548640" y="86868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 name="TextBox 7"/>
          <p:cNvSpPr txBox="1"/>
          <p:nvPr/>
        </p:nvSpPr>
        <p:spPr>
          <a:xfrm>
            <a:off x="548640" y="960120"/>
            <a:ext cx="7315200" cy="492443"/>
          </a:xfrm>
          <a:prstGeom prst="rect">
            <a:avLst/>
          </a:prstGeom>
          <a:noFill/>
        </p:spPr>
        <p:txBody>
          <a:bodyPr wrap="square">
            <a:spAutoFit/>
          </a:bodyPr>
          <a:lstStyle/>
          <a:p>
            <a:pPr algn="l"/>
            <a:r>
              <a:rPr sz="2600" b="1" dirty="0" err="1">
                <a:solidFill>
                  <a:srgbClr val="111111"/>
                </a:solidFill>
                <a:latin typeface="黑体" panose="02010609060101010101" pitchFamily="49" charset="-122"/>
                <a:ea typeface="黑体" panose="02010609060101010101" pitchFamily="49" charset="-122"/>
              </a:rPr>
              <a:t>共享感知内存监控</a:t>
            </a:r>
            <a:endParaRPr sz="2600" b="1" dirty="0">
              <a:solidFill>
                <a:srgbClr val="111111"/>
              </a:solidFill>
              <a:latin typeface="黑体" panose="02010609060101010101" pitchFamily="49" charset="-122"/>
              <a:ea typeface="黑体" panose="02010609060101010101" pitchFamily="49" charset="-122"/>
            </a:endParaRPr>
          </a:p>
        </p:txBody>
      </p:sp>
      <p:sp>
        <p:nvSpPr>
          <p:cNvPr id="9" name="TextBox 8"/>
          <p:cNvSpPr txBox="1"/>
          <p:nvPr/>
        </p:nvSpPr>
        <p:spPr>
          <a:xfrm>
            <a:off x="548640" y="1463040"/>
            <a:ext cx="9144000" cy="279400"/>
          </a:xfrm>
          <a:prstGeom prst="rect">
            <a:avLst/>
          </a:prstGeom>
          <a:noFill/>
        </p:spPr>
        <p:txBody>
          <a:bodyPr wrap="square">
            <a:spAutoFit/>
          </a:bodyPr>
          <a:lstStyle/>
          <a:p>
            <a:pPr algn="l"/>
            <a:r>
              <a:rPr sz="1200" b="0" dirty="0">
                <a:solidFill>
                  <a:srgbClr val="666666"/>
                </a:solidFill>
                <a:latin typeface="黑体" panose="02010609060101010101" pitchFamily="49" charset="-122"/>
                <a:ea typeface="黑体" panose="02010609060101010101" pitchFamily="49" charset="-122"/>
              </a:rPr>
              <a:t>Sharing-aware Memory Monitor — </a:t>
            </a:r>
            <a:r>
              <a:rPr sz="1200" b="0" dirty="0" err="1">
                <a:solidFill>
                  <a:srgbClr val="666666"/>
                </a:solidFill>
                <a:latin typeface="黑体" panose="02010609060101010101" pitchFamily="49" charset="-122"/>
                <a:ea typeface="黑体" panose="02010609060101010101" pitchFamily="49" charset="-122"/>
              </a:rPr>
              <a:t>满足</a:t>
            </a:r>
            <a:r>
              <a:rPr sz="1200" b="0" dirty="0">
                <a:solidFill>
                  <a:srgbClr val="666666"/>
                </a:solidFill>
                <a:latin typeface="黑体" panose="02010609060101010101" pitchFamily="49" charset="-122"/>
                <a:ea typeface="黑体" panose="02010609060101010101" pitchFamily="49" charset="-122"/>
              </a:rPr>
              <a:t> R2，对抗 A1/A2/A3/A7</a:t>
            </a:r>
            <a:endParaRPr sz="1200" b="0" dirty="0">
              <a:solidFill>
                <a:srgbClr val="666666"/>
              </a:solidFill>
              <a:latin typeface="黑体" panose="02010609060101010101" pitchFamily="49" charset="-122"/>
              <a:ea typeface="黑体" panose="02010609060101010101" pitchFamily="49" charset="-122"/>
            </a:endParaRPr>
          </a:p>
        </p:txBody>
      </p:sp>
      <p:sp>
        <p:nvSpPr>
          <p:cNvPr id="10" name="TextBox 9"/>
          <p:cNvSpPr txBox="1"/>
          <p:nvPr/>
        </p:nvSpPr>
        <p:spPr>
          <a:xfrm>
            <a:off x="548640" y="1828800"/>
            <a:ext cx="5029200" cy="338554"/>
          </a:xfrm>
          <a:prstGeom prst="rect">
            <a:avLst/>
          </a:prstGeom>
          <a:noFill/>
        </p:spPr>
        <p:txBody>
          <a:bodyPr wrap="square">
            <a:spAutoFit/>
          </a:bodyPr>
          <a:lstStyle/>
          <a:p>
            <a:pPr algn="l"/>
            <a:r>
              <a:rPr sz="1600" b="1">
                <a:solidFill>
                  <a:srgbClr val="111111"/>
                </a:solidFill>
                <a:latin typeface="黑体" panose="02010609060101010101" pitchFamily="49" charset="-122"/>
                <a:ea typeface="黑体" panose="02010609060101010101" pitchFamily="49" charset="-122"/>
              </a:rPr>
              <a:t>核心挑战</a:t>
            </a:r>
            <a:endParaRPr sz="1600" b="1">
              <a:solidFill>
                <a:srgbClr val="111111"/>
              </a:solidFill>
              <a:latin typeface="黑体" panose="02010609060101010101" pitchFamily="49" charset="-122"/>
              <a:ea typeface="黑体" panose="02010609060101010101" pitchFamily="49" charset="-122"/>
            </a:endParaRPr>
          </a:p>
        </p:txBody>
      </p:sp>
      <p:sp>
        <p:nvSpPr>
          <p:cNvPr id="11" name="TextBox 10"/>
          <p:cNvSpPr txBox="1"/>
          <p:nvPr/>
        </p:nvSpPr>
        <p:spPr>
          <a:xfrm>
            <a:off x="548640" y="2194560"/>
            <a:ext cx="5303520" cy="1426031"/>
          </a:xfrm>
          <a:prstGeom prst="rect">
            <a:avLst/>
          </a:prstGeom>
          <a:noFill/>
        </p:spPr>
        <p:txBody>
          <a:bodyPr wrap="square">
            <a:spAutoFit/>
          </a:bodyPr>
          <a:lstStyle/>
          <a:p>
            <a:pPr>
              <a:spcBef>
                <a:spcPts val="400"/>
              </a:spcBef>
            </a:pPr>
            <a:r>
              <a:rPr sz="1600" dirty="0">
                <a:solidFill>
                  <a:srgbClr val="111111"/>
                </a:solidFill>
                <a:latin typeface="黑体" panose="02010609060101010101" pitchFamily="49" charset="-122"/>
                <a:ea typeface="黑体" panose="02010609060101010101" pitchFamily="49" charset="-122"/>
              </a:rPr>
              <a:t>■  Android </a:t>
            </a:r>
            <a:r>
              <a:rPr sz="1600" dirty="0" err="1">
                <a:solidFill>
                  <a:srgbClr val="111111"/>
                </a:solidFill>
                <a:latin typeface="黑体" panose="02010609060101010101" pitchFamily="49" charset="-122"/>
                <a:ea typeface="黑体" panose="02010609060101010101" pitchFamily="49" charset="-122"/>
              </a:rPr>
              <a:t>大量使用进程间共享匿名内存，现有方案只支持只读</a:t>
            </a:r>
            <a:r>
              <a:rPr sz="1600" dirty="0">
                <a:solidFill>
                  <a:srgbClr val="111111"/>
                </a:solidFill>
                <a:latin typeface="黑体" panose="02010609060101010101" pitchFamily="49" charset="-122"/>
                <a:ea typeface="黑体" panose="02010609060101010101" pitchFamily="49" charset="-122"/>
              </a:rPr>
              <a:t> / </a:t>
            </a:r>
            <a:r>
              <a:rPr sz="1600" dirty="0" err="1">
                <a:solidFill>
                  <a:srgbClr val="111111"/>
                </a:solidFill>
                <a:latin typeface="黑体" panose="02010609060101010101" pitchFamily="49" charset="-122"/>
                <a:ea typeface="黑体" panose="02010609060101010101" pitchFamily="49" charset="-122"/>
              </a:rPr>
              <a:t>文件回退共享</a:t>
            </a:r>
            <a:endParaRPr sz="1600" dirty="0">
              <a:solidFill>
                <a:srgbClr val="111111"/>
              </a:solidFill>
              <a:latin typeface="黑体" panose="02010609060101010101" pitchFamily="49" charset="-122"/>
              <a:ea typeface="黑体" panose="02010609060101010101" pitchFamily="49" charset="-122"/>
            </a:endParaRPr>
          </a:p>
          <a:p>
            <a:pPr>
              <a:spcBef>
                <a:spcPts val="400"/>
              </a:spcBef>
            </a:pPr>
            <a:r>
              <a:rPr sz="1600" dirty="0">
                <a:solidFill>
                  <a:srgbClr val="111111"/>
                </a:solidFill>
                <a:latin typeface="黑体" panose="02010609060101010101" pitchFamily="49" charset="-122"/>
                <a:ea typeface="黑体" panose="02010609060101010101" pitchFamily="49" charset="-122"/>
              </a:rPr>
              <a:t>■  Android </a:t>
            </a:r>
            <a:r>
              <a:rPr sz="1600" dirty="0" err="1">
                <a:solidFill>
                  <a:srgbClr val="111111"/>
                </a:solidFill>
                <a:latin typeface="黑体" panose="02010609060101010101" pitchFamily="49" charset="-122"/>
                <a:ea typeface="黑体" panose="02010609060101010101" pitchFamily="49" charset="-122"/>
              </a:rPr>
              <a:t>框架级可写共享内存（writable</a:t>
            </a:r>
            <a:r>
              <a:rPr sz="1600" dirty="0">
                <a:solidFill>
                  <a:srgbClr val="111111"/>
                </a:solidFill>
                <a:latin typeface="黑体" panose="02010609060101010101" pitchFamily="49" charset="-122"/>
                <a:ea typeface="黑体" panose="02010609060101010101" pitchFamily="49" charset="-122"/>
              </a:rPr>
              <a:t> shared </a:t>
            </a:r>
            <a:r>
              <a:rPr sz="1600" dirty="0" err="1">
                <a:solidFill>
                  <a:srgbClr val="111111"/>
                </a:solidFill>
                <a:latin typeface="黑体" panose="02010609060101010101" pitchFamily="49" charset="-122"/>
                <a:ea typeface="黑体" panose="02010609060101010101" pitchFamily="49" charset="-122"/>
              </a:rPr>
              <a:t>anonymous）无法安全支持</a:t>
            </a:r>
            <a:endParaRPr sz="1600" dirty="0">
              <a:solidFill>
                <a:srgbClr val="111111"/>
              </a:solidFill>
              <a:latin typeface="黑体" panose="02010609060101010101" pitchFamily="49" charset="-122"/>
              <a:ea typeface="黑体" panose="02010609060101010101" pitchFamily="49" charset="-122"/>
            </a:endParaRPr>
          </a:p>
          <a:p>
            <a:pPr>
              <a:spcBef>
                <a:spcPts val="400"/>
              </a:spcBef>
            </a:pP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依赖</a:t>
            </a:r>
            <a:r>
              <a:rPr sz="1600" dirty="0">
                <a:solidFill>
                  <a:srgbClr val="111111"/>
                </a:solidFill>
                <a:latin typeface="黑体" panose="02010609060101010101" pitchFamily="49" charset="-122"/>
                <a:ea typeface="黑体" panose="02010609060101010101" pitchFamily="49" charset="-122"/>
              </a:rPr>
              <a:t> OS </a:t>
            </a:r>
            <a:r>
              <a:rPr sz="1600" dirty="0" err="1">
                <a:solidFill>
                  <a:srgbClr val="111111"/>
                </a:solidFill>
                <a:latin typeface="黑体" panose="02010609060101010101" pitchFamily="49" charset="-122"/>
                <a:ea typeface="黑体" panose="02010609060101010101" pitchFamily="49" charset="-122"/>
              </a:rPr>
              <a:t>内存管理的同时需防止恶意操作</a:t>
            </a:r>
            <a:endParaRPr sz="1600" dirty="0">
              <a:solidFill>
                <a:srgbClr val="111111"/>
              </a:solidFill>
              <a:latin typeface="黑体" panose="02010609060101010101" pitchFamily="49" charset="-122"/>
              <a:ea typeface="黑体" panose="02010609060101010101" pitchFamily="49" charset="-122"/>
            </a:endParaRPr>
          </a:p>
        </p:txBody>
      </p:sp>
      <p:sp>
        <p:nvSpPr>
          <p:cNvPr id="12" name="TextBox 11"/>
          <p:cNvSpPr txBox="1"/>
          <p:nvPr/>
        </p:nvSpPr>
        <p:spPr>
          <a:xfrm>
            <a:off x="6217920" y="1828800"/>
            <a:ext cx="5029200" cy="338554"/>
          </a:xfrm>
          <a:prstGeom prst="rect">
            <a:avLst/>
          </a:prstGeom>
          <a:noFill/>
        </p:spPr>
        <p:txBody>
          <a:bodyPr wrap="square">
            <a:spAutoFit/>
          </a:bodyPr>
          <a:lstStyle/>
          <a:p>
            <a:pPr algn="l"/>
            <a:r>
              <a:rPr sz="1600" b="1">
                <a:solidFill>
                  <a:srgbClr val="111111"/>
                </a:solidFill>
                <a:latin typeface="黑体" panose="02010609060101010101" pitchFamily="49" charset="-122"/>
                <a:ea typeface="黑体" panose="02010609060101010101" pitchFamily="49" charset="-122"/>
              </a:rPr>
              <a:t>解决方案</a:t>
            </a:r>
            <a:endParaRPr sz="1600" b="1">
              <a:solidFill>
                <a:srgbClr val="111111"/>
              </a:solidFill>
              <a:latin typeface="黑体" panose="02010609060101010101" pitchFamily="49" charset="-122"/>
              <a:ea typeface="黑体" panose="02010609060101010101" pitchFamily="49" charset="-122"/>
            </a:endParaRPr>
          </a:p>
        </p:txBody>
      </p:sp>
      <p:sp>
        <p:nvSpPr>
          <p:cNvPr id="13" name="TextBox 12"/>
          <p:cNvSpPr txBox="1"/>
          <p:nvPr/>
        </p:nvSpPr>
        <p:spPr>
          <a:xfrm>
            <a:off x="6217920" y="2194560"/>
            <a:ext cx="5303520" cy="2215991"/>
          </a:xfrm>
          <a:prstGeom prst="rect">
            <a:avLst/>
          </a:prstGeom>
          <a:noFill/>
        </p:spPr>
        <p:txBody>
          <a:bodyPr wrap="square">
            <a:spAutoFit/>
          </a:bodyPr>
          <a:lstStyle/>
          <a:p>
            <a:pPr>
              <a:spcBef>
                <a:spcPts val="400"/>
              </a:spcBef>
            </a:pP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eVMA</a:t>
            </a:r>
            <a:r>
              <a:rPr sz="1600" dirty="0">
                <a:solidFill>
                  <a:srgbClr val="111111"/>
                </a:solidFill>
                <a:latin typeface="黑体" panose="02010609060101010101" pitchFamily="49" charset="-122"/>
                <a:ea typeface="黑体" panose="02010609060101010101" pitchFamily="49" charset="-122"/>
              </a:rPr>
              <a:t> (enclave VMA)：</a:t>
            </a:r>
            <a:r>
              <a:rPr sz="1600" dirty="0" err="1">
                <a:solidFill>
                  <a:srgbClr val="111111"/>
                </a:solidFill>
                <a:latin typeface="黑体" panose="02010609060101010101" pitchFamily="49" charset="-122"/>
                <a:ea typeface="黑体" panose="02010609060101010101" pitchFamily="49" charset="-122"/>
              </a:rPr>
              <a:t>Lowvisor</a:t>
            </a: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维护每个</a:t>
            </a:r>
            <a:r>
              <a:rPr sz="1600" dirty="0">
                <a:solidFill>
                  <a:srgbClr val="111111"/>
                </a:solidFill>
                <a:latin typeface="黑体" panose="02010609060101010101" pitchFamily="49" charset="-122"/>
                <a:ea typeface="黑体" panose="02010609060101010101" pitchFamily="49" charset="-122"/>
              </a:rPr>
              <a:t> enclave </a:t>
            </a:r>
            <a:r>
              <a:rPr sz="1600" dirty="0" err="1">
                <a:solidFill>
                  <a:srgbClr val="111111"/>
                </a:solidFill>
                <a:latin typeface="黑体" panose="02010609060101010101" pitchFamily="49" charset="-122"/>
                <a:ea typeface="黑体" panose="02010609060101010101" pitchFamily="49" charset="-122"/>
              </a:rPr>
              <a:t>的简化</a:t>
            </a: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VMA，记录映射意图</a:t>
            </a:r>
            <a:endParaRPr sz="1600" dirty="0">
              <a:solidFill>
                <a:srgbClr val="111111"/>
              </a:solidFill>
              <a:latin typeface="黑体" panose="02010609060101010101" pitchFamily="49" charset="-122"/>
              <a:ea typeface="黑体" panose="02010609060101010101" pitchFamily="49" charset="-122"/>
            </a:endParaRPr>
          </a:p>
          <a:p>
            <a:pPr>
              <a:spcBef>
                <a:spcPts val="400"/>
              </a:spcBef>
            </a:pP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r-token：以资源条目地址为唯一标识，追踪可共享内存资源</a:t>
            </a:r>
            <a:endParaRPr sz="1600" dirty="0">
              <a:solidFill>
                <a:srgbClr val="111111"/>
              </a:solidFill>
              <a:latin typeface="黑体" panose="02010609060101010101" pitchFamily="49" charset="-122"/>
              <a:ea typeface="黑体" panose="02010609060101010101" pitchFamily="49" charset="-122"/>
            </a:endParaRPr>
          </a:p>
          <a:p>
            <a:pPr>
              <a:spcBef>
                <a:spcPts val="400"/>
              </a:spcBef>
            </a:pP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页故障验证：分配页时记录元数据（所属资源、偏移</a:t>
            </a:r>
            <a:r>
              <a:rPr sz="1600" dirty="0">
                <a:solidFill>
                  <a:srgbClr val="111111"/>
                </a:solidFill>
                <a:latin typeface="黑体" panose="02010609060101010101" pitchFamily="49" charset="-122"/>
                <a:ea typeface="黑体" panose="02010609060101010101" pitchFamily="49" charset="-122"/>
              </a:rPr>
              <a:t>），</a:t>
            </a:r>
            <a:r>
              <a:rPr sz="1600" dirty="0" err="1">
                <a:solidFill>
                  <a:srgbClr val="111111"/>
                </a:solidFill>
                <a:latin typeface="黑体" panose="02010609060101010101" pitchFamily="49" charset="-122"/>
                <a:ea typeface="黑体" panose="02010609060101010101" pitchFamily="49" charset="-122"/>
              </a:rPr>
              <a:t>再次映射时比对</a:t>
            </a:r>
            <a:r>
              <a:rPr sz="1600" dirty="0">
                <a:solidFill>
                  <a:srgbClr val="111111"/>
                </a:solidFill>
                <a:latin typeface="黑体" panose="02010609060101010101" pitchFamily="49" charset="-122"/>
                <a:ea typeface="黑体" panose="02010609060101010101" pitchFamily="49" charset="-122"/>
              </a:rPr>
              <a:t> r-token + </a:t>
            </a:r>
            <a:r>
              <a:rPr sz="1600" dirty="0" err="1">
                <a:solidFill>
                  <a:srgbClr val="111111"/>
                </a:solidFill>
                <a:latin typeface="黑体" panose="02010609060101010101" pitchFamily="49" charset="-122"/>
                <a:ea typeface="黑体" panose="02010609060101010101" pitchFamily="49" charset="-122"/>
              </a:rPr>
              <a:t>偏移</a:t>
            </a:r>
            <a:endParaRPr sz="1600" dirty="0">
              <a:solidFill>
                <a:srgbClr val="111111"/>
              </a:solidFill>
              <a:latin typeface="黑体" panose="02010609060101010101" pitchFamily="49" charset="-122"/>
              <a:ea typeface="黑体" panose="02010609060101010101" pitchFamily="49" charset="-122"/>
            </a:endParaRPr>
          </a:p>
          <a:p>
            <a:pPr>
              <a:spcBef>
                <a:spcPts val="400"/>
              </a:spcBef>
            </a:pPr>
            <a:r>
              <a:rPr sz="1600" dirty="0">
                <a:solidFill>
                  <a:srgbClr val="111111"/>
                </a:solidFill>
                <a:latin typeface="黑体" panose="02010609060101010101" pitchFamily="49" charset="-122"/>
                <a:ea typeface="黑体" panose="02010609060101010101" pitchFamily="49" charset="-122"/>
              </a:rPr>
              <a:t>■  </a:t>
            </a:r>
            <a:r>
              <a:rPr sz="1600" dirty="0" err="1">
                <a:solidFill>
                  <a:srgbClr val="111111"/>
                </a:solidFill>
                <a:latin typeface="黑体" panose="02010609060101010101" pitchFamily="49" charset="-122"/>
                <a:ea typeface="黑体" panose="02010609060101010101" pitchFamily="49" charset="-122"/>
              </a:rPr>
              <a:t>共享验证：检查</a:t>
            </a:r>
            <a:r>
              <a:rPr sz="1600" dirty="0">
                <a:solidFill>
                  <a:srgbClr val="111111"/>
                </a:solidFill>
                <a:latin typeface="黑体" panose="02010609060101010101" pitchFamily="49" charset="-122"/>
                <a:ea typeface="黑体" panose="02010609060101010101" pitchFamily="49" charset="-122"/>
              </a:rPr>
              <a:t> MAP_SHARED </a:t>
            </a:r>
            <a:r>
              <a:rPr sz="1600" dirty="0" err="1">
                <a:solidFill>
                  <a:srgbClr val="111111"/>
                </a:solidFill>
                <a:latin typeface="黑体" panose="02010609060101010101" pitchFamily="49" charset="-122"/>
                <a:ea typeface="黑体" panose="02010609060101010101" pitchFamily="49" charset="-122"/>
              </a:rPr>
              <a:t>标志和写权限，防止恶意映射</a:t>
            </a:r>
            <a:endParaRPr sz="1600" dirty="0">
              <a:solidFill>
                <a:srgbClr val="111111"/>
              </a:solidFill>
              <a:latin typeface="黑体" panose="02010609060101010101" pitchFamily="49" charset="-122"/>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0" y="351482"/>
            <a:ext cx="11800704" cy="5071671"/>
          </a:xfrm>
          <a:prstGeom prst="rect">
            <a:avLst/>
          </a:prstGeom>
        </p:spPr>
      </p:pic>
      <p:sp>
        <p:nvSpPr>
          <p:cNvPr id="5" name="文本框 4"/>
          <p:cNvSpPr txBox="1"/>
          <p:nvPr/>
        </p:nvSpPr>
        <p:spPr>
          <a:xfrm>
            <a:off x="2514600" y="5071671"/>
            <a:ext cx="6963031" cy="1754326"/>
          </a:xfrm>
          <a:prstGeom prst="rect">
            <a:avLst/>
          </a:prstGeom>
          <a:noFill/>
        </p:spPr>
        <p:txBody>
          <a:bodyPr wrap="square">
            <a:spAutoFit/>
          </a:bodyPr>
          <a:lstStyle/>
          <a:p>
            <a:r>
              <a:rPr lang="en-US" altLang="zh-CN" dirty="0" err="1">
                <a:latin typeface="黑体" panose="02010609060101010101" pitchFamily="49" charset="-122"/>
                <a:ea typeface="黑体" panose="02010609060101010101" pitchFamily="49" charset="-122"/>
              </a:rPr>
              <a:t>Lowvisor</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用 </a:t>
            </a:r>
            <a:r>
              <a:rPr lang="en-US" altLang="zh-CN" b="1" dirty="0" err="1">
                <a:latin typeface="黑体" panose="02010609060101010101" pitchFamily="49" charset="-122"/>
                <a:ea typeface="黑体" panose="02010609060101010101" pitchFamily="49" charset="-122"/>
              </a:rPr>
              <a:t>eVMA</a:t>
            </a:r>
            <a:r>
              <a:rPr lang="zh-CN" altLang="en-US" dirty="0">
                <a:latin typeface="黑体" panose="02010609060101010101" pitchFamily="49" charset="-122"/>
                <a:ea typeface="黑体" panose="02010609060101010101" pitchFamily="49" charset="-122"/>
              </a:rPr>
              <a:t> 记录 </a:t>
            </a:r>
            <a:r>
              <a:rPr lang="en-US" altLang="zh-CN" dirty="0">
                <a:latin typeface="黑体" panose="02010609060101010101" pitchFamily="49" charset="-122"/>
                <a:ea typeface="黑体" panose="02010609060101010101" pitchFamily="49" charset="-122"/>
              </a:rPr>
              <a:t>enclave </a:t>
            </a:r>
            <a:r>
              <a:rPr lang="zh-CN" altLang="en-US" dirty="0">
                <a:latin typeface="黑体" panose="02010609060101010101" pitchFamily="49" charset="-122"/>
                <a:ea typeface="黑体" panose="02010609060101010101" pitchFamily="49" charset="-122"/>
              </a:rPr>
              <a:t>的内存映射意图，包括地址范围、权限和共享方式</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用 </a:t>
            </a:r>
            <a:r>
              <a:rPr lang="en-US" altLang="zh-CN" b="1" dirty="0">
                <a:latin typeface="黑体" panose="02010609060101010101" pitchFamily="49" charset="-122"/>
                <a:ea typeface="黑体" panose="02010609060101010101" pitchFamily="49" charset="-122"/>
              </a:rPr>
              <a:t>r-token + FD/Handle Map</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跟踪可共享资源，在 </a:t>
            </a:r>
            <a:r>
              <a:rPr lang="en-US" altLang="zh-CN" dirty="0">
                <a:latin typeface="黑体" panose="02010609060101010101" pitchFamily="49" charset="-122"/>
                <a:ea typeface="黑体" panose="02010609060101010101" pitchFamily="49" charset="-122"/>
              </a:rPr>
              <a:t>enclave </a:t>
            </a:r>
            <a:r>
              <a:rPr lang="zh-CN" altLang="en-US" dirty="0">
                <a:latin typeface="黑体" panose="02010609060101010101" pitchFamily="49" charset="-122"/>
                <a:ea typeface="黑体" panose="02010609060101010101" pitchFamily="49" charset="-122"/>
              </a:rPr>
              <a:t>间安全传递共享标识符</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发生 </a:t>
            </a:r>
            <a:r>
              <a:rPr lang="en-US" altLang="zh-CN" b="1" dirty="0">
                <a:latin typeface="黑体" panose="02010609060101010101" pitchFamily="49" charset="-122"/>
                <a:ea typeface="黑体" panose="02010609060101010101" pitchFamily="49" charset="-122"/>
              </a:rPr>
              <a:t>page fault</a:t>
            </a:r>
            <a:r>
              <a:rPr lang="zh-CN" altLang="en-US" dirty="0">
                <a:latin typeface="黑体" panose="02010609060101010101" pitchFamily="49" charset="-122"/>
                <a:ea typeface="黑体" panose="02010609060101010101" pitchFamily="49" charset="-122"/>
              </a:rPr>
              <a:t> 时，</a:t>
            </a:r>
            <a:r>
              <a:rPr lang="en-US" altLang="zh-CN" dirty="0" err="1">
                <a:latin typeface="黑体" panose="02010609060101010101" pitchFamily="49" charset="-122"/>
                <a:ea typeface="黑体" panose="02010609060101010101" pitchFamily="49" charset="-122"/>
              </a:rPr>
              <a:t>Lowvisor</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根据 </a:t>
            </a:r>
            <a:r>
              <a:rPr lang="en-US" altLang="zh-CN" dirty="0" err="1">
                <a:latin typeface="黑体" panose="02010609060101010101" pitchFamily="49" charset="-122"/>
                <a:ea typeface="黑体" panose="02010609060101010101" pitchFamily="49" charset="-122"/>
              </a:rPr>
              <a:t>eVMA</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和页元数据校验“资源是否正确、偏移是否匹配”，通过后才映射该页</a:t>
            </a:r>
            <a:endParaRPr lang="zh-CN" altLang="en-US" dirty="0">
              <a:latin typeface="黑体" panose="02010609060101010101" pitchFamily="49" charset="-122"/>
              <a:ea typeface="黑体" panose="02010609060101010101" pitchFamily="49" charset="-122"/>
            </a:endParaRPr>
          </a:p>
        </p:txBody>
      </p:sp>
      <p:sp>
        <p:nvSpPr>
          <p:cNvPr id="7" name="文本框 6"/>
          <p:cNvSpPr txBox="1"/>
          <p:nvPr/>
        </p:nvSpPr>
        <p:spPr>
          <a:xfrm>
            <a:off x="2532" y="-17850"/>
            <a:ext cx="6091880" cy="369332"/>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rPr>
              <a:t>共享感知内存监控</a:t>
            </a:r>
            <a:endParaRPr lang="zh-CN" altLang="en-US" dirty="0">
              <a:latin typeface="黑体" panose="02010609060101010101" pitchFamily="49" charset="-122"/>
              <a:ea typeface="黑体" panose="02010609060101010101" pitchFamily="49" charset="-122"/>
            </a:endParaRPr>
          </a:p>
        </p:txBody>
      </p:sp>
      <p:sp>
        <p:nvSpPr>
          <p:cNvPr id="11" name="文本框 10"/>
          <p:cNvSpPr txBox="1"/>
          <p:nvPr/>
        </p:nvSpPr>
        <p:spPr>
          <a:xfrm>
            <a:off x="191527" y="5291073"/>
            <a:ext cx="2698531" cy="646331"/>
          </a:xfrm>
          <a:prstGeom prst="rect">
            <a:avLst/>
          </a:prstGeom>
          <a:noFill/>
        </p:spPr>
        <p:txBody>
          <a:bodyPr wrap="square">
            <a:spAutoFit/>
          </a:bodyPr>
          <a:lstStyle/>
          <a:p>
            <a:r>
              <a:rPr lang="en-US" altLang="zh-CN" sz="1800" dirty="0">
                <a:solidFill>
                  <a:srgbClr val="000000"/>
                </a:solidFill>
                <a:effectLst/>
                <a:latin typeface="NimbusRomNo9L-Regu"/>
              </a:rPr>
              <a:t>Res. represents for resource.</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05271" y="432487"/>
            <a:ext cx="11355859" cy="5046515"/>
          </a:xfrm>
          <a:prstGeom prst="rect">
            <a:avLst/>
          </a:prstGeom>
        </p:spPr>
      </p:pic>
      <p:sp>
        <p:nvSpPr>
          <p:cNvPr id="5" name="文本框 4"/>
          <p:cNvSpPr txBox="1"/>
          <p:nvPr/>
        </p:nvSpPr>
        <p:spPr>
          <a:xfrm>
            <a:off x="305271" y="63155"/>
            <a:ext cx="6091880" cy="369332"/>
          </a:xfrm>
          <a:prstGeom prst="rect">
            <a:avLst/>
          </a:prstGeom>
          <a:noFill/>
        </p:spPr>
        <p:txBody>
          <a:bodyPr wrap="square">
            <a:spAutoFit/>
          </a:bodyPr>
          <a:lstStyle/>
          <a:p>
            <a:r>
              <a:rPr lang="en-US" altLang="zh-CN" dirty="0"/>
              <a:t>Binder </a:t>
            </a:r>
            <a:r>
              <a:rPr lang="zh-CN" altLang="en-US" dirty="0"/>
              <a:t>保护与轻量认证</a:t>
            </a:r>
            <a:endParaRPr lang="zh-CN" altLang="en-US" dirty="0"/>
          </a:p>
        </p:txBody>
      </p:sp>
      <p:sp>
        <p:nvSpPr>
          <p:cNvPr id="7" name="文本框 6"/>
          <p:cNvSpPr txBox="1"/>
          <p:nvPr/>
        </p:nvSpPr>
        <p:spPr>
          <a:xfrm>
            <a:off x="821725" y="5317695"/>
            <a:ext cx="6091880" cy="646331"/>
          </a:xfrm>
          <a:prstGeom prst="rect">
            <a:avLst/>
          </a:prstGeom>
          <a:noFill/>
        </p:spPr>
        <p:txBody>
          <a:bodyPr wrap="square">
            <a:spAutoFit/>
          </a:bodyPr>
          <a:lstStyle/>
          <a:p>
            <a:r>
              <a:rPr lang="zh-CN" altLang="en-US" dirty="0"/>
              <a:t>只对</a:t>
            </a:r>
            <a:r>
              <a:rPr lang="zh-CN" altLang="en-US" b="1" dirty="0"/>
              <a:t>被标记为 </a:t>
            </a:r>
            <a:r>
              <a:rPr lang="en-US" altLang="zh-CN" b="1" dirty="0"/>
              <a:t>protected </a:t>
            </a:r>
            <a:r>
              <a:rPr lang="zh-CN" altLang="en-US" b="1" dirty="0"/>
              <a:t>的 </a:t>
            </a:r>
            <a:r>
              <a:rPr lang="en-US" altLang="zh-CN" b="1" dirty="0"/>
              <a:t>Binder </a:t>
            </a:r>
            <a:r>
              <a:rPr lang="zh-CN" altLang="en-US" b="1" dirty="0"/>
              <a:t>接口</a:t>
            </a:r>
            <a:r>
              <a:rPr lang="zh-CN" altLang="en-US" dirty="0"/>
              <a:t>启用保护，避免对所有 </a:t>
            </a:r>
            <a:r>
              <a:rPr lang="en-US" altLang="zh-CN" dirty="0"/>
              <a:t>Binder </a:t>
            </a:r>
            <a:r>
              <a:rPr lang="zh-CN" altLang="en-US" dirty="0"/>
              <a:t>通信都过度加固带来额外开销。</a:t>
            </a:r>
            <a:endParaRPr lang="zh-CN" altLang="en-US" dirty="0"/>
          </a:p>
        </p:txBody>
      </p:sp>
      <p:sp>
        <p:nvSpPr>
          <p:cNvPr id="9" name="文本框 8"/>
          <p:cNvSpPr txBox="1"/>
          <p:nvPr/>
        </p:nvSpPr>
        <p:spPr>
          <a:xfrm>
            <a:off x="821725" y="5864980"/>
            <a:ext cx="6091880" cy="646331"/>
          </a:xfrm>
          <a:prstGeom prst="rect">
            <a:avLst/>
          </a:prstGeom>
          <a:noFill/>
        </p:spPr>
        <p:txBody>
          <a:bodyPr wrap="square">
            <a:spAutoFit/>
          </a:bodyPr>
          <a:lstStyle/>
          <a:p>
            <a:r>
              <a:rPr lang="en-US" altLang="zh-CN" dirty="0" err="1"/>
              <a:t>Lowvisor</a:t>
            </a:r>
            <a:r>
              <a:rPr lang="en-US" altLang="zh-CN" dirty="0"/>
              <a:t> </a:t>
            </a:r>
            <a:r>
              <a:rPr lang="zh-CN" altLang="en-US" dirty="0"/>
              <a:t>跟踪</a:t>
            </a:r>
            <a:r>
              <a:rPr lang="zh-CN" altLang="en-US" b="1" dirty="0"/>
              <a:t>服务注册与查询</a:t>
            </a:r>
            <a:r>
              <a:rPr lang="zh-CN" altLang="en-US" dirty="0"/>
              <a:t>，维护 </a:t>
            </a:r>
            <a:r>
              <a:rPr lang="en-US" altLang="zh-CN" b="1" dirty="0"/>
              <a:t>Global Service List</a:t>
            </a:r>
            <a:r>
              <a:rPr lang="en-US" altLang="zh-CN" dirty="0"/>
              <a:t> </a:t>
            </a:r>
            <a:r>
              <a:rPr lang="zh-CN" altLang="en-US" dirty="0"/>
              <a:t>和 </a:t>
            </a:r>
            <a:r>
              <a:rPr lang="en-US" altLang="zh-CN" b="1" dirty="0"/>
              <a:t>Binder Ref. Map</a:t>
            </a:r>
            <a:r>
              <a:rPr lang="zh-CN" altLang="en-US" dirty="0"/>
              <a:t>，确定请求应到达的目标服务。</a:t>
            </a:r>
            <a:endParaRPr lang="zh-CN" altLang="en-US" dirty="0"/>
          </a:p>
        </p:txBody>
      </p:sp>
      <p:sp>
        <p:nvSpPr>
          <p:cNvPr id="11" name="文本框 10"/>
          <p:cNvSpPr txBox="1"/>
          <p:nvPr/>
        </p:nvSpPr>
        <p:spPr>
          <a:xfrm>
            <a:off x="6913605" y="5386669"/>
            <a:ext cx="5319583" cy="923330"/>
          </a:xfrm>
          <a:prstGeom prst="rect">
            <a:avLst/>
          </a:prstGeom>
          <a:noFill/>
        </p:spPr>
        <p:txBody>
          <a:bodyPr wrap="square">
            <a:spAutoFit/>
          </a:bodyPr>
          <a:lstStyle/>
          <a:p>
            <a:r>
              <a:rPr lang="zh-CN" altLang="en-US" dirty="0"/>
              <a:t>通过 </a:t>
            </a:r>
            <a:r>
              <a:rPr lang="en-US" altLang="zh-CN" b="1" dirty="0"/>
              <a:t>call gate + protection flag + work list / tr-token</a:t>
            </a:r>
            <a:r>
              <a:rPr lang="en-US" altLang="zh-CN" dirty="0"/>
              <a:t> </a:t>
            </a:r>
            <a:r>
              <a:rPr lang="zh-CN" altLang="en-US" dirty="0"/>
              <a:t>校验通信双方身份与事务状态，防止伪造、篡改和重放。</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711199" y="127562"/>
            <a:ext cx="10290175" cy="3839473"/>
          </a:xfrm>
          <a:prstGeom prst="rect">
            <a:avLst/>
          </a:prstGeom>
        </p:spPr>
      </p:pic>
      <p:sp>
        <p:nvSpPr>
          <p:cNvPr id="6" name="Rectangle 1"/>
          <p:cNvSpPr>
            <a:spLocks noChangeArrowheads="1"/>
          </p:cNvSpPr>
          <p:nvPr/>
        </p:nvSpPr>
        <p:spPr bwMode="auto">
          <a:xfrm>
            <a:off x="454025" y="4654203"/>
            <a:ext cx="11734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pP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通过 </a:t>
            </a: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virtio device binding</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保护显示链路：将 </a:t>
            </a: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HWC</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与 </a:t>
            </a: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virtio-gpu</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绑定，只允许已注册的 I/O buffer 用于安全显示。 </a:t>
            </a: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pP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不把 </a:t>
            </a: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IMS / SystemServer</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纳入可信域，而是保留其输入分发功能，再由 Lowvisor 做额外校验。 </a:t>
            </a: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pP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Lowvisor 维护 </a:t>
            </a: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event slot queue</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，将原始触摸事件与 app 收到的输入做匹配，确认触摸确实来自用户且落在受保护 GUI 区域。 </a:t>
            </a: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7" name="Rectangle 2"/>
          <p:cNvSpPr>
            <a:spLocks noChangeArrowheads="1"/>
          </p:cNvSpPr>
          <p:nvPr/>
        </p:nvSpPr>
        <p:spPr bwMode="auto">
          <a:xfrm>
            <a:off x="5575301" y="3862260"/>
            <a:ext cx="74041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HWC</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：Hardware Composer </a:t>
            </a: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IMS</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：InputManagerService </a:t>
            </a: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event slot queue</a:t>
            </a:r>
            <a:r>
              <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：Lowvisor 保存的原始触摸事件队列 </a:t>
            </a:r>
            <a:endParaRPr kumimoji="0"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 name="TextBox 2"/>
          <p:cNvSpPr txBox="1"/>
          <p:nvPr/>
        </p:nvSpPr>
        <p:spPr>
          <a:xfrm>
            <a:off x="365760" y="50800"/>
            <a:ext cx="4572000" cy="261610"/>
          </a:xfrm>
          <a:prstGeom prst="rect">
            <a:avLst/>
          </a:prstGeom>
          <a:noFill/>
        </p:spPr>
        <p:txBody>
          <a:bodyPr wrap="square">
            <a:spAutoFit/>
          </a:bodyPr>
          <a:lstStyle/>
          <a:p>
            <a:pPr algn="l"/>
            <a:r>
              <a:rPr sz="1100" b="0">
                <a:solidFill>
                  <a:srgbClr val="666666"/>
                </a:solidFill>
                <a:latin typeface="黑体" panose="02010609060101010101" pitchFamily="49" charset="-122"/>
                <a:ea typeface="黑体" panose="02010609060101010101" pitchFamily="49" charset="-122"/>
              </a:rPr>
              <a:t>系统设计  Trust Establishment</a:t>
            </a:r>
            <a:endParaRPr sz="1100" b="0">
              <a:solidFill>
                <a:srgbClr val="666666"/>
              </a:solidFill>
              <a:latin typeface="黑体" panose="02010609060101010101" pitchFamily="49" charset="-122"/>
              <a:ea typeface="黑体" panose="02010609060101010101" pitchFamily="49" charset="-122"/>
            </a:endParaRPr>
          </a:p>
        </p:txBody>
      </p:sp>
      <p:sp>
        <p:nvSpPr>
          <p:cNvPr id="4" name="TextBox 3"/>
          <p:cNvSpPr txBox="1"/>
          <p:nvPr/>
        </p:nvSpPr>
        <p:spPr>
          <a:xfrm>
            <a:off x="11091672" y="50800"/>
            <a:ext cx="1005840" cy="261610"/>
          </a:xfrm>
          <a:prstGeom prst="rect">
            <a:avLst/>
          </a:prstGeom>
          <a:noFill/>
        </p:spPr>
        <p:txBody>
          <a:bodyPr wrap="square">
            <a:spAutoFit/>
          </a:bodyPr>
          <a:lstStyle/>
          <a:p>
            <a:pPr algn="r"/>
            <a:r>
              <a:rPr sz="1100" b="1">
                <a:solidFill>
                  <a:srgbClr val="D62828"/>
                </a:solidFill>
                <a:latin typeface="黑体" panose="02010609060101010101" pitchFamily="49" charset="-122"/>
                <a:ea typeface="黑体" panose="02010609060101010101" pitchFamily="49" charset="-122"/>
              </a:rPr>
              <a:t>12 / 17</a:t>
            </a:r>
            <a:endParaRPr sz="1100" b="1">
              <a:solidFill>
                <a:srgbClr val="D62828"/>
              </a:solidFill>
              <a:latin typeface="黑体" panose="02010609060101010101" pitchFamily="49" charset="-122"/>
              <a:ea typeface="黑体" panose="02010609060101010101" pitchFamily="49" charset="-122"/>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 name="TextBox 5"/>
          <p:cNvSpPr txBox="1"/>
          <p:nvPr/>
        </p:nvSpPr>
        <p:spPr>
          <a:xfrm>
            <a:off x="548640" y="594360"/>
            <a:ext cx="3657600" cy="276999"/>
          </a:xfrm>
          <a:prstGeom prst="rect">
            <a:avLst/>
          </a:prstGeom>
          <a:noFill/>
        </p:spPr>
        <p:txBody>
          <a:bodyPr wrap="square">
            <a:spAutoFit/>
          </a:bodyPr>
          <a:lstStyle/>
          <a:p>
            <a:pPr algn="l"/>
            <a:r>
              <a:rPr sz="1200" b="1">
                <a:solidFill>
                  <a:srgbClr val="D62828"/>
                </a:solidFill>
                <a:latin typeface="黑体" panose="02010609060101010101" pitchFamily="49" charset="-122"/>
                <a:ea typeface="黑体" panose="02010609060101010101" pitchFamily="49" charset="-122"/>
              </a:rPr>
              <a:t>TRUST ESTABLISHMENT</a:t>
            </a:r>
            <a:endParaRPr sz="1200" b="1">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548640" y="86868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 name="TextBox 7"/>
          <p:cNvSpPr txBox="1"/>
          <p:nvPr/>
        </p:nvSpPr>
        <p:spPr>
          <a:xfrm>
            <a:off x="548640" y="960120"/>
            <a:ext cx="7315200" cy="492443"/>
          </a:xfrm>
          <a:prstGeom prst="rect">
            <a:avLst/>
          </a:prstGeom>
          <a:noFill/>
        </p:spPr>
        <p:txBody>
          <a:bodyPr wrap="square">
            <a:spAutoFit/>
          </a:bodyPr>
          <a:lstStyle/>
          <a:p>
            <a:pPr algn="l"/>
            <a:r>
              <a:rPr sz="2600" b="1">
                <a:solidFill>
                  <a:srgbClr val="111111"/>
                </a:solidFill>
                <a:latin typeface="黑体" panose="02010609060101010101" pitchFamily="49" charset="-122"/>
                <a:ea typeface="黑体" panose="02010609060101010101" pitchFamily="49" charset="-122"/>
              </a:rPr>
              <a:t>信任建立与加密通道</a:t>
            </a:r>
            <a:endParaRPr sz="2600" b="1">
              <a:solidFill>
                <a:srgbClr val="111111"/>
              </a:solidFill>
              <a:latin typeface="黑体" panose="02010609060101010101" pitchFamily="49" charset="-122"/>
              <a:ea typeface="黑体" panose="02010609060101010101" pitchFamily="49" charset="-122"/>
            </a:endParaRPr>
          </a:p>
        </p:txBody>
      </p:sp>
      <p:sp>
        <p:nvSpPr>
          <p:cNvPr id="9" name="TextBox 8"/>
          <p:cNvSpPr txBox="1"/>
          <p:nvPr/>
        </p:nvSpPr>
        <p:spPr>
          <a:xfrm>
            <a:off x="548640" y="1600200"/>
            <a:ext cx="5029200" cy="369332"/>
          </a:xfrm>
          <a:prstGeom prst="rect">
            <a:avLst/>
          </a:prstGeom>
          <a:noFill/>
        </p:spPr>
        <p:txBody>
          <a:bodyPr wrap="square">
            <a:spAutoFit/>
          </a:bodyPr>
          <a:lstStyle/>
          <a:p>
            <a:pPr algn="l"/>
            <a:r>
              <a:rPr b="1">
                <a:solidFill>
                  <a:srgbClr val="111111"/>
                </a:solidFill>
                <a:latin typeface="黑体" panose="02010609060101010101" pitchFamily="49" charset="-122"/>
                <a:ea typeface="黑体" panose="02010609060101010101" pitchFamily="49" charset="-122"/>
              </a:rPr>
              <a:t>Enclave 身份认证 (满足 R1)</a:t>
            </a:r>
            <a:endParaRPr b="1">
              <a:solidFill>
                <a:srgbClr val="111111"/>
              </a:solidFill>
              <a:latin typeface="黑体" panose="02010609060101010101" pitchFamily="49" charset="-122"/>
              <a:ea typeface="黑体" panose="02010609060101010101" pitchFamily="49" charset="-122"/>
            </a:endParaRPr>
          </a:p>
        </p:txBody>
      </p:sp>
      <p:sp>
        <p:nvSpPr>
          <p:cNvPr id="10" name="TextBox 9"/>
          <p:cNvSpPr txBox="1"/>
          <p:nvPr/>
        </p:nvSpPr>
        <p:spPr>
          <a:xfrm>
            <a:off x="548640" y="1965960"/>
            <a:ext cx="5303520" cy="1631216"/>
          </a:xfrm>
          <a:prstGeom prst="rect">
            <a:avLst/>
          </a:prstGeom>
          <a:noFill/>
        </p:spPr>
        <p:txBody>
          <a:bodyPr wrap="square">
            <a:spAutoFit/>
          </a:bodyPr>
          <a:lstStyle/>
          <a:p>
            <a:pPr>
              <a:spcBef>
                <a:spcPts val="400"/>
              </a:spcBef>
            </a:pP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每个</a:t>
            </a:r>
            <a:r>
              <a:rPr dirty="0">
                <a:solidFill>
                  <a:srgbClr val="111111"/>
                </a:solidFill>
                <a:latin typeface="黑体" panose="02010609060101010101" pitchFamily="49" charset="-122"/>
                <a:ea typeface="黑体" panose="02010609060101010101" pitchFamily="49" charset="-122"/>
              </a:rPr>
              <a:t> enclave </a:t>
            </a:r>
            <a:r>
              <a:rPr dirty="0" err="1">
                <a:solidFill>
                  <a:srgbClr val="111111"/>
                </a:solidFill>
                <a:latin typeface="黑体" panose="02010609060101010101" pitchFamily="49" charset="-122"/>
                <a:ea typeface="黑体" panose="02010609060101010101" pitchFamily="49" charset="-122"/>
              </a:rPr>
              <a:t>二进制绑定唯一</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eID</a:t>
            </a:r>
            <a:endParaRPr dirty="0">
              <a:solidFill>
                <a:srgbClr val="111111"/>
              </a:solidFill>
              <a:latin typeface="黑体" panose="02010609060101010101" pitchFamily="49" charset="-122"/>
              <a:ea typeface="黑体" panose="02010609060101010101" pitchFamily="49" charset="-122"/>
            </a:endParaRPr>
          </a:p>
          <a:p>
            <a:pPr>
              <a:spcBef>
                <a:spcPts val="400"/>
              </a:spcBef>
            </a:pP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部署时：签名二进制，生成</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bin_digest，计算二次摘要</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dig_digest</a:t>
            </a:r>
            <a:endParaRPr dirty="0">
              <a:solidFill>
                <a:srgbClr val="111111"/>
              </a:solidFill>
              <a:latin typeface="黑体" panose="02010609060101010101" pitchFamily="49" charset="-122"/>
              <a:ea typeface="黑体" panose="02010609060101010101" pitchFamily="49" charset="-122"/>
            </a:endParaRPr>
          </a:p>
          <a:p>
            <a:pPr>
              <a:spcBef>
                <a:spcPts val="400"/>
              </a:spcBef>
            </a:pP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启动时：Lowvisor</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通过白名单两级验证签名</a:t>
            </a:r>
            <a:endParaRPr dirty="0">
              <a:solidFill>
                <a:srgbClr val="111111"/>
              </a:solidFill>
              <a:latin typeface="黑体" panose="02010609060101010101" pitchFamily="49" charset="-122"/>
              <a:ea typeface="黑体" panose="02010609060101010101" pitchFamily="49" charset="-122"/>
            </a:endParaRPr>
          </a:p>
          <a:p>
            <a:pPr>
              <a:spcBef>
                <a:spcPts val="400"/>
              </a:spcBef>
            </a:pPr>
            <a:r>
              <a:rPr lang="en-US" altLang="zh-CN" dirty="0">
                <a:solidFill>
                  <a:srgbClr val="111111"/>
                </a:solidFill>
                <a:latin typeface="黑体" panose="02010609060101010101" pitchFamily="49" charset="-122"/>
                <a:ea typeface="黑体" panose="02010609060101010101" pitchFamily="49" charset="-122"/>
              </a:rPr>
              <a:t>■  </a:t>
            </a:r>
            <a:r>
              <a:rPr lang="zh-CN" altLang="en-US" dirty="0">
                <a:solidFill>
                  <a:srgbClr val="111111"/>
                </a:solidFill>
                <a:latin typeface="黑体" panose="02010609060101010101" pitchFamily="49" charset="-122"/>
                <a:ea typeface="黑体" panose="02010609060101010101" pitchFamily="49" charset="-122"/>
              </a:rPr>
              <a:t>仅 </a:t>
            </a:r>
            <a:r>
              <a:rPr lang="en-US" altLang="zh-CN" dirty="0">
                <a:solidFill>
                  <a:srgbClr val="111111"/>
                </a:solidFill>
                <a:latin typeface="黑体" panose="02010609060101010101" pitchFamily="49" charset="-122"/>
                <a:ea typeface="黑体" panose="02010609060101010101" pitchFamily="49" charset="-122"/>
              </a:rPr>
              <a:t>VHAL </a:t>
            </a:r>
            <a:r>
              <a:rPr lang="zh-CN" altLang="en-US" dirty="0">
                <a:solidFill>
                  <a:srgbClr val="111111"/>
                </a:solidFill>
                <a:latin typeface="黑体" panose="02010609060101010101" pitchFamily="49" charset="-122"/>
                <a:ea typeface="黑体" panose="02010609060101010101" pitchFamily="49" charset="-122"/>
              </a:rPr>
              <a:t>可连接 </a:t>
            </a:r>
            <a:r>
              <a:rPr lang="en-US" altLang="zh-CN" dirty="0">
                <a:solidFill>
                  <a:srgbClr val="111111"/>
                </a:solidFill>
                <a:latin typeface="黑体" panose="02010609060101010101" pitchFamily="49" charset="-122"/>
                <a:ea typeface="黑体" panose="02010609060101010101" pitchFamily="49" charset="-122"/>
              </a:rPr>
              <a:t>IVN</a:t>
            </a:r>
            <a:r>
              <a:rPr lang="zh-CN" altLang="en-US" dirty="0">
                <a:solidFill>
                  <a:srgbClr val="111111"/>
                </a:solidFill>
                <a:latin typeface="黑体" panose="02010609060101010101" pitchFamily="49" charset="-122"/>
                <a:ea typeface="黑体" panose="02010609060101010101" pitchFamily="49" charset="-122"/>
              </a:rPr>
              <a:t>，其他软件禁止访问</a:t>
            </a:r>
            <a:endParaRPr lang="zh-CN" altLang="en-US" dirty="0">
              <a:solidFill>
                <a:srgbClr val="111111"/>
              </a:solidFill>
              <a:latin typeface="黑体" panose="02010609060101010101" pitchFamily="49" charset="-122"/>
              <a:ea typeface="黑体" panose="02010609060101010101" pitchFamily="49" charset="-122"/>
            </a:endParaRPr>
          </a:p>
        </p:txBody>
      </p:sp>
      <p:sp>
        <p:nvSpPr>
          <p:cNvPr id="11" name="TextBox 10"/>
          <p:cNvSpPr txBox="1"/>
          <p:nvPr/>
        </p:nvSpPr>
        <p:spPr>
          <a:xfrm>
            <a:off x="6126480" y="1600200"/>
            <a:ext cx="5029200" cy="369332"/>
          </a:xfrm>
          <a:prstGeom prst="rect">
            <a:avLst/>
          </a:prstGeom>
          <a:noFill/>
        </p:spPr>
        <p:txBody>
          <a:bodyPr wrap="square">
            <a:spAutoFit/>
          </a:bodyPr>
          <a:lstStyle/>
          <a:p>
            <a:pPr algn="l"/>
            <a:r>
              <a:rPr b="1">
                <a:solidFill>
                  <a:srgbClr val="111111"/>
                </a:solidFill>
                <a:latin typeface="黑体" panose="02010609060101010101" pitchFamily="49" charset="-122"/>
                <a:ea typeface="黑体" panose="02010609060101010101" pitchFamily="49" charset="-122"/>
              </a:rPr>
              <a:t>加密通道</a:t>
            </a:r>
            <a:endParaRPr b="1">
              <a:solidFill>
                <a:srgbClr val="111111"/>
              </a:solidFill>
              <a:latin typeface="黑体" panose="02010609060101010101" pitchFamily="49" charset="-122"/>
              <a:ea typeface="黑体" panose="02010609060101010101" pitchFamily="49" charset="-122"/>
            </a:endParaRPr>
          </a:p>
        </p:txBody>
      </p:sp>
      <p:sp>
        <p:nvSpPr>
          <p:cNvPr id="12" name="TextBox 11"/>
          <p:cNvSpPr txBox="1"/>
          <p:nvPr/>
        </p:nvSpPr>
        <p:spPr>
          <a:xfrm>
            <a:off x="6126480" y="1965960"/>
            <a:ext cx="5303520" cy="1579920"/>
          </a:xfrm>
          <a:prstGeom prst="rect">
            <a:avLst/>
          </a:prstGeom>
          <a:noFill/>
        </p:spPr>
        <p:txBody>
          <a:bodyPr wrap="square">
            <a:spAutoFit/>
          </a:bodyPr>
          <a:lstStyle/>
          <a:p>
            <a:pPr>
              <a:spcBef>
                <a:spcPts val="400"/>
              </a:spcBef>
            </a:pP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Lowvisor</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在系统启动时为每个</a:t>
            </a:r>
            <a:r>
              <a:rPr dirty="0">
                <a:solidFill>
                  <a:srgbClr val="111111"/>
                </a:solidFill>
                <a:latin typeface="黑体" panose="02010609060101010101" pitchFamily="49" charset="-122"/>
                <a:ea typeface="黑体" panose="02010609060101010101" pitchFamily="49" charset="-122"/>
              </a:rPr>
              <a:t> ECU </a:t>
            </a:r>
            <a:r>
              <a:rPr dirty="0" err="1">
                <a:solidFill>
                  <a:srgbClr val="111111"/>
                </a:solidFill>
                <a:latin typeface="黑体" panose="02010609060101010101" pitchFamily="49" charset="-122"/>
                <a:ea typeface="黑体" panose="02010609060101010101" pitchFamily="49" charset="-122"/>
              </a:rPr>
              <a:t>分配对称密钥</a:t>
            </a:r>
            <a:endParaRPr dirty="0">
              <a:solidFill>
                <a:srgbClr val="111111"/>
              </a:solidFill>
              <a:latin typeface="黑体" panose="02010609060101010101" pitchFamily="49" charset="-122"/>
              <a:ea typeface="黑体" panose="02010609060101010101" pitchFamily="49" charset="-122"/>
            </a:endParaRPr>
          </a:p>
          <a:p>
            <a:pPr>
              <a:spcBef>
                <a:spcPts val="400"/>
              </a:spcBef>
            </a:pPr>
            <a:r>
              <a:rPr dirty="0">
                <a:solidFill>
                  <a:srgbClr val="111111"/>
                </a:solidFill>
                <a:latin typeface="黑体" panose="02010609060101010101" pitchFamily="49" charset="-122"/>
                <a:ea typeface="黑体" panose="02010609060101010101" pitchFamily="49" charset="-122"/>
              </a:rPr>
              <a:t>■  VHAL </a:t>
            </a:r>
            <a:r>
              <a:rPr dirty="0" err="1">
                <a:solidFill>
                  <a:srgbClr val="111111"/>
                </a:solidFill>
                <a:latin typeface="黑体" panose="02010609060101010101" pitchFamily="49" charset="-122"/>
                <a:ea typeface="黑体" panose="02010609060101010101" pitchFamily="49" charset="-122"/>
              </a:rPr>
              <a:t>发送消息前签名，ECU</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解密并验证签名</a:t>
            </a:r>
            <a:endParaRPr dirty="0">
              <a:solidFill>
                <a:srgbClr val="111111"/>
              </a:solidFill>
              <a:latin typeface="黑体" panose="02010609060101010101" pitchFamily="49" charset="-122"/>
              <a:ea typeface="黑体" panose="02010609060101010101" pitchFamily="49" charset="-122"/>
            </a:endParaRPr>
          </a:p>
          <a:p>
            <a:pPr>
              <a:spcBef>
                <a:spcPts val="400"/>
              </a:spcBef>
            </a:pP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每次传输增加并签名递增</a:t>
            </a:r>
            <a:r>
              <a:rPr dirty="0">
                <a:solidFill>
                  <a:srgbClr val="111111"/>
                </a:solidFill>
                <a:latin typeface="黑体" panose="02010609060101010101" pitchFamily="49" charset="-122"/>
                <a:ea typeface="黑体" panose="02010609060101010101" pitchFamily="49" charset="-122"/>
              </a:rPr>
              <a:t> </a:t>
            </a:r>
            <a:r>
              <a:rPr dirty="0" err="1">
                <a:solidFill>
                  <a:srgbClr val="111111"/>
                </a:solidFill>
                <a:latin typeface="黑体" panose="02010609060101010101" pitchFamily="49" charset="-122"/>
                <a:ea typeface="黑体" panose="02010609060101010101" pitchFamily="49" charset="-122"/>
              </a:rPr>
              <a:t>nonce，抵御重放攻击</a:t>
            </a:r>
            <a:endParaRPr dirty="0">
              <a:solidFill>
                <a:srgbClr val="111111"/>
              </a:solidFill>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3" name="TextBox 2"/>
          <p:cNvSpPr txBox="1"/>
          <p:nvPr/>
        </p:nvSpPr>
        <p:spPr>
          <a:xfrm>
            <a:off x="365760" y="50800"/>
            <a:ext cx="4572000" cy="261610"/>
          </a:xfrm>
          <a:prstGeom prst="rect">
            <a:avLst/>
          </a:prstGeom>
          <a:noFill/>
        </p:spPr>
        <p:txBody>
          <a:bodyPr wrap="square">
            <a:spAutoFit/>
          </a:bodyPr>
          <a:lstStyle/>
          <a:p>
            <a:pPr algn="l"/>
            <a:r>
              <a:rPr sz="1100" b="0">
                <a:solidFill>
                  <a:srgbClr val="666666"/>
                </a:solidFill>
                <a:latin typeface="黑体" panose="02010609060101010101" pitchFamily="49" charset="-122"/>
                <a:ea typeface="黑体" panose="02010609060101010101" pitchFamily="49" charset="-122"/>
              </a:rPr>
              <a:t>安全评估  Security Analysis</a:t>
            </a:r>
            <a:endParaRPr sz="1100" b="0">
              <a:solidFill>
                <a:srgbClr val="666666"/>
              </a:solidFill>
              <a:latin typeface="黑体" panose="02010609060101010101" pitchFamily="49" charset="-122"/>
              <a:ea typeface="黑体" panose="02010609060101010101" pitchFamily="49" charset="-122"/>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6" name="TextBox 5"/>
          <p:cNvSpPr txBox="1"/>
          <p:nvPr/>
        </p:nvSpPr>
        <p:spPr>
          <a:xfrm>
            <a:off x="548640" y="594360"/>
            <a:ext cx="3657600" cy="276999"/>
          </a:xfrm>
          <a:prstGeom prst="rect">
            <a:avLst/>
          </a:prstGeom>
          <a:noFill/>
        </p:spPr>
        <p:txBody>
          <a:bodyPr wrap="square">
            <a:spAutoFit/>
          </a:bodyPr>
          <a:lstStyle/>
          <a:p>
            <a:pPr algn="l"/>
            <a:r>
              <a:rPr sz="1200" b="1">
                <a:solidFill>
                  <a:srgbClr val="D62828"/>
                </a:solidFill>
                <a:latin typeface="黑体" panose="02010609060101010101" pitchFamily="49" charset="-122"/>
                <a:ea typeface="黑体" panose="02010609060101010101" pitchFamily="49" charset="-122"/>
              </a:rPr>
              <a:t>SECURITY ANALYSIS</a:t>
            </a:r>
            <a:endParaRPr sz="1200" b="1">
              <a:solidFill>
                <a:srgbClr val="D62828"/>
              </a:solidFill>
              <a:latin typeface="黑体" panose="02010609060101010101" pitchFamily="49" charset="-122"/>
              <a:ea typeface="黑体" panose="02010609060101010101" pitchFamily="49" charset="-122"/>
            </a:endParaRPr>
          </a:p>
        </p:txBody>
      </p:sp>
      <p:sp>
        <p:nvSpPr>
          <p:cNvPr id="7" name="Rectangle 6"/>
          <p:cNvSpPr/>
          <p:nvPr/>
        </p:nvSpPr>
        <p:spPr>
          <a:xfrm>
            <a:off x="548640" y="86868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8" name="TextBox 7"/>
          <p:cNvSpPr txBox="1"/>
          <p:nvPr/>
        </p:nvSpPr>
        <p:spPr>
          <a:xfrm>
            <a:off x="548640" y="960120"/>
            <a:ext cx="7315200" cy="492443"/>
          </a:xfrm>
          <a:prstGeom prst="rect">
            <a:avLst/>
          </a:prstGeom>
          <a:noFill/>
        </p:spPr>
        <p:txBody>
          <a:bodyPr wrap="square">
            <a:spAutoFit/>
          </a:bodyPr>
          <a:lstStyle/>
          <a:p>
            <a:pPr algn="l"/>
            <a:r>
              <a:rPr sz="2600" b="1">
                <a:solidFill>
                  <a:srgbClr val="111111"/>
                </a:solidFill>
                <a:latin typeface="黑体" panose="02010609060101010101" pitchFamily="49" charset="-122"/>
                <a:ea typeface="黑体" panose="02010609060101010101" pitchFamily="49" charset="-122"/>
              </a:rPr>
              <a:t>安全评估</a:t>
            </a:r>
            <a:endParaRPr sz="2600" b="1">
              <a:solidFill>
                <a:srgbClr val="111111"/>
              </a:solidFill>
              <a:latin typeface="黑体" panose="02010609060101010101" pitchFamily="49" charset="-122"/>
              <a:ea typeface="黑体" panose="02010609060101010101" pitchFamily="49" charset="-122"/>
            </a:endParaRPr>
          </a:p>
        </p:txBody>
      </p:sp>
      <p:sp>
        <p:nvSpPr>
          <p:cNvPr id="9" name="TextBox 8"/>
          <p:cNvSpPr txBox="1"/>
          <p:nvPr/>
        </p:nvSpPr>
        <p:spPr>
          <a:xfrm>
            <a:off x="548640" y="1554480"/>
            <a:ext cx="5029200" cy="307777"/>
          </a:xfrm>
          <a:prstGeom prst="rect">
            <a:avLst/>
          </a:prstGeom>
          <a:noFill/>
        </p:spPr>
        <p:txBody>
          <a:bodyPr wrap="square">
            <a:spAutoFit/>
          </a:bodyPr>
          <a:lstStyle/>
          <a:p>
            <a:pPr algn="l"/>
            <a:r>
              <a:rPr sz="1400" b="1">
                <a:solidFill>
                  <a:srgbClr val="111111"/>
                </a:solidFill>
                <a:latin typeface="黑体" panose="02010609060101010101" pitchFamily="49" charset="-122"/>
                <a:ea typeface="黑体" panose="02010609060101010101" pitchFamily="49" charset="-122"/>
              </a:rPr>
              <a:t>26 个真实 CVE 分析</a:t>
            </a:r>
            <a:endParaRPr sz="1400" b="1">
              <a:solidFill>
                <a:srgbClr val="111111"/>
              </a:solidFill>
              <a:latin typeface="黑体" panose="02010609060101010101" pitchFamily="49" charset="-122"/>
              <a:ea typeface="黑体" panose="02010609060101010101" pitchFamily="49" charset="-122"/>
            </a:endParaRPr>
          </a:p>
        </p:txBody>
      </p:sp>
      <p:sp>
        <p:nvSpPr>
          <p:cNvPr id="10" name="TextBox 9"/>
          <p:cNvSpPr txBox="1"/>
          <p:nvPr/>
        </p:nvSpPr>
        <p:spPr>
          <a:xfrm>
            <a:off x="457200" y="1767840"/>
            <a:ext cx="5303520" cy="430887"/>
          </a:xfrm>
          <a:prstGeom prst="rect">
            <a:avLst/>
          </a:prstGeom>
          <a:noFill/>
        </p:spPr>
        <p:txBody>
          <a:bodyPr wrap="square">
            <a:spAutoFit/>
          </a:bodyPr>
          <a:lstStyle/>
          <a:p>
            <a:pPr algn="l"/>
            <a:r>
              <a:rPr sz="1100" b="0" dirty="0" err="1">
                <a:solidFill>
                  <a:srgbClr val="666666"/>
                </a:solidFill>
                <a:latin typeface="黑体" panose="02010609060101010101" pitchFamily="49" charset="-122"/>
                <a:ea typeface="黑体" panose="02010609060101010101" pitchFamily="49" charset="-122"/>
              </a:rPr>
              <a:t>分析了与</a:t>
            </a:r>
            <a:r>
              <a:rPr sz="1100" b="0" dirty="0">
                <a:solidFill>
                  <a:srgbClr val="666666"/>
                </a:solidFill>
                <a:latin typeface="黑体" panose="02010609060101010101" pitchFamily="49" charset="-122"/>
                <a:ea typeface="黑体" panose="02010609060101010101" pitchFamily="49" charset="-122"/>
              </a:rPr>
              <a:t> IVI </a:t>
            </a:r>
            <a:r>
              <a:rPr sz="1100" b="0" dirty="0" err="1">
                <a:solidFill>
                  <a:srgbClr val="666666"/>
                </a:solidFill>
                <a:latin typeface="黑体" panose="02010609060101010101" pitchFamily="49" charset="-122"/>
                <a:ea typeface="黑体" panose="02010609060101010101" pitchFamily="49" charset="-122"/>
              </a:rPr>
              <a:t>系统相关的</a:t>
            </a:r>
            <a:r>
              <a:rPr sz="1100" b="0" dirty="0">
                <a:solidFill>
                  <a:srgbClr val="666666"/>
                </a:solidFill>
                <a:latin typeface="黑体" panose="02010609060101010101" pitchFamily="49" charset="-122"/>
                <a:ea typeface="黑体" panose="02010609060101010101" pitchFamily="49" charset="-122"/>
              </a:rPr>
              <a:t> </a:t>
            </a:r>
            <a:r>
              <a:rPr sz="1100" b="0" dirty="0" err="1">
                <a:solidFill>
                  <a:srgbClr val="666666"/>
                </a:solidFill>
                <a:latin typeface="黑体" panose="02010609060101010101" pitchFamily="49" charset="-122"/>
                <a:ea typeface="黑体" panose="02010609060101010101" pitchFamily="49" charset="-122"/>
              </a:rPr>
              <a:t>CVE，涵盖权限提升、代码执行、内存破坏、点击劫持等类型</a:t>
            </a:r>
            <a:endParaRPr sz="1100" b="0" dirty="0">
              <a:solidFill>
                <a:srgbClr val="666666"/>
              </a:solidFill>
              <a:latin typeface="黑体" panose="02010609060101010101" pitchFamily="49" charset="-122"/>
              <a:ea typeface="黑体" panose="02010609060101010101" pitchFamily="49" charset="-122"/>
            </a:endParaRPr>
          </a:p>
        </p:txBody>
      </p:sp>
      <p:sp>
        <p:nvSpPr>
          <p:cNvPr id="11" name="Rectangle 10"/>
          <p:cNvSpPr/>
          <p:nvPr/>
        </p:nvSpPr>
        <p:spPr>
          <a:xfrm>
            <a:off x="548640" y="2148840"/>
            <a:ext cx="1188720" cy="914400"/>
          </a:xfrm>
          <a:prstGeom prst="rect">
            <a:avLst/>
          </a:prstGeom>
          <a:solidFill>
            <a:srgbClr val="F8F8F8"/>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2" name="TextBox 11"/>
          <p:cNvSpPr txBox="1"/>
          <p:nvPr/>
        </p:nvSpPr>
        <p:spPr>
          <a:xfrm>
            <a:off x="548640" y="2194560"/>
            <a:ext cx="1188720" cy="508000"/>
          </a:xfrm>
          <a:prstGeom prst="rect">
            <a:avLst/>
          </a:prstGeom>
          <a:noFill/>
        </p:spPr>
        <p:txBody>
          <a:bodyPr wrap="square">
            <a:spAutoFit/>
          </a:bodyPr>
          <a:lstStyle/>
          <a:p>
            <a:pPr algn="ctr"/>
            <a:r>
              <a:rPr lang="en-US" sz="2600" b="1" dirty="0">
                <a:solidFill>
                  <a:srgbClr val="D62828"/>
                </a:solidFill>
                <a:latin typeface="黑体" panose="02010609060101010101" pitchFamily="49" charset="-122"/>
                <a:ea typeface="黑体" panose="02010609060101010101" pitchFamily="49" charset="-122"/>
              </a:rPr>
              <a:t>9</a:t>
            </a:r>
            <a:endParaRPr sz="2600" b="1" dirty="0">
              <a:solidFill>
                <a:srgbClr val="D62828"/>
              </a:solidFill>
              <a:latin typeface="黑体" panose="02010609060101010101" pitchFamily="49" charset="-122"/>
              <a:ea typeface="黑体" panose="02010609060101010101" pitchFamily="49" charset="-122"/>
            </a:endParaRPr>
          </a:p>
        </p:txBody>
      </p:sp>
      <p:sp>
        <p:nvSpPr>
          <p:cNvPr id="13" name="TextBox 12"/>
          <p:cNvSpPr txBox="1"/>
          <p:nvPr/>
        </p:nvSpPr>
        <p:spPr>
          <a:xfrm>
            <a:off x="548640" y="2697480"/>
            <a:ext cx="1188720" cy="254000"/>
          </a:xfrm>
          <a:prstGeom prst="rect">
            <a:avLst/>
          </a:prstGeom>
          <a:noFill/>
        </p:spPr>
        <p:txBody>
          <a:bodyPr wrap="square">
            <a:spAutoFit/>
          </a:bodyPr>
          <a:lstStyle/>
          <a:p>
            <a:pPr algn="ctr"/>
            <a:r>
              <a:rPr sz="1000" b="0">
                <a:solidFill>
                  <a:srgbClr val="666666"/>
                </a:solidFill>
                <a:latin typeface="黑体" panose="02010609060101010101" pitchFamily="49" charset="-122"/>
                <a:ea typeface="黑体" panose="02010609060101010101" pitchFamily="49" charset="-122"/>
              </a:rPr>
              <a:t>权限提升</a:t>
            </a:r>
            <a:endParaRPr sz="1000" b="0">
              <a:solidFill>
                <a:srgbClr val="666666"/>
              </a:solidFill>
              <a:latin typeface="黑体" panose="02010609060101010101" pitchFamily="49" charset="-122"/>
              <a:ea typeface="黑体" panose="02010609060101010101" pitchFamily="49" charset="-122"/>
            </a:endParaRPr>
          </a:p>
        </p:txBody>
      </p:sp>
      <p:sp>
        <p:nvSpPr>
          <p:cNvPr id="14" name="Rectangle 13"/>
          <p:cNvSpPr/>
          <p:nvPr/>
        </p:nvSpPr>
        <p:spPr>
          <a:xfrm>
            <a:off x="1874519" y="2148840"/>
            <a:ext cx="1188720" cy="914400"/>
          </a:xfrm>
          <a:prstGeom prst="rect">
            <a:avLst/>
          </a:prstGeom>
          <a:solidFill>
            <a:srgbClr val="F8F8F8"/>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5" name="TextBox 14"/>
          <p:cNvSpPr txBox="1"/>
          <p:nvPr/>
        </p:nvSpPr>
        <p:spPr>
          <a:xfrm>
            <a:off x="1874519" y="2194560"/>
            <a:ext cx="1188720" cy="508000"/>
          </a:xfrm>
          <a:prstGeom prst="rect">
            <a:avLst/>
          </a:prstGeom>
          <a:noFill/>
        </p:spPr>
        <p:txBody>
          <a:bodyPr wrap="square">
            <a:spAutoFit/>
          </a:bodyPr>
          <a:lstStyle/>
          <a:p>
            <a:pPr algn="ctr"/>
            <a:r>
              <a:rPr lang="en-US" sz="2600" b="1" dirty="0">
                <a:solidFill>
                  <a:srgbClr val="D62828"/>
                </a:solidFill>
                <a:latin typeface="黑体" panose="02010609060101010101" pitchFamily="49" charset="-122"/>
                <a:ea typeface="黑体" panose="02010609060101010101" pitchFamily="49" charset="-122"/>
              </a:rPr>
              <a:t>9</a:t>
            </a:r>
            <a:endParaRPr sz="2600" b="1" dirty="0">
              <a:solidFill>
                <a:srgbClr val="D62828"/>
              </a:solidFill>
              <a:latin typeface="黑体" panose="02010609060101010101" pitchFamily="49" charset="-122"/>
              <a:ea typeface="黑体" panose="02010609060101010101" pitchFamily="49" charset="-122"/>
            </a:endParaRPr>
          </a:p>
        </p:txBody>
      </p:sp>
      <p:sp>
        <p:nvSpPr>
          <p:cNvPr id="16" name="TextBox 15"/>
          <p:cNvSpPr txBox="1"/>
          <p:nvPr/>
        </p:nvSpPr>
        <p:spPr>
          <a:xfrm>
            <a:off x="1874519" y="2697480"/>
            <a:ext cx="1188720" cy="254000"/>
          </a:xfrm>
          <a:prstGeom prst="rect">
            <a:avLst/>
          </a:prstGeom>
          <a:noFill/>
        </p:spPr>
        <p:txBody>
          <a:bodyPr wrap="square">
            <a:spAutoFit/>
          </a:bodyPr>
          <a:lstStyle/>
          <a:p>
            <a:pPr algn="ctr"/>
            <a:r>
              <a:rPr sz="1000" b="0">
                <a:solidFill>
                  <a:srgbClr val="666666"/>
                </a:solidFill>
                <a:latin typeface="黑体" panose="02010609060101010101" pitchFamily="49" charset="-122"/>
                <a:ea typeface="黑体" panose="02010609060101010101" pitchFamily="49" charset="-122"/>
              </a:rPr>
              <a:t>任意代码执行</a:t>
            </a:r>
            <a:endParaRPr sz="1000" b="0">
              <a:solidFill>
                <a:srgbClr val="666666"/>
              </a:solidFill>
              <a:latin typeface="黑体" panose="02010609060101010101" pitchFamily="49" charset="-122"/>
              <a:ea typeface="黑体" panose="02010609060101010101" pitchFamily="49" charset="-122"/>
            </a:endParaRPr>
          </a:p>
        </p:txBody>
      </p:sp>
      <p:sp>
        <p:nvSpPr>
          <p:cNvPr id="17" name="Rectangle 16"/>
          <p:cNvSpPr/>
          <p:nvPr/>
        </p:nvSpPr>
        <p:spPr>
          <a:xfrm>
            <a:off x="3200400" y="2148840"/>
            <a:ext cx="1188720" cy="914400"/>
          </a:xfrm>
          <a:prstGeom prst="rect">
            <a:avLst/>
          </a:prstGeom>
          <a:solidFill>
            <a:srgbClr val="F8F8F8"/>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18" name="TextBox 17"/>
          <p:cNvSpPr txBox="1"/>
          <p:nvPr/>
        </p:nvSpPr>
        <p:spPr>
          <a:xfrm>
            <a:off x="3200400" y="2194560"/>
            <a:ext cx="1188720" cy="508000"/>
          </a:xfrm>
          <a:prstGeom prst="rect">
            <a:avLst/>
          </a:prstGeom>
          <a:noFill/>
        </p:spPr>
        <p:txBody>
          <a:bodyPr wrap="square">
            <a:spAutoFit/>
          </a:bodyPr>
          <a:lstStyle/>
          <a:p>
            <a:pPr algn="ctr"/>
            <a:r>
              <a:rPr lang="en-US" sz="2600" b="1" dirty="0">
                <a:solidFill>
                  <a:srgbClr val="D62828"/>
                </a:solidFill>
                <a:latin typeface="黑体" panose="02010609060101010101" pitchFamily="49" charset="-122"/>
                <a:ea typeface="黑体" panose="02010609060101010101" pitchFamily="49" charset="-122"/>
              </a:rPr>
              <a:t>2</a:t>
            </a:r>
            <a:endParaRPr sz="2600" b="1" dirty="0">
              <a:solidFill>
                <a:srgbClr val="D62828"/>
              </a:solidFill>
              <a:latin typeface="黑体" panose="02010609060101010101" pitchFamily="49" charset="-122"/>
              <a:ea typeface="黑体" panose="02010609060101010101" pitchFamily="49" charset="-122"/>
            </a:endParaRPr>
          </a:p>
        </p:txBody>
      </p:sp>
      <p:sp>
        <p:nvSpPr>
          <p:cNvPr id="19" name="TextBox 18"/>
          <p:cNvSpPr txBox="1"/>
          <p:nvPr/>
        </p:nvSpPr>
        <p:spPr>
          <a:xfrm>
            <a:off x="3200400" y="2697480"/>
            <a:ext cx="1188720" cy="254000"/>
          </a:xfrm>
          <a:prstGeom prst="rect">
            <a:avLst/>
          </a:prstGeom>
          <a:noFill/>
        </p:spPr>
        <p:txBody>
          <a:bodyPr wrap="square">
            <a:spAutoFit/>
          </a:bodyPr>
          <a:lstStyle/>
          <a:p>
            <a:pPr algn="ctr"/>
            <a:r>
              <a:rPr sz="1000" b="0">
                <a:solidFill>
                  <a:srgbClr val="666666"/>
                </a:solidFill>
                <a:latin typeface="黑体" panose="02010609060101010101" pitchFamily="49" charset="-122"/>
                <a:ea typeface="黑体" panose="02010609060101010101" pitchFamily="49" charset="-122"/>
              </a:rPr>
              <a:t>内存破坏</a:t>
            </a:r>
            <a:endParaRPr sz="1000" b="0">
              <a:solidFill>
                <a:srgbClr val="666666"/>
              </a:solidFill>
              <a:latin typeface="黑体" panose="02010609060101010101" pitchFamily="49" charset="-122"/>
              <a:ea typeface="黑体" panose="02010609060101010101" pitchFamily="49" charset="-122"/>
            </a:endParaRPr>
          </a:p>
        </p:txBody>
      </p:sp>
      <p:sp>
        <p:nvSpPr>
          <p:cNvPr id="20" name="Rectangle 19"/>
          <p:cNvSpPr/>
          <p:nvPr/>
        </p:nvSpPr>
        <p:spPr>
          <a:xfrm>
            <a:off x="4526279" y="2148840"/>
            <a:ext cx="1188720" cy="914400"/>
          </a:xfrm>
          <a:prstGeom prst="rect">
            <a:avLst/>
          </a:prstGeom>
          <a:solidFill>
            <a:srgbClr val="F8F8F8"/>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黑体" panose="02010609060101010101" pitchFamily="49" charset="-122"/>
              <a:ea typeface="黑体" panose="02010609060101010101" pitchFamily="49" charset="-122"/>
            </a:endParaRPr>
          </a:p>
        </p:txBody>
      </p:sp>
      <p:sp>
        <p:nvSpPr>
          <p:cNvPr id="21" name="TextBox 20"/>
          <p:cNvSpPr txBox="1"/>
          <p:nvPr/>
        </p:nvSpPr>
        <p:spPr>
          <a:xfrm>
            <a:off x="4526279" y="2194560"/>
            <a:ext cx="1188720" cy="508000"/>
          </a:xfrm>
          <a:prstGeom prst="rect">
            <a:avLst/>
          </a:prstGeom>
          <a:noFill/>
        </p:spPr>
        <p:txBody>
          <a:bodyPr wrap="square">
            <a:spAutoFit/>
          </a:bodyPr>
          <a:lstStyle/>
          <a:p>
            <a:pPr algn="ctr"/>
            <a:r>
              <a:rPr sz="2600" b="1">
                <a:solidFill>
                  <a:srgbClr val="D62828"/>
                </a:solidFill>
                <a:latin typeface="黑体" panose="02010609060101010101" pitchFamily="49" charset="-122"/>
                <a:ea typeface="黑体" panose="02010609060101010101" pitchFamily="49" charset="-122"/>
              </a:rPr>
              <a:t>6</a:t>
            </a:r>
            <a:endParaRPr sz="2600" b="1">
              <a:solidFill>
                <a:srgbClr val="D62828"/>
              </a:solidFill>
              <a:latin typeface="黑体" panose="02010609060101010101" pitchFamily="49" charset="-122"/>
              <a:ea typeface="黑体" panose="02010609060101010101" pitchFamily="49" charset="-122"/>
            </a:endParaRPr>
          </a:p>
        </p:txBody>
      </p:sp>
      <p:sp>
        <p:nvSpPr>
          <p:cNvPr id="22" name="TextBox 21"/>
          <p:cNvSpPr txBox="1"/>
          <p:nvPr/>
        </p:nvSpPr>
        <p:spPr>
          <a:xfrm>
            <a:off x="4526279" y="2697480"/>
            <a:ext cx="1188720" cy="246221"/>
          </a:xfrm>
          <a:prstGeom prst="rect">
            <a:avLst/>
          </a:prstGeom>
          <a:noFill/>
        </p:spPr>
        <p:txBody>
          <a:bodyPr wrap="square">
            <a:spAutoFit/>
          </a:bodyPr>
          <a:lstStyle/>
          <a:p>
            <a:pPr algn="ctr"/>
            <a:r>
              <a:rPr lang="zh-CN" altLang="en-US" sz="1000" dirty="0"/>
              <a:t>界面欺骗</a:t>
            </a:r>
            <a:endParaRPr sz="1000" b="0" dirty="0">
              <a:solidFill>
                <a:srgbClr val="666666"/>
              </a:solidFill>
              <a:latin typeface="黑体" panose="02010609060101010101" pitchFamily="49" charset="-122"/>
              <a:ea typeface="黑体" panose="02010609060101010101" pitchFamily="49" charset="-122"/>
            </a:endParaRPr>
          </a:p>
        </p:txBody>
      </p:sp>
      <p:sp>
        <p:nvSpPr>
          <p:cNvPr id="23" name="TextBox 22"/>
          <p:cNvSpPr txBox="1"/>
          <p:nvPr/>
        </p:nvSpPr>
        <p:spPr>
          <a:xfrm>
            <a:off x="548640" y="3200400"/>
            <a:ext cx="5303520" cy="430887"/>
          </a:xfrm>
          <a:prstGeom prst="rect">
            <a:avLst/>
          </a:prstGeom>
          <a:noFill/>
        </p:spPr>
        <p:txBody>
          <a:bodyPr wrap="square">
            <a:spAutoFit/>
          </a:bodyPr>
          <a:lstStyle/>
          <a:p>
            <a:pPr algn="l"/>
            <a:r>
              <a:rPr sz="1100" b="0" dirty="0" err="1">
                <a:solidFill>
                  <a:srgbClr val="111111"/>
                </a:solidFill>
                <a:latin typeface="黑体" panose="02010609060101010101" pitchFamily="49" charset="-122"/>
                <a:ea typeface="黑体" panose="02010609060101010101" pitchFamily="49" charset="-122"/>
              </a:rPr>
              <a:t>即使攻击者利用这些</a:t>
            </a:r>
            <a:r>
              <a:rPr sz="1100" b="0" dirty="0">
                <a:solidFill>
                  <a:srgbClr val="111111"/>
                </a:solidFill>
                <a:latin typeface="黑体" panose="02010609060101010101" pitchFamily="49" charset="-122"/>
                <a:ea typeface="黑体" panose="02010609060101010101" pitchFamily="49" charset="-122"/>
              </a:rPr>
              <a:t> CVE </a:t>
            </a:r>
            <a:r>
              <a:rPr sz="1100" b="0" dirty="0" err="1">
                <a:solidFill>
                  <a:srgbClr val="111111"/>
                </a:solidFill>
                <a:latin typeface="黑体" panose="02010609060101010101" pitchFamily="49" charset="-122"/>
                <a:ea typeface="黑体" panose="02010609060101010101" pitchFamily="49" charset="-122"/>
              </a:rPr>
              <a:t>攻破</a:t>
            </a:r>
            <a:r>
              <a:rPr sz="1100" b="0" dirty="0">
                <a:solidFill>
                  <a:srgbClr val="111111"/>
                </a:solidFill>
                <a:latin typeface="黑体" panose="02010609060101010101" pitchFamily="49" charset="-122"/>
                <a:ea typeface="黑体" panose="02010609060101010101" pitchFamily="49" charset="-122"/>
              </a:rPr>
              <a:t> IVI </a:t>
            </a:r>
            <a:r>
              <a:rPr sz="1100" b="0" dirty="0" err="1">
                <a:solidFill>
                  <a:srgbClr val="111111"/>
                </a:solidFill>
                <a:latin typeface="黑体" panose="02010609060101010101" pitchFamily="49" charset="-122"/>
                <a:ea typeface="黑体" panose="02010609060101010101" pitchFamily="49" charset="-122"/>
              </a:rPr>
              <a:t>系统，也无法通过注入命令或操控受保护软件控制车辆</a:t>
            </a:r>
            <a:endParaRPr sz="1100" b="0" dirty="0">
              <a:solidFill>
                <a:srgbClr val="111111"/>
              </a:solidFill>
              <a:latin typeface="黑体" panose="02010609060101010101" pitchFamily="49" charset="-122"/>
              <a:ea typeface="黑体" panose="02010609060101010101" pitchFamily="49" charset="-122"/>
            </a:endParaRPr>
          </a:p>
        </p:txBody>
      </p:sp>
      <p:sp>
        <p:nvSpPr>
          <p:cNvPr id="24" name="TextBox 23"/>
          <p:cNvSpPr txBox="1"/>
          <p:nvPr/>
        </p:nvSpPr>
        <p:spPr>
          <a:xfrm>
            <a:off x="6217920" y="1554480"/>
            <a:ext cx="5029200" cy="307777"/>
          </a:xfrm>
          <a:prstGeom prst="rect">
            <a:avLst/>
          </a:prstGeom>
          <a:noFill/>
        </p:spPr>
        <p:txBody>
          <a:bodyPr wrap="square">
            <a:spAutoFit/>
          </a:bodyPr>
          <a:lstStyle/>
          <a:p>
            <a:pPr algn="l"/>
            <a:r>
              <a:rPr lang="zh-CN" altLang="en-US" sz="1400" b="1" dirty="0">
                <a:solidFill>
                  <a:srgbClr val="111111"/>
                </a:solidFill>
                <a:latin typeface="黑体" panose="02010609060101010101" pitchFamily="49" charset="-122"/>
                <a:ea typeface="黑体" panose="02010609060101010101" pitchFamily="49" charset="-122"/>
              </a:rPr>
              <a:t>真实攻击路径分析</a:t>
            </a:r>
            <a:endParaRPr sz="1400" b="1" dirty="0">
              <a:solidFill>
                <a:srgbClr val="111111"/>
              </a:solidFill>
              <a:latin typeface="黑体" panose="02010609060101010101" pitchFamily="49" charset="-122"/>
              <a:ea typeface="黑体" panose="02010609060101010101" pitchFamily="49" charset="-122"/>
            </a:endParaRPr>
          </a:p>
        </p:txBody>
      </p:sp>
      <p:sp>
        <p:nvSpPr>
          <p:cNvPr id="25" name="TextBox 24"/>
          <p:cNvSpPr txBox="1"/>
          <p:nvPr/>
        </p:nvSpPr>
        <p:spPr>
          <a:xfrm>
            <a:off x="6217920" y="1828800"/>
            <a:ext cx="5303520" cy="702756"/>
          </a:xfrm>
          <a:prstGeom prst="rect">
            <a:avLst/>
          </a:prstGeom>
          <a:noFill/>
        </p:spPr>
        <p:txBody>
          <a:bodyPr wrap="square">
            <a:spAutoFit/>
          </a:bodyPr>
          <a:lstStyle/>
          <a:p>
            <a:pPr>
              <a:spcBef>
                <a:spcPts val="400"/>
              </a:spcBef>
            </a:pPr>
            <a:r>
              <a:rPr sz="1100" dirty="0">
                <a:solidFill>
                  <a:srgbClr val="111111"/>
                </a:solidFill>
                <a:latin typeface="黑体" panose="02010609060101010101" pitchFamily="49" charset="-122"/>
                <a:ea typeface="黑体" panose="02010609060101010101" pitchFamily="49" charset="-122"/>
              </a:rPr>
              <a:t>■  IVI → BCM ECU (</a:t>
            </a:r>
            <a:r>
              <a:rPr sz="1100" dirty="0" err="1">
                <a:solidFill>
                  <a:srgbClr val="111111"/>
                </a:solidFill>
                <a:latin typeface="黑体" panose="02010609060101010101" pitchFamily="49" charset="-122"/>
                <a:ea typeface="黑体" panose="02010609060101010101" pitchFamily="49" charset="-122"/>
              </a:rPr>
              <a:t>车身控制模块</a:t>
            </a:r>
            <a:r>
              <a:rPr sz="1100" dirty="0">
                <a:solidFill>
                  <a:srgbClr val="111111"/>
                </a:solidFill>
                <a:latin typeface="黑体" panose="02010609060101010101" pitchFamily="49" charset="-122"/>
                <a:ea typeface="黑体" panose="02010609060101010101" pitchFamily="49" charset="-122"/>
              </a:rPr>
              <a:t>) </a:t>
            </a:r>
            <a:r>
              <a:rPr sz="1100" dirty="0" err="1">
                <a:solidFill>
                  <a:srgbClr val="111111"/>
                </a:solidFill>
                <a:latin typeface="黑体" panose="02010609060101010101" pitchFamily="49" charset="-122"/>
                <a:ea typeface="黑体" panose="02010609060101010101" pitchFamily="49" charset="-122"/>
              </a:rPr>
              <a:t>攻击路径</a:t>
            </a:r>
            <a:endParaRPr sz="1100" dirty="0">
              <a:solidFill>
                <a:srgbClr val="111111"/>
              </a:solidFill>
              <a:latin typeface="黑体" panose="02010609060101010101" pitchFamily="49" charset="-122"/>
              <a:ea typeface="黑体" panose="02010609060101010101" pitchFamily="49" charset="-122"/>
            </a:endParaRPr>
          </a:p>
          <a:p>
            <a:pPr>
              <a:spcBef>
                <a:spcPts val="400"/>
              </a:spcBef>
            </a:pPr>
            <a:r>
              <a:rPr sz="1100" dirty="0">
                <a:solidFill>
                  <a:srgbClr val="111111"/>
                </a:solidFill>
                <a:latin typeface="黑体" panose="02010609060101010101" pitchFamily="49" charset="-122"/>
                <a:ea typeface="黑体" panose="02010609060101010101" pitchFamily="49" charset="-122"/>
              </a:rPr>
              <a:t>■  IVI → Autopilot ECU (</a:t>
            </a:r>
            <a:r>
              <a:rPr sz="1100" dirty="0" err="1">
                <a:solidFill>
                  <a:srgbClr val="111111"/>
                </a:solidFill>
                <a:latin typeface="黑体" panose="02010609060101010101" pitchFamily="49" charset="-122"/>
                <a:ea typeface="黑体" panose="02010609060101010101" pitchFamily="49" charset="-122"/>
              </a:rPr>
              <a:t>自动驾驶</a:t>
            </a:r>
            <a:r>
              <a:rPr sz="1100" dirty="0">
                <a:solidFill>
                  <a:srgbClr val="111111"/>
                </a:solidFill>
                <a:latin typeface="黑体" panose="02010609060101010101" pitchFamily="49" charset="-122"/>
                <a:ea typeface="黑体" panose="02010609060101010101" pitchFamily="49" charset="-122"/>
              </a:rPr>
              <a:t>) </a:t>
            </a:r>
            <a:r>
              <a:rPr sz="1100" dirty="0" err="1">
                <a:solidFill>
                  <a:srgbClr val="111111"/>
                </a:solidFill>
                <a:latin typeface="黑体" panose="02010609060101010101" pitchFamily="49" charset="-122"/>
                <a:ea typeface="黑体" panose="02010609060101010101" pitchFamily="49" charset="-122"/>
              </a:rPr>
              <a:t>权限扩展</a:t>
            </a:r>
            <a:endParaRPr sz="1100" dirty="0">
              <a:solidFill>
                <a:srgbClr val="111111"/>
              </a:solidFill>
              <a:latin typeface="黑体" panose="02010609060101010101" pitchFamily="49" charset="-122"/>
              <a:ea typeface="黑体" panose="02010609060101010101" pitchFamily="49" charset="-122"/>
            </a:endParaRPr>
          </a:p>
          <a:p>
            <a:pPr>
              <a:spcBef>
                <a:spcPts val="400"/>
              </a:spcBef>
            </a:pPr>
            <a:r>
              <a:rPr sz="1100" dirty="0">
                <a:solidFill>
                  <a:srgbClr val="111111"/>
                </a:solidFill>
                <a:latin typeface="黑体" panose="02010609060101010101" pitchFamily="49" charset="-122"/>
                <a:ea typeface="黑体" panose="02010609060101010101" pitchFamily="49" charset="-122"/>
              </a:rPr>
              <a:t>■  IVI </a:t>
            </a:r>
            <a:r>
              <a:rPr sz="1100" dirty="0" err="1">
                <a:solidFill>
                  <a:srgbClr val="111111"/>
                </a:solidFill>
                <a:latin typeface="黑体" panose="02010609060101010101" pitchFamily="49" charset="-122"/>
                <a:ea typeface="黑体" panose="02010609060101010101" pitchFamily="49" charset="-122"/>
              </a:rPr>
              <a:t>恶意软件</a:t>
            </a:r>
            <a:r>
              <a:rPr sz="1100" dirty="0">
                <a:solidFill>
                  <a:srgbClr val="111111"/>
                </a:solidFill>
                <a:latin typeface="黑体" panose="02010609060101010101" pitchFamily="49" charset="-122"/>
                <a:ea typeface="黑体" panose="02010609060101010101" pitchFamily="49" charset="-122"/>
              </a:rPr>
              <a:t> → </a:t>
            </a:r>
            <a:r>
              <a:rPr sz="1100" dirty="0" err="1">
                <a:solidFill>
                  <a:srgbClr val="111111"/>
                </a:solidFill>
                <a:latin typeface="黑体" panose="02010609060101010101" pitchFamily="49" charset="-122"/>
                <a:ea typeface="黑体" panose="02010609060101010101" pitchFamily="49" charset="-122"/>
              </a:rPr>
              <a:t>车辆控制</a:t>
            </a:r>
            <a:endParaRPr sz="1100" dirty="0">
              <a:solidFill>
                <a:srgbClr val="111111"/>
              </a:solidFill>
              <a:latin typeface="黑体" panose="02010609060101010101" pitchFamily="49" charset="-122"/>
              <a:ea typeface="黑体" panose="02010609060101010101" pitchFamily="49" charset="-122"/>
            </a:endParaRPr>
          </a:p>
        </p:txBody>
      </p:sp>
      <p:sp>
        <p:nvSpPr>
          <p:cNvPr id="26" name="TextBox 25"/>
          <p:cNvSpPr txBox="1"/>
          <p:nvPr/>
        </p:nvSpPr>
        <p:spPr>
          <a:xfrm>
            <a:off x="6217920" y="3017520"/>
            <a:ext cx="5029200" cy="307777"/>
          </a:xfrm>
          <a:prstGeom prst="rect">
            <a:avLst/>
          </a:prstGeom>
          <a:noFill/>
        </p:spPr>
        <p:txBody>
          <a:bodyPr wrap="square">
            <a:spAutoFit/>
          </a:bodyPr>
          <a:lstStyle/>
          <a:p>
            <a:pPr algn="l"/>
            <a:r>
              <a:rPr sz="1400" b="1" dirty="0" err="1">
                <a:solidFill>
                  <a:srgbClr val="111111"/>
                </a:solidFill>
                <a:latin typeface="黑体" panose="02010609060101010101" pitchFamily="49" charset="-122"/>
                <a:ea typeface="黑体" panose="02010609060101010101" pitchFamily="49" charset="-122"/>
              </a:rPr>
              <a:t>攻击模拟验证</a:t>
            </a:r>
            <a:r>
              <a:rPr sz="1400" b="1" dirty="0">
                <a:solidFill>
                  <a:srgbClr val="111111"/>
                </a:solidFill>
                <a:latin typeface="黑体" panose="02010609060101010101" pitchFamily="49" charset="-122"/>
                <a:ea typeface="黑体" panose="02010609060101010101" pitchFamily="49" charset="-122"/>
              </a:rPr>
              <a:t> ✓ </a:t>
            </a:r>
            <a:r>
              <a:rPr sz="1400" b="1" dirty="0" err="1">
                <a:solidFill>
                  <a:srgbClr val="111111"/>
                </a:solidFill>
                <a:latin typeface="黑体" panose="02010609060101010101" pitchFamily="49" charset="-122"/>
                <a:ea typeface="黑体" panose="02010609060101010101" pitchFamily="49" charset="-122"/>
              </a:rPr>
              <a:t>全部成功检测</a:t>
            </a:r>
            <a:endParaRPr sz="1400" b="1" dirty="0">
              <a:solidFill>
                <a:srgbClr val="111111"/>
              </a:solidFill>
              <a:latin typeface="黑体" panose="02010609060101010101" pitchFamily="49" charset="-122"/>
              <a:ea typeface="黑体" panose="02010609060101010101" pitchFamily="49" charset="-122"/>
            </a:endParaRPr>
          </a:p>
        </p:txBody>
      </p:sp>
      <p:sp>
        <p:nvSpPr>
          <p:cNvPr id="27" name="TextBox 26"/>
          <p:cNvSpPr txBox="1"/>
          <p:nvPr/>
        </p:nvSpPr>
        <p:spPr>
          <a:xfrm>
            <a:off x="6217920" y="3291840"/>
            <a:ext cx="5303520" cy="1143903"/>
          </a:xfrm>
          <a:prstGeom prst="rect">
            <a:avLst/>
          </a:prstGeom>
          <a:noFill/>
        </p:spPr>
        <p:txBody>
          <a:bodyPr wrap="square">
            <a:spAutoFit/>
          </a:bodyPr>
          <a:lstStyle/>
          <a:p>
            <a:pPr>
              <a:spcBef>
                <a:spcPts val="400"/>
              </a:spcBef>
            </a:pPr>
            <a:r>
              <a:rPr sz="1100" dirty="0">
                <a:solidFill>
                  <a:srgbClr val="111111"/>
                </a:solidFill>
                <a:latin typeface="黑体" panose="02010609060101010101" pitchFamily="49" charset="-122"/>
                <a:ea typeface="黑体" panose="02010609060101010101" pitchFamily="49" charset="-122"/>
              </a:rPr>
              <a:t>■  CPU </a:t>
            </a:r>
            <a:r>
              <a:rPr sz="1100" dirty="0" err="1">
                <a:solidFill>
                  <a:srgbClr val="111111"/>
                </a:solidFill>
                <a:latin typeface="黑体" panose="02010609060101010101" pitchFamily="49" charset="-122"/>
                <a:ea typeface="黑体" panose="02010609060101010101" pitchFamily="49" charset="-122"/>
              </a:rPr>
              <a:t>上下文篡改</a:t>
            </a:r>
            <a:r>
              <a:rPr sz="1100" dirty="0">
                <a:solidFill>
                  <a:srgbClr val="111111"/>
                </a:solidFill>
                <a:latin typeface="黑体" panose="02010609060101010101" pitchFamily="49" charset="-122"/>
                <a:ea typeface="黑体" panose="02010609060101010101" pitchFamily="49" charset="-122"/>
              </a:rPr>
              <a:t> (A1) — ✓ </a:t>
            </a:r>
            <a:r>
              <a:rPr sz="1100" dirty="0" err="1">
                <a:solidFill>
                  <a:srgbClr val="111111"/>
                </a:solidFill>
                <a:latin typeface="黑体" panose="02010609060101010101" pitchFamily="49" charset="-122"/>
                <a:ea typeface="黑体" panose="02010609060101010101" pitchFamily="49" charset="-122"/>
              </a:rPr>
              <a:t>成功检测</a:t>
            </a:r>
            <a:endParaRPr sz="1100" dirty="0">
              <a:solidFill>
                <a:srgbClr val="111111"/>
              </a:solidFill>
              <a:latin typeface="黑体" panose="02010609060101010101" pitchFamily="49" charset="-122"/>
              <a:ea typeface="黑体" panose="02010609060101010101" pitchFamily="49" charset="-122"/>
            </a:endParaRPr>
          </a:p>
          <a:p>
            <a:pPr>
              <a:spcBef>
                <a:spcPts val="400"/>
              </a:spcBef>
            </a:pPr>
            <a:r>
              <a:rPr sz="1100" dirty="0">
                <a:solidFill>
                  <a:srgbClr val="111111"/>
                </a:solidFill>
                <a:latin typeface="黑体" panose="02010609060101010101" pitchFamily="49" charset="-122"/>
                <a:ea typeface="黑体" panose="02010609060101010101" pitchFamily="49" charset="-122"/>
              </a:rPr>
              <a:t>■  </a:t>
            </a:r>
            <a:r>
              <a:rPr sz="1100" dirty="0" err="1">
                <a:solidFill>
                  <a:srgbClr val="111111"/>
                </a:solidFill>
                <a:latin typeface="黑体" panose="02010609060101010101" pitchFamily="49" charset="-122"/>
                <a:ea typeface="黑体" panose="02010609060101010101" pitchFamily="49" charset="-122"/>
              </a:rPr>
              <a:t>恶意内存访问</a:t>
            </a:r>
            <a:r>
              <a:rPr sz="1100" dirty="0">
                <a:solidFill>
                  <a:srgbClr val="111111"/>
                </a:solidFill>
                <a:latin typeface="黑体" panose="02010609060101010101" pitchFamily="49" charset="-122"/>
                <a:ea typeface="黑体" panose="02010609060101010101" pitchFamily="49" charset="-122"/>
              </a:rPr>
              <a:t> (A7, HA2) — ✓ </a:t>
            </a:r>
            <a:r>
              <a:rPr sz="1100" dirty="0" err="1">
                <a:solidFill>
                  <a:srgbClr val="111111"/>
                </a:solidFill>
                <a:latin typeface="黑体" panose="02010609060101010101" pitchFamily="49" charset="-122"/>
                <a:ea typeface="黑体" panose="02010609060101010101" pitchFamily="49" charset="-122"/>
              </a:rPr>
              <a:t>成功检测</a:t>
            </a:r>
            <a:endParaRPr sz="1100" dirty="0">
              <a:solidFill>
                <a:srgbClr val="111111"/>
              </a:solidFill>
              <a:latin typeface="黑体" panose="02010609060101010101" pitchFamily="49" charset="-122"/>
              <a:ea typeface="黑体" panose="02010609060101010101" pitchFamily="49" charset="-122"/>
            </a:endParaRPr>
          </a:p>
          <a:p>
            <a:pPr>
              <a:spcBef>
                <a:spcPts val="400"/>
              </a:spcBef>
            </a:pPr>
            <a:r>
              <a:rPr sz="1100" dirty="0">
                <a:solidFill>
                  <a:srgbClr val="111111"/>
                </a:solidFill>
                <a:latin typeface="黑体" panose="02010609060101010101" pitchFamily="49" charset="-122"/>
                <a:ea typeface="黑体" panose="02010609060101010101" pitchFamily="49" charset="-122"/>
              </a:rPr>
              <a:t>■  </a:t>
            </a:r>
            <a:r>
              <a:rPr sz="1100" dirty="0" err="1">
                <a:solidFill>
                  <a:srgbClr val="111111"/>
                </a:solidFill>
                <a:latin typeface="黑体" panose="02010609060101010101" pitchFamily="49" charset="-122"/>
                <a:ea typeface="黑体" panose="02010609060101010101" pitchFamily="49" charset="-122"/>
              </a:rPr>
              <a:t>内存映射攻击</a:t>
            </a:r>
            <a:r>
              <a:rPr sz="1100" dirty="0">
                <a:solidFill>
                  <a:srgbClr val="111111"/>
                </a:solidFill>
                <a:latin typeface="黑体" panose="02010609060101010101" pitchFamily="49" charset="-122"/>
                <a:ea typeface="黑体" panose="02010609060101010101" pitchFamily="49" charset="-122"/>
              </a:rPr>
              <a:t> (A2, A3) — ✓ </a:t>
            </a:r>
            <a:r>
              <a:rPr sz="1100" dirty="0" err="1">
                <a:solidFill>
                  <a:srgbClr val="111111"/>
                </a:solidFill>
                <a:latin typeface="黑体" panose="02010609060101010101" pitchFamily="49" charset="-122"/>
                <a:ea typeface="黑体" panose="02010609060101010101" pitchFamily="49" charset="-122"/>
              </a:rPr>
              <a:t>成功检测</a:t>
            </a:r>
            <a:endParaRPr sz="1100" dirty="0">
              <a:solidFill>
                <a:srgbClr val="111111"/>
              </a:solidFill>
              <a:latin typeface="黑体" panose="02010609060101010101" pitchFamily="49" charset="-122"/>
              <a:ea typeface="黑体" panose="02010609060101010101" pitchFamily="49" charset="-122"/>
            </a:endParaRPr>
          </a:p>
          <a:p>
            <a:pPr>
              <a:spcBef>
                <a:spcPts val="400"/>
              </a:spcBef>
            </a:pPr>
            <a:r>
              <a:rPr sz="1100" dirty="0">
                <a:solidFill>
                  <a:srgbClr val="111111"/>
                </a:solidFill>
                <a:latin typeface="黑体" panose="02010609060101010101" pitchFamily="49" charset="-122"/>
                <a:ea typeface="黑体" panose="02010609060101010101" pitchFamily="49" charset="-122"/>
              </a:rPr>
              <a:t>■  </a:t>
            </a:r>
            <a:r>
              <a:rPr sz="1100" dirty="0" err="1">
                <a:solidFill>
                  <a:srgbClr val="111111"/>
                </a:solidFill>
                <a:latin typeface="黑体" panose="02010609060101010101" pitchFamily="49" charset="-122"/>
                <a:ea typeface="黑体" panose="02010609060101010101" pitchFamily="49" charset="-122"/>
              </a:rPr>
              <a:t>触摸输入伪造</a:t>
            </a:r>
            <a:r>
              <a:rPr sz="1100" dirty="0">
                <a:solidFill>
                  <a:srgbClr val="111111"/>
                </a:solidFill>
                <a:latin typeface="黑体" panose="02010609060101010101" pitchFamily="49" charset="-122"/>
                <a:ea typeface="黑体" panose="02010609060101010101" pitchFamily="49" charset="-122"/>
              </a:rPr>
              <a:t> (A4, A6, HA3) — ✓ </a:t>
            </a:r>
            <a:r>
              <a:rPr sz="1100" dirty="0" err="1">
                <a:solidFill>
                  <a:srgbClr val="111111"/>
                </a:solidFill>
                <a:latin typeface="黑体" panose="02010609060101010101" pitchFamily="49" charset="-122"/>
                <a:ea typeface="黑体" panose="02010609060101010101" pitchFamily="49" charset="-122"/>
              </a:rPr>
              <a:t>成功检测</a:t>
            </a:r>
            <a:endParaRPr sz="1100" dirty="0">
              <a:solidFill>
                <a:srgbClr val="111111"/>
              </a:solidFill>
              <a:latin typeface="黑体" panose="02010609060101010101" pitchFamily="49" charset="-122"/>
              <a:ea typeface="黑体" panose="02010609060101010101" pitchFamily="49" charset="-122"/>
            </a:endParaRPr>
          </a:p>
          <a:p>
            <a:pPr>
              <a:spcBef>
                <a:spcPts val="400"/>
              </a:spcBef>
            </a:pPr>
            <a:r>
              <a:rPr sz="1100" dirty="0">
                <a:solidFill>
                  <a:srgbClr val="111111"/>
                </a:solidFill>
                <a:latin typeface="黑体" panose="02010609060101010101" pitchFamily="49" charset="-122"/>
                <a:ea typeface="黑体" panose="02010609060101010101" pitchFamily="49" charset="-122"/>
              </a:rPr>
              <a:t>■  </a:t>
            </a:r>
            <a:r>
              <a:rPr sz="1100" dirty="0" err="1">
                <a:solidFill>
                  <a:srgbClr val="111111"/>
                </a:solidFill>
                <a:latin typeface="黑体" panose="02010609060101010101" pitchFamily="49" charset="-122"/>
                <a:ea typeface="黑体" panose="02010609060101010101" pitchFamily="49" charset="-122"/>
              </a:rPr>
              <a:t>受保护接口未授权调用</a:t>
            </a:r>
            <a:r>
              <a:rPr sz="1100" dirty="0">
                <a:solidFill>
                  <a:srgbClr val="111111"/>
                </a:solidFill>
                <a:latin typeface="黑体" panose="02010609060101010101" pitchFamily="49" charset="-122"/>
                <a:ea typeface="黑体" panose="02010609060101010101" pitchFamily="49" charset="-122"/>
              </a:rPr>
              <a:t> (A8, HA1) — ✓ </a:t>
            </a:r>
            <a:r>
              <a:rPr sz="1100" dirty="0" err="1">
                <a:solidFill>
                  <a:srgbClr val="111111"/>
                </a:solidFill>
                <a:latin typeface="黑体" panose="02010609060101010101" pitchFamily="49" charset="-122"/>
                <a:ea typeface="黑体" panose="02010609060101010101" pitchFamily="49" charset="-122"/>
              </a:rPr>
              <a:t>成功检测</a:t>
            </a:r>
            <a:endParaRPr sz="1100" dirty="0">
              <a:solidFill>
                <a:srgbClr val="111111"/>
              </a:solidFill>
              <a:latin typeface="黑体" panose="02010609060101010101" pitchFamily="49" charset="-122"/>
              <a:ea typeface="黑体" panose="02010609060101010101" pitchFamily="49" charset="-122"/>
            </a:endParaRPr>
          </a:p>
        </p:txBody>
      </p:sp>
      <p:sp>
        <p:nvSpPr>
          <p:cNvPr id="29" name="文本框 28"/>
          <p:cNvSpPr txBox="1"/>
          <p:nvPr/>
        </p:nvSpPr>
        <p:spPr>
          <a:xfrm>
            <a:off x="3794760" y="616774"/>
            <a:ext cx="6143296" cy="646331"/>
          </a:xfrm>
          <a:prstGeom prst="rect">
            <a:avLst/>
          </a:prstGeom>
          <a:noFill/>
        </p:spPr>
        <p:txBody>
          <a:bodyPr wrap="square">
            <a:spAutoFit/>
          </a:bodyPr>
          <a:lstStyle/>
          <a:p>
            <a:pPr>
              <a:buNone/>
            </a:pPr>
            <a:r>
              <a:rPr lang="zh-CN" altLang="en-US" dirty="0">
                <a:latin typeface="黑体" panose="02010609060101010101" pitchFamily="49" charset="-122"/>
                <a:ea typeface="黑体" panose="02010609060101010101" pitchFamily="49" charset="-122"/>
              </a:rPr>
              <a:t>基于 </a:t>
            </a:r>
            <a:r>
              <a:rPr lang="en-US" altLang="zh-CN" dirty="0">
                <a:latin typeface="黑体" panose="02010609060101010101" pitchFamily="49" charset="-122"/>
                <a:ea typeface="黑体" panose="02010609060101010101" pitchFamily="49" charset="-122"/>
              </a:rPr>
              <a:t>Google Cuttlefish </a:t>
            </a:r>
            <a:r>
              <a:rPr lang="zh-CN" altLang="en-US" dirty="0">
                <a:latin typeface="黑体" panose="02010609060101010101" pitchFamily="49" charset="-122"/>
                <a:ea typeface="黑体" panose="02010609060101010101" pitchFamily="49" charset="-122"/>
              </a:rPr>
              <a:t>虚拟平台（使用 </a:t>
            </a:r>
            <a:r>
              <a:rPr lang="en-US" altLang="zh-CN" dirty="0">
                <a:latin typeface="黑体" panose="02010609060101010101" pitchFamily="49" charset="-122"/>
                <a:ea typeface="黑体" panose="02010609060101010101" pitchFamily="49" charset="-122"/>
              </a:rPr>
              <a:t>KVM Hypervisor</a:t>
            </a:r>
            <a:r>
              <a:rPr lang="zh-CN" altLang="en-US" dirty="0">
                <a:latin typeface="黑体" panose="02010609060101010101" pitchFamily="49" charset="-122"/>
                <a:ea typeface="黑体" panose="02010609060101010101" pitchFamily="49" charset="-122"/>
              </a:rPr>
              <a:t>）构建原型：</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0800"/>
            <a:ext cx="4572000" cy="304800"/>
          </a:xfrm>
          <a:prstGeom prst="rect">
            <a:avLst/>
          </a:prstGeom>
          <a:noFill/>
        </p:spPr>
        <p:txBody>
          <a:bodyPr wrap="square">
            <a:spAutoFit/>
          </a:bodyPr>
          <a:lstStyle/>
          <a:p>
            <a:pPr algn="l"/>
            <a:r>
              <a:rPr sz="1100" b="0">
                <a:solidFill>
                  <a:srgbClr val="666666"/>
                </a:solidFill>
                <a:latin typeface="Arial" panose="020B0604020202020204"/>
              </a:rPr>
              <a:t>对比  Comparison</a:t>
            </a:r>
            <a:endParaRPr sz="1100" b="0">
              <a:solidFill>
                <a:srgbClr val="666666"/>
              </a:solidFill>
              <a:latin typeface="Arial" panose="020B0604020202020204"/>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566928"/>
            <a:ext cx="3657600" cy="203200"/>
          </a:xfrm>
          <a:prstGeom prst="rect">
            <a:avLst/>
          </a:prstGeom>
          <a:noFill/>
        </p:spPr>
        <p:txBody>
          <a:bodyPr wrap="square">
            <a:spAutoFit/>
          </a:bodyPr>
          <a:lstStyle/>
          <a:p>
            <a:pPr algn="l"/>
            <a:r>
              <a:rPr sz="1200" b="1">
                <a:solidFill>
                  <a:srgbClr val="D62828"/>
                </a:solidFill>
                <a:latin typeface="Arial" panose="020B0604020202020204"/>
              </a:rPr>
              <a:t>COMPARISON</a:t>
            </a:r>
            <a:endParaRPr sz="1200" b="1">
              <a:solidFill>
                <a:srgbClr val="D62828"/>
              </a:solidFill>
              <a:latin typeface="Arial" panose="020B0604020202020204"/>
            </a:endParaRPr>
          </a:p>
        </p:txBody>
      </p:sp>
      <p:sp>
        <p:nvSpPr>
          <p:cNvPr id="7" name="Rectangle 6"/>
          <p:cNvSpPr/>
          <p:nvPr/>
        </p:nvSpPr>
        <p:spPr>
          <a:xfrm>
            <a:off x="457200" y="841248"/>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32688"/>
            <a:ext cx="7315200" cy="355600"/>
          </a:xfrm>
          <a:prstGeom prst="rect">
            <a:avLst/>
          </a:prstGeom>
          <a:noFill/>
        </p:spPr>
        <p:txBody>
          <a:bodyPr wrap="square">
            <a:spAutoFit/>
          </a:bodyPr>
          <a:lstStyle/>
          <a:p>
            <a:pPr algn="l"/>
            <a:r>
              <a:rPr sz="2400" b="1">
                <a:solidFill>
                  <a:srgbClr val="111111"/>
                </a:solidFill>
                <a:latin typeface="Arial" panose="020B0604020202020204"/>
              </a:rPr>
              <a:t>与现有工作对比</a:t>
            </a:r>
            <a:endParaRPr sz="2400" b="1">
              <a:solidFill>
                <a:srgbClr val="111111"/>
              </a:solidFill>
              <a:latin typeface="Arial" panose="020B0604020202020204"/>
            </a:endParaRPr>
          </a:p>
        </p:txBody>
      </p:sp>
      <p:sp>
        <p:nvSpPr>
          <p:cNvPr id="9" name="Rectangle 8"/>
          <p:cNvSpPr/>
          <p:nvPr/>
        </p:nvSpPr>
        <p:spPr>
          <a:xfrm>
            <a:off x="274320" y="1417320"/>
            <a:ext cx="201168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5120" y="1468120"/>
            <a:ext cx="1910080" cy="304800"/>
          </a:xfrm>
          <a:prstGeom prst="rect">
            <a:avLst/>
          </a:prstGeom>
          <a:noFill/>
        </p:spPr>
        <p:txBody>
          <a:bodyPr wrap="square">
            <a:spAutoFit/>
          </a:bodyPr>
          <a:lstStyle/>
          <a:p>
            <a:pPr algn="l"/>
            <a:r>
              <a:rPr sz="1000" b="1">
                <a:solidFill>
                  <a:srgbClr val="FFFFFF"/>
                </a:solidFill>
                <a:latin typeface="Arial" panose="020B0604020202020204"/>
              </a:rPr>
              <a:t>方案</a:t>
            </a:r>
            <a:endParaRPr sz="1000" b="1">
              <a:solidFill>
                <a:srgbClr val="FFFFFF"/>
              </a:solidFill>
              <a:latin typeface="Arial" panose="020B0604020202020204"/>
            </a:endParaRPr>
          </a:p>
        </p:txBody>
      </p:sp>
      <p:sp>
        <p:nvSpPr>
          <p:cNvPr id="11" name="Rectangle 10"/>
          <p:cNvSpPr/>
          <p:nvPr/>
        </p:nvSpPr>
        <p:spPr>
          <a:xfrm>
            <a:off x="2286000" y="1417320"/>
            <a:ext cx="146304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36800" y="1468120"/>
            <a:ext cx="1361440" cy="304800"/>
          </a:xfrm>
          <a:prstGeom prst="rect">
            <a:avLst/>
          </a:prstGeom>
          <a:noFill/>
        </p:spPr>
        <p:txBody>
          <a:bodyPr wrap="square">
            <a:spAutoFit/>
          </a:bodyPr>
          <a:lstStyle/>
          <a:p>
            <a:pPr algn="ctr"/>
            <a:r>
              <a:rPr sz="1000" b="1">
                <a:solidFill>
                  <a:srgbClr val="FFFFFF"/>
                </a:solidFill>
                <a:latin typeface="Arial" panose="020B0604020202020204"/>
              </a:rPr>
              <a:t>隔离粒度</a:t>
            </a:r>
            <a:endParaRPr sz="1000" b="1">
              <a:solidFill>
                <a:srgbClr val="FFFFFF"/>
              </a:solidFill>
              <a:latin typeface="Arial" panose="020B0604020202020204"/>
            </a:endParaRPr>
          </a:p>
        </p:txBody>
      </p:sp>
      <p:sp>
        <p:nvSpPr>
          <p:cNvPr id="13" name="Rectangle 12"/>
          <p:cNvSpPr/>
          <p:nvPr/>
        </p:nvSpPr>
        <p:spPr>
          <a:xfrm>
            <a:off x="3749040" y="1417320"/>
            <a:ext cx="155448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99840" y="1468120"/>
            <a:ext cx="1452880" cy="304800"/>
          </a:xfrm>
          <a:prstGeom prst="rect">
            <a:avLst/>
          </a:prstGeom>
          <a:noFill/>
        </p:spPr>
        <p:txBody>
          <a:bodyPr wrap="square">
            <a:spAutoFit/>
          </a:bodyPr>
          <a:lstStyle/>
          <a:p>
            <a:pPr algn="ctr"/>
            <a:r>
              <a:rPr sz="1000" b="1">
                <a:solidFill>
                  <a:srgbClr val="FFFFFF"/>
                </a:solidFill>
                <a:latin typeface="Arial" panose="020B0604020202020204"/>
              </a:rPr>
              <a:t>可写共享内存</a:t>
            </a:r>
            <a:endParaRPr sz="1000" b="1">
              <a:solidFill>
                <a:srgbClr val="FFFFFF"/>
              </a:solidFill>
              <a:latin typeface="Arial" panose="020B0604020202020204"/>
            </a:endParaRPr>
          </a:p>
        </p:txBody>
      </p:sp>
      <p:sp>
        <p:nvSpPr>
          <p:cNvPr id="15" name="Rectangle 14"/>
          <p:cNvSpPr/>
          <p:nvPr/>
        </p:nvSpPr>
        <p:spPr>
          <a:xfrm>
            <a:off x="5303520" y="1417320"/>
            <a:ext cx="146304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54320" y="1468120"/>
            <a:ext cx="1361440" cy="304800"/>
          </a:xfrm>
          <a:prstGeom prst="rect">
            <a:avLst/>
          </a:prstGeom>
          <a:noFill/>
        </p:spPr>
        <p:txBody>
          <a:bodyPr wrap="square">
            <a:spAutoFit/>
          </a:bodyPr>
          <a:lstStyle/>
          <a:p>
            <a:pPr algn="ctr"/>
            <a:r>
              <a:rPr sz="1000" b="1">
                <a:solidFill>
                  <a:srgbClr val="FFFFFF"/>
                </a:solidFill>
                <a:latin typeface="Arial" panose="020B0604020202020204"/>
              </a:rPr>
              <a:t>Binder IPC</a:t>
            </a:r>
            <a:endParaRPr sz="1000" b="1">
              <a:solidFill>
                <a:srgbClr val="FFFFFF"/>
              </a:solidFill>
              <a:latin typeface="Arial" panose="020B0604020202020204"/>
            </a:endParaRPr>
          </a:p>
        </p:txBody>
      </p:sp>
      <p:sp>
        <p:nvSpPr>
          <p:cNvPr id="17" name="Rectangle 16"/>
          <p:cNvSpPr/>
          <p:nvPr/>
        </p:nvSpPr>
        <p:spPr>
          <a:xfrm>
            <a:off x="6766560" y="1417320"/>
            <a:ext cx="128016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7360" y="1468120"/>
            <a:ext cx="1178560" cy="304800"/>
          </a:xfrm>
          <a:prstGeom prst="rect">
            <a:avLst/>
          </a:prstGeom>
          <a:noFill/>
        </p:spPr>
        <p:txBody>
          <a:bodyPr wrap="square">
            <a:spAutoFit/>
          </a:bodyPr>
          <a:lstStyle/>
          <a:p>
            <a:pPr algn="ctr"/>
            <a:r>
              <a:rPr sz="1000" b="1">
                <a:solidFill>
                  <a:srgbClr val="FFFFFF"/>
                </a:solidFill>
                <a:latin typeface="Arial" panose="020B0604020202020204"/>
              </a:rPr>
              <a:t>HMI 保护</a:t>
            </a:r>
            <a:endParaRPr sz="1000" b="1">
              <a:solidFill>
                <a:srgbClr val="FFFFFF"/>
              </a:solidFill>
              <a:latin typeface="Arial" panose="020B0604020202020204"/>
            </a:endParaRPr>
          </a:p>
        </p:txBody>
      </p:sp>
      <p:sp>
        <p:nvSpPr>
          <p:cNvPr id="19" name="Rectangle 18"/>
          <p:cNvSpPr/>
          <p:nvPr/>
        </p:nvSpPr>
        <p:spPr>
          <a:xfrm>
            <a:off x="8046720" y="1417320"/>
            <a:ext cx="91440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7520" y="1468120"/>
            <a:ext cx="812800" cy="304800"/>
          </a:xfrm>
          <a:prstGeom prst="rect">
            <a:avLst/>
          </a:prstGeom>
          <a:noFill/>
        </p:spPr>
        <p:txBody>
          <a:bodyPr wrap="square">
            <a:spAutoFit/>
          </a:bodyPr>
          <a:lstStyle/>
          <a:p>
            <a:pPr algn="ctr"/>
            <a:r>
              <a:rPr sz="1000" b="1">
                <a:solidFill>
                  <a:srgbClr val="FFFFFF"/>
                </a:solidFill>
                <a:latin typeface="Arial" panose="020B0604020202020204"/>
              </a:rPr>
              <a:t>透明性</a:t>
            </a:r>
            <a:endParaRPr sz="1000" b="1">
              <a:solidFill>
                <a:srgbClr val="FFFFFF"/>
              </a:solidFill>
              <a:latin typeface="Arial" panose="020B0604020202020204"/>
            </a:endParaRPr>
          </a:p>
        </p:txBody>
      </p:sp>
      <p:sp>
        <p:nvSpPr>
          <p:cNvPr id="21" name="Rectangle 20"/>
          <p:cNvSpPr/>
          <p:nvPr/>
        </p:nvSpPr>
        <p:spPr>
          <a:xfrm>
            <a:off x="8961120" y="1417320"/>
            <a:ext cx="1371600" cy="365760"/>
          </a:xfrm>
          <a:prstGeom prst="rect">
            <a:avLst/>
          </a:prstGeom>
          <a:solidFill>
            <a:srgbClr val="111111"/>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11920" y="1468120"/>
            <a:ext cx="1270000" cy="304800"/>
          </a:xfrm>
          <a:prstGeom prst="rect">
            <a:avLst/>
          </a:prstGeom>
          <a:noFill/>
        </p:spPr>
        <p:txBody>
          <a:bodyPr wrap="square">
            <a:spAutoFit/>
          </a:bodyPr>
          <a:lstStyle/>
          <a:p>
            <a:pPr algn="ctr"/>
            <a:r>
              <a:rPr sz="1000" b="1">
                <a:solidFill>
                  <a:srgbClr val="FFFFFF"/>
                </a:solidFill>
                <a:latin typeface="Arial" panose="020B0604020202020204"/>
              </a:rPr>
              <a:t>适用 AAOS</a:t>
            </a:r>
            <a:endParaRPr sz="1000" b="1">
              <a:solidFill>
                <a:srgbClr val="FFFFFF"/>
              </a:solidFill>
              <a:latin typeface="Arial" panose="020B0604020202020204"/>
            </a:endParaRPr>
          </a:p>
        </p:txBody>
      </p:sp>
      <p:sp>
        <p:nvSpPr>
          <p:cNvPr id="23" name="Rectangle 22"/>
          <p:cNvSpPr/>
          <p:nvPr/>
        </p:nvSpPr>
        <p:spPr>
          <a:xfrm>
            <a:off x="274320" y="1801368"/>
            <a:ext cx="20116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5120" y="1852168"/>
            <a:ext cx="1910080" cy="304800"/>
          </a:xfrm>
          <a:prstGeom prst="rect">
            <a:avLst/>
          </a:prstGeom>
          <a:noFill/>
        </p:spPr>
        <p:txBody>
          <a:bodyPr wrap="square">
            <a:spAutoFit/>
          </a:bodyPr>
          <a:lstStyle/>
          <a:p>
            <a:pPr algn="l"/>
            <a:r>
              <a:rPr sz="1000" b="0">
                <a:solidFill>
                  <a:srgbClr val="111111"/>
                </a:solidFill>
                <a:latin typeface="Arial" panose="020B0604020202020204"/>
              </a:rPr>
              <a:t>Cerberus</a:t>
            </a:r>
            <a:endParaRPr sz="1000" b="0">
              <a:solidFill>
                <a:srgbClr val="111111"/>
              </a:solidFill>
              <a:latin typeface="Arial" panose="020B0604020202020204"/>
            </a:endParaRPr>
          </a:p>
        </p:txBody>
      </p:sp>
      <p:sp>
        <p:nvSpPr>
          <p:cNvPr id="25" name="Rectangle 24"/>
          <p:cNvSpPr/>
          <p:nvPr/>
        </p:nvSpPr>
        <p:spPr>
          <a:xfrm>
            <a:off x="2286000" y="1801368"/>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36800" y="1852168"/>
            <a:ext cx="1361440" cy="304800"/>
          </a:xfrm>
          <a:prstGeom prst="rect">
            <a:avLst/>
          </a:prstGeom>
          <a:noFill/>
        </p:spPr>
        <p:txBody>
          <a:bodyPr wrap="square">
            <a:spAutoFit/>
          </a:bodyPr>
          <a:lstStyle/>
          <a:p>
            <a:pPr algn="ctr"/>
            <a:r>
              <a:rPr sz="1000" b="0">
                <a:solidFill>
                  <a:srgbClr val="111111"/>
                </a:solidFill>
                <a:latin typeface="Arial" panose="020B0604020202020204"/>
              </a:rPr>
              <a:t>Monitor+只读</a:t>
            </a:r>
            <a:endParaRPr sz="1000" b="0">
              <a:solidFill>
                <a:srgbClr val="111111"/>
              </a:solidFill>
              <a:latin typeface="Arial" panose="020B0604020202020204"/>
            </a:endParaRPr>
          </a:p>
        </p:txBody>
      </p:sp>
      <p:sp>
        <p:nvSpPr>
          <p:cNvPr id="27" name="Rectangle 26"/>
          <p:cNvSpPr/>
          <p:nvPr/>
        </p:nvSpPr>
        <p:spPr>
          <a:xfrm>
            <a:off x="3749040" y="1801368"/>
            <a:ext cx="15544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99840" y="1852168"/>
            <a:ext cx="145288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29" name="Rectangle 28"/>
          <p:cNvSpPr/>
          <p:nvPr/>
        </p:nvSpPr>
        <p:spPr>
          <a:xfrm>
            <a:off x="5303520" y="1801368"/>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54320" y="1852168"/>
            <a:ext cx="136144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31" name="Rectangle 30"/>
          <p:cNvSpPr/>
          <p:nvPr/>
        </p:nvSpPr>
        <p:spPr>
          <a:xfrm>
            <a:off x="6766560" y="1801368"/>
            <a:ext cx="128016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7360" y="1852168"/>
            <a:ext cx="117856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33" name="Rectangle 32"/>
          <p:cNvSpPr/>
          <p:nvPr/>
        </p:nvSpPr>
        <p:spPr>
          <a:xfrm>
            <a:off x="8046720" y="1801368"/>
            <a:ext cx="9144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97520" y="1852168"/>
            <a:ext cx="812800" cy="304800"/>
          </a:xfrm>
          <a:prstGeom prst="rect">
            <a:avLst/>
          </a:prstGeom>
          <a:noFill/>
        </p:spPr>
        <p:txBody>
          <a:bodyPr wrap="square">
            <a:spAutoFit/>
          </a:bodyPr>
          <a:lstStyle/>
          <a:p>
            <a:pPr algn="ctr"/>
            <a:r>
              <a:rPr sz="1000" b="0">
                <a:solidFill>
                  <a:srgbClr val="2A9D2A"/>
                </a:solidFill>
                <a:latin typeface="Arial" panose="020B0604020202020204"/>
              </a:rPr>
              <a:t>Y</a:t>
            </a:r>
            <a:endParaRPr sz="1000" b="0">
              <a:solidFill>
                <a:srgbClr val="2A9D2A"/>
              </a:solidFill>
              <a:latin typeface="Arial" panose="020B0604020202020204"/>
            </a:endParaRPr>
          </a:p>
        </p:txBody>
      </p:sp>
      <p:sp>
        <p:nvSpPr>
          <p:cNvPr id="35" name="Rectangle 34"/>
          <p:cNvSpPr/>
          <p:nvPr/>
        </p:nvSpPr>
        <p:spPr>
          <a:xfrm>
            <a:off x="8961120" y="1801368"/>
            <a:ext cx="13716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11920" y="1852168"/>
            <a:ext cx="127000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37" name="Rectangle 36"/>
          <p:cNvSpPr/>
          <p:nvPr/>
        </p:nvSpPr>
        <p:spPr>
          <a:xfrm>
            <a:off x="274320" y="2185416"/>
            <a:ext cx="20116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5120" y="2236216"/>
            <a:ext cx="1910080" cy="304800"/>
          </a:xfrm>
          <a:prstGeom prst="rect">
            <a:avLst/>
          </a:prstGeom>
          <a:noFill/>
        </p:spPr>
        <p:txBody>
          <a:bodyPr wrap="square">
            <a:spAutoFit/>
          </a:bodyPr>
          <a:lstStyle/>
          <a:p>
            <a:pPr algn="l"/>
            <a:r>
              <a:rPr sz="1000" b="0">
                <a:solidFill>
                  <a:srgbClr val="111111"/>
                </a:solidFill>
                <a:latin typeface="Arial" panose="020B0604020202020204"/>
              </a:rPr>
              <a:t>Truz-Droid / TrustUI</a:t>
            </a:r>
            <a:endParaRPr sz="1000" b="0">
              <a:solidFill>
                <a:srgbClr val="111111"/>
              </a:solidFill>
              <a:latin typeface="Arial" panose="020B0604020202020204"/>
            </a:endParaRPr>
          </a:p>
        </p:txBody>
      </p:sp>
      <p:sp>
        <p:nvSpPr>
          <p:cNvPr id="39" name="Rectangle 38"/>
          <p:cNvSpPr/>
          <p:nvPr/>
        </p:nvSpPr>
        <p:spPr>
          <a:xfrm>
            <a:off x="2286000" y="2185416"/>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36800" y="2236216"/>
            <a:ext cx="1361440" cy="304800"/>
          </a:xfrm>
          <a:prstGeom prst="rect">
            <a:avLst/>
          </a:prstGeom>
          <a:noFill/>
        </p:spPr>
        <p:txBody>
          <a:bodyPr wrap="square">
            <a:spAutoFit/>
          </a:bodyPr>
          <a:lstStyle/>
          <a:p>
            <a:pPr algn="ctr"/>
            <a:r>
              <a:rPr sz="1000" b="0">
                <a:solidFill>
                  <a:srgbClr val="111111"/>
                </a:solidFill>
                <a:latin typeface="Arial" panose="020B0604020202020204"/>
              </a:rPr>
              <a:t>TEE</a:t>
            </a:r>
            <a:endParaRPr sz="1000" b="0">
              <a:solidFill>
                <a:srgbClr val="111111"/>
              </a:solidFill>
              <a:latin typeface="Arial" panose="020B0604020202020204"/>
            </a:endParaRPr>
          </a:p>
        </p:txBody>
      </p:sp>
      <p:sp>
        <p:nvSpPr>
          <p:cNvPr id="41" name="Rectangle 40"/>
          <p:cNvSpPr/>
          <p:nvPr/>
        </p:nvSpPr>
        <p:spPr>
          <a:xfrm>
            <a:off x="3749040" y="2185416"/>
            <a:ext cx="15544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9840" y="2236216"/>
            <a:ext cx="145288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43" name="Rectangle 42"/>
          <p:cNvSpPr/>
          <p:nvPr/>
        </p:nvSpPr>
        <p:spPr>
          <a:xfrm>
            <a:off x="5303520" y="2185416"/>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54320" y="2236216"/>
            <a:ext cx="136144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45" name="Rectangle 44"/>
          <p:cNvSpPr/>
          <p:nvPr/>
        </p:nvSpPr>
        <p:spPr>
          <a:xfrm>
            <a:off x="6766560" y="2185416"/>
            <a:ext cx="128016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17360" y="2236216"/>
            <a:ext cx="1178560" cy="304800"/>
          </a:xfrm>
          <a:prstGeom prst="rect">
            <a:avLst/>
          </a:prstGeom>
          <a:noFill/>
        </p:spPr>
        <p:txBody>
          <a:bodyPr wrap="square">
            <a:spAutoFit/>
          </a:bodyPr>
          <a:lstStyle/>
          <a:p>
            <a:pPr algn="ctr"/>
            <a:r>
              <a:rPr sz="1000" b="0">
                <a:solidFill>
                  <a:srgbClr val="111111"/>
                </a:solidFill>
                <a:latin typeface="Arial" panose="020B0604020202020204"/>
              </a:rPr>
              <a:t>Touchscreen</a:t>
            </a:r>
            <a:endParaRPr sz="1000" b="0">
              <a:solidFill>
                <a:srgbClr val="111111"/>
              </a:solidFill>
              <a:latin typeface="Arial" panose="020B0604020202020204"/>
            </a:endParaRPr>
          </a:p>
        </p:txBody>
      </p:sp>
      <p:sp>
        <p:nvSpPr>
          <p:cNvPr id="47" name="Rectangle 46"/>
          <p:cNvSpPr/>
          <p:nvPr/>
        </p:nvSpPr>
        <p:spPr>
          <a:xfrm>
            <a:off x="8046720" y="2185416"/>
            <a:ext cx="9144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97520" y="2236216"/>
            <a:ext cx="812800" cy="304800"/>
          </a:xfrm>
          <a:prstGeom prst="rect">
            <a:avLst/>
          </a:prstGeom>
          <a:noFill/>
        </p:spPr>
        <p:txBody>
          <a:bodyPr wrap="square">
            <a:spAutoFit/>
          </a:bodyPr>
          <a:lstStyle/>
          <a:p>
            <a:pPr algn="ctr"/>
            <a:r>
              <a:rPr sz="1000" b="0">
                <a:solidFill>
                  <a:srgbClr val="F59E0B"/>
                </a:solidFill>
                <a:latin typeface="Arial" panose="020B0604020202020204"/>
              </a:rPr>
              <a:t>P</a:t>
            </a:r>
            <a:endParaRPr sz="1000" b="0">
              <a:solidFill>
                <a:srgbClr val="F59E0B"/>
              </a:solidFill>
              <a:latin typeface="Arial" panose="020B0604020202020204"/>
            </a:endParaRPr>
          </a:p>
        </p:txBody>
      </p:sp>
      <p:sp>
        <p:nvSpPr>
          <p:cNvPr id="49" name="Rectangle 48"/>
          <p:cNvSpPr/>
          <p:nvPr/>
        </p:nvSpPr>
        <p:spPr>
          <a:xfrm>
            <a:off x="8961120" y="2185416"/>
            <a:ext cx="13716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11920" y="2236216"/>
            <a:ext cx="127000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51" name="Rectangle 50"/>
          <p:cNvSpPr/>
          <p:nvPr/>
        </p:nvSpPr>
        <p:spPr>
          <a:xfrm>
            <a:off x="274320" y="2569464"/>
            <a:ext cx="20116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5120" y="2620264"/>
            <a:ext cx="1910080" cy="304800"/>
          </a:xfrm>
          <a:prstGeom prst="rect">
            <a:avLst/>
          </a:prstGeom>
          <a:noFill/>
        </p:spPr>
        <p:txBody>
          <a:bodyPr wrap="square">
            <a:spAutoFit/>
          </a:bodyPr>
          <a:lstStyle/>
          <a:p>
            <a:pPr algn="l"/>
            <a:r>
              <a:rPr sz="1000" b="0">
                <a:solidFill>
                  <a:srgbClr val="111111"/>
                </a:solidFill>
                <a:latin typeface="Arial" panose="020B0604020202020204"/>
              </a:rPr>
              <a:t>Sanctuary / Overshadow</a:t>
            </a:r>
            <a:endParaRPr sz="1000" b="0">
              <a:solidFill>
                <a:srgbClr val="111111"/>
              </a:solidFill>
              <a:latin typeface="Arial" panose="020B0604020202020204"/>
            </a:endParaRPr>
          </a:p>
        </p:txBody>
      </p:sp>
      <p:sp>
        <p:nvSpPr>
          <p:cNvPr id="53" name="Rectangle 52"/>
          <p:cNvSpPr/>
          <p:nvPr/>
        </p:nvSpPr>
        <p:spPr>
          <a:xfrm>
            <a:off x="2286000" y="2569464"/>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336800" y="2620264"/>
            <a:ext cx="1361440" cy="304800"/>
          </a:xfrm>
          <a:prstGeom prst="rect">
            <a:avLst/>
          </a:prstGeom>
          <a:noFill/>
        </p:spPr>
        <p:txBody>
          <a:bodyPr wrap="square">
            <a:spAutoFit/>
          </a:bodyPr>
          <a:lstStyle/>
          <a:p>
            <a:pPr algn="ctr"/>
            <a:r>
              <a:rPr sz="1000" b="0">
                <a:solidFill>
                  <a:srgbClr val="111111"/>
                </a:solidFill>
                <a:latin typeface="Arial" panose="020B0604020202020204"/>
              </a:rPr>
              <a:t>VM/进程</a:t>
            </a:r>
            <a:endParaRPr sz="1000" b="0">
              <a:solidFill>
                <a:srgbClr val="111111"/>
              </a:solidFill>
              <a:latin typeface="Arial" panose="020B0604020202020204"/>
            </a:endParaRPr>
          </a:p>
        </p:txBody>
      </p:sp>
      <p:sp>
        <p:nvSpPr>
          <p:cNvPr id="55" name="Rectangle 54"/>
          <p:cNvSpPr/>
          <p:nvPr/>
        </p:nvSpPr>
        <p:spPr>
          <a:xfrm>
            <a:off x="3749040" y="2569464"/>
            <a:ext cx="15544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99840" y="2620264"/>
            <a:ext cx="1452880" cy="304800"/>
          </a:xfrm>
          <a:prstGeom prst="rect">
            <a:avLst/>
          </a:prstGeom>
          <a:noFill/>
        </p:spPr>
        <p:txBody>
          <a:bodyPr wrap="square">
            <a:spAutoFit/>
          </a:bodyPr>
          <a:lstStyle/>
          <a:p>
            <a:pPr algn="ctr"/>
            <a:r>
              <a:rPr sz="1000" b="0">
                <a:solidFill>
                  <a:srgbClr val="F59E0B"/>
                </a:solidFill>
                <a:latin typeface="Arial" panose="020B0604020202020204"/>
              </a:rPr>
              <a:t>P</a:t>
            </a:r>
            <a:endParaRPr sz="1000" b="0">
              <a:solidFill>
                <a:srgbClr val="F59E0B"/>
              </a:solidFill>
              <a:latin typeface="Arial" panose="020B0604020202020204"/>
            </a:endParaRPr>
          </a:p>
        </p:txBody>
      </p:sp>
      <p:sp>
        <p:nvSpPr>
          <p:cNvPr id="57" name="Rectangle 56"/>
          <p:cNvSpPr/>
          <p:nvPr/>
        </p:nvSpPr>
        <p:spPr>
          <a:xfrm>
            <a:off x="5303520" y="2569464"/>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54320" y="2620264"/>
            <a:ext cx="1361440" cy="304800"/>
          </a:xfrm>
          <a:prstGeom prst="rect">
            <a:avLst/>
          </a:prstGeom>
          <a:noFill/>
        </p:spPr>
        <p:txBody>
          <a:bodyPr wrap="square">
            <a:spAutoFit/>
          </a:bodyPr>
          <a:lstStyle/>
          <a:p>
            <a:pPr algn="ctr"/>
            <a:r>
              <a:rPr sz="1000" b="0">
                <a:solidFill>
                  <a:srgbClr val="111111"/>
                </a:solidFill>
                <a:latin typeface="Arial" panose="020B0604020202020204"/>
              </a:rPr>
              <a:t>Linux IPC</a:t>
            </a:r>
            <a:endParaRPr sz="1000" b="0">
              <a:solidFill>
                <a:srgbClr val="111111"/>
              </a:solidFill>
              <a:latin typeface="Arial" panose="020B0604020202020204"/>
            </a:endParaRPr>
          </a:p>
        </p:txBody>
      </p:sp>
      <p:sp>
        <p:nvSpPr>
          <p:cNvPr id="59" name="Rectangle 58"/>
          <p:cNvSpPr/>
          <p:nvPr/>
        </p:nvSpPr>
        <p:spPr>
          <a:xfrm>
            <a:off x="6766560" y="2569464"/>
            <a:ext cx="128016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17360" y="2620264"/>
            <a:ext cx="117856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61" name="Rectangle 60"/>
          <p:cNvSpPr/>
          <p:nvPr/>
        </p:nvSpPr>
        <p:spPr>
          <a:xfrm>
            <a:off x="8046720" y="2569464"/>
            <a:ext cx="9144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97520" y="2620264"/>
            <a:ext cx="812800" cy="304800"/>
          </a:xfrm>
          <a:prstGeom prst="rect">
            <a:avLst/>
          </a:prstGeom>
          <a:noFill/>
        </p:spPr>
        <p:txBody>
          <a:bodyPr wrap="square">
            <a:spAutoFit/>
          </a:bodyPr>
          <a:lstStyle/>
          <a:p>
            <a:pPr algn="ctr"/>
            <a:r>
              <a:rPr sz="1000" b="0">
                <a:solidFill>
                  <a:srgbClr val="2A9D2A"/>
                </a:solidFill>
                <a:latin typeface="Arial" panose="020B0604020202020204"/>
              </a:rPr>
              <a:t>Y</a:t>
            </a:r>
            <a:endParaRPr sz="1000" b="0">
              <a:solidFill>
                <a:srgbClr val="2A9D2A"/>
              </a:solidFill>
              <a:latin typeface="Arial" panose="020B0604020202020204"/>
            </a:endParaRPr>
          </a:p>
        </p:txBody>
      </p:sp>
      <p:sp>
        <p:nvSpPr>
          <p:cNvPr id="63" name="Rectangle 62"/>
          <p:cNvSpPr/>
          <p:nvPr/>
        </p:nvSpPr>
        <p:spPr>
          <a:xfrm>
            <a:off x="8961120" y="2569464"/>
            <a:ext cx="13716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11920" y="2620264"/>
            <a:ext cx="127000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65" name="Rectangle 64"/>
          <p:cNvSpPr/>
          <p:nvPr/>
        </p:nvSpPr>
        <p:spPr>
          <a:xfrm>
            <a:off x="274320" y="2953512"/>
            <a:ext cx="20116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120" y="3004312"/>
            <a:ext cx="1910080" cy="304800"/>
          </a:xfrm>
          <a:prstGeom prst="rect">
            <a:avLst/>
          </a:prstGeom>
          <a:noFill/>
        </p:spPr>
        <p:txBody>
          <a:bodyPr wrap="square">
            <a:spAutoFit/>
          </a:bodyPr>
          <a:lstStyle/>
          <a:p>
            <a:pPr algn="l"/>
            <a:r>
              <a:rPr sz="1000" b="0">
                <a:solidFill>
                  <a:srgbClr val="111111"/>
                </a:solidFill>
                <a:latin typeface="Arial" panose="020B0604020202020204"/>
              </a:rPr>
              <a:t>AVF</a:t>
            </a:r>
            <a:endParaRPr sz="1000" b="0">
              <a:solidFill>
                <a:srgbClr val="111111"/>
              </a:solidFill>
              <a:latin typeface="Arial" panose="020B0604020202020204"/>
            </a:endParaRPr>
          </a:p>
        </p:txBody>
      </p:sp>
      <p:sp>
        <p:nvSpPr>
          <p:cNvPr id="67" name="Rectangle 66"/>
          <p:cNvSpPr/>
          <p:nvPr/>
        </p:nvSpPr>
        <p:spPr>
          <a:xfrm>
            <a:off x="2286000" y="2953512"/>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336800" y="3004312"/>
            <a:ext cx="1361440" cy="304800"/>
          </a:xfrm>
          <a:prstGeom prst="rect">
            <a:avLst/>
          </a:prstGeom>
          <a:noFill/>
        </p:spPr>
        <p:txBody>
          <a:bodyPr wrap="square">
            <a:spAutoFit/>
          </a:bodyPr>
          <a:lstStyle/>
          <a:p>
            <a:pPr algn="ctr"/>
            <a:r>
              <a:rPr sz="1000" b="0">
                <a:solidFill>
                  <a:srgbClr val="111111"/>
                </a:solidFill>
                <a:latin typeface="Arial" panose="020B0604020202020204"/>
              </a:rPr>
              <a:t>VM</a:t>
            </a:r>
            <a:endParaRPr sz="1000" b="0">
              <a:solidFill>
                <a:srgbClr val="111111"/>
              </a:solidFill>
              <a:latin typeface="Arial" panose="020B0604020202020204"/>
            </a:endParaRPr>
          </a:p>
        </p:txBody>
      </p:sp>
      <p:sp>
        <p:nvSpPr>
          <p:cNvPr id="69" name="Rectangle 68"/>
          <p:cNvSpPr/>
          <p:nvPr/>
        </p:nvSpPr>
        <p:spPr>
          <a:xfrm>
            <a:off x="3749040" y="2953512"/>
            <a:ext cx="15544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99840" y="3004312"/>
            <a:ext cx="1452880" cy="304800"/>
          </a:xfrm>
          <a:prstGeom prst="rect">
            <a:avLst/>
          </a:prstGeom>
          <a:noFill/>
        </p:spPr>
        <p:txBody>
          <a:bodyPr wrap="square">
            <a:spAutoFit/>
          </a:bodyPr>
          <a:lstStyle/>
          <a:p>
            <a:pPr algn="ctr"/>
            <a:r>
              <a:rPr sz="1000" b="0">
                <a:solidFill>
                  <a:srgbClr val="2A9D2A"/>
                </a:solidFill>
                <a:latin typeface="Arial" panose="020B0604020202020204"/>
              </a:rPr>
              <a:t>Y</a:t>
            </a:r>
            <a:endParaRPr sz="1000" b="0">
              <a:solidFill>
                <a:srgbClr val="2A9D2A"/>
              </a:solidFill>
              <a:latin typeface="Arial" panose="020B0604020202020204"/>
            </a:endParaRPr>
          </a:p>
        </p:txBody>
      </p:sp>
      <p:sp>
        <p:nvSpPr>
          <p:cNvPr id="71" name="Rectangle 70"/>
          <p:cNvSpPr/>
          <p:nvPr/>
        </p:nvSpPr>
        <p:spPr>
          <a:xfrm>
            <a:off x="5303520" y="2953512"/>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354320" y="3004312"/>
            <a:ext cx="1361440" cy="304800"/>
          </a:xfrm>
          <a:prstGeom prst="rect">
            <a:avLst/>
          </a:prstGeom>
          <a:noFill/>
        </p:spPr>
        <p:txBody>
          <a:bodyPr wrap="square">
            <a:spAutoFit/>
          </a:bodyPr>
          <a:lstStyle/>
          <a:p>
            <a:pPr algn="ctr"/>
            <a:r>
              <a:rPr sz="1000" b="0">
                <a:solidFill>
                  <a:srgbClr val="111111"/>
                </a:solidFill>
                <a:latin typeface="Arial" panose="020B0604020202020204"/>
              </a:rPr>
              <a:t>Binder+Linux</a:t>
            </a:r>
            <a:endParaRPr sz="1000" b="0">
              <a:solidFill>
                <a:srgbClr val="111111"/>
              </a:solidFill>
              <a:latin typeface="Arial" panose="020B0604020202020204"/>
            </a:endParaRPr>
          </a:p>
        </p:txBody>
      </p:sp>
      <p:sp>
        <p:nvSpPr>
          <p:cNvPr id="73" name="Rectangle 72"/>
          <p:cNvSpPr/>
          <p:nvPr/>
        </p:nvSpPr>
        <p:spPr>
          <a:xfrm>
            <a:off x="6766560" y="2953512"/>
            <a:ext cx="128016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817360" y="3004312"/>
            <a:ext cx="117856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75" name="Rectangle 74"/>
          <p:cNvSpPr/>
          <p:nvPr/>
        </p:nvSpPr>
        <p:spPr>
          <a:xfrm>
            <a:off x="8046720" y="2953512"/>
            <a:ext cx="9144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97520" y="3004312"/>
            <a:ext cx="812800" cy="304800"/>
          </a:xfrm>
          <a:prstGeom prst="rect">
            <a:avLst/>
          </a:prstGeom>
          <a:noFill/>
        </p:spPr>
        <p:txBody>
          <a:bodyPr wrap="square">
            <a:spAutoFit/>
          </a:bodyPr>
          <a:lstStyle/>
          <a:p>
            <a:pPr algn="ctr"/>
            <a:r>
              <a:rPr sz="1000" b="0">
                <a:solidFill>
                  <a:srgbClr val="2A9D2A"/>
                </a:solidFill>
                <a:latin typeface="Arial" panose="020B0604020202020204"/>
              </a:rPr>
              <a:t>Y</a:t>
            </a:r>
            <a:endParaRPr sz="1000" b="0">
              <a:solidFill>
                <a:srgbClr val="2A9D2A"/>
              </a:solidFill>
              <a:latin typeface="Arial" panose="020B0604020202020204"/>
            </a:endParaRPr>
          </a:p>
        </p:txBody>
      </p:sp>
      <p:sp>
        <p:nvSpPr>
          <p:cNvPr id="77" name="Rectangle 76"/>
          <p:cNvSpPr/>
          <p:nvPr/>
        </p:nvSpPr>
        <p:spPr>
          <a:xfrm>
            <a:off x="8961120" y="2953512"/>
            <a:ext cx="13716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11920" y="3004312"/>
            <a:ext cx="1270000" cy="304800"/>
          </a:xfrm>
          <a:prstGeom prst="rect">
            <a:avLst/>
          </a:prstGeom>
          <a:noFill/>
        </p:spPr>
        <p:txBody>
          <a:bodyPr wrap="square">
            <a:spAutoFit/>
          </a:bodyPr>
          <a:lstStyle/>
          <a:p>
            <a:pPr algn="ctr"/>
            <a:r>
              <a:rPr sz="1000" b="0">
                <a:solidFill>
                  <a:srgbClr val="111111"/>
                </a:solidFill>
                <a:latin typeface="Arial" panose="020B0604020202020204"/>
              </a:rPr>
              <a:t>部分</a:t>
            </a:r>
            <a:endParaRPr sz="1000" b="0">
              <a:solidFill>
                <a:srgbClr val="111111"/>
              </a:solidFill>
              <a:latin typeface="Arial" panose="020B0604020202020204"/>
            </a:endParaRPr>
          </a:p>
        </p:txBody>
      </p:sp>
      <p:sp>
        <p:nvSpPr>
          <p:cNvPr id="79" name="Rectangle 78"/>
          <p:cNvSpPr/>
          <p:nvPr/>
        </p:nvSpPr>
        <p:spPr>
          <a:xfrm>
            <a:off x="274320" y="3337560"/>
            <a:ext cx="20116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25120" y="3388360"/>
            <a:ext cx="1910080" cy="304800"/>
          </a:xfrm>
          <a:prstGeom prst="rect">
            <a:avLst/>
          </a:prstGeom>
          <a:noFill/>
        </p:spPr>
        <p:txBody>
          <a:bodyPr wrap="square">
            <a:spAutoFit/>
          </a:bodyPr>
          <a:lstStyle/>
          <a:p>
            <a:pPr algn="l"/>
            <a:r>
              <a:rPr sz="1000" b="0">
                <a:solidFill>
                  <a:srgbClr val="111111"/>
                </a:solidFill>
                <a:latin typeface="Arial" panose="020B0604020202020204"/>
              </a:rPr>
              <a:t>BlackBox</a:t>
            </a:r>
            <a:endParaRPr sz="1000" b="0">
              <a:solidFill>
                <a:srgbClr val="111111"/>
              </a:solidFill>
              <a:latin typeface="Arial" panose="020B0604020202020204"/>
            </a:endParaRPr>
          </a:p>
        </p:txBody>
      </p:sp>
      <p:sp>
        <p:nvSpPr>
          <p:cNvPr id="81" name="Rectangle 80"/>
          <p:cNvSpPr/>
          <p:nvPr/>
        </p:nvSpPr>
        <p:spPr>
          <a:xfrm>
            <a:off x="2286000" y="3337560"/>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336800" y="3388360"/>
            <a:ext cx="1361440" cy="304800"/>
          </a:xfrm>
          <a:prstGeom prst="rect">
            <a:avLst/>
          </a:prstGeom>
          <a:noFill/>
        </p:spPr>
        <p:txBody>
          <a:bodyPr wrap="square">
            <a:spAutoFit/>
          </a:bodyPr>
          <a:lstStyle/>
          <a:p>
            <a:pPr algn="ctr"/>
            <a:r>
              <a:rPr sz="1000" b="0">
                <a:solidFill>
                  <a:srgbClr val="111111"/>
                </a:solidFill>
                <a:latin typeface="Arial" panose="020B0604020202020204"/>
              </a:rPr>
              <a:t>容器</a:t>
            </a:r>
            <a:endParaRPr sz="1000" b="0">
              <a:solidFill>
                <a:srgbClr val="111111"/>
              </a:solidFill>
              <a:latin typeface="Arial" panose="020B0604020202020204"/>
            </a:endParaRPr>
          </a:p>
        </p:txBody>
      </p:sp>
      <p:sp>
        <p:nvSpPr>
          <p:cNvPr id="83" name="Rectangle 82"/>
          <p:cNvSpPr/>
          <p:nvPr/>
        </p:nvSpPr>
        <p:spPr>
          <a:xfrm>
            <a:off x="3749040" y="3337560"/>
            <a:ext cx="15544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799840" y="3388360"/>
            <a:ext cx="1452880" cy="304800"/>
          </a:xfrm>
          <a:prstGeom prst="rect">
            <a:avLst/>
          </a:prstGeom>
          <a:noFill/>
        </p:spPr>
        <p:txBody>
          <a:bodyPr wrap="square">
            <a:spAutoFit/>
          </a:bodyPr>
          <a:lstStyle/>
          <a:p>
            <a:pPr algn="ctr"/>
            <a:r>
              <a:rPr sz="1000" b="0">
                <a:solidFill>
                  <a:srgbClr val="F59E0B"/>
                </a:solidFill>
                <a:latin typeface="Arial" panose="020B0604020202020204"/>
              </a:rPr>
              <a:t>P</a:t>
            </a:r>
            <a:endParaRPr sz="1000" b="0">
              <a:solidFill>
                <a:srgbClr val="F59E0B"/>
              </a:solidFill>
              <a:latin typeface="Arial" panose="020B0604020202020204"/>
            </a:endParaRPr>
          </a:p>
        </p:txBody>
      </p:sp>
      <p:sp>
        <p:nvSpPr>
          <p:cNvPr id="85" name="Rectangle 84"/>
          <p:cNvSpPr/>
          <p:nvPr/>
        </p:nvSpPr>
        <p:spPr>
          <a:xfrm>
            <a:off x="5303520" y="3337560"/>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354320" y="3388360"/>
            <a:ext cx="1361440" cy="304800"/>
          </a:xfrm>
          <a:prstGeom prst="rect">
            <a:avLst/>
          </a:prstGeom>
          <a:noFill/>
        </p:spPr>
        <p:txBody>
          <a:bodyPr wrap="square">
            <a:spAutoFit/>
          </a:bodyPr>
          <a:lstStyle/>
          <a:p>
            <a:pPr algn="ctr"/>
            <a:r>
              <a:rPr sz="1000" b="0">
                <a:solidFill>
                  <a:srgbClr val="111111"/>
                </a:solidFill>
                <a:latin typeface="Arial" panose="020B0604020202020204"/>
              </a:rPr>
              <a:t>Linux IPC</a:t>
            </a:r>
            <a:endParaRPr sz="1000" b="0">
              <a:solidFill>
                <a:srgbClr val="111111"/>
              </a:solidFill>
              <a:latin typeface="Arial" panose="020B0604020202020204"/>
            </a:endParaRPr>
          </a:p>
        </p:txBody>
      </p:sp>
      <p:sp>
        <p:nvSpPr>
          <p:cNvPr id="87" name="Rectangle 86"/>
          <p:cNvSpPr/>
          <p:nvPr/>
        </p:nvSpPr>
        <p:spPr>
          <a:xfrm>
            <a:off x="6766560" y="3337560"/>
            <a:ext cx="128016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817360" y="3388360"/>
            <a:ext cx="117856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89" name="Rectangle 88"/>
          <p:cNvSpPr/>
          <p:nvPr/>
        </p:nvSpPr>
        <p:spPr>
          <a:xfrm>
            <a:off x="8046720" y="3337560"/>
            <a:ext cx="9144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097520" y="3388360"/>
            <a:ext cx="812800" cy="304800"/>
          </a:xfrm>
          <a:prstGeom prst="rect">
            <a:avLst/>
          </a:prstGeom>
          <a:noFill/>
        </p:spPr>
        <p:txBody>
          <a:bodyPr wrap="square">
            <a:spAutoFit/>
          </a:bodyPr>
          <a:lstStyle/>
          <a:p>
            <a:pPr algn="ctr"/>
            <a:r>
              <a:rPr sz="1000" b="0">
                <a:solidFill>
                  <a:srgbClr val="2A9D2A"/>
                </a:solidFill>
                <a:latin typeface="Arial" panose="020B0604020202020204"/>
              </a:rPr>
              <a:t>Y</a:t>
            </a:r>
            <a:endParaRPr sz="1000" b="0">
              <a:solidFill>
                <a:srgbClr val="2A9D2A"/>
              </a:solidFill>
              <a:latin typeface="Arial" panose="020B0604020202020204"/>
            </a:endParaRPr>
          </a:p>
        </p:txBody>
      </p:sp>
      <p:sp>
        <p:nvSpPr>
          <p:cNvPr id="91" name="Rectangle 90"/>
          <p:cNvSpPr/>
          <p:nvPr/>
        </p:nvSpPr>
        <p:spPr>
          <a:xfrm>
            <a:off x="8961120" y="3337560"/>
            <a:ext cx="13716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011920" y="3388360"/>
            <a:ext cx="1270000" cy="304800"/>
          </a:xfrm>
          <a:prstGeom prst="rect">
            <a:avLst/>
          </a:prstGeom>
          <a:noFill/>
        </p:spPr>
        <p:txBody>
          <a:bodyPr wrap="square">
            <a:spAutoFit/>
          </a:bodyPr>
          <a:lstStyle/>
          <a:p>
            <a:pPr algn="ctr"/>
            <a:r>
              <a:rPr sz="1000" b="0">
                <a:solidFill>
                  <a:srgbClr val="111111"/>
                </a:solidFill>
                <a:latin typeface="Arial" panose="020B0604020202020204"/>
              </a:rPr>
              <a:t>—</a:t>
            </a:r>
            <a:endParaRPr sz="1000" b="0">
              <a:solidFill>
                <a:srgbClr val="111111"/>
              </a:solidFill>
              <a:latin typeface="Arial" panose="020B0604020202020204"/>
            </a:endParaRPr>
          </a:p>
        </p:txBody>
      </p:sp>
      <p:sp>
        <p:nvSpPr>
          <p:cNvPr id="93" name="Rectangle 92"/>
          <p:cNvSpPr/>
          <p:nvPr/>
        </p:nvSpPr>
        <p:spPr>
          <a:xfrm>
            <a:off x="274320" y="3721608"/>
            <a:ext cx="20116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25120" y="3772408"/>
            <a:ext cx="1910080" cy="304800"/>
          </a:xfrm>
          <a:prstGeom prst="rect">
            <a:avLst/>
          </a:prstGeom>
          <a:noFill/>
        </p:spPr>
        <p:txBody>
          <a:bodyPr wrap="square">
            <a:spAutoFit/>
          </a:bodyPr>
          <a:lstStyle/>
          <a:p>
            <a:pPr algn="l"/>
            <a:r>
              <a:rPr sz="1000" b="1">
                <a:solidFill>
                  <a:srgbClr val="FFFFFF"/>
                </a:solidFill>
                <a:latin typeface="Arial" panose="020B0604020202020204"/>
              </a:rPr>
              <a:t>Harness ★</a:t>
            </a:r>
            <a:endParaRPr sz="1000" b="1">
              <a:solidFill>
                <a:srgbClr val="FFFFFF"/>
              </a:solidFill>
              <a:latin typeface="Arial" panose="020B0604020202020204"/>
            </a:endParaRPr>
          </a:p>
        </p:txBody>
      </p:sp>
      <p:sp>
        <p:nvSpPr>
          <p:cNvPr id="95" name="Rectangle 94"/>
          <p:cNvSpPr/>
          <p:nvPr/>
        </p:nvSpPr>
        <p:spPr>
          <a:xfrm>
            <a:off x="2286000" y="3721608"/>
            <a:ext cx="1463040" cy="365760"/>
          </a:xfrm>
          <a:prstGeom prst="rect">
            <a:avLst/>
          </a:prstGeom>
          <a:solidFill>
            <a:srgbClr val="D6282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336800" y="3772408"/>
            <a:ext cx="1361440" cy="304800"/>
          </a:xfrm>
          <a:prstGeom prst="rect">
            <a:avLst/>
          </a:prstGeom>
          <a:noFill/>
        </p:spPr>
        <p:txBody>
          <a:bodyPr wrap="square">
            <a:spAutoFit/>
          </a:bodyPr>
          <a:lstStyle/>
          <a:p>
            <a:pPr algn="ctr"/>
            <a:r>
              <a:rPr sz="1000" b="0">
                <a:solidFill>
                  <a:srgbClr val="FFFFFF"/>
                </a:solidFill>
                <a:latin typeface="Arial" panose="020B0604020202020204"/>
              </a:rPr>
              <a:t>进程</a:t>
            </a:r>
            <a:endParaRPr sz="1000" b="0">
              <a:solidFill>
                <a:srgbClr val="FFFFFF"/>
              </a:solidFill>
              <a:latin typeface="Arial" panose="020B0604020202020204"/>
            </a:endParaRPr>
          </a:p>
        </p:txBody>
      </p:sp>
      <p:sp>
        <p:nvSpPr>
          <p:cNvPr id="97" name="Rectangle 96"/>
          <p:cNvSpPr/>
          <p:nvPr/>
        </p:nvSpPr>
        <p:spPr>
          <a:xfrm>
            <a:off x="3749040" y="3721608"/>
            <a:ext cx="1554480" cy="365760"/>
          </a:xfrm>
          <a:prstGeom prst="rect">
            <a:avLst/>
          </a:prstGeom>
          <a:solidFill>
            <a:srgbClr val="D6282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799840" y="3772408"/>
            <a:ext cx="1452880" cy="304800"/>
          </a:xfrm>
          <a:prstGeom prst="rect">
            <a:avLst/>
          </a:prstGeom>
          <a:noFill/>
        </p:spPr>
        <p:txBody>
          <a:bodyPr wrap="square">
            <a:spAutoFit/>
          </a:bodyPr>
          <a:lstStyle/>
          <a:p>
            <a:pPr algn="ctr"/>
            <a:r>
              <a:rPr sz="1000" b="0">
                <a:solidFill>
                  <a:srgbClr val="FFFFFF"/>
                </a:solidFill>
                <a:latin typeface="Arial" panose="020B0604020202020204"/>
              </a:rPr>
              <a:t>Y</a:t>
            </a:r>
            <a:endParaRPr sz="1000" b="0">
              <a:solidFill>
                <a:srgbClr val="FFFFFF"/>
              </a:solidFill>
              <a:latin typeface="Arial" panose="020B0604020202020204"/>
            </a:endParaRPr>
          </a:p>
        </p:txBody>
      </p:sp>
      <p:sp>
        <p:nvSpPr>
          <p:cNvPr id="99" name="Rectangle 98"/>
          <p:cNvSpPr/>
          <p:nvPr/>
        </p:nvSpPr>
        <p:spPr>
          <a:xfrm>
            <a:off x="5303520" y="3721608"/>
            <a:ext cx="1463040" cy="365760"/>
          </a:xfrm>
          <a:prstGeom prst="rect">
            <a:avLst/>
          </a:prstGeom>
          <a:solidFill>
            <a:srgbClr val="D6282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354320" y="3772408"/>
            <a:ext cx="1361440" cy="304800"/>
          </a:xfrm>
          <a:prstGeom prst="rect">
            <a:avLst/>
          </a:prstGeom>
          <a:noFill/>
        </p:spPr>
        <p:txBody>
          <a:bodyPr wrap="square">
            <a:spAutoFit/>
          </a:bodyPr>
          <a:lstStyle/>
          <a:p>
            <a:pPr algn="ctr"/>
            <a:r>
              <a:rPr sz="1000" b="0">
                <a:solidFill>
                  <a:srgbClr val="FFFFFF"/>
                </a:solidFill>
                <a:latin typeface="Arial" panose="020B0604020202020204"/>
              </a:rPr>
              <a:t>Binder+Linux</a:t>
            </a:r>
            <a:endParaRPr sz="1000" b="0">
              <a:solidFill>
                <a:srgbClr val="FFFFFF"/>
              </a:solidFill>
              <a:latin typeface="Arial" panose="020B0604020202020204"/>
            </a:endParaRPr>
          </a:p>
        </p:txBody>
      </p:sp>
      <p:sp>
        <p:nvSpPr>
          <p:cNvPr id="101" name="Rectangle 100"/>
          <p:cNvSpPr/>
          <p:nvPr/>
        </p:nvSpPr>
        <p:spPr>
          <a:xfrm>
            <a:off x="6766560" y="3721608"/>
            <a:ext cx="1280160" cy="365760"/>
          </a:xfrm>
          <a:prstGeom prst="rect">
            <a:avLst/>
          </a:prstGeom>
          <a:solidFill>
            <a:srgbClr val="D6282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817360" y="3772408"/>
            <a:ext cx="1178560" cy="304800"/>
          </a:xfrm>
          <a:prstGeom prst="rect">
            <a:avLst/>
          </a:prstGeom>
          <a:noFill/>
        </p:spPr>
        <p:txBody>
          <a:bodyPr wrap="square">
            <a:spAutoFit/>
          </a:bodyPr>
          <a:lstStyle/>
          <a:p>
            <a:pPr algn="ctr"/>
            <a:r>
              <a:rPr sz="1000" b="0">
                <a:solidFill>
                  <a:srgbClr val="FFFFFF"/>
                </a:solidFill>
                <a:latin typeface="Arial" panose="020B0604020202020204"/>
              </a:rPr>
              <a:t>触摸屏</a:t>
            </a:r>
            <a:endParaRPr sz="1000" b="0">
              <a:solidFill>
                <a:srgbClr val="FFFFFF"/>
              </a:solidFill>
              <a:latin typeface="Arial" panose="020B0604020202020204"/>
            </a:endParaRPr>
          </a:p>
        </p:txBody>
      </p:sp>
      <p:sp>
        <p:nvSpPr>
          <p:cNvPr id="103" name="Rectangle 102"/>
          <p:cNvSpPr/>
          <p:nvPr/>
        </p:nvSpPr>
        <p:spPr>
          <a:xfrm>
            <a:off x="8046720" y="3721608"/>
            <a:ext cx="914400" cy="365760"/>
          </a:xfrm>
          <a:prstGeom prst="rect">
            <a:avLst/>
          </a:prstGeom>
          <a:solidFill>
            <a:srgbClr val="D6282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097520" y="3772408"/>
            <a:ext cx="812800" cy="304800"/>
          </a:xfrm>
          <a:prstGeom prst="rect">
            <a:avLst/>
          </a:prstGeom>
          <a:noFill/>
        </p:spPr>
        <p:txBody>
          <a:bodyPr wrap="square">
            <a:spAutoFit/>
          </a:bodyPr>
          <a:lstStyle/>
          <a:p>
            <a:pPr algn="ctr"/>
            <a:r>
              <a:rPr sz="1000" b="0">
                <a:solidFill>
                  <a:srgbClr val="FFFFFF"/>
                </a:solidFill>
                <a:latin typeface="Arial" panose="020B0604020202020204"/>
              </a:rPr>
              <a:t>Y</a:t>
            </a:r>
            <a:endParaRPr sz="1000" b="0">
              <a:solidFill>
                <a:srgbClr val="FFFFFF"/>
              </a:solidFill>
              <a:latin typeface="Arial" panose="020B0604020202020204"/>
            </a:endParaRPr>
          </a:p>
        </p:txBody>
      </p:sp>
      <p:sp>
        <p:nvSpPr>
          <p:cNvPr id="105" name="Rectangle 104"/>
          <p:cNvSpPr/>
          <p:nvPr/>
        </p:nvSpPr>
        <p:spPr>
          <a:xfrm>
            <a:off x="8961120" y="3721608"/>
            <a:ext cx="1371600" cy="365760"/>
          </a:xfrm>
          <a:prstGeom prst="rect">
            <a:avLst/>
          </a:prstGeom>
          <a:solidFill>
            <a:srgbClr val="D6282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011920" y="3772408"/>
            <a:ext cx="1270000" cy="304800"/>
          </a:xfrm>
          <a:prstGeom prst="rect">
            <a:avLst/>
          </a:prstGeom>
          <a:noFill/>
        </p:spPr>
        <p:txBody>
          <a:bodyPr wrap="square">
            <a:spAutoFit/>
          </a:bodyPr>
          <a:lstStyle/>
          <a:p>
            <a:pPr algn="ctr"/>
            <a:r>
              <a:rPr sz="1000" b="0">
                <a:solidFill>
                  <a:srgbClr val="FFFFFF"/>
                </a:solidFill>
                <a:latin typeface="Arial" panose="020B0604020202020204"/>
              </a:rPr>
              <a:t>Y</a:t>
            </a:r>
            <a:endParaRPr sz="1000" b="0">
              <a:solidFill>
                <a:srgbClr val="FFFFFF"/>
              </a:solidFill>
              <a:latin typeface="Arial" panose="020B0604020202020204"/>
            </a:endParaRPr>
          </a:p>
        </p:txBody>
      </p:sp>
      <p:sp>
        <p:nvSpPr>
          <p:cNvPr id="107" name="Rectangle 106"/>
          <p:cNvSpPr/>
          <p:nvPr/>
        </p:nvSpPr>
        <p:spPr>
          <a:xfrm>
            <a:off x="274320" y="4251960"/>
            <a:ext cx="11338560" cy="685800"/>
          </a:xfrm>
          <a:prstGeom prst="rect">
            <a:avLst/>
          </a:prstGeom>
          <a:solidFill>
            <a:srgbClr val="FCE8E8"/>
          </a:solidFill>
          <a:ln w="25400">
            <a:solidFill>
              <a:srgbClr val="D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57200" y="4315968"/>
            <a:ext cx="10972800" cy="558800"/>
          </a:xfrm>
          <a:prstGeom prst="rect">
            <a:avLst/>
          </a:prstGeom>
          <a:noFill/>
        </p:spPr>
        <p:txBody>
          <a:bodyPr wrap="square">
            <a:spAutoFit/>
          </a:bodyPr>
          <a:lstStyle/>
          <a:p>
            <a:pPr algn="l"/>
            <a:r>
              <a:rPr sz="1200" b="1" dirty="0">
                <a:solidFill>
                  <a:srgbClr val="D62828"/>
                </a:solidFill>
                <a:latin typeface="Arial" panose="020B0604020202020204"/>
              </a:rPr>
              <a:t>■  Harness </a:t>
            </a:r>
            <a:r>
              <a:rPr sz="1200" b="1" dirty="0" err="1">
                <a:solidFill>
                  <a:srgbClr val="D62828"/>
                </a:solidFill>
                <a:latin typeface="Arial" panose="020B0604020202020204"/>
              </a:rPr>
              <a:t>是唯一同时满足：进程级隔离</a:t>
            </a:r>
            <a:r>
              <a:rPr sz="1200" b="1" dirty="0">
                <a:solidFill>
                  <a:srgbClr val="D62828"/>
                </a:solidFill>
                <a:latin typeface="Arial" panose="020B0604020202020204"/>
              </a:rPr>
              <a:t> + Android </a:t>
            </a:r>
            <a:r>
              <a:rPr sz="1200" b="1" dirty="0" err="1">
                <a:solidFill>
                  <a:srgbClr val="D62828"/>
                </a:solidFill>
                <a:latin typeface="Arial" panose="020B0604020202020204"/>
              </a:rPr>
              <a:t>可写共享内存</a:t>
            </a:r>
            <a:r>
              <a:rPr sz="1200" b="1" dirty="0">
                <a:solidFill>
                  <a:srgbClr val="D62828"/>
                </a:solidFill>
                <a:latin typeface="Arial" panose="020B0604020202020204"/>
              </a:rPr>
              <a:t> + Binder </a:t>
            </a:r>
            <a:r>
              <a:rPr sz="1200" b="1" dirty="0" err="1">
                <a:solidFill>
                  <a:srgbClr val="D62828"/>
                </a:solidFill>
                <a:latin typeface="Arial" panose="020B0604020202020204"/>
              </a:rPr>
              <a:t>保护</a:t>
            </a:r>
            <a:r>
              <a:rPr sz="1200" b="1" dirty="0">
                <a:solidFill>
                  <a:srgbClr val="D62828"/>
                </a:solidFill>
                <a:latin typeface="Arial" panose="020B0604020202020204"/>
              </a:rPr>
              <a:t> + HMI </a:t>
            </a:r>
            <a:r>
              <a:rPr sz="1200" b="1" dirty="0" err="1">
                <a:solidFill>
                  <a:srgbClr val="D62828"/>
                </a:solidFill>
                <a:latin typeface="Arial" panose="020B0604020202020204"/>
              </a:rPr>
              <a:t>保护</a:t>
            </a:r>
            <a:r>
              <a:rPr sz="1200" b="1" dirty="0">
                <a:solidFill>
                  <a:srgbClr val="D62828"/>
                </a:solidFill>
                <a:latin typeface="Arial" panose="020B0604020202020204"/>
              </a:rPr>
              <a:t> + </a:t>
            </a:r>
            <a:r>
              <a:rPr sz="1200" b="1" dirty="0" err="1">
                <a:solidFill>
                  <a:srgbClr val="D62828"/>
                </a:solidFill>
                <a:latin typeface="Arial" panose="020B0604020202020204"/>
              </a:rPr>
              <a:t>透明性</a:t>
            </a:r>
            <a:r>
              <a:rPr sz="1200" b="1" dirty="0">
                <a:solidFill>
                  <a:srgbClr val="D62828"/>
                </a:solidFill>
                <a:latin typeface="Arial" panose="020B0604020202020204"/>
              </a:rPr>
              <a:t> + </a:t>
            </a:r>
            <a:r>
              <a:rPr sz="1200" b="1" dirty="0" err="1">
                <a:solidFill>
                  <a:srgbClr val="D62828"/>
                </a:solidFill>
                <a:latin typeface="Arial" panose="020B0604020202020204"/>
              </a:rPr>
              <a:t>兼容</a:t>
            </a:r>
            <a:r>
              <a:rPr sz="1200" b="1" dirty="0">
                <a:solidFill>
                  <a:srgbClr val="D62828"/>
                </a:solidFill>
                <a:latin typeface="Arial" panose="020B0604020202020204"/>
              </a:rPr>
              <a:t> AAOS</a:t>
            </a:r>
            <a:endParaRPr sz="1200" b="1" dirty="0">
              <a:solidFill>
                <a:srgbClr val="D62828"/>
              </a:solidFill>
              <a:latin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0800"/>
            <a:ext cx="4572000" cy="304800"/>
          </a:xfrm>
          <a:prstGeom prst="rect">
            <a:avLst/>
          </a:prstGeom>
          <a:noFill/>
        </p:spPr>
        <p:txBody>
          <a:bodyPr wrap="square">
            <a:spAutoFit/>
          </a:bodyPr>
          <a:lstStyle/>
          <a:p>
            <a:pPr algn="l"/>
            <a:r>
              <a:rPr sz="1100" b="0">
                <a:solidFill>
                  <a:srgbClr val="666666"/>
                </a:solidFill>
                <a:latin typeface="Arial" panose="020B0604020202020204"/>
              </a:rPr>
              <a:t>总结  Conclusion</a:t>
            </a:r>
            <a:endParaRPr sz="1100" b="0">
              <a:solidFill>
                <a:srgbClr val="666666"/>
              </a:solidFill>
              <a:latin typeface="Arial" panose="020B0604020202020204"/>
            </a:endParaRPr>
          </a:p>
        </p:txBody>
      </p:sp>
      <p:sp>
        <p:nvSpPr>
          <p:cNvPr id="5" name="Rectangle 4"/>
          <p:cNvSpPr/>
          <p:nvPr/>
        </p:nvSpPr>
        <p:spPr>
          <a:xfrm>
            <a:off x="457200" y="6446520"/>
            <a:ext cx="11274552"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94360"/>
            <a:ext cx="3657600" cy="203200"/>
          </a:xfrm>
          <a:prstGeom prst="rect">
            <a:avLst/>
          </a:prstGeom>
          <a:noFill/>
        </p:spPr>
        <p:txBody>
          <a:bodyPr wrap="square">
            <a:spAutoFit/>
          </a:bodyPr>
          <a:lstStyle/>
          <a:p>
            <a:pPr algn="l"/>
            <a:r>
              <a:rPr sz="1200" b="1">
                <a:solidFill>
                  <a:srgbClr val="D62828"/>
                </a:solidFill>
                <a:latin typeface="Arial" panose="020B0604020202020204"/>
              </a:rPr>
              <a:t>CONCLUSION</a:t>
            </a:r>
            <a:endParaRPr sz="1200" b="1">
              <a:solidFill>
                <a:srgbClr val="D62828"/>
              </a:solidFill>
              <a:latin typeface="Arial" panose="020B0604020202020204"/>
            </a:endParaRPr>
          </a:p>
        </p:txBody>
      </p:sp>
      <p:sp>
        <p:nvSpPr>
          <p:cNvPr id="7" name="Rectangle 6"/>
          <p:cNvSpPr/>
          <p:nvPr/>
        </p:nvSpPr>
        <p:spPr>
          <a:xfrm>
            <a:off x="548640" y="868680"/>
            <a:ext cx="2743200" cy="3810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960120"/>
            <a:ext cx="7315200" cy="381000"/>
          </a:xfrm>
          <a:prstGeom prst="rect">
            <a:avLst/>
          </a:prstGeom>
          <a:noFill/>
        </p:spPr>
        <p:txBody>
          <a:bodyPr wrap="square">
            <a:spAutoFit/>
          </a:bodyPr>
          <a:lstStyle/>
          <a:p>
            <a:pPr algn="l"/>
            <a:r>
              <a:rPr sz="2600" b="1">
                <a:solidFill>
                  <a:srgbClr val="111111"/>
                </a:solidFill>
                <a:latin typeface="Arial" panose="020B0604020202020204"/>
              </a:rPr>
              <a:t>总结</a:t>
            </a:r>
            <a:endParaRPr sz="2600" b="1">
              <a:solidFill>
                <a:srgbClr val="111111"/>
              </a:solidFill>
              <a:latin typeface="Arial" panose="020B0604020202020204"/>
            </a:endParaRPr>
          </a:p>
        </p:txBody>
      </p:sp>
      <p:sp>
        <p:nvSpPr>
          <p:cNvPr id="9" name="TextBox 8"/>
          <p:cNvSpPr txBox="1"/>
          <p:nvPr/>
        </p:nvSpPr>
        <p:spPr>
          <a:xfrm>
            <a:off x="548640" y="1600200"/>
            <a:ext cx="5029200" cy="304800"/>
          </a:xfrm>
          <a:prstGeom prst="rect">
            <a:avLst/>
          </a:prstGeom>
          <a:noFill/>
        </p:spPr>
        <p:txBody>
          <a:bodyPr wrap="square">
            <a:spAutoFit/>
          </a:bodyPr>
          <a:lstStyle/>
          <a:p>
            <a:pPr algn="l"/>
            <a:r>
              <a:rPr sz="1500" b="1">
                <a:solidFill>
                  <a:srgbClr val="111111"/>
                </a:solidFill>
                <a:latin typeface="Arial" panose="020B0604020202020204"/>
              </a:rPr>
              <a:t>主要贡献</a:t>
            </a:r>
            <a:endParaRPr sz="1500" b="1">
              <a:solidFill>
                <a:srgbClr val="111111"/>
              </a:solidFill>
              <a:latin typeface="Arial" panose="020B0604020202020204"/>
            </a:endParaRPr>
          </a:p>
        </p:txBody>
      </p:sp>
      <p:sp>
        <p:nvSpPr>
          <p:cNvPr id="10" name="Rectangle 9"/>
          <p:cNvSpPr/>
          <p:nvPr/>
        </p:nvSpPr>
        <p:spPr>
          <a:xfrm>
            <a:off x="548640" y="1920240"/>
            <a:ext cx="5486400" cy="65836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20240"/>
            <a:ext cx="502920" cy="65836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72640"/>
            <a:ext cx="502920" cy="355600"/>
          </a:xfrm>
          <a:prstGeom prst="rect">
            <a:avLst/>
          </a:prstGeom>
          <a:noFill/>
        </p:spPr>
        <p:txBody>
          <a:bodyPr wrap="square">
            <a:spAutoFit/>
          </a:bodyPr>
          <a:lstStyle/>
          <a:p>
            <a:pPr algn="ctr"/>
            <a:r>
              <a:rPr sz="1800" b="1">
                <a:solidFill>
                  <a:srgbClr val="FFFFFF"/>
                </a:solidFill>
                <a:latin typeface="Arial" panose="020B0604020202020204"/>
              </a:rPr>
              <a:t>I</a:t>
            </a:r>
            <a:endParaRPr sz="1800" b="1">
              <a:solidFill>
                <a:srgbClr val="FFFFFF"/>
              </a:solidFill>
              <a:latin typeface="Arial" panose="020B0604020202020204"/>
            </a:endParaRPr>
          </a:p>
        </p:txBody>
      </p:sp>
      <p:sp>
        <p:nvSpPr>
          <p:cNvPr id="13" name="TextBox 12"/>
          <p:cNvSpPr txBox="1"/>
          <p:nvPr/>
        </p:nvSpPr>
        <p:spPr>
          <a:xfrm>
            <a:off x="1143000" y="2047240"/>
            <a:ext cx="4663440" cy="457200"/>
          </a:xfrm>
          <a:prstGeom prst="rect">
            <a:avLst/>
          </a:prstGeom>
          <a:noFill/>
        </p:spPr>
        <p:txBody>
          <a:bodyPr wrap="square">
            <a:spAutoFit/>
          </a:bodyPr>
          <a:lstStyle/>
          <a:p>
            <a:pPr algn="l"/>
            <a:r>
              <a:rPr sz="1200" b="0">
                <a:solidFill>
                  <a:srgbClr val="111111"/>
                </a:solidFill>
                <a:latin typeface="Arial" panose="020B0604020202020204"/>
              </a:rPr>
              <a:t>首次系统分析 AAOS 整车控制链攻击面，归纳 13 种攻击策略</a:t>
            </a:r>
            <a:endParaRPr sz="1200" b="0">
              <a:solidFill>
                <a:srgbClr val="111111"/>
              </a:solidFill>
              <a:latin typeface="Arial" panose="020B0604020202020204"/>
            </a:endParaRPr>
          </a:p>
        </p:txBody>
      </p:sp>
      <p:sp>
        <p:nvSpPr>
          <p:cNvPr id="14" name="Rectangle 13"/>
          <p:cNvSpPr/>
          <p:nvPr/>
        </p:nvSpPr>
        <p:spPr>
          <a:xfrm>
            <a:off x="548640" y="2697480"/>
            <a:ext cx="5486400" cy="65836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97480"/>
            <a:ext cx="502920" cy="65836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849880"/>
            <a:ext cx="502920" cy="355600"/>
          </a:xfrm>
          <a:prstGeom prst="rect">
            <a:avLst/>
          </a:prstGeom>
          <a:noFill/>
        </p:spPr>
        <p:txBody>
          <a:bodyPr wrap="square">
            <a:spAutoFit/>
          </a:bodyPr>
          <a:lstStyle/>
          <a:p>
            <a:pPr algn="ctr"/>
            <a:r>
              <a:rPr sz="1800" b="1">
                <a:solidFill>
                  <a:srgbClr val="FFFFFF"/>
                </a:solidFill>
                <a:latin typeface="Arial" panose="020B0604020202020204"/>
              </a:rPr>
              <a:t>II</a:t>
            </a:r>
            <a:endParaRPr sz="1800" b="1">
              <a:solidFill>
                <a:srgbClr val="FFFFFF"/>
              </a:solidFill>
              <a:latin typeface="Arial" panose="020B0604020202020204"/>
            </a:endParaRPr>
          </a:p>
        </p:txBody>
      </p:sp>
      <p:sp>
        <p:nvSpPr>
          <p:cNvPr id="17" name="TextBox 16"/>
          <p:cNvSpPr txBox="1"/>
          <p:nvPr/>
        </p:nvSpPr>
        <p:spPr>
          <a:xfrm>
            <a:off x="1143000" y="2824480"/>
            <a:ext cx="4663440" cy="457200"/>
          </a:xfrm>
          <a:prstGeom prst="rect">
            <a:avLst/>
          </a:prstGeom>
          <a:noFill/>
        </p:spPr>
        <p:txBody>
          <a:bodyPr wrap="square">
            <a:spAutoFit/>
          </a:bodyPr>
          <a:lstStyle/>
          <a:p>
            <a:pPr algn="l"/>
            <a:r>
              <a:rPr sz="1200" b="0" dirty="0" err="1">
                <a:solidFill>
                  <a:srgbClr val="111111"/>
                </a:solidFill>
                <a:latin typeface="Arial" panose="020B0604020202020204"/>
              </a:rPr>
              <a:t>提出</a:t>
            </a:r>
            <a:r>
              <a:rPr sz="1200" b="0" dirty="0">
                <a:solidFill>
                  <a:srgbClr val="111111"/>
                </a:solidFill>
                <a:latin typeface="Arial" panose="020B0604020202020204"/>
              </a:rPr>
              <a:t> Harness </a:t>
            </a:r>
            <a:r>
              <a:rPr sz="1200" b="0" dirty="0" err="1">
                <a:solidFill>
                  <a:srgbClr val="111111"/>
                </a:solidFill>
                <a:latin typeface="Arial" panose="020B0604020202020204"/>
              </a:rPr>
              <a:t>框架：基于虚拟化，透明保护车辆控制链</a:t>
            </a:r>
            <a:endParaRPr sz="1200" b="0" dirty="0">
              <a:solidFill>
                <a:srgbClr val="111111"/>
              </a:solidFill>
              <a:latin typeface="Arial" panose="020B0604020202020204"/>
            </a:endParaRPr>
          </a:p>
        </p:txBody>
      </p:sp>
      <p:sp>
        <p:nvSpPr>
          <p:cNvPr id="18" name="Rectangle 17"/>
          <p:cNvSpPr/>
          <p:nvPr/>
        </p:nvSpPr>
        <p:spPr>
          <a:xfrm>
            <a:off x="548640" y="3474720"/>
            <a:ext cx="5486400" cy="65836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74720"/>
            <a:ext cx="502920" cy="65836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27120"/>
            <a:ext cx="502920" cy="355600"/>
          </a:xfrm>
          <a:prstGeom prst="rect">
            <a:avLst/>
          </a:prstGeom>
          <a:noFill/>
        </p:spPr>
        <p:txBody>
          <a:bodyPr wrap="square">
            <a:spAutoFit/>
          </a:bodyPr>
          <a:lstStyle/>
          <a:p>
            <a:pPr algn="ctr"/>
            <a:r>
              <a:rPr sz="1800" b="1">
                <a:solidFill>
                  <a:srgbClr val="FFFFFF"/>
                </a:solidFill>
                <a:latin typeface="Arial" panose="020B0604020202020204"/>
              </a:rPr>
              <a:t>III</a:t>
            </a:r>
            <a:endParaRPr sz="1800" b="1">
              <a:solidFill>
                <a:srgbClr val="FFFFFF"/>
              </a:solidFill>
              <a:latin typeface="Arial" panose="020B0604020202020204"/>
            </a:endParaRPr>
          </a:p>
        </p:txBody>
      </p:sp>
      <p:sp>
        <p:nvSpPr>
          <p:cNvPr id="21" name="TextBox 20"/>
          <p:cNvSpPr txBox="1"/>
          <p:nvPr/>
        </p:nvSpPr>
        <p:spPr>
          <a:xfrm>
            <a:off x="1143000" y="3601720"/>
            <a:ext cx="4663440" cy="457200"/>
          </a:xfrm>
          <a:prstGeom prst="rect">
            <a:avLst/>
          </a:prstGeom>
          <a:noFill/>
        </p:spPr>
        <p:txBody>
          <a:bodyPr wrap="square">
            <a:spAutoFit/>
          </a:bodyPr>
          <a:lstStyle/>
          <a:p>
            <a:pPr algn="l"/>
            <a:r>
              <a:rPr sz="1200" b="0" dirty="0" err="1">
                <a:solidFill>
                  <a:srgbClr val="111111"/>
                </a:solidFill>
                <a:latin typeface="Arial" panose="020B0604020202020204"/>
              </a:rPr>
              <a:t>实现原型，无需修改受保护程序代码，仅</a:t>
            </a:r>
            <a:r>
              <a:rPr sz="1200" b="0" dirty="0">
                <a:solidFill>
                  <a:srgbClr val="111111"/>
                </a:solidFill>
                <a:latin typeface="Arial" panose="020B0604020202020204"/>
              </a:rPr>
              <a:t> 914 LoC AOSP </a:t>
            </a:r>
            <a:r>
              <a:rPr sz="1200" b="0" dirty="0" err="1">
                <a:solidFill>
                  <a:srgbClr val="111111"/>
                </a:solidFill>
                <a:latin typeface="Arial" panose="020B0604020202020204"/>
              </a:rPr>
              <a:t>修改</a:t>
            </a:r>
            <a:endParaRPr sz="1200" b="0" dirty="0">
              <a:solidFill>
                <a:srgbClr val="111111"/>
              </a:solidFill>
              <a:latin typeface="Arial" panose="020B0604020202020204"/>
            </a:endParaRPr>
          </a:p>
        </p:txBody>
      </p:sp>
      <p:sp>
        <p:nvSpPr>
          <p:cNvPr id="22" name="Rectangle 21"/>
          <p:cNvSpPr/>
          <p:nvPr/>
        </p:nvSpPr>
        <p:spPr>
          <a:xfrm>
            <a:off x="548640" y="4251960"/>
            <a:ext cx="5486400" cy="658368"/>
          </a:xfrm>
          <a:prstGeom prst="rect">
            <a:avLst/>
          </a:prstGeom>
          <a:solidFill>
            <a:srgbClr val="F8F8F8"/>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251960"/>
            <a:ext cx="502920" cy="658368"/>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04360"/>
            <a:ext cx="502920" cy="355600"/>
          </a:xfrm>
          <a:prstGeom prst="rect">
            <a:avLst/>
          </a:prstGeom>
          <a:noFill/>
        </p:spPr>
        <p:txBody>
          <a:bodyPr wrap="square">
            <a:spAutoFit/>
          </a:bodyPr>
          <a:lstStyle/>
          <a:p>
            <a:pPr algn="ctr"/>
            <a:r>
              <a:rPr sz="1800" b="1">
                <a:solidFill>
                  <a:srgbClr val="FFFFFF"/>
                </a:solidFill>
                <a:latin typeface="Arial" panose="020B0604020202020204"/>
              </a:rPr>
              <a:t>IV</a:t>
            </a:r>
            <a:endParaRPr sz="1800" b="1">
              <a:solidFill>
                <a:srgbClr val="FFFFFF"/>
              </a:solidFill>
              <a:latin typeface="Arial" panose="020B0604020202020204"/>
            </a:endParaRPr>
          </a:p>
        </p:txBody>
      </p:sp>
      <p:sp>
        <p:nvSpPr>
          <p:cNvPr id="25" name="TextBox 24"/>
          <p:cNvSpPr txBox="1"/>
          <p:nvPr/>
        </p:nvSpPr>
        <p:spPr>
          <a:xfrm>
            <a:off x="1143000" y="4378960"/>
            <a:ext cx="4663440" cy="457200"/>
          </a:xfrm>
          <a:prstGeom prst="rect">
            <a:avLst/>
          </a:prstGeom>
          <a:noFill/>
        </p:spPr>
        <p:txBody>
          <a:bodyPr wrap="square">
            <a:spAutoFit/>
          </a:bodyPr>
          <a:lstStyle/>
          <a:p>
            <a:pPr algn="l"/>
            <a:r>
              <a:rPr sz="1200" b="0" dirty="0" err="1">
                <a:solidFill>
                  <a:srgbClr val="111111"/>
                </a:solidFill>
                <a:latin typeface="Arial" panose="020B0604020202020204"/>
              </a:rPr>
              <a:t>全面评估：可防御真实</a:t>
            </a:r>
            <a:r>
              <a:rPr sz="1200" b="0" dirty="0">
                <a:solidFill>
                  <a:srgbClr val="111111"/>
                </a:solidFill>
                <a:latin typeface="Arial" panose="020B0604020202020204"/>
              </a:rPr>
              <a:t> </a:t>
            </a:r>
            <a:r>
              <a:rPr sz="1200" b="0" dirty="0" err="1">
                <a:solidFill>
                  <a:srgbClr val="111111"/>
                </a:solidFill>
                <a:latin typeface="Arial" panose="020B0604020202020204"/>
              </a:rPr>
              <a:t>CVE，Geekbench</a:t>
            </a:r>
            <a:r>
              <a:rPr sz="1200" b="0" dirty="0">
                <a:solidFill>
                  <a:srgbClr val="111111"/>
                </a:solidFill>
                <a:latin typeface="Arial" panose="020B0604020202020204"/>
              </a:rPr>
              <a:t> </a:t>
            </a:r>
            <a:r>
              <a:rPr sz="1200" b="0" dirty="0" err="1">
                <a:solidFill>
                  <a:srgbClr val="111111"/>
                </a:solidFill>
                <a:latin typeface="Arial" panose="020B0604020202020204"/>
              </a:rPr>
              <a:t>开销</a:t>
            </a:r>
            <a:r>
              <a:rPr sz="1200" b="0" dirty="0">
                <a:solidFill>
                  <a:srgbClr val="111111"/>
                </a:solidFill>
                <a:latin typeface="Arial" panose="020B0604020202020204"/>
              </a:rPr>
              <a:t> &lt;6.1%</a:t>
            </a:r>
            <a:endParaRPr sz="1200" b="0" dirty="0">
              <a:solidFill>
                <a:srgbClr val="111111"/>
              </a:solidFill>
              <a:latin typeface="Arial" panose="020B0604020202020204"/>
            </a:endParaRPr>
          </a:p>
        </p:txBody>
      </p:sp>
      <p:sp>
        <p:nvSpPr>
          <p:cNvPr id="26" name="TextBox 25"/>
          <p:cNvSpPr txBox="1"/>
          <p:nvPr/>
        </p:nvSpPr>
        <p:spPr>
          <a:xfrm>
            <a:off x="6309360" y="1600200"/>
            <a:ext cx="5029200" cy="304800"/>
          </a:xfrm>
          <a:prstGeom prst="rect">
            <a:avLst/>
          </a:prstGeom>
          <a:noFill/>
        </p:spPr>
        <p:txBody>
          <a:bodyPr wrap="square">
            <a:spAutoFit/>
          </a:bodyPr>
          <a:lstStyle/>
          <a:p>
            <a:pPr algn="l"/>
            <a:r>
              <a:rPr sz="1500" b="1">
                <a:solidFill>
                  <a:srgbClr val="111111"/>
                </a:solidFill>
                <a:latin typeface="Arial" panose="020B0604020202020204"/>
              </a:rPr>
              <a:t>局限性与未来方向</a:t>
            </a:r>
            <a:endParaRPr sz="1500" b="1">
              <a:solidFill>
                <a:srgbClr val="111111"/>
              </a:solidFill>
              <a:latin typeface="Arial" panose="020B0604020202020204"/>
            </a:endParaRPr>
          </a:p>
        </p:txBody>
      </p:sp>
      <p:sp>
        <p:nvSpPr>
          <p:cNvPr id="27" name="TextBox 26"/>
          <p:cNvSpPr txBox="1"/>
          <p:nvPr/>
        </p:nvSpPr>
        <p:spPr>
          <a:xfrm>
            <a:off x="6309360" y="1920240"/>
            <a:ext cx="5303520" cy="1463040"/>
          </a:xfrm>
          <a:prstGeom prst="rect">
            <a:avLst/>
          </a:prstGeom>
          <a:noFill/>
        </p:spPr>
        <p:txBody>
          <a:bodyPr wrap="square">
            <a:spAutoFit/>
          </a:bodyPr>
          <a:lstStyle/>
          <a:p>
            <a:pPr>
              <a:spcBef>
                <a:spcPts val="400"/>
              </a:spcBef>
            </a:pPr>
            <a:r>
              <a:rPr sz="1200" dirty="0">
                <a:solidFill>
                  <a:srgbClr val="111111"/>
                </a:solidFill>
                <a:latin typeface="Arial" panose="020B0604020202020204"/>
              </a:rPr>
              <a:t>■  </a:t>
            </a:r>
            <a:r>
              <a:rPr sz="1200" dirty="0" err="1">
                <a:solidFill>
                  <a:srgbClr val="111111"/>
                </a:solidFill>
                <a:latin typeface="Arial" panose="020B0604020202020204"/>
              </a:rPr>
              <a:t>目前仅支持组件级访问控制，未来可扩展到接口级细粒度控制</a:t>
            </a:r>
            <a:endParaRPr sz="1200" dirty="0">
              <a:solidFill>
                <a:srgbClr val="111111"/>
              </a:solidFill>
              <a:latin typeface="Arial" panose="020B0604020202020204"/>
            </a:endParaRPr>
          </a:p>
          <a:p>
            <a:pPr>
              <a:spcBef>
                <a:spcPts val="400"/>
              </a:spcBef>
            </a:pPr>
            <a:r>
              <a:rPr sz="1200" dirty="0">
                <a:solidFill>
                  <a:srgbClr val="111111"/>
                </a:solidFill>
                <a:latin typeface="Arial" panose="020B0604020202020204"/>
              </a:rPr>
              <a:t>■  enclave </a:t>
            </a:r>
            <a:r>
              <a:rPr sz="1200" dirty="0" err="1">
                <a:solidFill>
                  <a:srgbClr val="111111"/>
                </a:solidFill>
                <a:latin typeface="Arial" panose="020B0604020202020204"/>
              </a:rPr>
              <a:t>消费不可信外部数据的安全分析尚需深入研究</a:t>
            </a:r>
            <a:endParaRPr sz="1200" dirty="0">
              <a:solidFill>
                <a:srgbClr val="111111"/>
              </a:solidFill>
              <a:latin typeface="Arial" panose="020B0604020202020204"/>
            </a:endParaRPr>
          </a:p>
          <a:p>
            <a:pPr>
              <a:spcBef>
                <a:spcPts val="400"/>
              </a:spcBef>
            </a:pPr>
            <a:r>
              <a:rPr sz="1200" dirty="0">
                <a:solidFill>
                  <a:srgbClr val="111111"/>
                </a:solidFill>
                <a:latin typeface="Arial" panose="020B0604020202020204"/>
              </a:rPr>
              <a:t>■  对 AI </a:t>
            </a:r>
            <a:r>
              <a:rPr sz="1200" dirty="0" err="1">
                <a:solidFill>
                  <a:srgbClr val="111111"/>
                </a:solidFill>
                <a:latin typeface="Arial" panose="020B0604020202020204"/>
              </a:rPr>
              <a:t>模型攻击（如语音助手、驾驶辅助）不在本文范围内</a:t>
            </a:r>
            <a:endParaRPr sz="1200" dirty="0">
              <a:solidFill>
                <a:srgbClr val="111111"/>
              </a:solidFill>
              <a:latin typeface="Arial" panose="020B0604020202020204"/>
            </a:endParaRPr>
          </a:p>
        </p:txBody>
      </p:sp>
      <p:sp>
        <p:nvSpPr>
          <p:cNvPr id="28" name="Rectangle 27"/>
          <p:cNvSpPr/>
          <p:nvPr/>
        </p:nvSpPr>
        <p:spPr>
          <a:xfrm>
            <a:off x="6309360" y="3474720"/>
            <a:ext cx="530352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3611880"/>
            <a:ext cx="5029200" cy="304800"/>
          </a:xfrm>
          <a:prstGeom prst="rect">
            <a:avLst/>
          </a:prstGeom>
          <a:noFill/>
        </p:spPr>
        <p:txBody>
          <a:bodyPr wrap="square">
            <a:spAutoFit/>
          </a:bodyPr>
          <a:lstStyle/>
          <a:p>
            <a:pPr algn="l"/>
            <a:r>
              <a:rPr sz="1500" b="1">
                <a:solidFill>
                  <a:srgbClr val="111111"/>
                </a:solidFill>
                <a:latin typeface="Arial" panose="020B0604020202020204"/>
              </a:rPr>
              <a:t>适用场景</a:t>
            </a:r>
            <a:endParaRPr sz="1500" b="1">
              <a:solidFill>
                <a:srgbClr val="111111"/>
              </a:solidFill>
              <a:latin typeface="Arial" panose="020B0604020202020204"/>
            </a:endParaRPr>
          </a:p>
        </p:txBody>
      </p:sp>
      <p:sp>
        <p:nvSpPr>
          <p:cNvPr id="30" name="TextBox 29"/>
          <p:cNvSpPr txBox="1"/>
          <p:nvPr/>
        </p:nvSpPr>
        <p:spPr>
          <a:xfrm>
            <a:off x="6309360" y="3931920"/>
            <a:ext cx="5303520" cy="914400"/>
          </a:xfrm>
          <a:prstGeom prst="rect">
            <a:avLst/>
          </a:prstGeom>
          <a:noFill/>
        </p:spPr>
        <p:txBody>
          <a:bodyPr wrap="square">
            <a:spAutoFit/>
          </a:bodyPr>
          <a:lstStyle/>
          <a:p>
            <a:pPr>
              <a:spcBef>
                <a:spcPts val="400"/>
              </a:spcBef>
            </a:pPr>
            <a:r>
              <a:rPr sz="1200" dirty="0">
                <a:solidFill>
                  <a:srgbClr val="111111"/>
                </a:solidFill>
                <a:latin typeface="Arial" panose="020B0604020202020204"/>
              </a:rPr>
              <a:t>■  </a:t>
            </a:r>
            <a:r>
              <a:rPr sz="1200" dirty="0" err="1">
                <a:solidFill>
                  <a:srgbClr val="111111"/>
                </a:solidFill>
                <a:latin typeface="Arial" panose="020B0604020202020204"/>
              </a:rPr>
              <a:t>现有</a:t>
            </a:r>
            <a:r>
              <a:rPr sz="1200" dirty="0">
                <a:solidFill>
                  <a:srgbClr val="111111"/>
                </a:solidFill>
                <a:latin typeface="Arial" panose="020B0604020202020204"/>
              </a:rPr>
              <a:t> AAOS </a:t>
            </a:r>
            <a:r>
              <a:rPr sz="1200" dirty="0" err="1">
                <a:solidFill>
                  <a:srgbClr val="111111"/>
                </a:solidFill>
                <a:latin typeface="Arial" panose="020B0604020202020204"/>
              </a:rPr>
              <a:t>车辆：通过</a:t>
            </a:r>
            <a:r>
              <a:rPr sz="1200" dirty="0">
                <a:solidFill>
                  <a:srgbClr val="111111"/>
                </a:solidFill>
                <a:latin typeface="Arial" panose="020B0604020202020204"/>
              </a:rPr>
              <a:t> OTA </a:t>
            </a:r>
            <a:r>
              <a:rPr sz="1200" dirty="0" err="1">
                <a:solidFill>
                  <a:srgbClr val="111111"/>
                </a:solidFill>
                <a:latin typeface="Arial" panose="020B0604020202020204"/>
              </a:rPr>
              <a:t>更新部署</a:t>
            </a:r>
            <a:endParaRPr sz="1200" dirty="0">
              <a:solidFill>
                <a:srgbClr val="111111"/>
              </a:solidFill>
              <a:latin typeface="Arial" panose="020B0604020202020204"/>
            </a:endParaRPr>
          </a:p>
          <a:p>
            <a:pPr>
              <a:spcBef>
                <a:spcPts val="400"/>
              </a:spcBef>
            </a:pPr>
            <a:r>
              <a:rPr sz="1200" dirty="0">
                <a:solidFill>
                  <a:srgbClr val="111111"/>
                </a:solidFill>
                <a:latin typeface="Arial" panose="020B0604020202020204"/>
              </a:rPr>
              <a:t>■  </a:t>
            </a:r>
            <a:r>
              <a:rPr sz="1200" dirty="0" err="1">
                <a:solidFill>
                  <a:srgbClr val="111111"/>
                </a:solidFill>
                <a:latin typeface="Arial" panose="020B0604020202020204"/>
              </a:rPr>
              <a:t>新车辆：与现有虚拟化架构无缝集成</a:t>
            </a:r>
            <a:endParaRPr sz="1200" dirty="0">
              <a:solidFill>
                <a:srgbClr val="111111"/>
              </a:solidFill>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5123</Words>
  <Application>WPS 演示</Application>
  <PresentationFormat>自定义</PresentationFormat>
  <Paragraphs>514</Paragraphs>
  <Slides>15</Slides>
  <Notes>11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15</vt:i4>
      </vt:variant>
    </vt:vector>
  </HeadingPairs>
  <TitlesOfParts>
    <vt:vector size="32" baseType="lpstr">
      <vt:lpstr>Arial</vt:lpstr>
      <vt:lpstr>宋体</vt:lpstr>
      <vt:lpstr>Wingdings</vt:lpstr>
      <vt:lpstr>Arial</vt:lpstr>
      <vt:lpstr>黑体</vt:lpstr>
      <vt:lpstr>Times New Roman</vt:lpstr>
      <vt:lpstr>苹方 中等</vt:lpstr>
      <vt:lpstr>NimbusRomNo9L-Regu</vt:lpstr>
      <vt:lpstr>Calibri</vt:lpstr>
      <vt:lpstr>微软雅黑</vt:lpstr>
      <vt:lpstr>Arial Unicode MS</vt:lpstr>
      <vt:lpstr>等线</vt:lpstr>
      <vt:lpstr>NimbusRomNo9L-Regu</vt:lpstr>
      <vt:lpstr>苹方 中等</vt:lpstr>
      <vt:lpstr>苹方护眼艺术黑体</vt:lpstr>
      <vt:lpstr>DFHSMincho-W9</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SSky</cp:lastModifiedBy>
  <cp:revision>6</cp:revision>
  <dcterms:created xsi:type="dcterms:W3CDTF">2013-01-27T09:14:00Z</dcterms:created>
  <dcterms:modified xsi:type="dcterms:W3CDTF">2026-04-21T02:56:32Z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718BB9168D614FCD98A428A14B04AAC6_12</vt:lpwstr>
  </property>
</Properties>
</file>