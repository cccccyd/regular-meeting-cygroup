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2" r:id="rId9"/>
    <p:sldId id="263" r:id="rId10"/>
    <p:sldId id="283" r:id="rId11"/>
    <p:sldId id="264" r:id="rId12"/>
    <p:sldId id="284" r:id="rId13"/>
    <p:sldId id="267" r:id="rId14"/>
    <p:sldId id="268" r:id="rId15"/>
    <p:sldId id="269" r:id="rId16"/>
    <p:sldId id="271" r:id="rId17"/>
    <p:sldId id="273" r:id="rId18"/>
    <p:sldId id="27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531" autoAdjust="0"/>
  </p:normalViewPr>
  <p:slideViewPr>
    <p:cSldViewPr snapToGrid="0" showGuides="1">
      <p:cViewPr>
        <p:scale>
          <a:sx n="100" d="100"/>
          <a:sy n="100" d="100"/>
        </p:scale>
        <p:origin x="-1062" y="-432"/>
      </p:cViewPr>
      <p:guideLst>
        <p:guide orient="horz" pos="22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Structured Text </a:t>
            </a:r>
            <a:r>
              <a:rPr lang="zh-CN" altLang="en-US">
                <a:sym typeface="+mn-ea"/>
              </a:rPr>
              <a:t>程序难以直接应用传统 </a:t>
            </a:r>
            <a:r>
              <a:rPr lang="en-US" altLang="zh-CN">
                <a:sym typeface="+mn-ea"/>
              </a:rPr>
              <a:t>fuzzing，</a:t>
            </a:r>
            <a:r>
              <a:rPr lang="zh-CN" altLang="en-US">
                <a:sym typeface="+mn-ea"/>
              </a:rPr>
              <a:t>根本原因在于其运行生态和执行模型均不同于普通 </a:t>
            </a:r>
            <a:r>
              <a:rPr lang="en-US" altLang="zh-CN">
                <a:sym typeface="+mn-ea"/>
              </a:rPr>
              <a:t>IT </a:t>
            </a:r>
            <a:r>
              <a:rPr lang="zh-CN" altLang="en-US">
                <a:sym typeface="+mn-ea"/>
              </a:rPr>
              <a:t>软件。一方面，</a:t>
            </a:r>
            <a:r>
              <a:rPr lang="en-US" altLang="zh-CN">
                <a:sym typeface="+mn-ea"/>
              </a:rPr>
              <a:t>ST </a:t>
            </a:r>
            <a:r>
              <a:rPr lang="zh-CN" altLang="en-US">
                <a:sym typeface="+mn-ea"/>
              </a:rPr>
              <a:t>程序通常依赖私有编译器、私有 </a:t>
            </a:r>
            <a:r>
              <a:rPr lang="en-US" altLang="zh-CN">
                <a:sym typeface="+mn-ea"/>
              </a:rPr>
              <a:t>runtime、</a:t>
            </a:r>
            <a:r>
              <a:rPr lang="zh-CN" altLang="en-US">
                <a:sym typeface="+mn-ea"/>
              </a:rPr>
              <a:t>非标准二进制格式和厂商库，导致研究者难以进行标准化插桩、覆盖率反馈和内存错误检测。另一方面，</a:t>
            </a:r>
            <a:r>
              <a:rPr lang="en-US" altLang="zh-CN">
                <a:sym typeface="+mn-ea"/>
              </a:rPr>
              <a:t>PLC </a:t>
            </a:r>
            <a:r>
              <a:rPr lang="zh-CN" altLang="en-US">
                <a:sym typeface="+mn-ea"/>
              </a:rPr>
              <a:t>程序的输入来自 </a:t>
            </a:r>
            <a:r>
              <a:rPr lang="en-US" altLang="zh-CN">
                <a:sym typeface="+mn-ea"/>
              </a:rPr>
              <a:t>I/O </a:t>
            </a:r>
            <a:r>
              <a:rPr lang="zh-CN" altLang="en-US">
                <a:sym typeface="+mn-ea"/>
              </a:rPr>
              <a:t>映像区、传感器变量和 </a:t>
            </a:r>
            <a:r>
              <a:rPr lang="en-US" altLang="zh-CN">
                <a:sym typeface="+mn-ea"/>
              </a:rPr>
              <a:t>runtime </a:t>
            </a:r>
            <a:r>
              <a:rPr lang="zh-CN" altLang="en-US">
                <a:sym typeface="+mn-ea"/>
              </a:rPr>
              <a:t>状态，而不是普通文件或标准输入，因此输入投递本身就具有较高工程复杂度。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已有工作如 </a:t>
            </a:r>
            <a:r>
              <a:rPr lang="en-US" altLang="zh-CN">
                <a:sym typeface="+mn-ea"/>
              </a:rPr>
              <a:t>ICSFuzz </a:t>
            </a:r>
            <a:r>
              <a:rPr lang="zh-CN" altLang="en-US">
                <a:sym typeface="+mn-ea"/>
              </a:rPr>
              <a:t>和 </a:t>
            </a:r>
            <a:r>
              <a:rPr lang="en-US" altLang="zh-CN">
                <a:sym typeface="+mn-ea"/>
              </a:rPr>
              <a:t>FieldFuzz </a:t>
            </a:r>
            <a:r>
              <a:rPr lang="zh-CN" altLang="en-US">
                <a:sym typeface="+mn-ea"/>
              </a:rPr>
              <a:t>虽然推动了 </a:t>
            </a:r>
            <a:r>
              <a:rPr lang="en-US" altLang="zh-CN">
                <a:sym typeface="+mn-ea"/>
              </a:rPr>
              <a:t>PLC fuzzing </a:t>
            </a:r>
            <a:r>
              <a:rPr lang="zh-CN" altLang="en-US">
                <a:sym typeface="+mn-ea"/>
              </a:rPr>
              <a:t>研究，但仍存在明显局限：它们往往依赖特定 </a:t>
            </a:r>
            <a:r>
              <a:rPr lang="en-US" altLang="zh-CN">
                <a:sym typeface="+mn-ea"/>
              </a:rPr>
              <a:t>runtime </a:t>
            </a:r>
            <a:r>
              <a:rPr lang="zh-CN" altLang="en-US">
                <a:sym typeface="+mn-ea"/>
              </a:rPr>
              <a:t>或网络协议，输入投递与 </a:t>
            </a:r>
            <a:r>
              <a:rPr lang="en-US" altLang="zh-CN">
                <a:sym typeface="+mn-ea"/>
              </a:rPr>
              <a:t>coverage </a:t>
            </a:r>
            <a:r>
              <a:rPr lang="zh-CN" altLang="en-US">
                <a:sym typeface="+mn-ea"/>
              </a:rPr>
              <a:t>机制不标准，缺少对 </a:t>
            </a:r>
            <a:r>
              <a:rPr lang="en-US" altLang="zh-CN">
                <a:sym typeface="+mn-ea"/>
              </a:rPr>
              <a:t>scan cycle </a:t>
            </a:r>
            <a:r>
              <a:rPr lang="zh-CN" altLang="en-US">
                <a:sym typeface="+mn-ea"/>
              </a:rPr>
              <a:t>状态演化的显式控制，并且崩溃复现与漏洞定位成本较高。</a:t>
            </a:r>
            <a:r>
              <a:rPr lang="en-US" altLang="zh-CN">
                <a:sym typeface="+mn-ea"/>
              </a:rPr>
              <a:t>ICSQuartz </a:t>
            </a:r>
            <a:r>
              <a:rPr lang="zh-CN" altLang="en-US">
                <a:sym typeface="+mn-ea"/>
              </a:rPr>
              <a:t>正是在这些问题基础上提出 </a:t>
            </a:r>
            <a:r>
              <a:rPr lang="en-US" altLang="zh-CN">
                <a:sym typeface="+mn-ea"/>
              </a:rPr>
              <a:t>vendor-agnostic、scan cycle-aware </a:t>
            </a:r>
            <a:r>
              <a:rPr lang="zh-CN" altLang="en-US">
                <a:sym typeface="+mn-ea"/>
              </a:rPr>
              <a:t>的 </a:t>
            </a:r>
            <a:r>
              <a:rPr lang="en-US" altLang="zh-CN">
                <a:sym typeface="+mn-ea"/>
              </a:rPr>
              <a:t>ST fuzzing </a:t>
            </a:r>
            <a:r>
              <a:rPr lang="zh-CN" altLang="en-US">
                <a:sym typeface="+mn-ea"/>
              </a:rPr>
              <a:t>框架。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 3 展示了 </a:t>
            </a:r>
            <a:r>
              <a:rPr lang="en-US" altLang="zh-CN"/>
              <a:t>ICSQuartz </a:t>
            </a:r>
            <a:r>
              <a:rPr lang="zh-CN" altLang="en-US"/>
              <a:t>的完整 </a:t>
            </a:r>
            <a:r>
              <a:rPr lang="en-US" altLang="zh-CN"/>
              <a:t>fuzzing pipeline。</a:t>
            </a:r>
            <a:r>
              <a:rPr lang="zh-CN" altLang="en-US"/>
              <a:t>首先，输入的 </a:t>
            </a:r>
            <a:r>
              <a:rPr lang="en-US" altLang="zh-CN"/>
              <a:t>ST </a:t>
            </a:r>
            <a:r>
              <a:rPr lang="zh-CN" altLang="en-US"/>
              <a:t>程序和兼容层接口被送入修改后的 </a:t>
            </a:r>
            <a:r>
              <a:rPr lang="en-US" altLang="zh-CN"/>
              <a:t>RuSTy </a:t>
            </a:r>
            <a:r>
              <a:rPr lang="zh-CN" altLang="en-US"/>
              <a:t>编译器。</a:t>
            </a:r>
            <a:r>
              <a:rPr lang="en-US" altLang="zh-CN"/>
              <a:t>RuSTy </a:t>
            </a:r>
            <a:r>
              <a:rPr lang="zh-CN" altLang="en-US"/>
              <a:t>在编译过程中加入 </a:t>
            </a:r>
            <a:r>
              <a:rPr lang="en-US" altLang="zh-CN"/>
              <a:t>LLVM coverage </a:t>
            </a:r>
            <a:r>
              <a:rPr lang="zh-CN" altLang="en-US"/>
              <a:t>和 </a:t>
            </a:r>
            <a:r>
              <a:rPr lang="en-US" altLang="zh-CN"/>
              <a:t>AddressSanitizer </a:t>
            </a:r>
            <a:r>
              <a:rPr lang="zh-CN" altLang="en-US"/>
              <a:t>插桩，并输出 </a:t>
            </a:r>
            <a:r>
              <a:rPr lang="en-US" altLang="zh-CN"/>
              <a:t>LLVM IR。</a:t>
            </a:r>
            <a:r>
              <a:rPr lang="zh-CN" altLang="en-US"/>
              <a:t>随后，</a:t>
            </a:r>
            <a:r>
              <a:rPr lang="en-US" altLang="zh-CN"/>
              <a:t>clang </a:t>
            </a:r>
            <a:r>
              <a:rPr lang="zh-CN" altLang="en-US"/>
              <a:t>将 </a:t>
            </a:r>
            <a:r>
              <a:rPr lang="en-US" altLang="zh-CN"/>
              <a:t>IR </a:t>
            </a:r>
            <a:r>
              <a:rPr lang="zh-CN" altLang="en-US"/>
              <a:t>与 </a:t>
            </a:r>
            <a:r>
              <a:rPr lang="en-US" altLang="zh-CN"/>
              <a:t>coverage runtime、ASAN runtime </a:t>
            </a:r>
            <a:r>
              <a:rPr lang="zh-CN" altLang="en-US"/>
              <a:t>以及 </a:t>
            </a:r>
            <a:r>
              <a:rPr lang="en-US" altLang="zh-CN"/>
              <a:t>compatibility layer backend </a:t>
            </a:r>
            <a:r>
              <a:rPr lang="zh-CN" altLang="en-US"/>
              <a:t>链接，生成带插桩的控制程序。接着，</a:t>
            </a:r>
            <a:r>
              <a:rPr lang="en-US" altLang="zh-CN"/>
              <a:t>ICSQuartz </a:t>
            </a:r>
            <a:r>
              <a:rPr lang="zh-CN" altLang="en-US"/>
              <a:t>从 </a:t>
            </a:r>
            <a:r>
              <a:rPr lang="en-US" altLang="zh-CN"/>
              <a:t>LLVM IR </a:t>
            </a:r>
            <a:r>
              <a:rPr lang="zh-CN" altLang="en-US"/>
              <a:t>中提取输入结构信息，并利用 </a:t>
            </a:r>
            <a:r>
              <a:rPr lang="en-US" altLang="zh-CN"/>
              <a:t>LLM </a:t>
            </a:r>
            <a:r>
              <a:rPr lang="zh-CN" altLang="en-US"/>
              <a:t>辅助生成 </a:t>
            </a:r>
            <a:r>
              <a:rPr lang="en-US" altLang="zh-CN"/>
              <a:t>fuzzing harness，</a:t>
            </a:r>
            <a:r>
              <a:rPr lang="zh-CN" altLang="en-US"/>
              <a:t>使 </a:t>
            </a:r>
            <a:r>
              <a:rPr lang="en-US" altLang="zh-CN"/>
              <a:t>fuzzer </a:t>
            </a:r>
            <a:r>
              <a:rPr lang="zh-CN" altLang="en-US"/>
              <a:t>产生的字节流能够映射为 </a:t>
            </a:r>
            <a:r>
              <a:rPr lang="en-US" altLang="zh-CN"/>
              <a:t>ST </a:t>
            </a:r>
            <a:r>
              <a:rPr lang="zh-CN" altLang="en-US"/>
              <a:t>程序的结构化输入。在 </a:t>
            </a:r>
            <a:r>
              <a:rPr lang="en-US" altLang="zh-CN"/>
              <a:t>fuzzing </a:t>
            </a:r>
            <a:r>
              <a:rPr lang="zh-CN" altLang="en-US"/>
              <a:t>执行阶段，</a:t>
            </a:r>
            <a:r>
              <a:rPr lang="en-US" altLang="zh-CN"/>
              <a:t>ICSQuartz </a:t>
            </a:r>
            <a:r>
              <a:rPr lang="zh-CN" altLang="en-US"/>
              <a:t>根据配置执行覆盖率引导 </a:t>
            </a:r>
            <a:r>
              <a:rPr lang="en-US" altLang="zh-CN"/>
              <a:t>fuzzing，</a:t>
            </a:r>
            <a:r>
              <a:rPr lang="zh-CN" altLang="en-US"/>
              <a:t>并结合 </a:t>
            </a:r>
            <a:r>
              <a:rPr lang="en-US" altLang="zh-CN"/>
              <a:t>scan cycle-aware </a:t>
            </a:r>
            <a:r>
              <a:rPr lang="zh-CN" altLang="en-US"/>
              <a:t>机制保留和推进程序状态。最终，工具输出 </a:t>
            </a:r>
            <a:r>
              <a:rPr lang="en-US" altLang="zh-CN"/>
              <a:t>coverage corpus、crash case、llvm-cov </a:t>
            </a:r>
            <a:r>
              <a:rPr lang="zh-CN" altLang="en-US"/>
              <a:t>覆盖率报告和 </a:t>
            </a:r>
            <a:r>
              <a:rPr lang="en-US" altLang="zh-CN"/>
              <a:t>ASAN </a:t>
            </a:r>
            <a:r>
              <a:rPr lang="zh-CN" altLang="en-US"/>
              <a:t>漏洞定位结果。对于重要 </a:t>
            </a:r>
            <a:r>
              <a:rPr lang="en-US" altLang="zh-CN"/>
              <a:t>crash，</a:t>
            </a:r>
            <a:r>
              <a:rPr lang="zh-CN" altLang="en-US"/>
              <a:t>还可以在真实 </a:t>
            </a:r>
            <a:r>
              <a:rPr lang="en-US" altLang="zh-CN"/>
              <a:t>PLC testbed </a:t>
            </a:r>
            <a:r>
              <a:rPr lang="zh-CN" altLang="en-US"/>
              <a:t>上复现，并结合 </a:t>
            </a:r>
            <a:r>
              <a:rPr lang="en-US" altLang="zh-CN"/>
              <a:t>gdb </a:t>
            </a:r>
            <a:r>
              <a:rPr lang="zh-CN" altLang="en-US"/>
              <a:t>或 </a:t>
            </a:r>
            <a:r>
              <a:rPr lang="en-US" altLang="zh-CN"/>
              <a:t>Ghidra </a:t>
            </a:r>
            <a:r>
              <a:rPr lang="zh-CN" altLang="en-US"/>
              <a:t>做进一步安全分析。整体来看，</a:t>
            </a:r>
            <a:r>
              <a:rPr lang="en-US" altLang="zh-CN"/>
              <a:t>ICSQuartz </a:t>
            </a:r>
            <a:r>
              <a:rPr lang="zh-CN" altLang="en-US"/>
              <a:t>将原本封闭的 </a:t>
            </a:r>
            <a:r>
              <a:rPr lang="en-US" altLang="zh-CN"/>
              <a:t>PLC/ST </a:t>
            </a:r>
            <a:r>
              <a:rPr lang="zh-CN" altLang="en-US"/>
              <a:t>程序转化为一个可插桩、可观测、可状态建模、可漏洞定位的 </a:t>
            </a:r>
            <a:r>
              <a:rPr lang="en-US" altLang="zh-CN"/>
              <a:t>native fuzzing </a:t>
            </a:r>
            <a:r>
              <a:rPr lang="zh-CN" altLang="en-US"/>
              <a:t>目标。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这张图展示了 </a:t>
            </a:r>
            <a:r>
              <a:rPr lang="en-US" altLang="zh-CN"/>
              <a:t>ICSQuartz </a:t>
            </a:r>
            <a:r>
              <a:rPr lang="zh-CN" altLang="en-US"/>
              <a:t>如何围绕一个 </a:t>
            </a:r>
            <a:r>
              <a:rPr lang="en-US" altLang="zh-CN"/>
              <a:t>ST </a:t>
            </a:r>
            <a:r>
              <a:rPr lang="zh-CN" altLang="en-US"/>
              <a:t>控制程序，同时加入输入投递、</a:t>
            </a:r>
            <a:r>
              <a:rPr lang="en-US" altLang="zh-CN"/>
              <a:t>coverage </a:t>
            </a:r>
            <a:r>
              <a:rPr lang="zh-CN" altLang="en-US"/>
              <a:t>插桩、</a:t>
            </a:r>
            <a:r>
              <a:rPr lang="en-US" altLang="zh-CN"/>
              <a:t>ASAN </a:t>
            </a:r>
            <a:r>
              <a:rPr lang="zh-CN" altLang="en-US"/>
              <a:t>内存检测、厂商库兼容层和 </a:t>
            </a:r>
            <a:r>
              <a:rPr lang="en-US" altLang="zh-CN"/>
              <a:t>scan-cycle fuzzing，</a:t>
            </a:r>
            <a:r>
              <a:rPr lang="zh-CN" altLang="en-US"/>
              <a:t>从而实现对 </a:t>
            </a:r>
            <a:r>
              <a:rPr lang="en-US" altLang="zh-CN"/>
              <a:t>ST </a:t>
            </a:r>
            <a:r>
              <a:rPr lang="zh-CN" altLang="en-US"/>
              <a:t>程序的细粒度安全分析。中间部分是待测试的 </a:t>
            </a:r>
            <a:r>
              <a:rPr lang="en-US" altLang="zh-CN"/>
              <a:t>ST </a:t>
            </a:r>
            <a:r>
              <a:rPr lang="zh-CN" altLang="en-US"/>
              <a:t>控制程序。它既包含普通控制逻辑，也包含数组和厂商库函数调用。这些内容在传统 </a:t>
            </a:r>
            <a:r>
              <a:rPr lang="en-US" altLang="zh-CN"/>
              <a:t>PLC </a:t>
            </a:r>
            <a:r>
              <a:rPr lang="zh-CN" altLang="en-US"/>
              <a:t>环境中通常依赖厂商 </a:t>
            </a:r>
            <a:r>
              <a:rPr lang="en-US" altLang="zh-CN"/>
              <a:t>runtime </a:t>
            </a:r>
            <a:r>
              <a:rPr lang="zh-CN" altLang="en-US"/>
              <a:t>执行，难以直接接入标准 </a:t>
            </a:r>
            <a:r>
              <a:rPr lang="en-US" altLang="zh-CN"/>
              <a:t>fuzzing </a:t>
            </a:r>
            <a:r>
              <a:rPr lang="zh-CN" altLang="en-US"/>
              <a:t>工具。</a:t>
            </a:r>
            <a:r>
              <a:rPr lang="en-US" altLang="zh-CN"/>
              <a:t>Code Coverage </a:t>
            </a:r>
            <a:r>
              <a:rPr lang="zh-CN" altLang="en-US"/>
              <a:t>模块提供的是路径反馈能力。</a:t>
            </a:r>
            <a:r>
              <a:rPr lang="en-US" altLang="zh-CN"/>
              <a:t>ICSQuartz </a:t>
            </a:r>
            <a:r>
              <a:rPr lang="zh-CN" altLang="en-US"/>
              <a:t>修改 </a:t>
            </a:r>
            <a:r>
              <a:rPr lang="en-US" altLang="zh-CN"/>
              <a:t>RuSTy </a:t>
            </a:r>
            <a:r>
              <a:rPr lang="zh-CN" altLang="en-US"/>
              <a:t>编译器，在 </a:t>
            </a:r>
            <a:r>
              <a:rPr lang="en-US" altLang="zh-CN"/>
              <a:t>ST </a:t>
            </a:r>
            <a:r>
              <a:rPr lang="zh-CN" altLang="en-US"/>
              <a:t>程序的函数、分支和控制流区域中加入 </a:t>
            </a:r>
            <a:r>
              <a:rPr lang="en-US" altLang="zh-CN"/>
              <a:t>coverage counter，</a:t>
            </a:r>
            <a:r>
              <a:rPr lang="zh-CN" altLang="en-US"/>
              <a:t>使 </a:t>
            </a:r>
            <a:r>
              <a:rPr lang="en-US" altLang="zh-CN"/>
              <a:t>fuzzer </a:t>
            </a:r>
            <a:r>
              <a:rPr lang="zh-CN" altLang="en-US"/>
              <a:t>能够判断某个输入是否探索了新的执行路径。</a:t>
            </a:r>
            <a:r>
              <a:rPr lang="en-US" altLang="zh-CN"/>
              <a:t>ASAN </a:t>
            </a:r>
            <a:r>
              <a:rPr lang="zh-CN" altLang="en-US"/>
              <a:t>部分提供的是内存安全检测能力。它能够检测普通崩溃机制难以发现的越界读写，使 </a:t>
            </a:r>
            <a:r>
              <a:rPr lang="en-US" altLang="zh-CN"/>
              <a:t>ICSQuartz </a:t>
            </a:r>
            <a:r>
              <a:rPr lang="zh-CN" altLang="en-US"/>
              <a:t>不只是知道程序是否崩溃，还能知道具体发生了什么类型的内存错误以及出错位置。</a:t>
            </a:r>
            <a:r>
              <a:rPr lang="en-US" altLang="zh-CN"/>
              <a:t>Compatibility Layer </a:t>
            </a:r>
            <a:r>
              <a:rPr lang="zh-CN" altLang="en-US"/>
              <a:t>解决的是厂商依赖问题。它通过替代或映射常见厂商库函数，使 </a:t>
            </a:r>
            <a:r>
              <a:rPr lang="en-US" altLang="zh-CN"/>
              <a:t>ST </a:t>
            </a:r>
            <a:r>
              <a:rPr lang="zh-CN" altLang="en-US"/>
              <a:t>程序不必绑定某个特定 </a:t>
            </a:r>
            <a:r>
              <a:rPr lang="en-US" altLang="zh-CN"/>
              <a:t>PLC runtime，</a:t>
            </a:r>
            <a:r>
              <a:rPr lang="zh-CN" altLang="en-US"/>
              <a:t>也能在普通平台上参与 </a:t>
            </a:r>
            <a:r>
              <a:rPr lang="en-US" altLang="zh-CN"/>
              <a:t>fuzzing。</a:t>
            </a:r>
            <a:r>
              <a:rPr lang="zh-CN" altLang="en-US"/>
              <a:t>右上表示 </a:t>
            </a:r>
            <a:r>
              <a:rPr lang="en-US" altLang="zh-CN"/>
              <a:t>fuzzing harness </a:t>
            </a:r>
            <a:r>
              <a:rPr lang="zh-CN" altLang="en-US"/>
              <a:t>和输入传递机制。</a:t>
            </a:r>
            <a:r>
              <a:rPr lang="en-US" altLang="zh-CN"/>
              <a:t>ICSQuartz </a:t>
            </a:r>
            <a:r>
              <a:rPr lang="zh-CN" altLang="en-US"/>
              <a:t>通过 </a:t>
            </a:r>
            <a:r>
              <a:rPr lang="en-US" altLang="zh-CN"/>
              <a:t>harness </a:t>
            </a:r>
            <a:r>
              <a:rPr lang="zh-CN" altLang="en-US"/>
              <a:t>将 </a:t>
            </a:r>
            <a:r>
              <a:rPr lang="en-US" altLang="zh-CN"/>
              <a:t>fuzzer </a:t>
            </a:r>
            <a:r>
              <a:rPr lang="zh-CN" altLang="en-US"/>
              <a:t>生成的字节输入转化为 </a:t>
            </a:r>
            <a:r>
              <a:rPr lang="en-US" altLang="zh-CN"/>
              <a:t>ST </a:t>
            </a:r>
            <a:r>
              <a:rPr lang="zh-CN" altLang="en-US"/>
              <a:t>程序可接受的结构化输入，并在 </a:t>
            </a:r>
            <a:r>
              <a:rPr lang="en-US" altLang="zh-CN"/>
              <a:t>scan-cycle </a:t>
            </a:r>
            <a:r>
              <a:rPr lang="zh-CN" altLang="en-US"/>
              <a:t>模式下连续执行目标程序，从而探索跨周期状态相关漏洞。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数据表明，</a:t>
            </a:r>
            <a:r>
              <a:rPr lang="en-US" altLang="zh-CN"/>
              <a:t>ICSQuartz </a:t>
            </a:r>
            <a:r>
              <a:rPr lang="zh-CN" altLang="en-US"/>
              <a:t>每秒执行次数远超 </a:t>
            </a:r>
            <a:r>
              <a:rPr lang="en-US" altLang="zh-CN"/>
              <a:t>FieldFuzz [18] </a:t>
            </a:r>
            <a:r>
              <a:rPr lang="zh-CN" altLang="en-US"/>
              <a:t>与 </a:t>
            </a:r>
            <a:r>
              <a:rPr lang="en-US" altLang="zh-CN"/>
              <a:t>ICSFuzz [17]，</a:t>
            </a:r>
            <a:r>
              <a:rPr lang="zh-CN" altLang="en-US"/>
              <a:t>分别提升27 倍与225 倍以上。执行速度提升源于：① 输入传递优化 —— 直接通过系统内存传递程序输入，避免网络开销或运行时进程不稳定问题，一致性与延迟表现更优；② 厂商与平台无关性 —— 程序以标准 </a:t>
            </a:r>
            <a:r>
              <a:rPr lang="en-US" altLang="zh-CN"/>
              <a:t>ELF </a:t>
            </a:r>
            <a:r>
              <a:rPr lang="zh-CN" altLang="en-US"/>
              <a:t>二进制形式在高性能系统运行，无需厂商运行时，远超 </a:t>
            </a:r>
            <a:r>
              <a:rPr lang="en-US" altLang="zh-CN"/>
              <a:t>PLC </a:t>
            </a:r>
            <a:r>
              <a:rPr lang="zh-CN" altLang="en-US"/>
              <a:t>硬件资源限制。</a:t>
            </a:r>
            <a:endParaRPr lang="zh-CN" altLang="en-US"/>
          </a:p>
          <a:p>
            <a:r>
              <a:rPr lang="zh-CN" altLang="en-US"/>
              <a:t>首次崩溃输入数方面，</a:t>
            </a:r>
            <a:r>
              <a:rPr lang="en-US" altLang="zh-CN"/>
              <a:t>ICSQuartz </a:t>
            </a:r>
            <a:r>
              <a:rPr lang="zh-CN" altLang="en-US"/>
              <a:t>平均优于 </a:t>
            </a:r>
            <a:r>
              <a:rPr lang="en-US" altLang="zh-CN"/>
              <a:t>FieldFuzz [18] </a:t>
            </a:r>
            <a:r>
              <a:rPr lang="zh-CN" altLang="en-US"/>
              <a:t>与 </a:t>
            </a:r>
            <a:r>
              <a:rPr lang="en-US" altLang="zh-CN"/>
              <a:t>ICSFuzz [17] </a:t>
            </a:r>
            <a:r>
              <a:rPr lang="zh-CN" altLang="en-US"/>
              <a:t>分别达203 倍与161 倍。首次崩溃输入数是评估模糊测试器性能的关键指标：执行速度提升固然重要，首次崩溃输入数体现输入变异策略整体效果。两项优化协同作用：单轮输入更有效，单位时间测试次数更多。二者结合使首次崩溃时间大幅缩短，</a:t>
            </a:r>
            <a:r>
              <a:rPr lang="en-US" altLang="zh-CN"/>
              <a:t>ICSQuartz </a:t>
            </a:r>
            <a:r>
              <a:rPr lang="zh-CN" altLang="en-US"/>
              <a:t>平均优于 </a:t>
            </a:r>
            <a:r>
              <a:rPr lang="en-US" altLang="zh-CN"/>
              <a:t>FieldFuzz [18] </a:t>
            </a:r>
            <a:r>
              <a:rPr lang="zh-CN" altLang="en-US"/>
              <a:t>与 </a:t>
            </a:r>
            <a:r>
              <a:rPr lang="en-US" altLang="zh-CN"/>
              <a:t>ICSFuzz [17] </a:t>
            </a:r>
            <a:r>
              <a:rPr lang="zh-CN" altLang="en-US"/>
              <a:t>分别达1784 倍与10055 倍以上。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表示触发漏洞前执行了多少次输入。这个指标可以辅助说明 </a:t>
            </a:r>
            <a:r>
              <a:rPr lang="en-US" altLang="zh-CN"/>
              <a:t>fuzzing </a:t>
            </a:r>
            <a:r>
              <a:rPr lang="zh-CN" altLang="en-US"/>
              <a:t>策略的效率。虽然不同 </a:t>
            </a:r>
            <a:r>
              <a:rPr lang="en-US" altLang="zh-CN"/>
              <a:t>benchmark </a:t>
            </a:r>
            <a:r>
              <a:rPr lang="zh-CN" altLang="en-US"/>
              <a:t>的执行次数差异较大，但总体上 </a:t>
            </a:r>
            <a:r>
              <a:rPr lang="en-US" altLang="zh-CN"/>
              <a:t>ICSQuartz </a:t>
            </a:r>
            <a:r>
              <a:rPr lang="zh-CN" altLang="en-US"/>
              <a:t>能够在可接受的执行规模内稳定触发漏洞。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C76AFB1-9282-4966-AC5F-AD5EED50ACB0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/>
            </a:fld>
            <a:endParaRPr lang="zh-CN" altLang="en-US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4.png"/><Relationship Id="rId2" Type="http://schemas.openxmlformats.org/officeDocument/2006/relationships/tags" Target="../tags/tag21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40.xml"/><Relationship Id="rId3" Type="http://schemas.openxmlformats.org/officeDocument/2006/relationships/image" Target="../media/image4.png"/><Relationship Id="rId2" Type="http://schemas.openxmlformats.org/officeDocument/2006/relationships/tags" Target="../tags/tag3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4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4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image" Target="../media/image4.png"/><Relationship Id="rId2" Type="http://schemas.openxmlformats.org/officeDocument/2006/relationships/tags" Target="../tags/tag43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51.xml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tags" Target="../tags/tag50.xml"/><Relationship Id="rId2" Type="http://schemas.openxmlformats.org/officeDocument/2006/relationships/image" Target="../media/image1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53.xml"/><Relationship Id="rId4" Type="http://schemas.openxmlformats.org/officeDocument/2006/relationships/image" Target="../media/image8.png"/><Relationship Id="rId3" Type="http://schemas.openxmlformats.org/officeDocument/2006/relationships/image" Target="../media/image4.png"/><Relationship Id="rId2" Type="http://schemas.openxmlformats.org/officeDocument/2006/relationships/tags" Target="../tags/tag5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55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tags" Target="../tags/tag54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57.xml"/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tags" Target="../tags/tag56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4.png"/><Relationship Id="rId2" Type="http://schemas.openxmlformats.org/officeDocument/2006/relationships/tags" Target="../tags/tag58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6.xml"/><Relationship Id="rId4" Type="http://schemas.openxmlformats.org/officeDocument/2006/relationships/image" Target="../media/image12.png"/><Relationship Id="rId3" Type="http://schemas.openxmlformats.org/officeDocument/2006/relationships/image" Target="../media/image4.png"/><Relationship Id="rId2" Type="http://schemas.openxmlformats.org/officeDocument/2006/relationships/tags" Target="../tags/tag65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8.xml"/><Relationship Id="rId4" Type="http://schemas.openxmlformats.org/officeDocument/2006/relationships/image" Target="../media/image13.png"/><Relationship Id="rId3" Type="http://schemas.openxmlformats.org/officeDocument/2006/relationships/image" Target="../media/image4.png"/><Relationship Id="rId2" Type="http://schemas.openxmlformats.org/officeDocument/2006/relationships/tags" Target="../tags/tag6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4.png"/><Relationship Id="rId2" Type="http://schemas.openxmlformats.org/officeDocument/2006/relationships/tags" Target="../tags/tag69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77.xml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635" y="0"/>
            <a:ext cx="12192000" cy="6858000"/>
            <a:chOff x="0" y="0"/>
            <a:chExt cx="19200" cy="10800"/>
          </a:xfrm>
        </p:grpSpPr>
        <p:pic>
          <p:nvPicPr>
            <p:cNvPr id="15" name="图片 1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pic>
          <p:nvPicPr>
            <p:cNvPr id="19" name="图片 18" descr="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" y="5723"/>
              <a:ext cx="18227" cy="3807"/>
            </a:xfrm>
            <a:prstGeom prst="rect">
              <a:avLst/>
            </a:prstGeom>
          </p:spPr>
        </p:pic>
        <p:pic>
          <p:nvPicPr>
            <p:cNvPr id="9" name="图片 8" descr="PPT构思02"/>
            <p:cNvPicPr>
              <a:picLocks noChangeAspect="1"/>
            </p:cNvPicPr>
            <p:nvPr/>
          </p:nvPicPr>
          <p:blipFill>
            <a:blip r:embed="rId3"/>
            <a:srcRect t="27763"/>
            <a:stretch>
              <a:fillRect/>
            </a:stretch>
          </p:blipFill>
          <p:spPr>
            <a:xfrm>
              <a:off x="481" y="8957"/>
              <a:ext cx="18238" cy="136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40005" y="1723390"/>
            <a:ext cx="12192000" cy="1548765"/>
          </a:xfrm>
        </p:spPr>
        <p:txBody>
          <a:bodyPr>
            <a:noAutofit/>
          </a:bodyPr>
          <a:lstStyle/>
          <a:p>
            <a:pPr algn="ctr"/>
            <a:r>
              <a:rPr lang="en-US" altLang="zh-CN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2025 Network and Distributed System Security (NDSS) Symposium,</a:t>
            </a:r>
            <a:br>
              <a:rPr lang="en-US" altLang="zh-CN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</a:br>
            <a:r>
              <a:rPr lang="zh-CN" altLang="en-US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《</a:t>
            </a:r>
            <a:r>
              <a:rPr lang="en-US" altLang="zh-CN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ICSQuartz: Scan Cycle-Aware and Vendor Agnostic Fuzzing for Industrial Control Systems</a:t>
            </a:r>
            <a:r>
              <a:rPr lang="zh-CN" altLang="en-US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》</a:t>
            </a:r>
            <a:br>
              <a:rPr lang="zh-CN" altLang="en-US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</a:br>
            <a:r>
              <a:rPr lang="zh-CN" altLang="en-US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作者：</a:t>
            </a:r>
            <a:r>
              <a:rPr lang="en-US" altLang="zh-CN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Corban Villa∗, Constantine Doumanidis∗, Hithem Lamri∗</a:t>
            </a:r>
            <a:r>
              <a:rPr lang="en-US" altLang="zh-CN" sz="20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endParaRPr lang="en-US" altLang="zh-CN" sz="20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576195" y="5864860"/>
            <a:ext cx="7039610" cy="38417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郑州大学</a:t>
            </a:r>
            <a:r>
              <a:rPr lang="en-US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 2025</a:t>
            </a:r>
            <a:r>
              <a:rPr lang="zh-CN" altLang="en-US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级</a:t>
            </a:r>
            <a:r>
              <a:rPr lang="en-US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zh-CN" altLang="en-US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付一飞</a:t>
            </a:r>
            <a:r>
              <a:rPr lang="en-US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zh-CN" altLang="en-US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论文</a:t>
            </a:r>
            <a:r>
              <a:rPr lang="zh-CN" altLang="en-US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分享</a:t>
            </a:r>
            <a:endParaRPr lang="zh-CN" altLang="en-US" sz="1600" b="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6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3230" y="459740"/>
            <a:ext cx="3148965" cy="51943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l" fontAlgn="ctr"/>
            <a:r>
              <a:rPr lang="zh-CN" altLang="zh-CN" sz="28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郑州大学</a:t>
            </a:r>
            <a:endParaRPr lang="zh-CN" altLang="zh-CN" sz="28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15" name="图片 1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26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967" y="681"/>
              <a:ext cx="3949" cy="651"/>
            </a:xfrm>
            <a:prstGeom prst="rect">
              <a:avLst/>
            </a:prstGeom>
          </p:spPr>
          <p:txBody>
            <a:bodyPr vert="horz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algn="l" fontAlgn="ctr"/>
              <a:r>
                <a:rPr lang="zh-CN" altLang="zh-CN" sz="18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郑州大学</a:t>
              </a:r>
              <a:endParaRPr lang="zh-CN" altLang="zh-CN" sz="18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2" name="图片 11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138998" y="3285490"/>
            <a:ext cx="7914005" cy="1609725"/>
            <a:chOff x="3758" y="5300"/>
            <a:chExt cx="12463" cy="2535"/>
          </a:xfrm>
        </p:grpSpPr>
        <p:sp>
          <p:nvSpPr>
            <p:cNvPr id="13" name="MH_Number_1"/>
            <p:cNvSpPr/>
            <p:nvPr>
              <p:custDataLst>
                <p:tags r:id="rId4"/>
              </p:custDataLst>
            </p:nvPr>
          </p:nvSpPr>
          <p:spPr>
            <a:xfrm>
              <a:off x="3758" y="5485"/>
              <a:ext cx="598" cy="598"/>
            </a:xfrm>
            <a:prstGeom prst="ellipse">
              <a:avLst/>
            </a:prstGeom>
            <a:solidFill>
              <a:srgbClr val="324274"/>
            </a:solidFill>
            <a:ln w="28575">
              <a:solidFill>
                <a:schemeClr val="bg1"/>
              </a:solidFill>
            </a:ln>
            <a:effectLst>
              <a:outerShdw blurRad="203200" dist="1143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zh-CN" sz="2110" b="1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1</a:t>
              </a:r>
              <a:endParaRPr lang="zh-CN" altLang="en-US" sz="211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14" name="MH_Entry_1"/>
            <p:cNvSpPr/>
            <p:nvPr>
              <p:custDataLst>
                <p:tags r:id="rId5"/>
              </p:custDataLst>
            </p:nvPr>
          </p:nvSpPr>
          <p:spPr>
            <a:xfrm>
              <a:off x="4586" y="5345"/>
              <a:ext cx="4790" cy="969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marL="0" indent="0" algn="ctr" fontAlgn="ctr">
                <a:buNone/>
              </a:pPr>
              <a:r>
                <a:rPr lang="zh-CN" altLang="en-US" sz="28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cs typeface="汉仪雅酷黑-55J" panose="00020600040101010101" charset="-122"/>
                  <a:sym typeface="Arial" panose="020B0604020202020204" pitchFamily="34" charset="0"/>
                </a:rPr>
                <a:t>论文背景与概述</a:t>
              </a:r>
              <a:r>
                <a:rPr lang="en-US" altLang="zh-CN" sz="12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sym typeface="+mn-ea"/>
                </a:rPr>
                <a:t>Background and Overview of the Paper</a:t>
              </a:r>
              <a:endParaRPr lang="en-US" altLang="zh-CN" sz="12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cs typeface="汉仪雅酷黑-55J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24" name="MH_Number_2"/>
            <p:cNvSpPr/>
            <p:nvPr>
              <p:custDataLst>
                <p:tags r:id="rId6"/>
              </p:custDataLst>
            </p:nvPr>
          </p:nvSpPr>
          <p:spPr>
            <a:xfrm>
              <a:off x="3758" y="7052"/>
              <a:ext cx="598" cy="598"/>
            </a:xfrm>
            <a:prstGeom prst="ellipse">
              <a:avLst/>
            </a:prstGeom>
            <a:solidFill>
              <a:srgbClr val="324274"/>
            </a:solidFill>
            <a:ln w="28575">
              <a:solidFill>
                <a:schemeClr val="bg1"/>
              </a:solidFill>
            </a:ln>
            <a:effectLst>
              <a:outerShdw blurRad="203200" dist="1143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zh-CN" sz="2110" b="1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endParaRPr lang="en-US" altLang="zh-CN" sz="211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27" name="MH_Entry_2"/>
            <p:cNvSpPr/>
            <p:nvPr>
              <p:custDataLst>
                <p:tags r:id="rId7"/>
              </p:custDataLst>
            </p:nvPr>
          </p:nvSpPr>
          <p:spPr>
            <a:xfrm>
              <a:off x="4941" y="6866"/>
              <a:ext cx="4244" cy="969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lvl="0"/>
              <a:r>
                <a:rPr lang="zh-CN" altLang="en-US" sz="28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cs typeface="汉仪雅酷黑-55J" panose="00020600040101010101" charset="-122"/>
                  <a:sym typeface="Arial" panose="020B0604020202020204" pitchFamily="34" charset="0"/>
                </a:rPr>
                <a:t>研究方法与思路</a:t>
              </a:r>
              <a:endParaRPr lang="zh-CN" altLang="en-US" sz="28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cs typeface="汉仪雅酷黑-55J" panose="00020600040101010101" charset="-122"/>
                <a:sym typeface="Arial" panose="020B0604020202020204" pitchFamily="34" charset="0"/>
              </a:endParaRPr>
            </a:p>
            <a:p>
              <a:pPr lvl="0"/>
              <a:r>
                <a:rPr lang="en-US" altLang="zh-CN" sz="12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cs typeface="汉仪雅酷黑-55J" panose="00020600040101010101" charset="-122"/>
                  <a:sym typeface="Arial" panose="020B0604020202020204" pitchFamily="34" charset="0"/>
                </a:rPr>
                <a:t>Research methods and ideas</a:t>
              </a:r>
              <a:endParaRPr lang="en-US" altLang="zh-CN" sz="12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cs typeface="汉仪雅酷黑-55J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28" name="MH_Number_3"/>
            <p:cNvSpPr/>
            <p:nvPr>
              <p:custDataLst>
                <p:tags r:id="rId8"/>
              </p:custDataLst>
            </p:nvPr>
          </p:nvSpPr>
          <p:spPr>
            <a:xfrm>
              <a:off x="10794" y="5485"/>
              <a:ext cx="598" cy="598"/>
            </a:xfrm>
            <a:prstGeom prst="ellipse">
              <a:avLst/>
            </a:prstGeom>
            <a:solidFill>
              <a:srgbClr val="324274"/>
            </a:solidFill>
            <a:ln w="28575">
              <a:solidFill>
                <a:schemeClr val="bg1"/>
              </a:solidFill>
            </a:ln>
            <a:effectLst>
              <a:outerShdw blurRad="203200" dist="1143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zh-CN" sz="2110" b="1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3</a:t>
              </a:r>
              <a:endParaRPr lang="zh-CN" altLang="en-US" sz="211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29" name="MH_Entry_3"/>
            <p:cNvSpPr/>
            <p:nvPr>
              <p:custDataLst>
                <p:tags r:id="rId9"/>
              </p:custDataLst>
            </p:nvPr>
          </p:nvSpPr>
          <p:spPr>
            <a:xfrm>
              <a:off x="11977" y="5300"/>
              <a:ext cx="4244" cy="969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lvl="0"/>
              <a:r>
                <a:rPr lang="zh-CN" altLang="en-US" sz="28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cs typeface="汉仪雅酷黑-55J" panose="00020600040101010101" charset="-122"/>
                  <a:sym typeface="Arial" panose="020B0604020202020204" pitchFamily="34" charset="0"/>
                </a:rPr>
                <a:t>实验结果展示</a:t>
              </a:r>
              <a:r>
                <a:rPr lang="en-US" altLang="zh-CN" sz="12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sym typeface="+mn-ea"/>
                </a:rPr>
                <a:t>Experimental results presentation</a:t>
              </a:r>
              <a:endParaRPr lang="en-US" altLang="zh-CN" sz="12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cs typeface="汉仪雅酷黑-55J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30" name="MH_Number_4"/>
            <p:cNvSpPr/>
            <p:nvPr>
              <p:custDataLst>
                <p:tags r:id="rId10"/>
              </p:custDataLst>
            </p:nvPr>
          </p:nvSpPr>
          <p:spPr>
            <a:xfrm>
              <a:off x="10794" y="7052"/>
              <a:ext cx="598" cy="598"/>
            </a:xfrm>
            <a:prstGeom prst="ellipse">
              <a:avLst/>
            </a:prstGeom>
            <a:solidFill>
              <a:srgbClr val="324274"/>
            </a:solidFill>
            <a:ln w="28575">
              <a:solidFill>
                <a:schemeClr val="bg1"/>
              </a:solidFill>
            </a:ln>
            <a:effectLst>
              <a:outerShdw blurRad="203200" dist="1143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zh-CN" sz="2110" b="1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4</a:t>
              </a:r>
              <a:endParaRPr lang="en-US" altLang="zh-CN" sz="211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31" name="MH_Entry_4"/>
            <p:cNvSpPr/>
            <p:nvPr>
              <p:custDataLst>
                <p:tags r:id="rId11"/>
              </p:custDataLst>
            </p:nvPr>
          </p:nvSpPr>
          <p:spPr>
            <a:xfrm>
              <a:off x="11977" y="6866"/>
              <a:ext cx="4244" cy="969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lvl="0"/>
              <a:r>
                <a:rPr lang="zh-CN" altLang="en-US" sz="28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cs typeface="汉仪雅酷黑-55J" panose="00020600040101010101" charset="-122"/>
                  <a:sym typeface="Arial" panose="020B0604020202020204" pitchFamily="34" charset="0"/>
                </a:rPr>
                <a:t>总结分析</a:t>
              </a:r>
              <a:endParaRPr lang="zh-CN" altLang="en-US" sz="28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cs typeface="汉仪雅酷黑-55J" panose="00020600040101010101" charset="-122"/>
                <a:sym typeface="Arial" panose="020B0604020202020204" pitchFamily="34" charset="0"/>
              </a:endParaRPr>
            </a:p>
            <a:p>
              <a:pPr lvl="0"/>
              <a:r>
                <a:rPr lang="en-US" altLang="zh-CN" sz="120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cs typeface="汉仪雅酷黑-55J" panose="00020600040101010101" charset="-122"/>
                  <a:sym typeface="Arial" panose="020B0604020202020204" pitchFamily="34" charset="0"/>
                </a:rPr>
                <a:t>Summary and analysis </a:t>
              </a:r>
              <a:endParaRPr lang="en-US" altLang="zh-CN" sz="12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cs typeface="汉仪雅酷黑-55J" panose="00020600040101010101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2" name="MH_Others_1"/>
          <p:cNvSpPr txBox="1"/>
          <p:nvPr>
            <p:custDataLst>
              <p:tags r:id="rId12"/>
            </p:custDataLst>
          </p:nvPr>
        </p:nvSpPr>
        <p:spPr>
          <a:xfrm>
            <a:off x="4782745" y="1408430"/>
            <a:ext cx="2626510" cy="1107440"/>
          </a:xfrm>
          <a:prstGeom prst="rect">
            <a:avLst/>
          </a:prstGeom>
          <a:noFill/>
          <a:effectLst>
            <a:outerShdw blurRad="241300" dist="88900" dir="8100000" algn="tr" rotWithShape="0">
              <a:prstClr val="black">
                <a:alpha val="13000"/>
              </a:prstClr>
            </a:outerShdw>
          </a:effectLst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72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Arial" panose="020B0604020202020204" pitchFamily="34" charset="0"/>
              </a:rPr>
              <a:t>目 录</a:t>
            </a:r>
            <a:endParaRPr lang="zh-CN" altLang="en-US" sz="720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5" name="图片 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pic>
          <p:nvPicPr>
            <p:cNvPr id="13" name="图片 12" descr="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2308860" y="2160905"/>
            <a:ext cx="7574280" cy="1059180"/>
          </a:xfrm>
          <a:effectLst>
            <a:outerShdw blurRad="114300" dist="88900" dir="5100000" algn="tr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zh-CN" altLang="zh-CN" sz="65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论文背景</a:t>
            </a:r>
            <a:r>
              <a:rPr lang="zh-CN" altLang="zh-CN" sz="65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与概述</a:t>
            </a:r>
            <a:endParaRPr lang="zh-CN" altLang="zh-CN" sz="65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402648" y="1788795"/>
            <a:ext cx="5386705" cy="340995"/>
          </a:xfrm>
        </p:spPr>
        <p:txBody>
          <a:bodyPr>
            <a:normAutofit fontScale="90000" lnSpcReduction="20000"/>
          </a:bodyPr>
          <a:lstStyle/>
          <a:p>
            <a:pPr marL="0" indent="0" algn="ctr" fontAlgn="ctr">
              <a:buNone/>
            </a:pPr>
            <a:r>
              <a:rPr lang="en-US" altLang="zh-CN" sz="16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Background and Overview of the Paper</a:t>
            </a:r>
            <a:endParaRPr lang="en-US" altLang="zh-CN" sz="160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216208" y="4067175"/>
            <a:ext cx="1759585" cy="105918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4800" b="0">
                <a:solidFill>
                  <a:schemeClr val="bg1">
                    <a:lumMod val="9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ONE</a:t>
            </a:r>
            <a:endParaRPr lang="en-US" altLang="zh-CN" sz="4800" b="0">
              <a:solidFill>
                <a:schemeClr val="bg1">
                  <a:lumMod val="95000"/>
                </a:schemeClr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19" name="MH_Number_1"/>
          <p:cNvSpPr/>
          <p:nvPr>
            <p:custDataLst>
              <p:tags r:id="rId6"/>
            </p:custDataLst>
          </p:nvPr>
        </p:nvSpPr>
        <p:spPr>
          <a:xfrm>
            <a:off x="5828030" y="3947795"/>
            <a:ext cx="535940" cy="535940"/>
          </a:xfrm>
          <a:prstGeom prst="ellipse">
            <a:avLst/>
          </a:prstGeom>
          <a:solidFill>
            <a:srgbClr val="324274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en-US" altLang="zh-CN" sz="28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5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4205" y="432435"/>
            <a:ext cx="2507615" cy="41338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l" fontAlgn="ctr"/>
            <a:r>
              <a:rPr lang="zh-CN" altLang="zh-CN" sz="18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郑州大学</a:t>
            </a:r>
            <a:endParaRPr lang="zh-CN" altLang="zh-CN" sz="18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6" name="副标题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402648" y="3449955"/>
            <a:ext cx="5386705" cy="207645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ctr">
              <a:buNone/>
            </a:pPr>
            <a:r>
              <a:rPr lang="en-US" altLang="zh-CN" sz="83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Background and Overview of the Paper</a:t>
            </a:r>
            <a:endParaRPr lang="zh-CN" altLang="en-US" sz="83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  <p:custDataLst>
      <p:tags r:id="rId9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5" name="图片 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11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wrap="none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fontAlgn="ctr"/>
              <a:r>
                <a:rPr lang="zh-CN" altLang="zh-CN" sz="24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论文背景与概述</a:t>
              </a:r>
              <a:endPara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3" name="图片 12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1"/>
          <p:cNvSpPr txBox="1"/>
          <p:nvPr/>
        </p:nvSpPr>
        <p:spPr>
          <a:xfrm>
            <a:off x="4204335" y="2466340"/>
            <a:ext cx="1786890" cy="340360"/>
          </a:xfrm>
          <a:prstGeom prst="rect">
            <a:avLst/>
          </a:prstGeom>
          <a:ln>
            <a:noFill/>
          </a:ln>
        </p:spPr>
        <p:txBody>
          <a:bodyPr wrap="none">
            <a:normAutofit/>
          </a:bodyPr>
          <a:lstStyle/>
          <a:p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31" name="椭圆 26"/>
          <p:cNvSpPr/>
          <p:nvPr/>
        </p:nvSpPr>
        <p:spPr>
          <a:xfrm>
            <a:off x="4803541" y="3815526"/>
            <a:ext cx="589155" cy="609600"/>
          </a:xfrm>
          <a:custGeom>
            <a:avLst/>
            <a:gdLst>
              <a:gd name="connsiteX0" fmla="*/ 94055 w 317452"/>
              <a:gd name="connsiteY0" fmla="*/ 135965 h 328468"/>
              <a:gd name="connsiteX1" fmla="*/ 94407 w 317452"/>
              <a:gd name="connsiteY1" fmla="*/ 136055 h 328468"/>
              <a:gd name="connsiteX2" fmla="*/ 104825 w 317452"/>
              <a:gd name="connsiteY2" fmla="*/ 158537 h 328468"/>
              <a:gd name="connsiteX3" fmla="*/ 106109 w 317452"/>
              <a:gd name="connsiteY3" fmla="*/ 161308 h 328468"/>
              <a:gd name="connsiteX4" fmla="*/ 98162 w 317452"/>
              <a:gd name="connsiteY4" fmla="*/ 160053 h 328468"/>
              <a:gd name="connsiteX5" fmla="*/ 96849 w 317452"/>
              <a:gd name="connsiteY5" fmla="*/ 160053 h 328468"/>
              <a:gd name="connsiteX6" fmla="*/ 92911 w 317452"/>
              <a:gd name="connsiteY6" fmla="*/ 137630 h 328468"/>
              <a:gd name="connsiteX7" fmla="*/ 93506 w 317452"/>
              <a:gd name="connsiteY7" fmla="*/ 136765 h 328468"/>
              <a:gd name="connsiteX8" fmla="*/ 39496 w 317452"/>
              <a:gd name="connsiteY8" fmla="*/ 115887 h 328468"/>
              <a:gd name="connsiteX9" fmla="*/ 51437 w 317452"/>
              <a:gd name="connsiteY9" fmla="*/ 165488 h 328468"/>
              <a:gd name="connsiteX10" fmla="*/ 48784 w 317452"/>
              <a:gd name="connsiteY10" fmla="*/ 166793 h 328468"/>
              <a:gd name="connsiteX11" fmla="*/ 47457 w 317452"/>
              <a:gd name="connsiteY11" fmla="*/ 170709 h 328468"/>
              <a:gd name="connsiteX12" fmla="*/ 48784 w 317452"/>
              <a:gd name="connsiteY12" fmla="*/ 173319 h 328468"/>
              <a:gd name="connsiteX13" fmla="*/ 52764 w 317452"/>
              <a:gd name="connsiteY13" fmla="*/ 175930 h 328468"/>
              <a:gd name="connsiteX14" fmla="*/ 55418 w 317452"/>
              <a:gd name="connsiteY14" fmla="*/ 174625 h 328468"/>
              <a:gd name="connsiteX15" fmla="*/ 87263 w 317452"/>
              <a:gd name="connsiteY15" fmla="*/ 216393 h 328468"/>
              <a:gd name="connsiteX16" fmla="*/ 55418 w 317452"/>
              <a:gd name="connsiteY16" fmla="*/ 230752 h 328468"/>
              <a:gd name="connsiteX17" fmla="*/ 38169 w 317452"/>
              <a:gd name="connsiteY17" fmla="*/ 224225 h 328468"/>
              <a:gd name="connsiteX18" fmla="*/ 1017 w 317452"/>
              <a:gd name="connsiteY18" fmla="*/ 147214 h 328468"/>
              <a:gd name="connsiteX19" fmla="*/ 7651 w 317452"/>
              <a:gd name="connsiteY19" fmla="*/ 128940 h 328468"/>
              <a:gd name="connsiteX20" fmla="*/ 39496 w 317452"/>
              <a:gd name="connsiteY20" fmla="*/ 115887 h 328468"/>
              <a:gd name="connsiteX21" fmla="*/ 63900 w 317452"/>
              <a:gd name="connsiteY21" fmla="*/ 106627 h 328468"/>
              <a:gd name="connsiteX22" fmla="*/ 71807 w 317452"/>
              <a:gd name="connsiteY22" fmla="*/ 114982 h 328468"/>
              <a:gd name="connsiteX23" fmla="*/ 81033 w 317452"/>
              <a:gd name="connsiteY23" fmla="*/ 133331 h 328468"/>
              <a:gd name="connsiteX24" fmla="*/ 87623 w 317452"/>
              <a:gd name="connsiteY24" fmla="*/ 130710 h 328468"/>
              <a:gd name="connsiteX25" fmla="*/ 95803 w 317452"/>
              <a:gd name="connsiteY25" fmla="*/ 133422 h 328468"/>
              <a:gd name="connsiteX26" fmla="*/ 94055 w 317452"/>
              <a:gd name="connsiteY26" fmla="*/ 135965 h 328468"/>
              <a:gd name="connsiteX27" fmla="*/ 89115 w 317452"/>
              <a:gd name="connsiteY27" fmla="*/ 134702 h 328468"/>
              <a:gd name="connsiteX28" fmla="*/ 83823 w 317452"/>
              <a:gd name="connsiteY28" fmla="*/ 137407 h 328468"/>
              <a:gd name="connsiteX29" fmla="*/ 82500 w 317452"/>
              <a:gd name="connsiteY29" fmla="*/ 137407 h 328468"/>
              <a:gd name="connsiteX30" fmla="*/ 97053 w 317452"/>
              <a:gd name="connsiteY30" fmla="*/ 169863 h 328468"/>
              <a:gd name="connsiteX31" fmla="*/ 98375 w 317452"/>
              <a:gd name="connsiteY31" fmla="*/ 169863 h 328468"/>
              <a:gd name="connsiteX32" fmla="*/ 103667 w 317452"/>
              <a:gd name="connsiteY32" fmla="*/ 167158 h 328468"/>
              <a:gd name="connsiteX33" fmla="*/ 106313 w 317452"/>
              <a:gd name="connsiteY33" fmla="*/ 161749 h 328468"/>
              <a:gd name="connsiteX34" fmla="*/ 106109 w 317452"/>
              <a:gd name="connsiteY34" fmla="*/ 161308 h 328468"/>
              <a:gd name="connsiteX35" fmla="*/ 109648 w 317452"/>
              <a:gd name="connsiteY35" fmla="*/ 161866 h 328468"/>
              <a:gd name="connsiteX36" fmla="*/ 110272 w 317452"/>
              <a:gd name="connsiteY36" fmla="*/ 161402 h 328468"/>
              <a:gd name="connsiteX37" fmla="*/ 110522 w 317452"/>
              <a:gd name="connsiteY37" fmla="*/ 164622 h 328468"/>
              <a:gd name="connsiteX38" fmla="*/ 106074 w 317452"/>
              <a:gd name="connsiteY38" fmla="*/ 170028 h 328468"/>
              <a:gd name="connsiteX39" fmla="*/ 99484 w 317452"/>
              <a:gd name="connsiteY39" fmla="*/ 172650 h 328468"/>
              <a:gd name="connsiteX40" fmla="*/ 107391 w 317452"/>
              <a:gd name="connsiteY40" fmla="*/ 192309 h 328468"/>
              <a:gd name="connsiteX41" fmla="*/ 100802 w 317452"/>
              <a:gd name="connsiteY41" fmla="*/ 211968 h 328468"/>
              <a:gd name="connsiteX42" fmla="*/ 91576 w 317452"/>
              <a:gd name="connsiteY42" fmla="*/ 215900 h 328468"/>
              <a:gd name="connsiteX43" fmla="*/ 59946 w 317452"/>
              <a:gd name="connsiteY43" fmla="*/ 172650 h 328468"/>
              <a:gd name="connsiteX44" fmla="*/ 62582 w 317452"/>
              <a:gd name="connsiteY44" fmla="*/ 171339 h 328468"/>
              <a:gd name="connsiteX45" fmla="*/ 63900 w 317452"/>
              <a:gd name="connsiteY45" fmla="*/ 166097 h 328468"/>
              <a:gd name="connsiteX46" fmla="*/ 62582 w 317452"/>
              <a:gd name="connsiteY46" fmla="*/ 163475 h 328468"/>
              <a:gd name="connsiteX47" fmla="*/ 58628 w 317452"/>
              <a:gd name="connsiteY47" fmla="*/ 162165 h 328468"/>
              <a:gd name="connsiteX48" fmla="*/ 54674 w 317452"/>
              <a:gd name="connsiteY48" fmla="*/ 163475 h 328468"/>
              <a:gd name="connsiteX49" fmla="*/ 42813 w 317452"/>
              <a:gd name="connsiteY49" fmla="*/ 111051 h 328468"/>
              <a:gd name="connsiteX50" fmla="*/ 52038 w 317452"/>
              <a:gd name="connsiteY50" fmla="*/ 107119 h 328468"/>
              <a:gd name="connsiteX51" fmla="*/ 63900 w 317452"/>
              <a:gd name="connsiteY51" fmla="*/ 106627 h 328468"/>
              <a:gd name="connsiteX52" fmla="*/ 221560 w 317452"/>
              <a:gd name="connsiteY52" fmla="*/ 67725 h 328468"/>
              <a:gd name="connsiteX53" fmla="*/ 239938 w 317452"/>
              <a:gd name="connsiteY53" fmla="*/ 67725 h 328468"/>
              <a:gd name="connsiteX54" fmla="*/ 249127 w 317452"/>
              <a:gd name="connsiteY54" fmla="*/ 90147 h 328468"/>
              <a:gd name="connsiteX55" fmla="*/ 249127 w 317452"/>
              <a:gd name="connsiteY55" fmla="*/ 99380 h 328468"/>
              <a:gd name="connsiteX56" fmla="*/ 259629 w 317452"/>
              <a:gd name="connsiteY56" fmla="*/ 162691 h 328468"/>
              <a:gd name="connsiteX57" fmla="*/ 300324 w 317452"/>
              <a:gd name="connsiteY57" fmla="*/ 193027 h 328468"/>
              <a:gd name="connsiteX58" fmla="*/ 304262 w 317452"/>
              <a:gd name="connsiteY58" fmla="*/ 215450 h 328468"/>
              <a:gd name="connsiteX59" fmla="*/ 283258 w 317452"/>
              <a:gd name="connsiteY59" fmla="*/ 219407 h 328468"/>
              <a:gd name="connsiteX60" fmla="*/ 281946 w 317452"/>
              <a:gd name="connsiteY60" fmla="*/ 218088 h 328468"/>
              <a:gd name="connsiteX61" fmla="*/ 236000 w 317452"/>
              <a:gd name="connsiteY61" fmla="*/ 185113 h 328468"/>
              <a:gd name="connsiteX62" fmla="*/ 229436 w 317452"/>
              <a:gd name="connsiteY62" fmla="*/ 174562 h 328468"/>
              <a:gd name="connsiteX63" fmla="*/ 224185 w 317452"/>
              <a:gd name="connsiteY63" fmla="*/ 145544 h 328468"/>
              <a:gd name="connsiteX64" fmla="*/ 196617 w 317452"/>
              <a:gd name="connsiteY64" fmla="*/ 194346 h 328468"/>
              <a:gd name="connsiteX65" fmla="*/ 229436 w 317452"/>
              <a:gd name="connsiteY65" fmla="*/ 243148 h 328468"/>
              <a:gd name="connsiteX66" fmla="*/ 230749 w 317452"/>
              <a:gd name="connsiteY66" fmla="*/ 265571 h 328468"/>
              <a:gd name="connsiteX67" fmla="*/ 195305 w 317452"/>
              <a:gd name="connsiteY67" fmla="*/ 318329 h 328468"/>
              <a:gd name="connsiteX68" fmla="*/ 169050 w 317452"/>
              <a:gd name="connsiteY68" fmla="*/ 323605 h 328468"/>
              <a:gd name="connsiteX69" fmla="*/ 167737 w 317452"/>
              <a:gd name="connsiteY69" fmla="*/ 323605 h 328468"/>
              <a:gd name="connsiteX70" fmla="*/ 162486 w 317452"/>
              <a:gd name="connsiteY70" fmla="*/ 297226 h 328468"/>
              <a:gd name="connsiteX71" fmla="*/ 191366 w 317452"/>
              <a:gd name="connsiteY71" fmla="*/ 255019 h 328468"/>
              <a:gd name="connsiteX72" fmla="*/ 167737 w 317452"/>
              <a:gd name="connsiteY72" fmla="*/ 220726 h 328468"/>
              <a:gd name="connsiteX73" fmla="*/ 70594 w 317452"/>
              <a:gd name="connsiteY73" fmla="*/ 322286 h 328468"/>
              <a:gd name="connsiteX74" fmla="*/ 46965 w 317452"/>
              <a:gd name="connsiteY74" fmla="*/ 326243 h 328468"/>
              <a:gd name="connsiteX75" fmla="*/ 44339 w 317452"/>
              <a:gd name="connsiteY75" fmla="*/ 322286 h 328468"/>
              <a:gd name="connsiteX76" fmla="*/ 43027 w 317452"/>
              <a:gd name="connsiteY76" fmla="*/ 295907 h 328468"/>
              <a:gd name="connsiteX77" fmla="*/ 144108 w 317452"/>
              <a:gd name="connsiteY77" fmla="*/ 189070 h 328468"/>
              <a:gd name="connsiteX78" fmla="*/ 148046 w 317452"/>
              <a:gd name="connsiteY78" fmla="*/ 177200 h 328468"/>
              <a:gd name="connsiteX79" fmla="*/ 190054 w 317452"/>
              <a:gd name="connsiteY79" fmla="*/ 103337 h 328468"/>
              <a:gd name="connsiteX80" fmla="*/ 151984 w 317452"/>
              <a:gd name="connsiteY80" fmla="*/ 107294 h 328468"/>
              <a:gd name="connsiteX81" fmla="*/ 119166 w 317452"/>
              <a:gd name="connsiteY81" fmla="*/ 154777 h 328468"/>
              <a:gd name="connsiteX82" fmla="*/ 110272 w 317452"/>
              <a:gd name="connsiteY82" fmla="*/ 161402 h 328468"/>
              <a:gd name="connsiteX83" fmla="*/ 110027 w 317452"/>
              <a:gd name="connsiteY83" fmla="*/ 158233 h 328468"/>
              <a:gd name="connsiteX84" fmla="*/ 99484 w 317452"/>
              <a:gd name="connsiteY84" fmla="*/ 134642 h 328468"/>
              <a:gd name="connsiteX85" fmla="*/ 95803 w 317452"/>
              <a:gd name="connsiteY85" fmla="*/ 133422 h 328468"/>
              <a:gd name="connsiteX86" fmla="*/ 97670 w 317452"/>
              <a:gd name="connsiteY86" fmla="*/ 130706 h 328468"/>
              <a:gd name="connsiteX87" fmla="*/ 130980 w 317452"/>
              <a:gd name="connsiteY87" fmla="*/ 82234 h 328468"/>
              <a:gd name="connsiteX88" fmla="*/ 141482 w 317452"/>
              <a:gd name="connsiteY88" fmla="*/ 75639 h 328468"/>
              <a:gd name="connsiteX89" fmla="*/ 221560 w 317452"/>
              <a:gd name="connsiteY89" fmla="*/ 67725 h 328468"/>
              <a:gd name="connsiteX90" fmla="*/ 276970 w 317452"/>
              <a:gd name="connsiteY90" fmla="*/ 0 h 328468"/>
              <a:gd name="connsiteX91" fmla="*/ 317452 w 317452"/>
              <a:gd name="connsiteY91" fmla="*/ 39688 h 328468"/>
              <a:gd name="connsiteX92" fmla="*/ 276970 w 317452"/>
              <a:gd name="connsiteY92" fmla="*/ 79376 h 328468"/>
              <a:gd name="connsiteX93" fmla="*/ 236488 w 317452"/>
              <a:gd name="connsiteY93" fmla="*/ 39688 h 328468"/>
              <a:gd name="connsiteX94" fmla="*/ 276970 w 317452"/>
              <a:gd name="connsiteY94" fmla="*/ 0 h 32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317452" h="328468">
                <a:moveTo>
                  <a:pt x="94055" y="135965"/>
                </a:moveTo>
                <a:lnTo>
                  <a:pt x="94407" y="136055"/>
                </a:lnTo>
                <a:cubicBezTo>
                  <a:pt x="100360" y="148902"/>
                  <a:pt x="103337" y="155325"/>
                  <a:pt x="104825" y="158537"/>
                </a:cubicBezTo>
                <a:lnTo>
                  <a:pt x="106109" y="161308"/>
                </a:lnTo>
                <a:lnTo>
                  <a:pt x="98162" y="160053"/>
                </a:lnTo>
                <a:cubicBezTo>
                  <a:pt x="98162" y="160053"/>
                  <a:pt x="96849" y="160053"/>
                  <a:pt x="96849" y="160053"/>
                </a:cubicBezTo>
                <a:cubicBezTo>
                  <a:pt x="90285" y="154777"/>
                  <a:pt x="87660" y="144225"/>
                  <a:pt x="92911" y="137630"/>
                </a:cubicBezTo>
                <a:cubicBezTo>
                  <a:pt x="92911" y="137630"/>
                  <a:pt x="92911" y="137630"/>
                  <a:pt x="93506" y="136765"/>
                </a:cubicBezTo>
                <a:close/>
                <a:moveTo>
                  <a:pt x="39496" y="115887"/>
                </a:moveTo>
                <a:cubicBezTo>
                  <a:pt x="39496" y="115887"/>
                  <a:pt x="39496" y="115887"/>
                  <a:pt x="51437" y="165488"/>
                </a:cubicBezTo>
                <a:cubicBezTo>
                  <a:pt x="51437" y="165488"/>
                  <a:pt x="51437" y="165488"/>
                  <a:pt x="48784" y="166793"/>
                </a:cubicBezTo>
                <a:cubicBezTo>
                  <a:pt x="47457" y="166793"/>
                  <a:pt x="47457" y="169403"/>
                  <a:pt x="47457" y="170709"/>
                </a:cubicBezTo>
                <a:cubicBezTo>
                  <a:pt x="47457" y="170709"/>
                  <a:pt x="47457" y="170709"/>
                  <a:pt x="48784" y="173319"/>
                </a:cubicBezTo>
                <a:cubicBezTo>
                  <a:pt x="50111" y="175930"/>
                  <a:pt x="51437" y="175930"/>
                  <a:pt x="52764" y="175930"/>
                </a:cubicBezTo>
                <a:lnTo>
                  <a:pt x="55418" y="174625"/>
                </a:lnTo>
                <a:cubicBezTo>
                  <a:pt x="55418" y="174625"/>
                  <a:pt x="55418" y="174625"/>
                  <a:pt x="87263" y="216393"/>
                </a:cubicBezTo>
                <a:cubicBezTo>
                  <a:pt x="87263" y="216393"/>
                  <a:pt x="87263" y="216393"/>
                  <a:pt x="55418" y="230752"/>
                </a:cubicBezTo>
                <a:cubicBezTo>
                  <a:pt x="48784" y="233362"/>
                  <a:pt x="40823" y="230752"/>
                  <a:pt x="38169" y="224225"/>
                </a:cubicBezTo>
                <a:cubicBezTo>
                  <a:pt x="38169" y="224225"/>
                  <a:pt x="38169" y="224225"/>
                  <a:pt x="1017" y="147214"/>
                </a:cubicBezTo>
                <a:cubicBezTo>
                  <a:pt x="-1637" y="140687"/>
                  <a:pt x="1017" y="132856"/>
                  <a:pt x="7651" y="128940"/>
                </a:cubicBezTo>
                <a:cubicBezTo>
                  <a:pt x="7651" y="128940"/>
                  <a:pt x="7651" y="128940"/>
                  <a:pt x="39496" y="115887"/>
                </a:cubicBezTo>
                <a:close/>
                <a:moveTo>
                  <a:pt x="63900" y="106627"/>
                </a:moveTo>
                <a:cubicBezTo>
                  <a:pt x="67524" y="108102"/>
                  <a:pt x="70489" y="111051"/>
                  <a:pt x="71807" y="114982"/>
                </a:cubicBezTo>
                <a:cubicBezTo>
                  <a:pt x="71807" y="114982"/>
                  <a:pt x="71807" y="114982"/>
                  <a:pt x="81033" y="133331"/>
                </a:cubicBezTo>
                <a:cubicBezTo>
                  <a:pt x="81033" y="133331"/>
                  <a:pt x="81033" y="133331"/>
                  <a:pt x="87623" y="130710"/>
                </a:cubicBezTo>
                <a:lnTo>
                  <a:pt x="95803" y="133422"/>
                </a:lnTo>
                <a:lnTo>
                  <a:pt x="94055" y="135965"/>
                </a:lnTo>
                <a:lnTo>
                  <a:pt x="89115" y="134702"/>
                </a:lnTo>
                <a:cubicBezTo>
                  <a:pt x="89115" y="134702"/>
                  <a:pt x="89115" y="134702"/>
                  <a:pt x="83823" y="137407"/>
                </a:cubicBezTo>
                <a:cubicBezTo>
                  <a:pt x="83823" y="137407"/>
                  <a:pt x="82500" y="137407"/>
                  <a:pt x="82500" y="137407"/>
                </a:cubicBezTo>
                <a:cubicBezTo>
                  <a:pt x="82500" y="137407"/>
                  <a:pt x="82500" y="137407"/>
                  <a:pt x="97053" y="169863"/>
                </a:cubicBezTo>
                <a:cubicBezTo>
                  <a:pt x="97053" y="169863"/>
                  <a:pt x="97053" y="169863"/>
                  <a:pt x="98375" y="169863"/>
                </a:cubicBezTo>
                <a:lnTo>
                  <a:pt x="103667" y="167158"/>
                </a:lnTo>
                <a:cubicBezTo>
                  <a:pt x="106313" y="165806"/>
                  <a:pt x="106313" y="163101"/>
                  <a:pt x="106313" y="161749"/>
                </a:cubicBezTo>
                <a:lnTo>
                  <a:pt x="106109" y="161308"/>
                </a:lnTo>
                <a:lnTo>
                  <a:pt x="109648" y="161866"/>
                </a:lnTo>
                <a:lnTo>
                  <a:pt x="110272" y="161402"/>
                </a:lnTo>
                <a:lnTo>
                  <a:pt x="110522" y="164622"/>
                </a:lnTo>
                <a:cubicBezTo>
                  <a:pt x="109698" y="166752"/>
                  <a:pt x="108051" y="168718"/>
                  <a:pt x="106074" y="170028"/>
                </a:cubicBezTo>
                <a:cubicBezTo>
                  <a:pt x="106074" y="170028"/>
                  <a:pt x="106074" y="170028"/>
                  <a:pt x="99484" y="172650"/>
                </a:cubicBezTo>
                <a:cubicBezTo>
                  <a:pt x="99484" y="172650"/>
                  <a:pt x="99484" y="172650"/>
                  <a:pt x="107391" y="192309"/>
                </a:cubicBezTo>
                <a:cubicBezTo>
                  <a:pt x="111345" y="198862"/>
                  <a:pt x="107391" y="208036"/>
                  <a:pt x="100802" y="211968"/>
                </a:cubicBezTo>
                <a:cubicBezTo>
                  <a:pt x="100802" y="211968"/>
                  <a:pt x="100802" y="211968"/>
                  <a:pt x="91576" y="215900"/>
                </a:cubicBezTo>
                <a:cubicBezTo>
                  <a:pt x="91576" y="215900"/>
                  <a:pt x="91576" y="215900"/>
                  <a:pt x="59946" y="172650"/>
                </a:cubicBezTo>
                <a:cubicBezTo>
                  <a:pt x="59946" y="172650"/>
                  <a:pt x="59946" y="172650"/>
                  <a:pt x="62582" y="171339"/>
                </a:cubicBezTo>
                <a:cubicBezTo>
                  <a:pt x="65218" y="170028"/>
                  <a:pt x="65218" y="167407"/>
                  <a:pt x="63900" y="166097"/>
                </a:cubicBezTo>
                <a:cubicBezTo>
                  <a:pt x="63900" y="166097"/>
                  <a:pt x="63900" y="166097"/>
                  <a:pt x="62582" y="163475"/>
                </a:cubicBezTo>
                <a:cubicBezTo>
                  <a:pt x="62582" y="162165"/>
                  <a:pt x="59946" y="160854"/>
                  <a:pt x="58628" y="162165"/>
                </a:cubicBezTo>
                <a:cubicBezTo>
                  <a:pt x="58628" y="162165"/>
                  <a:pt x="58628" y="162165"/>
                  <a:pt x="54674" y="163475"/>
                </a:cubicBezTo>
                <a:cubicBezTo>
                  <a:pt x="54674" y="163475"/>
                  <a:pt x="54674" y="163475"/>
                  <a:pt x="42813" y="111051"/>
                </a:cubicBezTo>
                <a:cubicBezTo>
                  <a:pt x="42813" y="111051"/>
                  <a:pt x="42813" y="111051"/>
                  <a:pt x="52038" y="107119"/>
                </a:cubicBezTo>
                <a:cubicBezTo>
                  <a:pt x="55992" y="105153"/>
                  <a:pt x="60275" y="105153"/>
                  <a:pt x="63900" y="106627"/>
                </a:cubicBezTo>
                <a:close/>
                <a:moveTo>
                  <a:pt x="221560" y="67725"/>
                </a:moveTo>
                <a:cubicBezTo>
                  <a:pt x="226810" y="65087"/>
                  <a:pt x="234687" y="65087"/>
                  <a:pt x="239938" y="67725"/>
                </a:cubicBezTo>
                <a:cubicBezTo>
                  <a:pt x="247814" y="73001"/>
                  <a:pt x="250440" y="80915"/>
                  <a:pt x="249127" y="90147"/>
                </a:cubicBezTo>
                <a:cubicBezTo>
                  <a:pt x="249127" y="92785"/>
                  <a:pt x="249127" y="96742"/>
                  <a:pt x="249127" y="99380"/>
                </a:cubicBezTo>
                <a:cubicBezTo>
                  <a:pt x="249127" y="99380"/>
                  <a:pt x="249127" y="99380"/>
                  <a:pt x="259629" y="162691"/>
                </a:cubicBezTo>
                <a:cubicBezTo>
                  <a:pt x="259629" y="162691"/>
                  <a:pt x="259629" y="162691"/>
                  <a:pt x="300324" y="193027"/>
                </a:cubicBezTo>
                <a:cubicBezTo>
                  <a:pt x="308200" y="198303"/>
                  <a:pt x="309513" y="207536"/>
                  <a:pt x="304262" y="215450"/>
                </a:cubicBezTo>
                <a:cubicBezTo>
                  <a:pt x="299011" y="222045"/>
                  <a:pt x="289822" y="223363"/>
                  <a:pt x="283258" y="219407"/>
                </a:cubicBezTo>
                <a:cubicBezTo>
                  <a:pt x="283258" y="219407"/>
                  <a:pt x="281946" y="219407"/>
                  <a:pt x="281946" y="218088"/>
                </a:cubicBezTo>
                <a:cubicBezTo>
                  <a:pt x="281946" y="218088"/>
                  <a:pt x="281946" y="218088"/>
                  <a:pt x="236000" y="185113"/>
                </a:cubicBezTo>
                <a:cubicBezTo>
                  <a:pt x="232061" y="182475"/>
                  <a:pt x="230749" y="178518"/>
                  <a:pt x="229436" y="174562"/>
                </a:cubicBezTo>
                <a:cubicBezTo>
                  <a:pt x="229436" y="174562"/>
                  <a:pt x="229436" y="174562"/>
                  <a:pt x="224185" y="145544"/>
                </a:cubicBezTo>
                <a:cubicBezTo>
                  <a:pt x="224185" y="145544"/>
                  <a:pt x="224185" y="145544"/>
                  <a:pt x="196617" y="194346"/>
                </a:cubicBezTo>
                <a:cubicBezTo>
                  <a:pt x="196617" y="194346"/>
                  <a:pt x="196617" y="194346"/>
                  <a:pt x="229436" y="243148"/>
                </a:cubicBezTo>
                <a:cubicBezTo>
                  <a:pt x="234687" y="249743"/>
                  <a:pt x="234687" y="258976"/>
                  <a:pt x="230749" y="265571"/>
                </a:cubicBezTo>
                <a:cubicBezTo>
                  <a:pt x="230749" y="265571"/>
                  <a:pt x="230749" y="265571"/>
                  <a:pt x="195305" y="318329"/>
                </a:cubicBezTo>
                <a:cubicBezTo>
                  <a:pt x="188741" y="326243"/>
                  <a:pt x="178239" y="328881"/>
                  <a:pt x="169050" y="323605"/>
                </a:cubicBezTo>
                <a:cubicBezTo>
                  <a:pt x="169050" y="323605"/>
                  <a:pt x="169050" y="323605"/>
                  <a:pt x="167737" y="323605"/>
                </a:cubicBezTo>
                <a:cubicBezTo>
                  <a:pt x="159861" y="318329"/>
                  <a:pt x="157235" y="305140"/>
                  <a:pt x="162486" y="297226"/>
                </a:cubicBezTo>
                <a:cubicBezTo>
                  <a:pt x="162486" y="297226"/>
                  <a:pt x="162486" y="297226"/>
                  <a:pt x="191366" y="255019"/>
                </a:cubicBezTo>
                <a:cubicBezTo>
                  <a:pt x="191366" y="255019"/>
                  <a:pt x="191366" y="255019"/>
                  <a:pt x="167737" y="220726"/>
                </a:cubicBezTo>
                <a:cubicBezTo>
                  <a:pt x="167737" y="220726"/>
                  <a:pt x="167737" y="220726"/>
                  <a:pt x="70594" y="322286"/>
                </a:cubicBezTo>
                <a:cubicBezTo>
                  <a:pt x="65343" y="328881"/>
                  <a:pt x="54841" y="330200"/>
                  <a:pt x="46965" y="326243"/>
                </a:cubicBezTo>
                <a:cubicBezTo>
                  <a:pt x="45652" y="324924"/>
                  <a:pt x="44339" y="323605"/>
                  <a:pt x="44339" y="322286"/>
                </a:cubicBezTo>
                <a:cubicBezTo>
                  <a:pt x="36463" y="315691"/>
                  <a:pt x="36463" y="303821"/>
                  <a:pt x="43027" y="295907"/>
                </a:cubicBezTo>
                <a:cubicBezTo>
                  <a:pt x="43027" y="295907"/>
                  <a:pt x="43027" y="295907"/>
                  <a:pt x="144108" y="189070"/>
                </a:cubicBezTo>
                <a:cubicBezTo>
                  <a:pt x="144108" y="185113"/>
                  <a:pt x="145421" y="181156"/>
                  <a:pt x="148046" y="177200"/>
                </a:cubicBezTo>
                <a:cubicBezTo>
                  <a:pt x="148046" y="177200"/>
                  <a:pt x="148046" y="177200"/>
                  <a:pt x="190054" y="103337"/>
                </a:cubicBezTo>
                <a:cubicBezTo>
                  <a:pt x="190054" y="103337"/>
                  <a:pt x="190054" y="103337"/>
                  <a:pt x="151984" y="107294"/>
                </a:cubicBezTo>
                <a:cubicBezTo>
                  <a:pt x="151984" y="107294"/>
                  <a:pt x="151984" y="107294"/>
                  <a:pt x="119166" y="154777"/>
                </a:cubicBezTo>
                <a:lnTo>
                  <a:pt x="110272" y="161402"/>
                </a:lnTo>
                <a:lnTo>
                  <a:pt x="110027" y="158233"/>
                </a:lnTo>
                <a:cubicBezTo>
                  <a:pt x="99484" y="134642"/>
                  <a:pt x="99484" y="134642"/>
                  <a:pt x="99484" y="134642"/>
                </a:cubicBezTo>
                <a:lnTo>
                  <a:pt x="95803" y="133422"/>
                </a:lnTo>
                <a:lnTo>
                  <a:pt x="97670" y="130706"/>
                </a:lnTo>
                <a:cubicBezTo>
                  <a:pt x="102428" y="123781"/>
                  <a:pt x="111946" y="109932"/>
                  <a:pt x="130980" y="82234"/>
                </a:cubicBezTo>
                <a:cubicBezTo>
                  <a:pt x="133606" y="78277"/>
                  <a:pt x="137544" y="75639"/>
                  <a:pt x="141482" y="75639"/>
                </a:cubicBezTo>
                <a:cubicBezTo>
                  <a:pt x="141482" y="75639"/>
                  <a:pt x="141482" y="75639"/>
                  <a:pt x="221560" y="67725"/>
                </a:cubicBezTo>
                <a:close/>
                <a:moveTo>
                  <a:pt x="276970" y="0"/>
                </a:moveTo>
                <a:cubicBezTo>
                  <a:pt x="299328" y="0"/>
                  <a:pt x="317452" y="17769"/>
                  <a:pt x="317452" y="39688"/>
                </a:cubicBezTo>
                <a:cubicBezTo>
                  <a:pt x="317452" y="61607"/>
                  <a:pt x="299328" y="79376"/>
                  <a:pt x="276970" y="79376"/>
                </a:cubicBezTo>
                <a:cubicBezTo>
                  <a:pt x="254612" y="79376"/>
                  <a:pt x="236488" y="61607"/>
                  <a:pt x="236488" y="39688"/>
                </a:cubicBezTo>
                <a:cubicBezTo>
                  <a:pt x="236488" y="17769"/>
                  <a:pt x="254612" y="0"/>
                  <a:pt x="2769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" name="椭圆 27"/>
          <p:cNvSpPr/>
          <p:nvPr/>
        </p:nvSpPr>
        <p:spPr>
          <a:xfrm>
            <a:off x="10114618" y="1627662"/>
            <a:ext cx="609600" cy="603766"/>
          </a:xfrm>
          <a:custGeom>
            <a:avLst/>
            <a:gdLst>
              <a:gd name="connsiteX0" fmla="*/ 292147 w 331788"/>
              <a:gd name="connsiteY0" fmla="*/ 109538 h 328613"/>
              <a:gd name="connsiteX1" fmla="*/ 327025 w 331788"/>
              <a:gd name="connsiteY1" fmla="*/ 145621 h 328613"/>
              <a:gd name="connsiteX2" fmla="*/ 327025 w 331788"/>
              <a:gd name="connsiteY2" fmla="*/ 229385 h 328613"/>
              <a:gd name="connsiteX3" fmla="*/ 293438 w 331788"/>
              <a:gd name="connsiteY3" fmla="*/ 264179 h 328613"/>
              <a:gd name="connsiteX4" fmla="*/ 252101 w 331788"/>
              <a:gd name="connsiteY4" fmla="*/ 264179 h 328613"/>
              <a:gd name="connsiteX5" fmla="*/ 252101 w 331788"/>
              <a:gd name="connsiteY5" fmla="*/ 319593 h 328613"/>
              <a:gd name="connsiteX6" fmla="*/ 243059 w 331788"/>
              <a:gd name="connsiteY6" fmla="*/ 328613 h 328613"/>
              <a:gd name="connsiteX7" fmla="*/ 205596 w 331788"/>
              <a:gd name="connsiteY7" fmla="*/ 328613 h 328613"/>
              <a:gd name="connsiteX8" fmla="*/ 195262 w 331788"/>
              <a:gd name="connsiteY8" fmla="*/ 319593 h 328613"/>
              <a:gd name="connsiteX9" fmla="*/ 195262 w 331788"/>
              <a:gd name="connsiteY9" fmla="*/ 235829 h 328613"/>
              <a:gd name="connsiteX10" fmla="*/ 224973 w 331788"/>
              <a:gd name="connsiteY10" fmla="*/ 207478 h 328613"/>
              <a:gd name="connsiteX11" fmla="*/ 255976 w 331788"/>
              <a:gd name="connsiteY11" fmla="*/ 207478 h 328613"/>
              <a:gd name="connsiteX12" fmla="*/ 255976 w 331788"/>
              <a:gd name="connsiteY12" fmla="*/ 145621 h 328613"/>
              <a:gd name="connsiteX13" fmla="*/ 292147 w 331788"/>
              <a:gd name="connsiteY13" fmla="*/ 109538 h 328613"/>
              <a:gd name="connsiteX14" fmla="*/ 38473 w 331788"/>
              <a:gd name="connsiteY14" fmla="*/ 109538 h 328613"/>
              <a:gd name="connsiteX15" fmla="*/ 75079 w 331788"/>
              <a:gd name="connsiteY15" fmla="*/ 145621 h 328613"/>
              <a:gd name="connsiteX16" fmla="*/ 75079 w 331788"/>
              <a:gd name="connsiteY16" fmla="*/ 207478 h 328613"/>
              <a:gd name="connsiteX17" fmla="*/ 106456 w 331788"/>
              <a:gd name="connsiteY17" fmla="*/ 207478 h 328613"/>
              <a:gd name="connsiteX18" fmla="*/ 136525 w 331788"/>
              <a:gd name="connsiteY18" fmla="*/ 235829 h 328613"/>
              <a:gd name="connsiteX19" fmla="*/ 136525 w 331788"/>
              <a:gd name="connsiteY19" fmla="*/ 319593 h 328613"/>
              <a:gd name="connsiteX20" fmla="*/ 126066 w 331788"/>
              <a:gd name="connsiteY20" fmla="*/ 328613 h 328613"/>
              <a:gd name="connsiteX21" fmla="*/ 88153 w 331788"/>
              <a:gd name="connsiteY21" fmla="*/ 328613 h 328613"/>
              <a:gd name="connsiteX22" fmla="*/ 79001 w 331788"/>
              <a:gd name="connsiteY22" fmla="*/ 319593 h 328613"/>
              <a:gd name="connsiteX23" fmla="*/ 79001 w 331788"/>
              <a:gd name="connsiteY23" fmla="*/ 264179 h 328613"/>
              <a:gd name="connsiteX24" fmla="*/ 37166 w 331788"/>
              <a:gd name="connsiteY24" fmla="*/ 264179 h 328613"/>
              <a:gd name="connsiteX25" fmla="*/ 3175 w 331788"/>
              <a:gd name="connsiteY25" fmla="*/ 229385 h 328613"/>
              <a:gd name="connsiteX26" fmla="*/ 3175 w 331788"/>
              <a:gd name="connsiteY26" fmla="*/ 145621 h 328613"/>
              <a:gd name="connsiteX27" fmla="*/ 38473 w 331788"/>
              <a:gd name="connsiteY27" fmla="*/ 109538 h 328613"/>
              <a:gd name="connsiteX28" fmla="*/ 160734 w 331788"/>
              <a:gd name="connsiteY28" fmla="*/ 88900 h 328613"/>
              <a:gd name="connsiteX29" fmla="*/ 171053 w 331788"/>
              <a:gd name="connsiteY29" fmla="*/ 88900 h 328613"/>
              <a:gd name="connsiteX30" fmla="*/ 173633 w 331788"/>
              <a:gd name="connsiteY30" fmla="*/ 90195 h 328613"/>
              <a:gd name="connsiteX31" fmla="*/ 174923 w 331788"/>
              <a:gd name="connsiteY31" fmla="*/ 95375 h 328613"/>
              <a:gd name="connsiteX32" fmla="*/ 169763 w 331788"/>
              <a:gd name="connsiteY32" fmla="*/ 103146 h 328613"/>
              <a:gd name="connsiteX33" fmla="*/ 172343 w 331788"/>
              <a:gd name="connsiteY33" fmla="*/ 123867 h 328613"/>
              <a:gd name="connsiteX34" fmla="*/ 167184 w 331788"/>
              <a:gd name="connsiteY34" fmla="*/ 136818 h 328613"/>
              <a:gd name="connsiteX35" fmla="*/ 164604 w 331788"/>
              <a:gd name="connsiteY35" fmla="*/ 136818 h 328613"/>
              <a:gd name="connsiteX36" fmla="*/ 159444 w 331788"/>
              <a:gd name="connsiteY36" fmla="*/ 123867 h 328613"/>
              <a:gd name="connsiteX37" fmla="*/ 162024 w 331788"/>
              <a:gd name="connsiteY37" fmla="*/ 103146 h 328613"/>
              <a:gd name="connsiteX38" fmla="*/ 156865 w 331788"/>
              <a:gd name="connsiteY38" fmla="*/ 95375 h 328613"/>
              <a:gd name="connsiteX39" fmla="*/ 158155 w 331788"/>
              <a:gd name="connsiteY39" fmla="*/ 90195 h 328613"/>
              <a:gd name="connsiteX40" fmla="*/ 160734 w 331788"/>
              <a:gd name="connsiteY40" fmla="*/ 88900 h 328613"/>
              <a:gd name="connsiteX41" fmla="*/ 136182 w 331788"/>
              <a:gd name="connsiteY41" fmla="*/ 88900 h 328613"/>
              <a:gd name="connsiteX42" fmla="*/ 138766 w 331788"/>
              <a:gd name="connsiteY42" fmla="*/ 91502 h 328613"/>
              <a:gd name="connsiteX43" fmla="*/ 165893 w 331788"/>
              <a:gd name="connsiteY43" fmla="*/ 165652 h 328613"/>
              <a:gd name="connsiteX44" fmla="*/ 193021 w 331788"/>
              <a:gd name="connsiteY44" fmla="*/ 91502 h 328613"/>
              <a:gd name="connsiteX45" fmla="*/ 196897 w 331788"/>
              <a:gd name="connsiteY45" fmla="*/ 90201 h 328613"/>
              <a:gd name="connsiteX46" fmla="*/ 208523 w 331788"/>
              <a:gd name="connsiteY46" fmla="*/ 92802 h 328613"/>
              <a:gd name="connsiteX47" fmla="*/ 231775 w 331788"/>
              <a:gd name="connsiteY47" fmla="*/ 125325 h 328613"/>
              <a:gd name="connsiteX48" fmla="*/ 231775 w 331788"/>
              <a:gd name="connsiteY48" fmla="*/ 176059 h 328613"/>
              <a:gd name="connsiteX49" fmla="*/ 226608 w 331788"/>
              <a:gd name="connsiteY49" fmla="*/ 182563 h 328613"/>
              <a:gd name="connsiteX50" fmla="*/ 105179 w 331788"/>
              <a:gd name="connsiteY50" fmla="*/ 182563 h 328613"/>
              <a:gd name="connsiteX51" fmla="*/ 100012 w 331788"/>
              <a:gd name="connsiteY51" fmla="*/ 176059 h 328613"/>
              <a:gd name="connsiteX52" fmla="*/ 100012 w 331788"/>
              <a:gd name="connsiteY52" fmla="*/ 125325 h 328613"/>
              <a:gd name="connsiteX53" fmla="*/ 123264 w 331788"/>
              <a:gd name="connsiteY53" fmla="*/ 92802 h 328613"/>
              <a:gd name="connsiteX54" fmla="*/ 134890 w 331788"/>
              <a:gd name="connsiteY54" fmla="*/ 90201 h 328613"/>
              <a:gd name="connsiteX55" fmla="*/ 136182 w 331788"/>
              <a:gd name="connsiteY55" fmla="*/ 88900 h 328613"/>
              <a:gd name="connsiteX56" fmla="*/ 292100 w 331788"/>
              <a:gd name="connsiteY56" fmla="*/ 19050 h 328613"/>
              <a:gd name="connsiteX57" fmla="*/ 331788 w 331788"/>
              <a:gd name="connsiteY57" fmla="*/ 58738 h 328613"/>
              <a:gd name="connsiteX58" fmla="*/ 292100 w 331788"/>
              <a:gd name="connsiteY58" fmla="*/ 98426 h 328613"/>
              <a:gd name="connsiteX59" fmla="*/ 252412 w 331788"/>
              <a:gd name="connsiteY59" fmla="*/ 58738 h 328613"/>
              <a:gd name="connsiteX60" fmla="*/ 292100 w 331788"/>
              <a:gd name="connsiteY60" fmla="*/ 19050 h 328613"/>
              <a:gd name="connsiteX61" fmla="*/ 39688 w 331788"/>
              <a:gd name="connsiteY61" fmla="*/ 19050 h 328613"/>
              <a:gd name="connsiteX62" fmla="*/ 79376 w 331788"/>
              <a:gd name="connsiteY62" fmla="*/ 58738 h 328613"/>
              <a:gd name="connsiteX63" fmla="*/ 39688 w 331788"/>
              <a:gd name="connsiteY63" fmla="*/ 98426 h 328613"/>
              <a:gd name="connsiteX64" fmla="*/ 0 w 331788"/>
              <a:gd name="connsiteY64" fmla="*/ 58738 h 328613"/>
              <a:gd name="connsiteX65" fmla="*/ 39688 w 331788"/>
              <a:gd name="connsiteY65" fmla="*/ 19050 h 328613"/>
              <a:gd name="connsiteX66" fmla="*/ 165894 w 331788"/>
              <a:gd name="connsiteY66" fmla="*/ 0 h 328613"/>
              <a:gd name="connsiteX67" fmla="*/ 204788 w 331788"/>
              <a:gd name="connsiteY67" fmla="*/ 39688 h 328613"/>
              <a:gd name="connsiteX68" fmla="*/ 165894 w 331788"/>
              <a:gd name="connsiteY68" fmla="*/ 79376 h 328613"/>
              <a:gd name="connsiteX69" fmla="*/ 127000 w 331788"/>
              <a:gd name="connsiteY69" fmla="*/ 39688 h 328613"/>
              <a:gd name="connsiteX70" fmla="*/ 165894 w 331788"/>
              <a:gd name="connsiteY70" fmla="*/ 0 h 3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31788" h="328613">
                <a:moveTo>
                  <a:pt x="292147" y="109538"/>
                </a:moveTo>
                <a:cubicBezTo>
                  <a:pt x="311524" y="109538"/>
                  <a:pt x="327025" y="126291"/>
                  <a:pt x="327025" y="145621"/>
                </a:cubicBezTo>
                <a:cubicBezTo>
                  <a:pt x="327025" y="145621"/>
                  <a:pt x="327025" y="145621"/>
                  <a:pt x="327025" y="229385"/>
                </a:cubicBezTo>
                <a:cubicBezTo>
                  <a:pt x="327025" y="248715"/>
                  <a:pt x="311524" y="264179"/>
                  <a:pt x="293438" y="264179"/>
                </a:cubicBezTo>
                <a:cubicBezTo>
                  <a:pt x="293438" y="264179"/>
                  <a:pt x="293438" y="264179"/>
                  <a:pt x="252101" y="264179"/>
                </a:cubicBezTo>
                <a:cubicBezTo>
                  <a:pt x="252101" y="264179"/>
                  <a:pt x="252101" y="264179"/>
                  <a:pt x="252101" y="319593"/>
                </a:cubicBezTo>
                <a:cubicBezTo>
                  <a:pt x="252101" y="324747"/>
                  <a:pt x="248226" y="328613"/>
                  <a:pt x="243059" y="328613"/>
                </a:cubicBezTo>
                <a:cubicBezTo>
                  <a:pt x="243059" y="328613"/>
                  <a:pt x="243059" y="328613"/>
                  <a:pt x="205596" y="328613"/>
                </a:cubicBezTo>
                <a:cubicBezTo>
                  <a:pt x="199138" y="328613"/>
                  <a:pt x="195262" y="324747"/>
                  <a:pt x="195262" y="319593"/>
                </a:cubicBezTo>
                <a:cubicBezTo>
                  <a:pt x="195262" y="319593"/>
                  <a:pt x="195262" y="319593"/>
                  <a:pt x="195262" y="235829"/>
                </a:cubicBezTo>
                <a:cubicBezTo>
                  <a:pt x="195262" y="220364"/>
                  <a:pt x="208180" y="207478"/>
                  <a:pt x="224973" y="207478"/>
                </a:cubicBezTo>
                <a:cubicBezTo>
                  <a:pt x="224973" y="207478"/>
                  <a:pt x="224973" y="207478"/>
                  <a:pt x="255976" y="207478"/>
                </a:cubicBezTo>
                <a:cubicBezTo>
                  <a:pt x="255976" y="207478"/>
                  <a:pt x="255976" y="207478"/>
                  <a:pt x="255976" y="145621"/>
                </a:cubicBezTo>
                <a:cubicBezTo>
                  <a:pt x="255976" y="126291"/>
                  <a:pt x="271478" y="109538"/>
                  <a:pt x="292147" y="109538"/>
                </a:cubicBezTo>
                <a:close/>
                <a:moveTo>
                  <a:pt x="38473" y="109538"/>
                </a:moveTo>
                <a:cubicBezTo>
                  <a:pt x="59391" y="109538"/>
                  <a:pt x="75079" y="126291"/>
                  <a:pt x="75079" y="145621"/>
                </a:cubicBezTo>
                <a:cubicBezTo>
                  <a:pt x="75079" y="145621"/>
                  <a:pt x="75079" y="145621"/>
                  <a:pt x="75079" y="207478"/>
                </a:cubicBezTo>
                <a:cubicBezTo>
                  <a:pt x="75079" y="207478"/>
                  <a:pt x="75079" y="207478"/>
                  <a:pt x="106456" y="207478"/>
                </a:cubicBezTo>
                <a:cubicBezTo>
                  <a:pt x="123451" y="207478"/>
                  <a:pt x="136525" y="220364"/>
                  <a:pt x="136525" y="235829"/>
                </a:cubicBezTo>
                <a:cubicBezTo>
                  <a:pt x="136525" y="235829"/>
                  <a:pt x="136525" y="235829"/>
                  <a:pt x="136525" y="319593"/>
                </a:cubicBezTo>
                <a:cubicBezTo>
                  <a:pt x="136525" y="324747"/>
                  <a:pt x="132603" y="328613"/>
                  <a:pt x="126066" y="328613"/>
                </a:cubicBezTo>
                <a:cubicBezTo>
                  <a:pt x="126066" y="328613"/>
                  <a:pt x="126066" y="328613"/>
                  <a:pt x="88153" y="328613"/>
                </a:cubicBezTo>
                <a:cubicBezTo>
                  <a:pt x="82923" y="328613"/>
                  <a:pt x="79001" y="324747"/>
                  <a:pt x="79001" y="319593"/>
                </a:cubicBezTo>
                <a:cubicBezTo>
                  <a:pt x="79001" y="319593"/>
                  <a:pt x="79001" y="319593"/>
                  <a:pt x="79001" y="264179"/>
                </a:cubicBezTo>
                <a:cubicBezTo>
                  <a:pt x="79001" y="264179"/>
                  <a:pt x="79001" y="264179"/>
                  <a:pt x="37166" y="264179"/>
                </a:cubicBezTo>
                <a:cubicBezTo>
                  <a:pt x="18863" y="264179"/>
                  <a:pt x="3175" y="248715"/>
                  <a:pt x="3175" y="229385"/>
                </a:cubicBezTo>
                <a:cubicBezTo>
                  <a:pt x="3175" y="229385"/>
                  <a:pt x="3175" y="229385"/>
                  <a:pt x="3175" y="145621"/>
                </a:cubicBezTo>
                <a:cubicBezTo>
                  <a:pt x="3175" y="126291"/>
                  <a:pt x="18863" y="109538"/>
                  <a:pt x="38473" y="109538"/>
                </a:cubicBezTo>
                <a:close/>
                <a:moveTo>
                  <a:pt x="160734" y="88900"/>
                </a:moveTo>
                <a:cubicBezTo>
                  <a:pt x="160734" y="88900"/>
                  <a:pt x="160734" y="88900"/>
                  <a:pt x="171053" y="88900"/>
                </a:cubicBezTo>
                <a:cubicBezTo>
                  <a:pt x="172343" y="88900"/>
                  <a:pt x="173633" y="90195"/>
                  <a:pt x="173633" y="90195"/>
                </a:cubicBezTo>
                <a:cubicBezTo>
                  <a:pt x="174923" y="92785"/>
                  <a:pt x="176213" y="94080"/>
                  <a:pt x="174923" y="95375"/>
                </a:cubicBezTo>
                <a:cubicBezTo>
                  <a:pt x="174923" y="95375"/>
                  <a:pt x="174923" y="95375"/>
                  <a:pt x="169763" y="103146"/>
                </a:cubicBezTo>
                <a:cubicBezTo>
                  <a:pt x="169763" y="103146"/>
                  <a:pt x="169763" y="103146"/>
                  <a:pt x="172343" y="123867"/>
                </a:cubicBezTo>
                <a:cubicBezTo>
                  <a:pt x="172343" y="123867"/>
                  <a:pt x="172343" y="123867"/>
                  <a:pt x="167184" y="136818"/>
                </a:cubicBezTo>
                <a:cubicBezTo>
                  <a:pt x="167184" y="138113"/>
                  <a:pt x="164604" y="138113"/>
                  <a:pt x="164604" y="136818"/>
                </a:cubicBezTo>
                <a:cubicBezTo>
                  <a:pt x="164604" y="136818"/>
                  <a:pt x="164604" y="136818"/>
                  <a:pt x="159444" y="123867"/>
                </a:cubicBezTo>
                <a:cubicBezTo>
                  <a:pt x="159444" y="123867"/>
                  <a:pt x="159444" y="123867"/>
                  <a:pt x="162024" y="103146"/>
                </a:cubicBezTo>
                <a:cubicBezTo>
                  <a:pt x="162024" y="103146"/>
                  <a:pt x="162024" y="103146"/>
                  <a:pt x="156865" y="95375"/>
                </a:cubicBezTo>
                <a:cubicBezTo>
                  <a:pt x="155575" y="94080"/>
                  <a:pt x="156865" y="92785"/>
                  <a:pt x="158155" y="90195"/>
                </a:cubicBezTo>
                <a:cubicBezTo>
                  <a:pt x="158155" y="90195"/>
                  <a:pt x="159444" y="88900"/>
                  <a:pt x="160734" y="88900"/>
                </a:cubicBezTo>
                <a:close/>
                <a:moveTo>
                  <a:pt x="136182" y="88900"/>
                </a:moveTo>
                <a:cubicBezTo>
                  <a:pt x="137474" y="88900"/>
                  <a:pt x="138766" y="90201"/>
                  <a:pt x="138766" y="91502"/>
                </a:cubicBezTo>
                <a:cubicBezTo>
                  <a:pt x="138766" y="91502"/>
                  <a:pt x="138766" y="91502"/>
                  <a:pt x="165893" y="165652"/>
                </a:cubicBezTo>
                <a:cubicBezTo>
                  <a:pt x="165893" y="165652"/>
                  <a:pt x="165893" y="165652"/>
                  <a:pt x="193021" y="91502"/>
                </a:cubicBezTo>
                <a:cubicBezTo>
                  <a:pt x="193021" y="90201"/>
                  <a:pt x="195605" y="88900"/>
                  <a:pt x="196897" y="90201"/>
                </a:cubicBezTo>
                <a:cubicBezTo>
                  <a:pt x="196897" y="90201"/>
                  <a:pt x="196897" y="90201"/>
                  <a:pt x="208523" y="92802"/>
                </a:cubicBezTo>
                <a:cubicBezTo>
                  <a:pt x="222733" y="98006"/>
                  <a:pt x="231775" y="111015"/>
                  <a:pt x="231775" y="125325"/>
                </a:cubicBezTo>
                <a:cubicBezTo>
                  <a:pt x="231775" y="125325"/>
                  <a:pt x="231775" y="125325"/>
                  <a:pt x="231775" y="176059"/>
                </a:cubicBezTo>
                <a:cubicBezTo>
                  <a:pt x="231775" y="179961"/>
                  <a:pt x="229192" y="182563"/>
                  <a:pt x="226608" y="182563"/>
                </a:cubicBezTo>
                <a:cubicBezTo>
                  <a:pt x="226608" y="182563"/>
                  <a:pt x="226608" y="182563"/>
                  <a:pt x="105179" y="182563"/>
                </a:cubicBezTo>
                <a:cubicBezTo>
                  <a:pt x="102595" y="182563"/>
                  <a:pt x="100012" y="179961"/>
                  <a:pt x="100012" y="176059"/>
                </a:cubicBezTo>
                <a:cubicBezTo>
                  <a:pt x="100012" y="176059"/>
                  <a:pt x="100012" y="176059"/>
                  <a:pt x="100012" y="125325"/>
                </a:cubicBezTo>
                <a:cubicBezTo>
                  <a:pt x="100012" y="111015"/>
                  <a:pt x="109054" y="98006"/>
                  <a:pt x="123264" y="92802"/>
                </a:cubicBezTo>
                <a:cubicBezTo>
                  <a:pt x="123264" y="92802"/>
                  <a:pt x="123264" y="92802"/>
                  <a:pt x="134890" y="90201"/>
                </a:cubicBezTo>
                <a:cubicBezTo>
                  <a:pt x="134890" y="88900"/>
                  <a:pt x="134890" y="88900"/>
                  <a:pt x="136182" y="88900"/>
                </a:cubicBezTo>
                <a:close/>
                <a:moveTo>
                  <a:pt x="292100" y="19050"/>
                </a:moveTo>
                <a:cubicBezTo>
                  <a:pt x="314019" y="19050"/>
                  <a:pt x="331788" y="36819"/>
                  <a:pt x="331788" y="58738"/>
                </a:cubicBezTo>
                <a:cubicBezTo>
                  <a:pt x="331788" y="80657"/>
                  <a:pt x="314019" y="98426"/>
                  <a:pt x="292100" y="98426"/>
                </a:cubicBezTo>
                <a:cubicBezTo>
                  <a:pt x="270181" y="98426"/>
                  <a:pt x="252412" y="80657"/>
                  <a:pt x="252412" y="58738"/>
                </a:cubicBezTo>
                <a:cubicBezTo>
                  <a:pt x="252412" y="36819"/>
                  <a:pt x="270181" y="19050"/>
                  <a:pt x="292100" y="19050"/>
                </a:cubicBezTo>
                <a:close/>
                <a:moveTo>
                  <a:pt x="39688" y="19050"/>
                </a:moveTo>
                <a:cubicBezTo>
                  <a:pt x="61607" y="19050"/>
                  <a:pt x="79376" y="36819"/>
                  <a:pt x="79376" y="58738"/>
                </a:cubicBezTo>
                <a:cubicBezTo>
                  <a:pt x="79376" y="80657"/>
                  <a:pt x="61607" y="98426"/>
                  <a:pt x="39688" y="98426"/>
                </a:cubicBezTo>
                <a:cubicBezTo>
                  <a:pt x="17769" y="98426"/>
                  <a:pt x="0" y="80657"/>
                  <a:pt x="0" y="58738"/>
                </a:cubicBezTo>
                <a:cubicBezTo>
                  <a:pt x="0" y="36819"/>
                  <a:pt x="17769" y="19050"/>
                  <a:pt x="39688" y="19050"/>
                </a:cubicBezTo>
                <a:close/>
                <a:moveTo>
                  <a:pt x="165894" y="0"/>
                </a:moveTo>
                <a:cubicBezTo>
                  <a:pt x="187375" y="0"/>
                  <a:pt x="204788" y="17769"/>
                  <a:pt x="204788" y="39688"/>
                </a:cubicBezTo>
                <a:cubicBezTo>
                  <a:pt x="204788" y="61607"/>
                  <a:pt x="187375" y="79376"/>
                  <a:pt x="165894" y="79376"/>
                </a:cubicBezTo>
                <a:cubicBezTo>
                  <a:pt x="144413" y="79376"/>
                  <a:pt x="127000" y="61607"/>
                  <a:pt x="127000" y="39688"/>
                </a:cubicBezTo>
                <a:cubicBezTo>
                  <a:pt x="127000" y="17769"/>
                  <a:pt x="144413" y="0"/>
                  <a:pt x="1658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309034" y="2385658"/>
            <a:ext cx="1578167" cy="42354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选题的介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09034" y="4598660"/>
            <a:ext cx="1578167" cy="42354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选题研究实施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630064" y="2385658"/>
            <a:ext cx="1578167" cy="42354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项目团队介绍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630064" y="4598660"/>
            <a:ext cx="1578167" cy="3860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研究目标成果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22"/>
          <p:cNvSpPr/>
          <p:nvPr/>
        </p:nvSpPr>
        <p:spPr>
          <a:xfrm>
            <a:off x="4171315" y="3505200"/>
            <a:ext cx="36000" cy="18275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7" name="矩形: 圆角 19"/>
          <p:cNvSpPr/>
          <p:nvPr/>
        </p:nvSpPr>
        <p:spPr>
          <a:xfrm>
            <a:off x="9497060" y="3505200"/>
            <a:ext cx="36000" cy="18275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8" name="矩形: 圆角 12"/>
          <p:cNvSpPr/>
          <p:nvPr/>
        </p:nvSpPr>
        <p:spPr>
          <a:xfrm>
            <a:off x="4171315" y="1327785"/>
            <a:ext cx="36000" cy="18275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9" name="矩形: 圆角 9"/>
          <p:cNvSpPr/>
          <p:nvPr/>
        </p:nvSpPr>
        <p:spPr>
          <a:xfrm>
            <a:off x="9497060" y="1327785"/>
            <a:ext cx="36000" cy="18275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556260" y="840740"/>
            <a:ext cx="11052175" cy="5033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一、</a:t>
            </a:r>
            <a:r>
              <a:rPr lang="en-US" altLang="zh-CN"/>
              <a:t> </a:t>
            </a:r>
            <a:r>
              <a:rPr lang="zh-CN" altLang="en-US"/>
              <a:t>研究背景</a:t>
            </a:r>
            <a:endParaRPr lang="zh-CN" altLang="en-US"/>
          </a:p>
          <a:p>
            <a:endParaRPr lang="zh-CN" altLang="en-US" sz="1400"/>
          </a:p>
          <a:p>
            <a:pPr indent="381000" fontAlgn="auto">
              <a:lnSpc>
                <a:spcPct val="110000"/>
              </a:lnSpc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endParaRPr lang="zh-CN" altLang="en-US" sz="15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2675" y="1211580"/>
            <a:ext cx="10047605" cy="3636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en-US" altLang="zh-CN"/>
              <a:t>       </a:t>
            </a:r>
            <a:r>
              <a:rPr lang="zh-CN" altLang="en-US"/>
              <a:t>工业控制系统多用于能源、水处理、制造、交通等关键基础设施，主要负责物理过程的监测、控制与自动化运行。</a:t>
            </a:r>
            <a:r>
              <a:rPr lang="en-US" altLang="zh-CN"/>
              <a:t>PLC</a:t>
            </a:r>
            <a:r>
              <a:rPr lang="zh-CN" altLang="en-US"/>
              <a:t>是工控系统的核心平台，周期性采集传感器数据、运行控制逻辑，并控制阀门、水泵、电机等设备。和传统</a:t>
            </a:r>
            <a:r>
              <a:rPr lang="en-US" altLang="zh-CN"/>
              <a:t>IT</a:t>
            </a:r>
            <a:r>
              <a:rPr lang="zh-CN" altLang="en-US"/>
              <a:t>软件不同，</a:t>
            </a:r>
            <a:r>
              <a:rPr lang="en-US" altLang="zh-CN"/>
              <a:t>PLC</a:t>
            </a:r>
            <a:r>
              <a:rPr lang="zh-CN" altLang="en-US"/>
              <a:t>程序直接管控物理设备，其程序缺陷或漏洞会造成设备误操作、生产停滞，甚至引发安全事故。随着工控系统网络化、软件架构复杂化，</a:t>
            </a:r>
            <a:r>
              <a:rPr lang="en-US" altLang="zh-CN"/>
              <a:t>PLC</a:t>
            </a:r>
            <a:r>
              <a:rPr lang="zh-CN" altLang="en-US"/>
              <a:t>程序安全测试与漏洞挖掘已成为工控安全领域的研究重点。</a:t>
            </a:r>
            <a:endParaRPr lang="zh-CN" altLang="en-US"/>
          </a:p>
          <a:p>
            <a:pPr>
              <a:lnSpc>
                <a:spcPct val="160000"/>
              </a:lnSpc>
            </a:pPr>
            <a:r>
              <a:rPr lang="en-US" altLang="zh-CN">
                <a:sym typeface="+mn-ea"/>
              </a:rPr>
              <a:t>     ST </a:t>
            </a:r>
            <a:r>
              <a:rPr lang="zh-CN" altLang="en-US">
                <a:sym typeface="+mn-ea"/>
              </a:rPr>
              <a:t>是 </a:t>
            </a:r>
            <a:r>
              <a:rPr lang="en-US" altLang="zh-CN">
                <a:sym typeface="+mn-ea"/>
              </a:rPr>
              <a:t>IEC 61131-3 </a:t>
            </a:r>
            <a:r>
              <a:rPr lang="zh-CN" altLang="en-US">
                <a:sym typeface="+mn-ea"/>
              </a:rPr>
              <a:t>标准中的一种文本式 </a:t>
            </a:r>
            <a:r>
              <a:rPr lang="en-US" altLang="zh-CN">
                <a:sym typeface="+mn-ea"/>
              </a:rPr>
              <a:t>PLC </a:t>
            </a:r>
            <a:r>
              <a:rPr lang="zh-CN" altLang="en-US">
                <a:sym typeface="+mn-ea"/>
              </a:rPr>
              <a:t>编程语言，语法风格接近 </a:t>
            </a:r>
            <a:r>
              <a:rPr lang="en-US" altLang="zh-CN">
                <a:sym typeface="+mn-ea"/>
              </a:rPr>
              <a:t>Pascal </a:t>
            </a:r>
            <a:r>
              <a:rPr lang="zh-CN" altLang="en-US">
                <a:sym typeface="+mn-ea"/>
              </a:rPr>
              <a:t>或结构化高级语言。它常用于编写复杂控制逻辑，例如状态机、数学计算、字符串处理、通信处理等。</a:t>
            </a:r>
            <a:endParaRPr lang="zh-CN" altLang="en-US"/>
          </a:p>
          <a:p>
            <a:pPr>
              <a:lnSpc>
                <a:spcPct val="160000"/>
              </a:lnSpc>
            </a:pP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3" name="图片 2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16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31" y="1346"/>
              <a:ext cx="3949" cy="651"/>
            </a:xfrm>
            <a:prstGeom prst="rect">
              <a:avLst/>
            </a:prstGeom>
          </p:spPr>
          <p:txBody>
            <a:bodyPr vert="horz" wrap="none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algn="ctr" fontAlgn="ctr"/>
              <a:r>
                <a:rPr lang="zh-CN" altLang="zh-CN" sz="24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  <a:sym typeface="+mn-ea"/>
                </a:rPr>
                <a:t>论文背景与概述</a:t>
              </a:r>
              <a:endPara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  <a:p>
              <a:pPr fontAlgn="ctr"/>
              <a:endPara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23" name="图片 22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27" name="矩形 26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Box 15"/>
          <p:cNvSpPr txBox="1"/>
          <p:nvPr/>
        </p:nvSpPr>
        <p:spPr>
          <a:xfrm>
            <a:off x="1007745" y="3850005"/>
            <a:ext cx="1980565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请替换输入您的正式研究选题文字内容，也可以直接复制您的文字内容到此，根据需要调整文字的大X。</a:t>
            </a:r>
            <a:endParaRPr lang="zh-CN" alt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Box 16"/>
          <p:cNvSpPr txBox="1"/>
          <p:nvPr/>
        </p:nvSpPr>
        <p:spPr>
          <a:xfrm>
            <a:off x="1007745" y="3568700"/>
            <a:ext cx="15303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选题的背景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3735070" y="2162810"/>
            <a:ext cx="1980565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请替换输入您的正式研究选题文字内容，也可以直接复制您的文字内容到此，根据需要调整文字的大X。</a:t>
            </a:r>
            <a:endParaRPr lang="zh-CN" alt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9218930" y="2103120"/>
            <a:ext cx="1980565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请替换输入您的正式研究选题文字内容，也可以直接复制您的文字内容到此，根据需要调整文字的大X。</a:t>
            </a:r>
            <a:endParaRPr lang="zh-CN" alt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9218930" y="1821815"/>
            <a:ext cx="15303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选题的背景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Box 15"/>
          <p:cNvSpPr txBox="1"/>
          <p:nvPr/>
        </p:nvSpPr>
        <p:spPr>
          <a:xfrm>
            <a:off x="6483350" y="3849370"/>
            <a:ext cx="1980565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请替换输入您的正式研究选题文字内容，也可以直接复制您的文字内容到此，根据需要调整文字的大X。</a:t>
            </a:r>
            <a:endParaRPr lang="zh-CN" alt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16"/>
          <p:cNvSpPr txBox="1"/>
          <p:nvPr/>
        </p:nvSpPr>
        <p:spPr>
          <a:xfrm>
            <a:off x="6483350" y="3568065"/>
            <a:ext cx="15303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选题的背景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4060" y="924560"/>
            <a:ext cx="10361930" cy="4900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二、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研究</a:t>
            </a:r>
            <a:r>
              <a:rPr lang="zh-CN" altLang="en-US">
                <a:sym typeface="+mn-ea"/>
              </a:rPr>
              <a:t>概述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 sz="1500">
                <a:sym typeface="+mn-ea"/>
              </a:rPr>
              <a:t> </a:t>
            </a:r>
            <a:endParaRPr lang="zh-CN" altLang="en-US" sz="1500"/>
          </a:p>
        </p:txBody>
      </p:sp>
      <p:sp>
        <p:nvSpPr>
          <p:cNvPr id="5" name="文本框 4"/>
          <p:cNvSpPr txBox="1"/>
          <p:nvPr/>
        </p:nvSpPr>
        <p:spPr>
          <a:xfrm>
            <a:off x="502285" y="1449070"/>
            <a:ext cx="4445635" cy="47675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ST</a:t>
            </a:r>
            <a:r>
              <a:rPr lang="zh-CN" altLang="en-US"/>
              <a:t>语言难以进行</a:t>
            </a:r>
            <a:r>
              <a:rPr lang="en-US" altLang="zh-CN"/>
              <a:t>Fuzz</a:t>
            </a:r>
            <a:r>
              <a:rPr lang="zh-CN" altLang="en-US"/>
              <a:t>：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生态封闭：私有编译器、私有 </a:t>
            </a:r>
            <a:r>
              <a:rPr lang="en-US" altLang="zh-CN"/>
              <a:t>runtime、</a:t>
            </a:r>
            <a:r>
              <a:rPr lang="zh-CN" altLang="en-US"/>
              <a:t>非标准二进制格式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依赖复杂：厂商库和 </a:t>
            </a:r>
            <a:r>
              <a:rPr lang="en-US" altLang="zh-CN"/>
              <a:t>PLC runtime </a:t>
            </a:r>
            <a:r>
              <a:rPr lang="zh-CN" altLang="en-US"/>
              <a:t>难以脱离真实环境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输入困难：输入来自 </a:t>
            </a:r>
            <a:r>
              <a:rPr lang="en-US" altLang="zh-CN"/>
              <a:t>I/O </a:t>
            </a:r>
            <a:r>
              <a:rPr lang="zh-CN" altLang="en-US"/>
              <a:t>映像区和传感器变量，而非普通文件/</a:t>
            </a:r>
            <a:r>
              <a:rPr lang="en-US" altLang="zh-CN"/>
              <a:t>stdin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反馈不足：</a:t>
            </a:r>
            <a:r>
              <a:rPr lang="en-US" altLang="zh-CN"/>
              <a:t>coverage </a:t>
            </a:r>
            <a:r>
              <a:rPr lang="zh-CN" altLang="en-US"/>
              <a:t>难获取，内存错误难以精确检测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已有方法局限：</a:t>
            </a:r>
            <a:r>
              <a:rPr lang="en-US" altLang="zh-CN"/>
              <a:t>ICSFuzz / FieldFuzz </a:t>
            </a:r>
            <a:r>
              <a:rPr lang="zh-CN" altLang="en-US"/>
              <a:t>依赖特定 </a:t>
            </a:r>
            <a:r>
              <a:rPr lang="en-US" altLang="zh-CN"/>
              <a:t>runtime </a:t>
            </a:r>
            <a:r>
              <a:rPr lang="zh-CN" altLang="en-US"/>
              <a:t>或网络协议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关键缺口：缺少 </a:t>
            </a:r>
            <a:r>
              <a:rPr lang="en-US" altLang="zh-CN"/>
              <a:t>scan cycle </a:t>
            </a:r>
            <a:r>
              <a:rPr lang="zh-CN" altLang="en-US"/>
              <a:t>显式控制，</a:t>
            </a:r>
            <a:r>
              <a:rPr lang="en-US" altLang="zh-CN"/>
              <a:t>crash </a:t>
            </a:r>
            <a:r>
              <a:rPr lang="zh-CN" altLang="en-US"/>
              <a:t>复现和定位困难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765" y="1091565"/>
            <a:ext cx="6781800" cy="47339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124460"/>
            <a:ext cx="12192000" cy="6858000"/>
            <a:chOff x="-16" y="196"/>
            <a:chExt cx="19200" cy="10800"/>
          </a:xfrm>
        </p:grpSpPr>
        <p:pic>
          <p:nvPicPr>
            <p:cNvPr id="9" name="图片 8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196"/>
              <a:ext cx="19200" cy="10800"/>
            </a:xfrm>
            <a:prstGeom prst="rect">
              <a:avLst/>
            </a:prstGeom>
          </p:spPr>
        </p:pic>
        <p:sp>
          <p:nvSpPr>
            <p:cNvPr id="13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algn="l" fontAlgn="ctr"/>
              <a:r>
                <a:rPr lang="zh-CN" altLang="zh-CN" sz="18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郑州大学</a:t>
              </a:r>
              <a:endParaRPr lang="zh-CN" altLang="zh-CN" sz="18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4" name="图片 13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2308860" y="2160905"/>
            <a:ext cx="7574280" cy="1059180"/>
          </a:xfrm>
          <a:effectLst>
            <a:outerShdw blurRad="114300" dist="88900" dir="5100000" algn="t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zh-CN" altLang="zh-CN" sz="65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研究方法与思路</a:t>
            </a:r>
            <a:endParaRPr lang="zh-CN" altLang="zh-CN" sz="65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402648" y="1788795"/>
            <a:ext cx="5386705" cy="340995"/>
          </a:xfrm>
        </p:spPr>
        <p:txBody>
          <a:bodyPr>
            <a:normAutofit fontScale="90000" lnSpcReduction="20000"/>
          </a:bodyPr>
          <a:lstStyle/>
          <a:p>
            <a:pPr marL="0" indent="0" algn="dist" fontAlgn="ctr">
              <a:buNone/>
            </a:pPr>
            <a:r>
              <a:rPr lang="zh-CN" altLang="en-US" sz="16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RESEARCH METHODS AND IDEAS</a:t>
            </a:r>
            <a:endParaRPr lang="zh-CN" altLang="en-US" sz="160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2" name="副标题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402648" y="3449955"/>
            <a:ext cx="5386705" cy="207645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83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RESEARCH METHODS AND IDEAS</a:t>
            </a:r>
            <a:endParaRPr lang="zh-CN" altLang="en-US" sz="83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216208" y="4067175"/>
            <a:ext cx="1759585" cy="105918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4800" b="0">
                <a:solidFill>
                  <a:schemeClr val="bg1">
                    <a:lumMod val="9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TWO</a:t>
            </a:r>
            <a:endParaRPr lang="en-US" altLang="zh-CN" sz="4800" b="0">
              <a:solidFill>
                <a:schemeClr val="bg1">
                  <a:lumMod val="95000"/>
                </a:schemeClr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19" name="MH_Number_1"/>
          <p:cNvSpPr/>
          <p:nvPr>
            <p:custDataLst>
              <p:tags r:id="rId8"/>
            </p:custDataLst>
          </p:nvPr>
        </p:nvSpPr>
        <p:spPr>
          <a:xfrm>
            <a:off x="5828030" y="3947795"/>
            <a:ext cx="535940" cy="535940"/>
          </a:xfrm>
          <a:prstGeom prst="ellipse">
            <a:avLst/>
          </a:prstGeom>
          <a:solidFill>
            <a:srgbClr val="324274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en-US" altLang="zh-CN" sz="28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工作7"/>
          <p:cNvPicPr>
            <a:picLocks noChangeAspect="1"/>
          </p:cNvPicPr>
          <p:nvPr/>
        </p:nvPicPr>
        <p:blipFill>
          <a:blip r:embed="rId1">
            <a:alphaModFix amt="15000"/>
          </a:blip>
          <a:srcRect t="13059" b="26706"/>
          <a:stretch>
            <a:fillRect/>
          </a:stretch>
        </p:blipFill>
        <p:spPr>
          <a:xfrm>
            <a:off x="222885" y="1510665"/>
            <a:ext cx="11729085" cy="491998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35" name="图片 34" descr="PPT构思0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44" name="标题 1"/>
            <p:cNvSpPr>
              <a:spLocks noGrp="1"/>
            </p:cNvSpPr>
            <p:nvPr>
              <p:custDataLst>
                <p:tags r:id="rId3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wrap="none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fontAlgn="ctr"/>
              <a:r>
                <a:rPr lang="zh-CN" altLang="zh-CN" sz="24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研究方法与思路</a:t>
              </a:r>
              <a:endPara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46" name="图片 45" descr="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627380" y="4187190"/>
            <a:ext cx="5810885" cy="153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400"/>
          </a:p>
        </p:txBody>
      </p:sp>
      <p:sp>
        <p:nvSpPr>
          <p:cNvPr id="39" name="文本框 38"/>
          <p:cNvSpPr txBox="1"/>
          <p:nvPr/>
        </p:nvSpPr>
        <p:spPr>
          <a:xfrm>
            <a:off x="627380" y="740410"/>
            <a:ext cx="10597515" cy="2442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457200" fontAlgn="auto">
              <a:lnSpc>
                <a:spcPct val="17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  <wpsdc:marlchars xmlns:wpsdc="http://www.wps.cn/officeDocument/2017/drawingmlCustomData" val="0" checksum="0"/>
                </a:ext>
              </a:extLst>
            </a:pPr>
            <a:r>
              <a:rPr lang="en-US" altLang="zh-CN">
                <a:latin typeface="+mn-ea"/>
                <a:cs typeface="+mn-ea"/>
              </a:rPr>
              <a:t>ICSQuartz </a:t>
            </a:r>
            <a:r>
              <a:rPr lang="zh-CN" altLang="en-US">
                <a:latin typeface="+mn-ea"/>
                <a:cs typeface="+mn-ea"/>
              </a:rPr>
              <a:t>的核心思想是：将原本依赖封闭 </a:t>
            </a:r>
            <a:r>
              <a:rPr lang="en-US" altLang="zh-CN">
                <a:latin typeface="+mn-ea"/>
                <a:cs typeface="+mn-ea"/>
              </a:rPr>
              <a:t>PLC </a:t>
            </a:r>
            <a:r>
              <a:rPr lang="zh-CN" altLang="en-US">
                <a:latin typeface="+mn-ea"/>
                <a:cs typeface="+mn-ea"/>
              </a:rPr>
              <a:t>生态运行的 </a:t>
            </a:r>
            <a:r>
              <a:rPr lang="en-US" altLang="zh-CN">
                <a:latin typeface="+mn-ea"/>
                <a:cs typeface="+mn-ea"/>
              </a:rPr>
              <a:t>ST </a:t>
            </a:r>
            <a:r>
              <a:rPr lang="zh-CN" altLang="en-US">
                <a:latin typeface="+mn-ea"/>
                <a:cs typeface="+mn-ea"/>
              </a:rPr>
              <a:t>程序，转化为可以在普通计算平台上进行 </a:t>
            </a:r>
            <a:r>
              <a:rPr lang="en-US" altLang="zh-CN">
                <a:latin typeface="+mn-ea"/>
                <a:cs typeface="+mn-ea"/>
              </a:rPr>
              <a:t>fuzzing </a:t>
            </a:r>
            <a:r>
              <a:rPr lang="zh-CN" altLang="en-US">
                <a:latin typeface="+mn-ea"/>
                <a:cs typeface="+mn-ea"/>
              </a:rPr>
              <a:t>的 </a:t>
            </a:r>
            <a:r>
              <a:rPr lang="en-US" altLang="zh-CN">
                <a:latin typeface="+mn-ea"/>
                <a:cs typeface="+mn-ea"/>
              </a:rPr>
              <a:t>native </a:t>
            </a:r>
            <a:r>
              <a:rPr lang="zh-CN" altLang="en-US">
                <a:latin typeface="+mn-ea"/>
                <a:cs typeface="+mn-ea"/>
              </a:rPr>
              <a:t>测试目标。为实现这一点，</a:t>
            </a:r>
            <a:r>
              <a:rPr lang="en-US" altLang="zh-CN">
                <a:latin typeface="+mn-ea"/>
                <a:cs typeface="+mn-ea"/>
              </a:rPr>
              <a:t>ICSQuartz </a:t>
            </a:r>
            <a:r>
              <a:rPr lang="zh-CN" altLang="en-US">
                <a:latin typeface="+mn-ea"/>
                <a:cs typeface="+mn-ea"/>
              </a:rPr>
              <a:t>基于开源 </a:t>
            </a:r>
            <a:r>
              <a:rPr lang="en-US" altLang="zh-CN">
                <a:latin typeface="+mn-ea"/>
                <a:cs typeface="+mn-ea"/>
              </a:rPr>
              <a:t>ST </a:t>
            </a:r>
            <a:r>
              <a:rPr lang="zh-CN" altLang="en-US">
                <a:latin typeface="+mn-ea"/>
                <a:cs typeface="+mn-ea"/>
              </a:rPr>
              <a:t>编译器 </a:t>
            </a:r>
            <a:r>
              <a:rPr lang="en-US" altLang="zh-CN">
                <a:latin typeface="+mn-ea"/>
                <a:cs typeface="+mn-ea"/>
              </a:rPr>
              <a:t>RuSTy，</a:t>
            </a:r>
            <a:r>
              <a:rPr lang="zh-CN" altLang="en-US">
                <a:latin typeface="+mn-ea"/>
                <a:cs typeface="+mn-ea"/>
              </a:rPr>
              <a:t>将 </a:t>
            </a:r>
            <a:r>
              <a:rPr lang="en-US" altLang="zh-CN">
                <a:latin typeface="+mn-ea"/>
                <a:cs typeface="+mn-ea"/>
              </a:rPr>
              <a:t>ST </a:t>
            </a:r>
            <a:r>
              <a:rPr lang="zh-CN" altLang="en-US">
                <a:latin typeface="+mn-ea"/>
                <a:cs typeface="+mn-ea"/>
              </a:rPr>
              <a:t>程序接入 </a:t>
            </a:r>
            <a:r>
              <a:rPr lang="en-US" altLang="zh-CN">
                <a:latin typeface="+mn-ea"/>
                <a:cs typeface="+mn-ea"/>
              </a:rPr>
              <a:t>LLVM </a:t>
            </a:r>
            <a:r>
              <a:rPr lang="zh-CN" altLang="en-US">
                <a:latin typeface="+mn-ea"/>
                <a:cs typeface="+mn-ea"/>
              </a:rPr>
              <a:t>工具链，从而支持代码覆盖率反馈和 </a:t>
            </a:r>
            <a:r>
              <a:rPr lang="en-US" altLang="zh-CN">
                <a:latin typeface="+mn-ea"/>
                <a:cs typeface="+mn-ea"/>
              </a:rPr>
              <a:t>AddressSanitizer </a:t>
            </a:r>
            <a:r>
              <a:rPr lang="zh-CN" altLang="en-US">
                <a:latin typeface="+mn-ea"/>
                <a:cs typeface="+mn-ea"/>
              </a:rPr>
              <a:t>内存错误检测。同时，它通过兼容层替代部分厂商库函数，并结合自动生成的 </a:t>
            </a:r>
            <a:r>
              <a:rPr lang="en-US" altLang="zh-CN">
                <a:latin typeface="+mn-ea"/>
                <a:cs typeface="+mn-ea"/>
              </a:rPr>
              <a:t>fuzzing harness </a:t>
            </a:r>
            <a:r>
              <a:rPr lang="zh-CN" altLang="en-US">
                <a:latin typeface="+mn-ea"/>
                <a:cs typeface="+mn-ea"/>
              </a:rPr>
              <a:t>与 </a:t>
            </a:r>
            <a:r>
              <a:rPr lang="en-US" altLang="zh-CN">
                <a:latin typeface="+mn-ea"/>
                <a:cs typeface="+mn-ea"/>
              </a:rPr>
              <a:t>scan cycle-aware </a:t>
            </a:r>
            <a:r>
              <a:rPr lang="zh-CN" altLang="en-US">
                <a:latin typeface="+mn-ea"/>
                <a:cs typeface="+mn-ea"/>
              </a:rPr>
              <a:t>执行机制，实现对 </a:t>
            </a:r>
            <a:r>
              <a:rPr lang="en-US" altLang="zh-CN">
                <a:latin typeface="+mn-ea"/>
                <a:cs typeface="+mn-ea"/>
              </a:rPr>
              <a:t>ST </a:t>
            </a:r>
            <a:r>
              <a:rPr lang="zh-CN" altLang="en-US">
                <a:latin typeface="+mn-ea"/>
                <a:cs typeface="+mn-ea"/>
              </a:rPr>
              <a:t>程序的高效、可观测、状态感知 </a:t>
            </a:r>
            <a:r>
              <a:rPr lang="en-US" altLang="zh-CN">
                <a:latin typeface="+mn-ea"/>
                <a:cs typeface="+mn-ea"/>
              </a:rPr>
              <a:t>fuzzing。</a:t>
            </a:r>
            <a:endParaRPr lang="en-US" altLang="zh-CN">
              <a:latin typeface="+mn-ea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40" y="3182620"/>
            <a:ext cx="11553825" cy="27527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5" name="图片 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11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wrap="none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fontAlgn="ctr"/>
              <a:r>
                <a:rPr lang="zh-CN" altLang="zh-CN" sz="24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研究方法与思路</a:t>
              </a:r>
              <a:endPara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3" name="图片 12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5"/>
          <p:cNvSpPr/>
          <p:nvPr/>
        </p:nvSpPr>
        <p:spPr>
          <a:xfrm>
            <a:off x="1158792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3870721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6582652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4" name="Rectangle 8"/>
          <p:cNvSpPr/>
          <p:nvPr/>
        </p:nvSpPr>
        <p:spPr>
          <a:xfrm>
            <a:off x="9294581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36469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37881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53358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65287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5495" y="913130"/>
            <a:ext cx="840676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Scan Cycle-Aware Fuzzing：</a:t>
            </a:r>
            <a:r>
              <a:rPr lang="zh-CN" altLang="en-US"/>
              <a:t>从单输入到状态序列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52500" y="1322070"/>
            <a:ext cx="9919335" cy="44043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40000"/>
              </a:lnSpc>
            </a:pPr>
            <a:r>
              <a:rPr lang="zh-CN" altLang="en-US">
                <a:latin typeface="+mn-ea"/>
                <a:cs typeface="+mn-ea"/>
              </a:rPr>
              <a:t>传统 </a:t>
            </a:r>
            <a:r>
              <a:rPr lang="en-US" altLang="zh-CN">
                <a:latin typeface="+mn-ea"/>
                <a:cs typeface="+mn-ea"/>
              </a:rPr>
              <a:t>fuzzing </a:t>
            </a:r>
            <a:r>
              <a:rPr lang="zh-CN" altLang="en-US">
                <a:latin typeface="+mn-ea"/>
                <a:cs typeface="+mn-ea"/>
              </a:rPr>
              <a:t>通常将一次测试看作“一个输入触发一次执行”。但 </a:t>
            </a:r>
            <a:r>
              <a:rPr lang="en-US" altLang="zh-CN">
                <a:latin typeface="+mn-ea"/>
                <a:cs typeface="+mn-ea"/>
              </a:rPr>
              <a:t>PLC </a:t>
            </a:r>
            <a:r>
              <a:rPr lang="zh-CN" altLang="en-US">
                <a:latin typeface="+mn-ea"/>
                <a:cs typeface="+mn-ea"/>
              </a:rPr>
              <a:t>程序按照扫描周期持续运行，每一轮执行都会继承上一轮留下的程序状态。因此，对于 </a:t>
            </a:r>
            <a:r>
              <a:rPr lang="en-US" altLang="zh-CN">
                <a:latin typeface="+mn-ea"/>
                <a:cs typeface="+mn-ea"/>
              </a:rPr>
              <a:t>ST </a:t>
            </a:r>
            <a:r>
              <a:rPr lang="zh-CN" altLang="en-US">
                <a:latin typeface="+mn-ea"/>
                <a:cs typeface="+mn-ea"/>
              </a:rPr>
              <a:t>程序而言，漏洞可能并不是由某个单独输入触发，而是由一组连续输入推动状态逐步演化后触发。</a:t>
            </a:r>
            <a:endParaRPr lang="zh-CN" altLang="en-US"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7740" y="3614420"/>
            <a:ext cx="9975850" cy="337185"/>
          </a:xfrm>
          <a:prstGeom prst="rect">
            <a:avLst/>
          </a:prstGeom>
        </p:spPr>
        <p:txBody>
          <a:bodyPr wrap="square">
            <a:spAutoFit/>
          </a:bodyPr>
          <a:p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985" y="2527935"/>
            <a:ext cx="5895975" cy="36861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52500" y="2967990"/>
            <a:ext cx="4271010" cy="3183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ICSQuartz </a:t>
            </a:r>
            <a:r>
              <a:rPr lang="zh-CN" altLang="en-US"/>
              <a:t>模拟探索的状态数称为扫描周期深度，记为 </a:t>
            </a:r>
            <a:r>
              <a:rPr lang="en-US" altLang="zh-CN"/>
              <a:t>D，</a:t>
            </a:r>
            <a:r>
              <a:rPr lang="zh-CN" altLang="en-US"/>
              <a:t>等于状态集合 </a:t>
            </a:r>
            <a:r>
              <a:rPr lang="en-US" altLang="zh-CN"/>
              <a:t>S </a:t>
            </a:r>
            <a:r>
              <a:rPr lang="zh-CN" altLang="en-US"/>
              <a:t>的基数。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常规模糊测试策略采用固定扫描周期深度 </a:t>
            </a:r>
            <a:r>
              <a:rPr lang="en-US" altLang="zh-CN"/>
              <a:t>D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① D </a:t>
            </a:r>
            <a:r>
              <a:rPr lang="zh-CN" altLang="en-US"/>
              <a:t>设置过小，会掩盖超过 </a:t>
            </a:r>
            <a:r>
              <a:rPr lang="en-US" altLang="zh-CN"/>
              <a:t>D </a:t>
            </a:r>
            <a:r>
              <a:rPr lang="zh-CN" altLang="en-US"/>
              <a:t>周期才显现的漏洞；</a:t>
            </a:r>
            <a:endParaRPr lang="zh-CN" altLang="en-US"/>
          </a:p>
          <a:p>
            <a:r>
              <a:rPr lang="zh-CN" altLang="en-US"/>
              <a:t>② </a:t>
            </a:r>
            <a:r>
              <a:rPr lang="en-US" altLang="zh-CN"/>
              <a:t>D </a:t>
            </a:r>
            <a:r>
              <a:rPr lang="zh-CN" altLang="en-US"/>
              <a:t>设置过大，会浪费大量执行时间处理无新输入的程序。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63500"/>
            <a:ext cx="12192000" cy="6858000"/>
            <a:chOff x="-16" y="0"/>
            <a:chExt cx="19200" cy="10800"/>
          </a:xfrm>
        </p:grpSpPr>
        <p:pic>
          <p:nvPicPr>
            <p:cNvPr id="5" name="图片 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11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wrap="none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fontAlgn="ctr"/>
              <a:r>
                <a:rPr lang="zh-CN" altLang="zh-CN" sz="24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研究方法与思路</a:t>
              </a:r>
              <a:endPara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3" name="图片 12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5"/>
          <p:cNvSpPr/>
          <p:nvPr/>
        </p:nvSpPr>
        <p:spPr>
          <a:xfrm>
            <a:off x="1158792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3870721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6582652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4" name="Rectangle 8"/>
          <p:cNvSpPr/>
          <p:nvPr/>
        </p:nvSpPr>
        <p:spPr>
          <a:xfrm>
            <a:off x="9294581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36469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37881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53358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65287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5955" y="777875"/>
            <a:ext cx="599757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Adaptive Scan Cycle Execution And</a:t>
            </a:r>
            <a:r>
              <a:rPr lang="zh-CN" altLang="en-US"/>
              <a:t> </a:t>
            </a:r>
            <a:r>
              <a:rPr lang="en-US" altLang="zh-CN"/>
              <a:t>Mutation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85495" y="3194685"/>
            <a:ext cx="5137150" cy="249491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进一步提出两种面向 </a:t>
            </a:r>
            <a:r>
              <a:rPr lang="en-US" altLang="zh-CN"/>
              <a:t>ST </a:t>
            </a:r>
            <a:r>
              <a:rPr lang="zh-CN" altLang="en-US"/>
              <a:t>程序的 </a:t>
            </a:r>
            <a:r>
              <a:rPr lang="en-US" altLang="zh-CN"/>
              <a:t>mutation </a:t>
            </a:r>
            <a:r>
              <a:rPr lang="zh-CN" altLang="en-US"/>
              <a:t>策略：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Scan Cycle Unblocking</a:t>
            </a:r>
            <a:r>
              <a:rPr lang="en-US" altLang="zh-CN"/>
              <a:t> </a:t>
            </a:r>
            <a:r>
              <a:rPr lang="zh-CN" altLang="en-US"/>
              <a:t>：通过将部分输入恢复为初始值，帮助程序跳出卡住的状态阶段；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ST Input Shaping</a:t>
            </a:r>
            <a:r>
              <a:rPr lang="en-US" altLang="zh-CN"/>
              <a:t> </a:t>
            </a:r>
            <a:r>
              <a:rPr lang="zh-CN" altLang="en-US"/>
              <a:t>：则根据 </a:t>
            </a:r>
            <a:r>
              <a:rPr lang="en-US" altLang="zh-CN"/>
              <a:t>ST </a:t>
            </a:r>
            <a:r>
              <a:rPr lang="zh-CN" altLang="en-US"/>
              <a:t>程序固定的输入结构调整输入长度，使生成的输入更符合 </a:t>
            </a:r>
            <a:r>
              <a:rPr lang="en-US" altLang="zh-CN"/>
              <a:t>PLC </a:t>
            </a:r>
            <a:r>
              <a:rPr lang="zh-CN" altLang="en-US"/>
              <a:t>程序的 </a:t>
            </a:r>
            <a:r>
              <a:rPr lang="en-US" altLang="zh-CN"/>
              <a:t>I/O </a:t>
            </a:r>
            <a:r>
              <a:rPr lang="zh-CN" altLang="en-US"/>
              <a:t>变量布局。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645" y="2879725"/>
            <a:ext cx="5172075" cy="32670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3135" y="1192530"/>
            <a:ext cx="10060940" cy="1640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en-US" altLang="zh-CN"/>
              <a:t>ICSQuartz </a:t>
            </a:r>
            <a:r>
              <a:rPr lang="zh-CN" altLang="en-US"/>
              <a:t>采用自适应扫描周期</a:t>
            </a:r>
            <a:r>
              <a:rPr lang="en-US" altLang="zh-CN"/>
              <a:t>，ICSQuartz </a:t>
            </a:r>
            <a:r>
              <a:rPr lang="zh-CN" altLang="en-US"/>
              <a:t>在每个 </a:t>
            </a:r>
            <a:r>
              <a:rPr lang="en-US" altLang="zh-CN"/>
              <a:t>scan cycle </a:t>
            </a:r>
            <a:r>
              <a:rPr lang="zh-CN" altLang="en-US"/>
              <a:t>执行前后复制程序状态，并比较两次状态是否发生变化。如果执行后程序状态发生改变，说明当前输入仍然在推动程序继续演化；如果状态没有变化，则说明程序可能进入了不再处理新输入的 </a:t>
            </a:r>
            <a:r>
              <a:rPr lang="en-US" altLang="zh-CN"/>
              <a:t>stale scan cycle。</a:t>
            </a:r>
            <a:r>
              <a:rPr lang="zh-CN" altLang="en-US"/>
              <a:t>此时，</a:t>
            </a:r>
            <a:r>
              <a:rPr lang="en-US" altLang="zh-CN"/>
              <a:t>ICSQuartz </a:t>
            </a:r>
            <a:r>
              <a:rPr lang="zh-CN" altLang="en-US"/>
              <a:t>会触发状态重置，避免 </a:t>
            </a:r>
            <a:r>
              <a:rPr lang="en-US" altLang="zh-CN"/>
              <a:t>fuzzer </a:t>
            </a:r>
            <a:r>
              <a:rPr lang="zh-CN" altLang="en-US"/>
              <a:t>在无效周期上浪费大量执行次数。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5" name="图片 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11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wrap="none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fontAlgn="ctr"/>
              <a:r>
                <a:rPr lang="zh-CN" altLang="zh-CN" sz="24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研究方法与思路</a:t>
              </a:r>
              <a:endPara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3" name="图片 12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5"/>
          <p:cNvSpPr/>
          <p:nvPr/>
        </p:nvSpPr>
        <p:spPr>
          <a:xfrm>
            <a:off x="1158792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3870721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6582652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4" name="Rectangle 8"/>
          <p:cNvSpPr/>
          <p:nvPr/>
        </p:nvSpPr>
        <p:spPr>
          <a:xfrm>
            <a:off x="9294581" y="4191000"/>
            <a:ext cx="171958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25000" lnSpcReduction="20000"/>
          </a:bodyPr>
          <a:lstStyle/>
          <a:p>
            <a:pPr lvl="0"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36469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37881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53358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请替换输入您的正式研究选题文字内容，也可以直接复制您的文字内容到此，根据需要调整文字的大X。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65287" y="4410391"/>
            <a:ext cx="1578167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请替换入您的正式研究选题文字内容，也可以直接复制您的文字内容到此，根据需要调整文字的大X。</a:t>
            </a: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5495" y="913130"/>
            <a:ext cx="599757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/>
              <a:t>摆脱 </a:t>
            </a:r>
            <a:r>
              <a:rPr lang="en-US" altLang="zh-CN"/>
              <a:t>PLC </a:t>
            </a:r>
            <a:r>
              <a:rPr lang="zh-CN" altLang="en-US"/>
              <a:t>厂商生态限制：</a:t>
            </a:r>
            <a:r>
              <a:rPr lang="en-US" altLang="zh-CN"/>
              <a:t>Vendor-Agnostic Fuzzing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53135" y="1612900"/>
            <a:ext cx="4891405" cy="45986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en-US" altLang="zh-CN"/>
              <a:t>      ICSQuartz </a:t>
            </a:r>
            <a:r>
              <a:rPr lang="zh-CN" altLang="en-US"/>
              <a:t>的核心实现目标，是让原本依赖特定 </a:t>
            </a:r>
            <a:r>
              <a:rPr lang="en-US" altLang="zh-CN"/>
              <a:t>PLC runtime </a:t>
            </a:r>
            <a:r>
              <a:rPr lang="zh-CN" altLang="en-US"/>
              <a:t>和厂商库的 </a:t>
            </a:r>
            <a:r>
              <a:rPr lang="en-US" altLang="zh-CN"/>
              <a:t>ST </a:t>
            </a:r>
            <a:r>
              <a:rPr lang="zh-CN" altLang="en-US"/>
              <a:t>程序，能够脱离封闭工业生态，在普通计算平台上进行 </a:t>
            </a:r>
            <a:r>
              <a:rPr lang="en-US" altLang="zh-CN"/>
              <a:t>native fuzzing。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      </a:t>
            </a:r>
            <a:r>
              <a:rPr lang="zh-CN" altLang="en-US"/>
              <a:t>它将厂商绑定的 </a:t>
            </a:r>
            <a:r>
              <a:rPr lang="en-US" altLang="zh-CN"/>
              <a:t>ST </a:t>
            </a:r>
            <a:r>
              <a:rPr lang="zh-CN" altLang="en-US"/>
              <a:t>控制程序转化为可覆盖率引导、可 </a:t>
            </a:r>
            <a:r>
              <a:rPr lang="en-US" altLang="zh-CN"/>
              <a:t>ASAN </a:t>
            </a:r>
            <a:r>
              <a:rPr lang="zh-CN" altLang="en-US"/>
              <a:t>检测、可高效执行的 </a:t>
            </a:r>
            <a:r>
              <a:rPr lang="en-US" altLang="zh-CN"/>
              <a:t>native fuzzing </a:t>
            </a:r>
            <a:r>
              <a:rPr lang="zh-CN" altLang="en-US"/>
              <a:t>目标。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715" y="1306830"/>
            <a:ext cx="5704474" cy="4140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7" name="图片 6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15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algn="l" fontAlgn="ctr"/>
              <a:r>
                <a:rPr lang="zh-CN" altLang="zh-CN" sz="18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郑州大学</a:t>
              </a:r>
              <a:endParaRPr lang="zh-CN" altLang="zh-CN" sz="18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7" name="图片 16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2308860" y="2160905"/>
            <a:ext cx="7574280" cy="1059180"/>
          </a:xfrm>
          <a:effectLst>
            <a:outerShdw blurRad="114300" dist="88900" dir="5100000" algn="t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zh-CN" altLang="zh-CN" sz="65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实验结果</a:t>
            </a:r>
            <a:r>
              <a:rPr lang="zh-CN" altLang="zh-CN" sz="65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展示</a:t>
            </a:r>
            <a:endParaRPr lang="zh-CN" altLang="zh-CN" sz="65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402648" y="1788795"/>
            <a:ext cx="5386705" cy="340995"/>
          </a:xfrm>
        </p:spPr>
        <p:txBody>
          <a:bodyPr>
            <a:normAutofit fontScale="90000" lnSpcReduction="20000"/>
          </a:bodyPr>
          <a:lstStyle/>
          <a:p>
            <a:pPr marL="0" indent="0" algn="ctr" fontAlgn="ctr">
              <a:buNone/>
            </a:pPr>
            <a:r>
              <a:rPr lang="en-US" altLang="zh-CN" sz="16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Experimental results presentation</a:t>
            </a:r>
            <a:endParaRPr lang="en-US" altLang="zh-CN" sz="160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849495" y="4067175"/>
            <a:ext cx="2493010" cy="105918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4800" b="0">
                <a:solidFill>
                  <a:schemeClr val="bg1">
                    <a:lumMod val="9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THREE</a:t>
            </a:r>
            <a:endParaRPr lang="en-US" altLang="zh-CN" sz="4800" b="0">
              <a:solidFill>
                <a:schemeClr val="bg1">
                  <a:lumMod val="95000"/>
                </a:schemeClr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19" name="MH_Number_1"/>
          <p:cNvSpPr/>
          <p:nvPr>
            <p:custDataLst>
              <p:tags r:id="rId7"/>
            </p:custDataLst>
          </p:nvPr>
        </p:nvSpPr>
        <p:spPr>
          <a:xfrm>
            <a:off x="5828030" y="3947795"/>
            <a:ext cx="535940" cy="535940"/>
          </a:xfrm>
          <a:prstGeom prst="ellipse">
            <a:avLst/>
          </a:prstGeom>
          <a:solidFill>
            <a:srgbClr val="324274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en-US" altLang="zh-CN" sz="28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副标题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402648" y="3449955"/>
            <a:ext cx="5386705" cy="207645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ctr">
              <a:buNone/>
            </a:pPr>
            <a:r>
              <a:rPr lang="en-US" altLang="zh-CN" sz="83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Experimental results presentation</a:t>
            </a:r>
            <a:endParaRPr lang="zh-CN" altLang="en-US" sz="83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  <p:custDataLst>
      <p:tags r:id="rId9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6" name="图片 5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219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3132" y="428190"/>
            <a:ext cx="2507489" cy="413620"/>
          </a:xfrm>
          <a:prstGeom prst="rect">
            <a:avLst/>
          </a:prstGeom>
        </p:spPr>
        <p:txBody>
          <a:bodyPr vert="horz" wrap="none" lIns="90000" tIns="46800" rIns="90000" bIns="4680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fontAlgn="ctr"/>
            <a:r>
              <a: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实验结果展示</a:t>
            </a:r>
            <a:endParaRPr lang="zh-CN" altLang="zh-CN" sz="24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pic>
        <p:nvPicPr>
          <p:cNvPr id="13" name="图片 12" descr="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84595" y="5345430"/>
            <a:ext cx="5601970" cy="117030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133832" y="4660452"/>
            <a:ext cx="170701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项目成果展示介绍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8" name="Group 25"/>
          <p:cNvGrpSpPr>
            <a:grpSpLocks noChangeAspect="1"/>
          </p:cNvGrpSpPr>
          <p:nvPr/>
        </p:nvGrpSpPr>
        <p:grpSpPr>
          <a:xfrm>
            <a:off x="5764721" y="3953768"/>
            <a:ext cx="445234" cy="527240"/>
            <a:chOff x="3256" y="1652"/>
            <a:chExt cx="1151" cy="1363"/>
          </a:xfrm>
          <a:solidFill>
            <a:schemeClr val="bg1"/>
          </a:solidFill>
        </p:grpSpPr>
        <p:sp>
          <p:nvSpPr>
            <p:cNvPr id="19" name="Freeform 27"/>
            <p:cNvSpPr/>
            <p:nvPr/>
          </p:nvSpPr>
          <p:spPr bwMode="auto">
            <a:xfrm>
              <a:off x="3527" y="1652"/>
              <a:ext cx="608" cy="808"/>
            </a:xfrm>
            <a:custGeom>
              <a:avLst/>
              <a:gdLst>
                <a:gd name="T0" fmla="*/ 1033 w 1824"/>
                <a:gd name="T1" fmla="*/ 7 h 2426"/>
                <a:gd name="T2" fmla="*/ 1180 w 1824"/>
                <a:gd name="T3" fmla="*/ 42 h 2426"/>
                <a:gd name="T4" fmla="*/ 1297 w 1824"/>
                <a:gd name="T5" fmla="*/ 96 h 2426"/>
                <a:gd name="T6" fmla="*/ 1404 w 1824"/>
                <a:gd name="T7" fmla="*/ 171 h 2426"/>
                <a:gd name="T8" fmla="*/ 1471 w 1824"/>
                <a:gd name="T9" fmla="*/ 239 h 2426"/>
                <a:gd name="T10" fmla="*/ 1506 w 1824"/>
                <a:gd name="T11" fmla="*/ 285 h 2426"/>
                <a:gd name="T12" fmla="*/ 1514 w 1824"/>
                <a:gd name="T13" fmla="*/ 296 h 2426"/>
                <a:gd name="T14" fmla="*/ 1532 w 1824"/>
                <a:gd name="T15" fmla="*/ 300 h 2426"/>
                <a:gd name="T16" fmla="*/ 1570 w 1824"/>
                <a:gd name="T17" fmla="*/ 313 h 2426"/>
                <a:gd name="T18" fmla="*/ 1616 w 1824"/>
                <a:gd name="T19" fmla="*/ 340 h 2426"/>
                <a:gd name="T20" fmla="*/ 1667 w 1824"/>
                <a:gd name="T21" fmla="*/ 388 h 2426"/>
                <a:gd name="T22" fmla="*/ 1713 w 1824"/>
                <a:gd name="T23" fmla="*/ 462 h 2426"/>
                <a:gd name="T24" fmla="*/ 1750 w 1824"/>
                <a:gd name="T25" fmla="*/ 567 h 2426"/>
                <a:gd name="T26" fmla="*/ 1770 w 1824"/>
                <a:gd name="T27" fmla="*/ 709 h 2426"/>
                <a:gd name="T28" fmla="*/ 1766 w 1824"/>
                <a:gd name="T29" fmla="*/ 893 h 2426"/>
                <a:gd name="T30" fmla="*/ 1734 w 1824"/>
                <a:gd name="T31" fmla="*/ 1099 h 2426"/>
                <a:gd name="T32" fmla="*/ 1743 w 1824"/>
                <a:gd name="T33" fmla="*/ 1157 h 2426"/>
                <a:gd name="T34" fmla="*/ 1781 w 1824"/>
                <a:gd name="T35" fmla="*/ 1170 h 2426"/>
                <a:gd name="T36" fmla="*/ 1810 w 1824"/>
                <a:gd name="T37" fmla="*/ 1206 h 2426"/>
                <a:gd name="T38" fmla="*/ 1824 w 1824"/>
                <a:gd name="T39" fmla="*/ 1272 h 2426"/>
                <a:gd name="T40" fmla="*/ 1815 w 1824"/>
                <a:gd name="T41" fmla="*/ 1377 h 2426"/>
                <a:gd name="T42" fmla="*/ 1775 w 1824"/>
                <a:gd name="T43" fmla="*/ 1527 h 2426"/>
                <a:gd name="T44" fmla="*/ 1725 w 1824"/>
                <a:gd name="T45" fmla="*/ 1650 h 2426"/>
                <a:gd name="T46" fmla="*/ 1680 w 1824"/>
                <a:gd name="T47" fmla="*/ 1715 h 2426"/>
                <a:gd name="T48" fmla="*/ 1641 w 1824"/>
                <a:gd name="T49" fmla="*/ 1735 h 2426"/>
                <a:gd name="T50" fmla="*/ 1594 w 1824"/>
                <a:gd name="T51" fmla="*/ 1896 h 2426"/>
                <a:gd name="T52" fmla="*/ 1510 w 1824"/>
                <a:gd name="T53" fmla="*/ 2060 h 2426"/>
                <a:gd name="T54" fmla="*/ 1386 w 1824"/>
                <a:gd name="T55" fmla="*/ 2212 h 2426"/>
                <a:gd name="T56" fmla="*/ 1230 w 1824"/>
                <a:gd name="T57" fmla="*/ 2334 h 2426"/>
                <a:gd name="T58" fmla="*/ 1043 w 1824"/>
                <a:gd name="T59" fmla="*/ 2411 h 2426"/>
                <a:gd name="T60" fmla="*/ 845 w 1824"/>
                <a:gd name="T61" fmla="*/ 2422 h 2426"/>
                <a:gd name="T62" fmla="*/ 652 w 1824"/>
                <a:gd name="T63" fmla="*/ 2367 h 2426"/>
                <a:gd name="T64" fmla="*/ 482 w 1824"/>
                <a:gd name="T65" fmla="*/ 2258 h 2426"/>
                <a:gd name="T66" fmla="*/ 348 w 1824"/>
                <a:gd name="T67" fmla="*/ 2114 h 2426"/>
                <a:gd name="T68" fmla="*/ 252 w 1824"/>
                <a:gd name="T69" fmla="*/ 1952 h 2426"/>
                <a:gd name="T70" fmla="*/ 193 w 1824"/>
                <a:gd name="T71" fmla="*/ 1787 h 2426"/>
                <a:gd name="T72" fmla="*/ 157 w 1824"/>
                <a:gd name="T73" fmla="*/ 1725 h 2426"/>
                <a:gd name="T74" fmla="*/ 114 w 1824"/>
                <a:gd name="T75" fmla="*/ 1677 h 2426"/>
                <a:gd name="T76" fmla="*/ 66 w 1824"/>
                <a:gd name="T77" fmla="*/ 1575 h 2426"/>
                <a:gd name="T78" fmla="*/ 19 w 1824"/>
                <a:gd name="T79" fmla="*/ 1420 h 2426"/>
                <a:gd name="T80" fmla="*/ 0 w 1824"/>
                <a:gd name="T81" fmla="*/ 1302 h 2426"/>
                <a:gd name="T82" fmla="*/ 8 w 1824"/>
                <a:gd name="T83" fmla="*/ 1225 h 2426"/>
                <a:gd name="T84" fmla="*/ 32 w 1824"/>
                <a:gd name="T85" fmla="*/ 1180 h 2426"/>
                <a:gd name="T86" fmla="*/ 68 w 1824"/>
                <a:gd name="T87" fmla="*/ 1159 h 2426"/>
                <a:gd name="T88" fmla="*/ 109 w 1824"/>
                <a:gd name="T89" fmla="*/ 1157 h 2426"/>
                <a:gd name="T90" fmla="*/ 66 w 1824"/>
                <a:gd name="T91" fmla="*/ 978 h 2426"/>
                <a:gd name="T92" fmla="*/ 56 w 1824"/>
                <a:gd name="T93" fmla="*/ 792 h 2426"/>
                <a:gd name="T94" fmla="*/ 94 w 1824"/>
                <a:gd name="T95" fmla="*/ 610 h 2426"/>
                <a:gd name="T96" fmla="*/ 177 w 1824"/>
                <a:gd name="T97" fmla="*/ 438 h 2426"/>
                <a:gd name="T98" fmla="*/ 291 w 1824"/>
                <a:gd name="T99" fmla="*/ 299 h 2426"/>
                <a:gd name="T100" fmla="*/ 436 w 1824"/>
                <a:gd name="T101" fmla="*/ 171 h 2426"/>
                <a:gd name="T102" fmla="*/ 581 w 1824"/>
                <a:gd name="T103" fmla="*/ 80 h 2426"/>
                <a:gd name="T104" fmla="*/ 738 w 1824"/>
                <a:gd name="T105" fmla="*/ 20 h 2426"/>
                <a:gd name="T106" fmla="*/ 918 w 1824"/>
                <a:gd name="T107" fmla="*/ 0 h 2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24" h="2426">
                  <a:moveTo>
                    <a:pt x="918" y="0"/>
                  </a:moveTo>
                  <a:lnTo>
                    <a:pt x="977" y="2"/>
                  </a:lnTo>
                  <a:lnTo>
                    <a:pt x="1033" y="7"/>
                  </a:lnTo>
                  <a:lnTo>
                    <a:pt x="1085" y="15"/>
                  </a:lnTo>
                  <a:lnTo>
                    <a:pt x="1134" y="28"/>
                  </a:lnTo>
                  <a:lnTo>
                    <a:pt x="1180" y="42"/>
                  </a:lnTo>
                  <a:lnTo>
                    <a:pt x="1222" y="58"/>
                  </a:lnTo>
                  <a:lnTo>
                    <a:pt x="1261" y="76"/>
                  </a:lnTo>
                  <a:lnTo>
                    <a:pt x="1297" y="96"/>
                  </a:lnTo>
                  <a:lnTo>
                    <a:pt x="1337" y="121"/>
                  </a:lnTo>
                  <a:lnTo>
                    <a:pt x="1373" y="146"/>
                  </a:lnTo>
                  <a:lnTo>
                    <a:pt x="1404" y="171"/>
                  </a:lnTo>
                  <a:lnTo>
                    <a:pt x="1430" y="194"/>
                  </a:lnTo>
                  <a:lnTo>
                    <a:pt x="1452" y="218"/>
                  </a:lnTo>
                  <a:lnTo>
                    <a:pt x="1471" y="239"/>
                  </a:lnTo>
                  <a:lnTo>
                    <a:pt x="1486" y="258"/>
                  </a:lnTo>
                  <a:lnTo>
                    <a:pt x="1497" y="274"/>
                  </a:lnTo>
                  <a:lnTo>
                    <a:pt x="1506" y="285"/>
                  </a:lnTo>
                  <a:lnTo>
                    <a:pt x="1510" y="293"/>
                  </a:lnTo>
                  <a:lnTo>
                    <a:pt x="1512" y="296"/>
                  </a:lnTo>
                  <a:lnTo>
                    <a:pt x="1514" y="296"/>
                  </a:lnTo>
                  <a:lnTo>
                    <a:pt x="1517" y="296"/>
                  </a:lnTo>
                  <a:lnTo>
                    <a:pt x="1523" y="298"/>
                  </a:lnTo>
                  <a:lnTo>
                    <a:pt x="1532" y="300"/>
                  </a:lnTo>
                  <a:lnTo>
                    <a:pt x="1543" y="303"/>
                  </a:lnTo>
                  <a:lnTo>
                    <a:pt x="1556" y="306"/>
                  </a:lnTo>
                  <a:lnTo>
                    <a:pt x="1570" y="313"/>
                  </a:lnTo>
                  <a:lnTo>
                    <a:pt x="1583" y="320"/>
                  </a:lnTo>
                  <a:lnTo>
                    <a:pt x="1599" y="329"/>
                  </a:lnTo>
                  <a:lnTo>
                    <a:pt x="1616" y="340"/>
                  </a:lnTo>
                  <a:lnTo>
                    <a:pt x="1633" y="354"/>
                  </a:lnTo>
                  <a:lnTo>
                    <a:pt x="1649" y="370"/>
                  </a:lnTo>
                  <a:lnTo>
                    <a:pt x="1667" y="388"/>
                  </a:lnTo>
                  <a:lnTo>
                    <a:pt x="1683" y="409"/>
                  </a:lnTo>
                  <a:lnTo>
                    <a:pt x="1698" y="434"/>
                  </a:lnTo>
                  <a:lnTo>
                    <a:pt x="1713" y="462"/>
                  </a:lnTo>
                  <a:lnTo>
                    <a:pt x="1726" y="493"/>
                  </a:lnTo>
                  <a:lnTo>
                    <a:pt x="1739" y="528"/>
                  </a:lnTo>
                  <a:lnTo>
                    <a:pt x="1750" y="567"/>
                  </a:lnTo>
                  <a:lnTo>
                    <a:pt x="1759" y="610"/>
                  </a:lnTo>
                  <a:lnTo>
                    <a:pt x="1766" y="657"/>
                  </a:lnTo>
                  <a:lnTo>
                    <a:pt x="1770" y="709"/>
                  </a:lnTo>
                  <a:lnTo>
                    <a:pt x="1771" y="765"/>
                  </a:lnTo>
                  <a:lnTo>
                    <a:pt x="1770" y="826"/>
                  </a:lnTo>
                  <a:lnTo>
                    <a:pt x="1766" y="893"/>
                  </a:lnTo>
                  <a:lnTo>
                    <a:pt x="1759" y="965"/>
                  </a:lnTo>
                  <a:lnTo>
                    <a:pt x="1748" y="1042"/>
                  </a:lnTo>
                  <a:lnTo>
                    <a:pt x="1734" y="1099"/>
                  </a:lnTo>
                  <a:lnTo>
                    <a:pt x="1716" y="1157"/>
                  </a:lnTo>
                  <a:lnTo>
                    <a:pt x="1730" y="1157"/>
                  </a:lnTo>
                  <a:lnTo>
                    <a:pt x="1743" y="1157"/>
                  </a:lnTo>
                  <a:lnTo>
                    <a:pt x="1756" y="1159"/>
                  </a:lnTo>
                  <a:lnTo>
                    <a:pt x="1769" y="1164"/>
                  </a:lnTo>
                  <a:lnTo>
                    <a:pt x="1781" y="1170"/>
                  </a:lnTo>
                  <a:lnTo>
                    <a:pt x="1792" y="1180"/>
                  </a:lnTo>
                  <a:lnTo>
                    <a:pt x="1802" y="1191"/>
                  </a:lnTo>
                  <a:lnTo>
                    <a:pt x="1810" y="1206"/>
                  </a:lnTo>
                  <a:lnTo>
                    <a:pt x="1817" y="1225"/>
                  </a:lnTo>
                  <a:lnTo>
                    <a:pt x="1821" y="1247"/>
                  </a:lnTo>
                  <a:lnTo>
                    <a:pt x="1824" y="1272"/>
                  </a:lnTo>
                  <a:lnTo>
                    <a:pt x="1824" y="1302"/>
                  </a:lnTo>
                  <a:lnTo>
                    <a:pt x="1821" y="1337"/>
                  </a:lnTo>
                  <a:lnTo>
                    <a:pt x="1815" y="1377"/>
                  </a:lnTo>
                  <a:lnTo>
                    <a:pt x="1805" y="1420"/>
                  </a:lnTo>
                  <a:lnTo>
                    <a:pt x="1792" y="1470"/>
                  </a:lnTo>
                  <a:lnTo>
                    <a:pt x="1775" y="1527"/>
                  </a:lnTo>
                  <a:lnTo>
                    <a:pt x="1758" y="1575"/>
                  </a:lnTo>
                  <a:lnTo>
                    <a:pt x="1741" y="1617"/>
                  </a:lnTo>
                  <a:lnTo>
                    <a:pt x="1725" y="1650"/>
                  </a:lnTo>
                  <a:lnTo>
                    <a:pt x="1710" y="1677"/>
                  </a:lnTo>
                  <a:lnTo>
                    <a:pt x="1695" y="1699"/>
                  </a:lnTo>
                  <a:lnTo>
                    <a:pt x="1680" y="1715"/>
                  </a:lnTo>
                  <a:lnTo>
                    <a:pt x="1667" y="1725"/>
                  </a:lnTo>
                  <a:lnTo>
                    <a:pt x="1653" y="1732"/>
                  </a:lnTo>
                  <a:lnTo>
                    <a:pt x="1641" y="1735"/>
                  </a:lnTo>
                  <a:lnTo>
                    <a:pt x="1629" y="1787"/>
                  </a:lnTo>
                  <a:lnTo>
                    <a:pt x="1614" y="1842"/>
                  </a:lnTo>
                  <a:lnTo>
                    <a:pt x="1594" y="1896"/>
                  </a:lnTo>
                  <a:lnTo>
                    <a:pt x="1571" y="1951"/>
                  </a:lnTo>
                  <a:lnTo>
                    <a:pt x="1542" y="2006"/>
                  </a:lnTo>
                  <a:lnTo>
                    <a:pt x="1510" y="2060"/>
                  </a:lnTo>
                  <a:lnTo>
                    <a:pt x="1472" y="2113"/>
                  </a:lnTo>
                  <a:lnTo>
                    <a:pt x="1431" y="2163"/>
                  </a:lnTo>
                  <a:lnTo>
                    <a:pt x="1386" y="2212"/>
                  </a:lnTo>
                  <a:lnTo>
                    <a:pt x="1338" y="2257"/>
                  </a:lnTo>
                  <a:lnTo>
                    <a:pt x="1286" y="2298"/>
                  </a:lnTo>
                  <a:lnTo>
                    <a:pt x="1230" y="2334"/>
                  </a:lnTo>
                  <a:lnTo>
                    <a:pt x="1170" y="2366"/>
                  </a:lnTo>
                  <a:lnTo>
                    <a:pt x="1106" y="2392"/>
                  </a:lnTo>
                  <a:lnTo>
                    <a:pt x="1043" y="2411"/>
                  </a:lnTo>
                  <a:lnTo>
                    <a:pt x="977" y="2422"/>
                  </a:lnTo>
                  <a:lnTo>
                    <a:pt x="911" y="2426"/>
                  </a:lnTo>
                  <a:lnTo>
                    <a:pt x="845" y="2422"/>
                  </a:lnTo>
                  <a:lnTo>
                    <a:pt x="780" y="2412"/>
                  </a:lnTo>
                  <a:lnTo>
                    <a:pt x="715" y="2393"/>
                  </a:lnTo>
                  <a:lnTo>
                    <a:pt x="652" y="2367"/>
                  </a:lnTo>
                  <a:lnTo>
                    <a:pt x="591" y="2335"/>
                  </a:lnTo>
                  <a:lnTo>
                    <a:pt x="535" y="2299"/>
                  </a:lnTo>
                  <a:lnTo>
                    <a:pt x="482" y="2258"/>
                  </a:lnTo>
                  <a:lnTo>
                    <a:pt x="434" y="2213"/>
                  </a:lnTo>
                  <a:lnTo>
                    <a:pt x="389" y="2165"/>
                  </a:lnTo>
                  <a:lnTo>
                    <a:pt x="348" y="2114"/>
                  </a:lnTo>
                  <a:lnTo>
                    <a:pt x="312" y="2062"/>
                  </a:lnTo>
                  <a:lnTo>
                    <a:pt x="279" y="2007"/>
                  </a:lnTo>
                  <a:lnTo>
                    <a:pt x="252" y="1952"/>
                  </a:lnTo>
                  <a:lnTo>
                    <a:pt x="228" y="1896"/>
                  </a:lnTo>
                  <a:lnTo>
                    <a:pt x="208" y="1842"/>
                  </a:lnTo>
                  <a:lnTo>
                    <a:pt x="193" y="1787"/>
                  </a:lnTo>
                  <a:lnTo>
                    <a:pt x="184" y="1735"/>
                  </a:lnTo>
                  <a:lnTo>
                    <a:pt x="171" y="1732"/>
                  </a:lnTo>
                  <a:lnTo>
                    <a:pt x="157" y="1725"/>
                  </a:lnTo>
                  <a:lnTo>
                    <a:pt x="144" y="1715"/>
                  </a:lnTo>
                  <a:lnTo>
                    <a:pt x="129" y="1699"/>
                  </a:lnTo>
                  <a:lnTo>
                    <a:pt x="114" y="1677"/>
                  </a:lnTo>
                  <a:lnTo>
                    <a:pt x="98" y="1650"/>
                  </a:lnTo>
                  <a:lnTo>
                    <a:pt x="83" y="1617"/>
                  </a:lnTo>
                  <a:lnTo>
                    <a:pt x="66" y="1575"/>
                  </a:lnTo>
                  <a:lnTo>
                    <a:pt x="49" y="1527"/>
                  </a:lnTo>
                  <a:lnTo>
                    <a:pt x="33" y="1470"/>
                  </a:lnTo>
                  <a:lnTo>
                    <a:pt x="19" y="1420"/>
                  </a:lnTo>
                  <a:lnTo>
                    <a:pt x="10" y="1377"/>
                  </a:lnTo>
                  <a:lnTo>
                    <a:pt x="4" y="1337"/>
                  </a:lnTo>
                  <a:lnTo>
                    <a:pt x="0" y="1302"/>
                  </a:lnTo>
                  <a:lnTo>
                    <a:pt x="0" y="1272"/>
                  </a:lnTo>
                  <a:lnTo>
                    <a:pt x="3" y="1247"/>
                  </a:lnTo>
                  <a:lnTo>
                    <a:pt x="8" y="1225"/>
                  </a:lnTo>
                  <a:lnTo>
                    <a:pt x="14" y="1206"/>
                  </a:lnTo>
                  <a:lnTo>
                    <a:pt x="23" y="1191"/>
                  </a:lnTo>
                  <a:lnTo>
                    <a:pt x="32" y="1180"/>
                  </a:lnTo>
                  <a:lnTo>
                    <a:pt x="43" y="1170"/>
                  </a:lnTo>
                  <a:lnTo>
                    <a:pt x="55" y="1164"/>
                  </a:lnTo>
                  <a:lnTo>
                    <a:pt x="68" y="1159"/>
                  </a:lnTo>
                  <a:lnTo>
                    <a:pt x="81" y="1157"/>
                  </a:lnTo>
                  <a:lnTo>
                    <a:pt x="95" y="1157"/>
                  </a:lnTo>
                  <a:lnTo>
                    <a:pt x="109" y="1157"/>
                  </a:lnTo>
                  <a:lnTo>
                    <a:pt x="90" y="1099"/>
                  </a:lnTo>
                  <a:lnTo>
                    <a:pt x="78" y="1042"/>
                  </a:lnTo>
                  <a:lnTo>
                    <a:pt x="66" y="978"/>
                  </a:lnTo>
                  <a:lnTo>
                    <a:pt x="59" y="914"/>
                  </a:lnTo>
                  <a:lnTo>
                    <a:pt x="55" y="853"/>
                  </a:lnTo>
                  <a:lnTo>
                    <a:pt x="56" y="792"/>
                  </a:lnTo>
                  <a:lnTo>
                    <a:pt x="64" y="733"/>
                  </a:lnTo>
                  <a:lnTo>
                    <a:pt x="75" y="674"/>
                  </a:lnTo>
                  <a:lnTo>
                    <a:pt x="94" y="610"/>
                  </a:lnTo>
                  <a:lnTo>
                    <a:pt x="118" y="549"/>
                  </a:lnTo>
                  <a:lnTo>
                    <a:pt x="145" y="492"/>
                  </a:lnTo>
                  <a:lnTo>
                    <a:pt x="177" y="438"/>
                  </a:lnTo>
                  <a:lnTo>
                    <a:pt x="212" y="388"/>
                  </a:lnTo>
                  <a:lnTo>
                    <a:pt x="251" y="342"/>
                  </a:lnTo>
                  <a:lnTo>
                    <a:pt x="291" y="299"/>
                  </a:lnTo>
                  <a:lnTo>
                    <a:pt x="335" y="253"/>
                  </a:lnTo>
                  <a:lnTo>
                    <a:pt x="385" y="211"/>
                  </a:lnTo>
                  <a:lnTo>
                    <a:pt x="436" y="171"/>
                  </a:lnTo>
                  <a:lnTo>
                    <a:pt x="489" y="135"/>
                  </a:lnTo>
                  <a:lnTo>
                    <a:pt x="533" y="106"/>
                  </a:lnTo>
                  <a:lnTo>
                    <a:pt x="581" y="80"/>
                  </a:lnTo>
                  <a:lnTo>
                    <a:pt x="631" y="56"/>
                  </a:lnTo>
                  <a:lnTo>
                    <a:pt x="682" y="37"/>
                  </a:lnTo>
                  <a:lnTo>
                    <a:pt x="738" y="20"/>
                  </a:lnTo>
                  <a:lnTo>
                    <a:pt x="796" y="9"/>
                  </a:lnTo>
                  <a:lnTo>
                    <a:pt x="857" y="3"/>
                  </a:lnTo>
                  <a:lnTo>
                    <a:pt x="9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0" name="Freeform 28"/>
            <p:cNvSpPr/>
            <p:nvPr/>
          </p:nvSpPr>
          <p:spPr bwMode="auto">
            <a:xfrm>
              <a:off x="3256" y="2426"/>
              <a:ext cx="1151" cy="589"/>
            </a:xfrm>
            <a:custGeom>
              <a:avLst/>
              <a:gdLst>
                <a:gd name="T0" fmla="*/ 1441 w 3453"/>
                <a:gd name="T1" fmla="*/ 1028 h 1766"/>
                <a:gd name="T2" fmla="*/ 1565 w 3453"/>
                <a:gd name="T3" fmla="*/ 656 h 1766"/>
                <a:gd name="T4" fmla="*/ 1498 w 3453"/>
                <a:gd name="T5" fmla="*/ 501 h 1766"/>
                <a:gd name="T6" fmla="*/ 1494 w 3453"/>
                <a:gd name="T7" fmla="*/ 393 h 1766"/>
                <a:gd name="T8" fmla="*/ 1535 w 3453"/>
                <a:gd name="T9" fmla="*/ 324 h 1766"/>
                <a:gd name="T10" fmla="*/ 1600 w 3453"/>
                <a:gd name="T11" fmla="*/ 286 h 1766"/>
                <a:gd name="T12" fmla="*/ 1667 w 3453"/>
                <a:gd name="T13" fmla="*/ 268 h 1766"/>
                <a:gd name="T14" fmla="*/ 1716 w 3453"/>
                <a:gd name="T15" fmla="*/ 265 h 1766"/>
                <a:gd name="T16" fmla="*/ 1737 w 3453"/>
                <a:gd name="T17" fmla="*/ 265 h 1766"/>
                <a:gd name="T18" fmla="*/ 1786 w 3453"/>
                <a:gd name="T19" fmla="*/ 268 h 1766"/>
                <a:gd name="T20" fmla="*/ 1853 w 3453"/>
                <a:gd name="T21" fmla="*/ 286 h 1766"/>
                <a:gd name="T22" fmla="*/ 1918 w 3453"/>
                <a:gd name="T23" fmla="*/ 324 h 1766"/>
                <a:gd name="T24" fmla="*/ 1959 w 3453"/>
                <a:gd name="T25" fmla="*/ 393 h 1766"/>
                <a:gd name="T26" fmla="*/ 1955 w 3453"/>
                <a:gd name="T27" fmla="*/ 501 h 1766"/>
                <a:gd name="T28" fmla="*/ 1888 w 3453"/>
                <a:gd name="T29" fmla="*/ 656 h 1766"/>
                <a:gd name="T30" fmla="*/ 2012 w 3453"/>
                <a:gd name="T31" fmla="*/ 1028 h 1766"/>
                <a:gd name="T32" fmla="*/ 2342 w 3453"/>
                <a:gd name="T33" fmla="*/ 2 h 1766"/>
                <a:gd name="T34" fmla="*/ 2402 w 3453"/>
                <a:gd name="T35" fmla="*/ 41 h 1766"/>
                <a:gd name="T36" fmla="*/ 2529 w 3453"/>
                <a:gd name="T37" fmla="*/ 115 h 1766"/>
                <a:gd name="T38" fmla="*/ 2712 w 3453"/>
                <a:gd name="T39" fmla="*/ 207 h 1766"/>
                <a:gd name="T40" fmla="*/ 2936 w 3453"/>
                <a:gd name="T41" fmla="*/ 299 h 1766"/>
                <a:gd name="T42" fmla="*/ 3173 w 3453"/>
                <a:gd name="T43" fmla="*/ 373 h 1766"/>
                <a:gd name="T44" fmla="*/ 3321 w 3453"/>
                <a:gd name="T45" fmla="*/ 473 h 1766"/>
                <a:gd name="T46" fmla="*/ 3407 w 3453"/>
                <a:gd name="T47" fmla="*/ 619 h 1766"/>
                <a:gd name="T48" fmla="*/ 3446 w 3453"/>
                <a:gd name="T49" fmla="*/ 781 h 1766"/>
                <a:gd name="T50" fmla="*/ 3453 w 3453"/>
                <a:gd name="T51" fmla="*/ 932 h 1766"/>
                <a:gd name="T52" fmla="*/ 3450 w 3453"/>
                <a:gd name="T53" fmla="*/ 1013 h 1766"/>
                <a:gd name="T54" fmla="*/ 3441 w 3453"/>
                <a:gd name="T55" fmla="*/ 1117 h 1766"/>
                <a:gd name="T56" fmla="*/ 3426 w 3453"/>
                <a:gd name="T57" fmla="*/ 1263 h 1766"/>
                <a:gd name="T58" fmla="*/ 3410 w 3453"/>
                <a:gd name="T59" fmla="*/ 1357 h 1766"/>
                <a:gd name="T60" fmla="*/ 3345 w 3453"/>
                <a:gd name="T61" fmla="*/ 1396 h 1766"/>
                <a:gd name="T62" fmla="*/ 3194 w 3453"/>
                <a:gd name="T63" fmla="*/ 1469 h 1766"/>
                <a:gd name="T64" fmla="*/ 2965 w 3453"/>
                <a:gd name="T65" fmla="*/ 1561 h 1766"/>
                <a:gd name="T66" fmla="*/ 2661 w 3453"/>
                <a:gd name="T67" fmla="*/ 1652 h 1766"/>
                <a:gd name="T68" fmla="*/ 2286 w 3453"/>
                <a:gd name="T69" fmla="*/ 1727 h 1766"/>
                <a:gd name="T70" fmla="*/ 1846 w 3453"/>
                <a:gd name="T71" fmla="*/ 1764 h 1766"/>
                <a:gd name="T72" fmla="*/ 1377 w 3453"/>
                <a:gd name="T73" fmla="*/ 1750 h 1766"/>
                <a:gd name="T74" fmla="*/ 969 w 3453"/>
                <a:gd name="T75" fmla="*/ 1693 h 1766"/>
                <a:gd name="T76" fmla="*/ 629 w 3453"/>
                <a:gd name="T77" fmla="*/ 1607 h 1766"/>
                <a:gd name="T78" fmla="*/ 361 w 3453"/>
                <a:gd name="T79" fmla="*/ 1514 h 1766"/>
                <a:gd name="T80" fmla="*/ 172 w 3453"/>
                <a:gd name="T81" fmla="*/ 1429 h 1766"/>
                <a:gd name="T82" fmla="*/ 64 w 3453"/>
                <a:gd name="T83" fmla="*/ 1371 h 1766"/>
                <a:gd name="T84" fmla="*/ 35 w 3453"/>
                <a:gd name="T85" fmla="*/ 1329 h 1766"/>
                <a:gd name="T86" fmla="*/ 19 w 3453"/>
                <a:gd name="T87" fmla="*/ 1189 h 1766"/>
                <a:gd name="T88" fmla="*/ 6 w 3453"/>
                <a:gd name="T89" fmla="*/ 1055 h 1766"/>
                <a:gd name="T90" fmla="*/ 2 w 3453"/>
                <a:gd name="T91" fmla="*/ 997 h 1766"/>
                <a:gd name="T92" fmla="*/ 1 w 3453"/>
                <a:gd name="T93" fmla="*/ 859 h 1766"/>
                <a:gd name="T94" fmla="*/ 22 w 3453"/>
                <a:gd name="T95" fmla="*/ 698 h 1766"/>
                <a:gd name="T96" fmla="*/ 82 w 3453"/>
                <a:gd name="T97" fmla="*/ 542 h 1766"/>
                <a:gd name="T98" fmla="*/ 197 w 3453"/>
                <a:gd name="T99" fmla="*/ 416 h 1766"/>
                <a:gd name="T100" fmla="*/ 392 w 3453"/>
                <a:gd name="T101" fmla="*/ 340 h 1766"/>
                <a:gd name="T102" fmla="*/ 634 w 3453"/>
                <a:gd name="T103" fmla="*/ 255 h 1766"/>
                <a:gd name="T104" fmla="*/ 839 w 3453"/>
                <a:gd name="T105" fmla="*/ 160 h 1766"/>
                <a:gd name="T106" fmla="*/ 995 w 3453"/>
                <a:gd name="T107" fmla="*/ 74 h 1766"/>
                <a:gd name="T108" fmla="*/ 1091 w 3453"/>
                <a:gd name="T109" fmla="*/ 16 h 1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53" h="1766">
                  <a:moveTo>
                    <a:pt x="1113" y="0"/>
                  </a:moveTo>
                  <a:lnTo>
                    <a:pt x="1387" y="868"/>
                  </a:lnTo>
                  <a:lnTo>
                    <a:pt x="1440" y="1030"/>
                  </a:lnTo>
                  <a:lnTo>
                    <a:pt x="1441" y="1028"/>
                  </a:lnTo>
                  <a:lnTo>
                    <a:pt x="1486" y="1166"/>
                  </a:lnTo>
                  <a:lnTo>
                    <a:pt x="1630" y="756"/>
                  </a:lnTo>
                  <a:lnTo>
                    <a:pt x="1595" y="705"/>
                  </a:lnTo>
                  <a:lnTo>
                    <a:pt x="1565" y="656"/>
                  </a:lnTo>
                  <a:lnTo>
                    <a:pt x="1542" y="613"/>
                  </a:lnTo>
                  <a:lnTo>
                    <a:pt x="1523" y="572"/>
                  </a:lnTo>
                  <a:lnTo>
                    <a:pt x="1508" y="534"/>
                  </a:lnTo>
                  <a:lnTo>
                    <a:pt x="1498" y="501"/>
                  </a:lnTo>
                  <a:lnTo>
                    <a:pt x="1492" y="470"/>
                  </a:lnTo>
                  <a:lnTo>
                    <a:pt x="1489" y="441"/>
                  </a:lnTo>
                  <a:lnTo>
                    <a:pt x="1491" y="415"/>
                  </a:lnTo>
                  <a:lnTo>
                    <a:pt x="1494" y="393"/>
                  </a:lnTo>
                  <a:lnTo>
                    <a:pt x="1502" y="372"/>
                  </a:lnTo>
                  <a:lnTo>
                    <a:pt x="1512" y="354"/>
                  </a:lnTo>
                  <a:lnTo>
                    <a:pt x="1523" y="338"/>
                  </a:lnTo>
                  <a:lnTo>
                    <a:pt x="1535" y="324"/>
                  </a:lnTo>
                  <a:lnTo>
                    <a:pt x="1550" y="312"/>
                  </a:lnTo>
                  <a:lnTo>
                    <a:pt x="1567" y="301"/>
                  </a:lnTo>
                  <a:lnTo>
                    <a:pt x="1583" y="293"/>
                  </a:lnTo>
                  <a:lnTo>
                    <a:pt x="1600" y="286"/>
                  </a:lnTo>
                  <a:lnTo>
                    <a:pt x="1618" y="280"/>
                  </a:lnTo>
                  <a:lnTo>
                    <a:pt x="1635" y="275"/>
                  </a:lnTo>
                  <a:lnTo>
                    <a:pt x="1651" y="271"/>
                  </a:lnTo>
                  <a:lnTo>
                    <a:pt x="1667" y="268"/>
                  </a:lnTo>
                  <a:lnTo>
                    <a:pt x="1681" y="267"/>
                  </a:lnTo>
                  <a:lnTo>
                    <a:pt x="1695" y="266"/>
                  </a:lnTo>
                  <a:lnTo>
                    <a:pt x="1706" y="265"/>
                  </a:lnTo>
                  <a:lnTo>
                    <a:pt x="1716" y="265"/>
                  </a:lnTo>
                  <a:lnTo>
                    <a:pt x="1722" y="265"/>
                  </a:lnTo>
                  <a:lnTo>
                    <a:pt x="1726" y="265"/>
                  </a:lnTo>
                  <a:lnTo>
                    <a:pt x="1730" y="265"/>
                  </a:lnTo>
                  <a:lnTo>
                    <a:pt x="1737" y="265"/>
                  </a:lnTo>
                  <a:lnTo>
                    <a:pt x="1747" y="265"/>
                  </a:lnTo>
                  <a:lnTo>
                    <a:pt x="1758" y="266"/>
                  </a:lnTo>
                  <a:lnTo>
                    <a:pt x="1771" y="267"/>
                  </a:lnTo>
                  <a:lnTo>
                    <a:pt x="1786" y="268"/>
                  </a:lnTo>
                  <a:lnTo>
                    <a:pt x="1802" y="271"/>
                  </a:lnTo>
                  <a:lnTo>
                    <a:pt x="1818" y="275"/>
                  </a:lnTo>
                  <a:lnTo>
                    <a:pt x="1836" y="280"/>
                  </a:lnTo>
                  <a:lnTo>
                    <a:pt x="1853" y="286"/>
                  </a:lnTo>
                  <a:lnTo>
                    <a:pt x="1870" y="293"/>
                  </a:lnTo>
                  <a:lnTo>
                    <a:pt x="1887" y="301"/>
                  </a:lnTo>
                  <a:lnTo>
                    <a:pt x="1903" y="312"/>
                  </a:lnTo>
                  <a:lnTo>
                    <a:pt x="1918" y="324"/>
                  </a:lnTo>
                  <a:lnTo>
                    <a:pt x="1930" y="338"/>
                  </a:lnTo>
                  <a:lnTo>
                    <a:pt x="1941" y="354"/>
                  </a:lnTo>
                  <a:lnTo>
                    <a:pt x="1951" y="372"/>
                  </a:lnTo>
                  <a:lnTo>
                    <a:pt x="1959" y="393"/>
                  </a:lnTo>
                  <a:lnTo>
                    <a:pt x="1963" y="415"/>
                  </a:lnTo>
                  <a:lnTo>
                    <a:pt x="1964" y="441"/>
                  </a:lnTo>
                  <a:lnTo>
                    <a:pt x="1961" y="470"/>
                  </a:lnTo>
                  <a:lnTo>
                    <a:pt x="1955" y="501"/>
                  </a:lnTo>
                  <a:lnTo>
                    <a:pt x="1945" y="534"/>
                  </a:lnTo>
                  <a:lnTo>
                    <a:pt x="1930" y="572"/>
                  </a:lnTo>
                  <a:lnTo>
                    <a:pt x="1912" y="613"/>
                  </a:lnTo>
                  <a:lnTo>
                    <a:pt x="1888" y="656"/>
                  </a:lnTo>
                  <a:lnTo>
                    <a:pt x="1858" y="705"/>
                  </a:lnTo>
                  <a:lnTo>
                    <a:pt x="1823" y="756"/>
                  </a:lnTo>
                  <a:lnTo>
                    <a:pt x="1968" y="1166"/>
                  </a:lnTo>
                  <a:lnTo>
                    <a:pt x="2012" y="1028"/>
                  </a:lnTo>
                  <a:lnTo>
                    <a:pt x="2014" y="1030"/>
                  </a:lnTo>
                  <a:lnTo>
                    <a:pt x="2066" y="868"/>
                  </a:lnTo>
                  <a:lnTo>
                    <a:pt x="2340" y="0"/>
                  </a:lnTo>
                  <a:lnTo>
                    <a:pt x="2342" y="2"/>
                  </a:lnTo>
                  <a:lnTo>
                    <a:pt x="2350" y="7"/>
                  </a:lnTo>
                  <a:lnTo>
                    <a:pt x="2362" y="16"/>
                  </a:lnTo>
                  <a:lnTo>
                    <a:pt x="2380" y="27"/>
                  </a:lnTo>
                  <a:lnTo>
                    <a:pt x="2402" y="41"/>
                  </a:lnTo>
                  <a:lnTo>
                    <a:pt x="2427" y="56"/>
                  </a:lnTo>
                  <a:lnTo>
                    <a:pt x="2458" y="74"/>
                  </a:lnTo>
                  <a:lnTo>
                    <a:pt x="2492" y="94"/>
                  </a:lnTo>
                  <a:lnTo>
                    <a:pt x="2529" y="115"/>
                  </a:lnTo>
                  <a:lnTo>
                    <a:pt x="2570" y="138"/>
                  </a:lnTo>
                  <a:lnTo>
                    <a:pt x="2614" y="160"/>
                  </a:lnTo>
                  <a:lnTo>
                    <a:pt x="2661" y="184"/>
                  </a:lnTo>
                  <a:lnTo>
                    <a:pt x="2712" y="207"/>
                  </a:lnTo>
                  <a:lnTo>
                    <a:pt x="2765" y="231"/>
                  </a:lnTo>
                  <a:lnTo>
                    <a:pt x="2819" y="255"/>
                  </a:lnTo>
                  <a:lnTo>
                    <a:pt x="2877" y="278"/>
                  </a:lnTo>
                  <a:lnTo>
                    <a:pt x="2936" y="299"/>
                  </a:lnTo>
                  <a:lnTo>
                    <a:pt x="2997" y="321"/>
                  </a:lnTo>
                  <a:lnTo>
                    <a:pt x="3061" y="340"/>
                  </a:lnTo>
                  <a:lnTo>
                    <a:pt x="3125" y="358"/>
                  </a:lnTo>
                  <a:lnTo>
                    <a:pt x="3173" y="373"/>
                  </a:lnTo>
                  <a:lnTo>
                    <a:pt x="3217" y="393"/>
                  </a:lnTo>
                  <a:lnTo>
                    <a:pt x="3257" y="416"/>
                  </a:lnTo>
                  <a:lnTo>
                    <a:pt x="3291" y="444"/>
                  </a:lnTo>
                  <a:lnTo>
                    <a:pt x="3321" y="473"/>
                  </a:lnTo>
                  <a:lnTo>
                    <a:pt x="3347" y="507"/>
                  </a:lnTo>
                  <a:lnTo>
                    <a:pt x="3371" y="543"/>
                  </a:lnTo>
                  <a:lnTo>
                    <a:pt x="3391" y="580"/>
                  </a:lnTo>
                  <a:lnTo>
                    <a:pt x="3407" y="619"/>
                  </a:lnTo>
                  <a:lnTo>
                    <a:pt x="3421" y="659"/>
                  </a:lnTo>
                  <a:lnTo>
                    <a:pt x="3431" y="700"/>
                  </a:lnTo>
                  <a:lnTo>
                    <a:pt x="3440" y="739"/>
                  </a:lnTo>
                  <a:lnTo>
                    <a:pt x="3446" y="781"/>
                  </a:lnTo>
                  <a:lnTo>
                    <a:pt x="3450" y="820"/>
                  </a:lnTo>
                  <a:lnTo>
                    <a:pt x="3452" y="859"/>
                  </a:lnTo>
                  <a:lnTo>
                    <a:pt x="3453" y="897"/>
                  </a:lnTo>
                  <a:lnTo>
                    <a:pt x="3453" y="932"/>
                  </a:lnTo>
                  <a:lnTo>
                    <a:pt x="3452" y="966"/>
                  </a:lnTo>
                  <a:lnTo>
                    <a:pt x="3451" y="997"/>
                  </a:lnTo>
                  <a:lnTo>
                    <a:pt x="3451" y="1001"/>
                  </a:lnTo>
                  <a:lnTo>
                    <a:pt x="3450" y="1013"/>
                  </a:lnTo>
                  <a:lnTo>
                    <a:pt x="3448" y="1032"/>
                  </a:lnTo>
                  <a:lnTo>
                    <a:pt x="3446" y="1055"/>
                  </a:lnTo>
                  <a:lnTo>
                    <a:pt x="3443" y="1085"/>
                  </a:lnTo>
                  <a:lnTo>
                    <a:pt x="3441" y="1117"/>
                  </a:lnTo>
                  <a:lnTo>
                    <a:pt x="3437" y="1152"/>
                  </a:lnTo>
                  <a:lnTo>
                    <a:pt x="3433" y="1189"/>
                  </a:lnTo>
                  <a:lnTo>
                    <a:pt x="3430" y="1226"/>
                  </a:lnTo>
                  <a:lnTo>
                    <a:pt x="3426" y="1263"/>
                  </a:lnTo>
                  <a:lnTo>
                    <a:pt x="3422" y="1296"/>
                  </a:lnTo>
                  <a:lnTo>
                    <a:pt x="3417" y="1329"/>
                  </a:lnTo>
                  <a:lnTo>
                    <a:pt x="3413" y="1356"/>
                  </a:lnTo>
                  <a:lnTo>
                    <a:pt x="3410" y="1357"/>
                  </a:lnTo>
                  <a:lnTo>
                    <a:pt x="3402" y="1364"/>
                  </a:lnTo>
                  <a:lnTo>
                    <a:pt x="3389" y="1371"/>
                  </a:lnTo>
                  <a:lnTo>
                    <a:pt x="3369" y="1382"/>
                  </a:lnTo>
                  <a:lnTo>
                    <a:pt x="3345" y="1396"/>
                  </a:lnTo>
                  <a:lnTo>
                    <a:pt x="3315" y="1412"/>
                  </a:lnTo>
                  <a:lnTo>
                    <a:pt x="3280" y="1429"/>
                  </a:lnTo>
                  <a:lnTo>
                    <a:pt x="3240" y="1448"/>
                  </a:lnTo>
                  <a:lnTo>
                    <a:pt x="3194" y="1469"/>
                  </a:lnTo>
                  <a:lnTo>
                    <a:pt x="3144" y="1492"/>
                  </a:lnTo>
                  <a:lnTo>
                    <a:pt x="3090" y="1514"/>
                  </a:lnTo>
                  <a:lnTo>
                    <a:pt x="3030" y="1538"/>
                  </a:lnTo>
                  <a:lnTo>
                    <a:pt x="2965" y="1561"/>
                  </a:lnTo>
                  <a:lnTo>
                    <a:pt x="2897" y="1585"/>
                  </a:lnTo>
                  <a:lnTo>
                    <a:pt x="2823" y="1608"/>
                  </a:lnTo>
                  <a:lnTo>
                    <a:pt x="2745" y="1631"/>
                  </a:lnTo>
                  <a:lnTo>
                    <a:pt x="2661" y="1652"/>
                  </a:lnTo>
                  <a:lnTo>
                    <a:pt x="2574" y="1673"/>
                  </a:lnTo>
                  <a:lnTo>
                    <a:pt x="2482" y="1693"/>
                  </a:lnTo>
                  <a:lnTo>
                    <a:pt x="2386" y="1710"/>
                  </a:lnTo>
                  <a:lnTo>
                    <a:pt x="2286" y="1727"/>
                  </a:lnTo>
                  <a:lnTo>
                    <a:pt x="2182" y="1740"/>
                  </a:lnTo>
                  <a:lnTo>
                    <a:pt x="2075" y="1750"/>
                  </a:lnTo>
                  <a:lnTo>
                    <a:pt x="1961" y="1759"/>
                  </a:lnTo>
                  <a:lnTo>
                    <a:pt x="1846" y="1764"/>
                  </a:lnTo>
                  <a:lnTo>
                    <a:pt x="1726" y="1766"/>
                  </a:lnTo>
                  <a:lnTo>
                    <a:pt x="1605" y="1764"/>
                  </a:lnTo>
                  <a:lnTo>
                    <a:pt x="1489" y="1759"/>
                  </a:lnTo>
                  <a:lnTo>
                    <a:pt x="1377" y="1750"/>
                  </a:lnTo>
                  <a:lnTo>
                    <a:pt x="1269" y="1739"/>
                  </a:lnTo>
                  <a:lnTo>
                    <a:pt x="1164" y="1725"/>
                  </a:lnTo>
                  <a:lnTo>
                    <a:pt x="1065" y="1710"/>
                  </a:lnTo>
                  <a:lnTo>
                    <a:pt x="969" y="1693"/>
                  </a:lnTo>
                  <a:lnTo>
                    <a:pt x="878" y="1673"/>
                  </a:lnTo>
                  <a:lnTo>
                    <a:pt x="791" y="1652"/>
                  </a:lnTo>
                  <a:lnTo>
                    <a:pt x="707" y="1631"/>
                  </a:lnTo>
                  <a:lnTo>
                    <a:pt x="629" y="1607"/>
                  </a:lnTo>
                  <a:lnTo>
                    <a:pt x="555" y="1584"/>
                  </a:lnTo>
                  <a:lnTo>
                    <a:pt x="486" y="1561"/>
                  </a:lnTo>
                  <a:lnTo>
                    <a:pt x="421" y="1538"/>
                  </a:lnTo>
                  <a:lnTo>
                    <a:pt x="361" y="1514"/>
                  </a:lnTo>
                  <a:lnTo>
                    <a:pt x="306" y="1492"/>
                  </a:lnTo>
                  <a:lnTo>
                    <a:pt x="257" y="1469"/>
                  </a:lnTo>
                  <a:lnTo>
                    <a:pt x="212" y="1448"/>
                  </a:lnTo>
                  <a:lnTo>
                    <a:pt x="172" y="1429"/>
                  </a:lnTo>
                  <a:lnTo>
                    <a:pt x="137" y="1411"/>
                  </a:lnTo>
                  <a:lnTo>
                    <a:pt x="107" y="1396"/>
                  </a:lnTo>
                  <a:lnTo>
                    <a:pt x="82" y="1382"/>
                  </a:lnTo>
                  <a:lnTo>
                    <a:pt x="64" y="1371"/>
                  </a:lnTo>
                  <a:lnTo>
                    <a:pt x="50" y="1362"/>
                  </a:lnTo>
                  <a:lnTo>
                    <a:pt x="41" y="1357"/>
                  </a:lnTo>
                  <a:lnTo>
                    <a:pt x="39" y="1356"/>
                  </a:lnTo>
                  <a:lnTo>
                    <a:pt x="35" y="1329"/>
                  </a:lnTo>
                  <a:lnTo>
                    <a:pt x="30" y="1296"/>
                  </a:lnTo>
                  <a:lnTo>
                    <a:pt x="26" y="1263"/>
                  </a:lnTo>
                  <a:lnTo>
                    <a:pt x="22" y="1226"/>
                  </a:lnTo>
                  <a:lnTo>
                    <a:pt x="19" y="1189"/>
                  </a:lnTo>
                  <a:lnTo>
                    <a:pt x="15" y="1152"/>
                  </a:lnTo>
                  <a:lnTo>
                    <a:pt x="11" y="1117"/>
                  </a:lnTo>
                  <a:lnTo>
                    <a:pt x="9" y="1085"/>
                  </a:lnTo>
                  <a:lnTo>
                    <a:pt x="6" y="1055"/>
                  </a:lnTo>
                  <a:lnTo>
                    <a:pt x="5" y="1032"/>
                  </a:lnTo>
                  <a:lnTo>
                    <a:pt x="4" y="1013"/>
                  </a:lnTo>
                  <a:lnTo>
                    <a:pt x="2" y="1001"/>
                  </a:lnTo>
                  <a:lnTo>
                    <a:pt x="2" y="997"/>
                  </a:lnTo>
                  <a:lnTo>
                    <a:pt x="1" y="966"/>
                  </a:lnTo>
                  <a:lnTo>
                    <a:pt x="0" y="932"/>
                  </a:lnTo>
                  <a:lnTo>
                    <a:pt x="0" y="896"/>
                  </a:lnTo>
                  <a:lnTo>
                    <a:pt x="1" y="859"/>
                  </a:lnTo>
                  <a:lnTo>
                    <a:pt x="4" y="820"/>
                  </a:lnTo>
                  <a:lnTo>
                    <a:pt x="7" y="781"/>
                  </a:lnTo>
                  <a:lnTo>
                    <a:pt x="14" y="739"/>
                  </a:lnTo>
                  <a:lnTo>
                    <a:pt x="22" y="698"/>
                  </a:lnTo>
                  <a:lnTo>
                    <a:pt x="32" y="659"/>
                  </a:lnTo>
                  <a:lnTo>
                    <a:pt x="46" y="618"/>
                  </a:lnTo>
                  <a:lnTo>
                    <a:pt x="62" y="579"/>
                  </a:lnTo>
                  <a:lnTo>
                    <a:pt x="82" y="542"/>
                  </a:lnTo>
                  <a:lnTo>
                    <a:pt x="106" y="507"/>
                  </a:lnTo>
                  <a:lnTo>
                    <a:pt x="132" y="473"/>
                  </a:lnTo>
                  <a:lnTo>
                    <a:pt x="162" y="444"/>
                  </a:lnTo>
                  <a:lnTo>
                    <a:pt x="197" y="416"/>
                  </a:lnTo>
                  <a:lnTo>
                    <a:pt x="237" y="393"/>
                  </a:lnTo>
                  <a:lnTo>
                    <a:pt x="280" y="373"/>
                  </a:lnTo>
                  <a:lnTo>
                    <a:pt x="328" y="358"/>
                  </a:lnTo>
                  <a:lnTo>
                    <a:pt x="392" y="340"/>
                  </a:lnTo>
                  <a:lnTo>
                    <a:pt x="456" y="321"/>
                  </a:lnTo>
                  <a:lnTo>
                    <a:pt x="517" y="299"/>
                  </a:lnTo>
                  <a:lnTo>
                    <a:pt x="577" y="278"/>
                  </a:lnTo>
                  <a:lnTo>
                    <a:pt x="634" y="255"/>
                  </a:lnTo>
                  <a:lnTo>
                    <a:pt x="689" y="231"/>
                  </a:lnTo>
                  <a:lnTo>
                    <a:pt x="741" y="207"/>
                  </a:lnTo>
                  <a:lnTo>
                    <a:pt x="792" y="184"/>
                  </a:lnTo>
                  <a:lnTo>
                    <a:pt x="839" y="160"/>
                  </a:lnTo>
                  <a:lnTo>
                    <a:pt x="883" y="138"/>
                  </a:lnTo>
                  <a:lnTo>
                    <a:pt x="924" y="115"/>
                  </a:lnTo>
                  <a:lnTo>
                    <a:pt x="961" y="94"/>
                  </a:lnTo>
                  <a:lnTo>
                    <a:pt x="995" y="74"/>
                  </a:lnTo>
                  <a:lnTo>
                    <a:pt x="1026" y="56"/>
                  </a:lnTo>
                  <a:lnTo>
                    <a:pt x="1051" y="41"/>
                  </a:lnTo>
                  <a:lnTo>
                    <a:pt x="1073" y="27"/>
                  </a:lnTo>
                  <a:lnTo>
                    <a:pt x="1091" y="16"/>
                  </a:lnTo>
                  <a:lnTo>
                    <a:pt x="1103" y="7"/>
                  </a:lnTo>
                  <a:lnTo>
                    <a:pt x="1111" y="2"/>
                  </a:lnTo>
                  <a:lnTo>
                    <a:pt x="11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575" y="2040890"/>
            <a:ext cx="8430329" cy="4284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82395" y="842010"/>
            <a:ext cx="939038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/>
              <a:t>在 </a:t>
            </a:r>
            <a:r>
              <a:rPr lang="en-US" altLang="zh-CN"/>
              <a:t>ICSFuzz </a:t>
            </a:r>
            <a:r>
              <a:rPr lang="zh-CN" altLang="en-US"/>
              <a:t>提供的 </a:t>
            </a:r>
            <a:r>
              <a:rPr lang="en-US" altLang="zh-CN"/>
              <a:t>17 </a:t>
            </a:r>
            <a:r>
              <a:rPr lang="zh-CN" altLang="en-US"/>
              <a:t>个 </a:t>
            </a:r>
            <a:r>
              <a:rPr lang="en-US" altLang="zh-CN"/>
              <a:t>benchmark </a:t>
            </a:r>
            <a:r>
              <a:rPr lang="zh-CN" altLang="en-US"/>
              <a:t>上，</a:t>
            </a:r>
            <a:r>
              <a:rPr lang="en-US" altLang="zh-CN"/>
              <a:t>ICSQuartz </a:t>
            </a:r>
            <a:r>
              <a:rPr lang="zh-CN" altLang="en-US"/>
              <a:t>与 </a:t>
            </a:r>
            <a:r>
              <a:rPr lang="en-US" altLang="zh-CN"/>
              <a:t>ICSFuzz</a:t>
            </a:r>
            <a:r>
              <a:rPr lang="zh-CN" altLang="en-US"/>
              <a:t>、</a:t>
            </a:r>
            <a:r>
              <a:rPr lang="en-US" altLang="zh-CN"/>
              <a:t>FieldFuzz </a:t>
            </a:r>
            <a:r>
              <a:rPr lang="zh-CN" altLang="en-US"/>
              <a:t>进行对比。结果显示，</a:t>
            </a:r>
            <a:r>
              <a:rPr lang="en-US" altLang="zh-CN"/>
              <a:t>ICSQuartz </a:t>
            </a:r>
            <a:r>
              <a:rPr lang="zh-CN" altLang="en-US"/>
              <a:t>在执行速度、首次崩溃时间和首次崩溃所需输入数量上均明显优于已有方法。性能提升主要来自 </a:t>
            </a:r>
            <a:r>
              <a:rPr lang="en-US" altLang="zh-CN"/>
              <a:t>native execution</a:t>
            </a:r>
            <a:r>
              <a:rPr lang="zh-CN" altLang="en-US"/>
              <a:t>、内存级输入投递以及 </a:t>
            </a:r>
            <a:r>
              <a:rPr lang="en-US" altLang="zh-CN"/>
              <a:t>LLVM </a:t>
            </a:r>
            <a:r>
              <a:rPr lang="zh-CN" altLang="en-US"/>
              <a:t>插桩带来的标准化反馈机制。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6" name="图片 5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219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3132" y="428190"/>
            <a:ext cx="2507489" cy="413620"/>
          </a:xfrm>
          <a:prstGeom prst="rect">
            <a:avLst/>
          </a:prstGeom>
        </p:spPr>
        <p:txBody>
          <a:bodyPr vert="horz" wrap="none" lIns="90000" tIns="46800" rIns="90000" bIns="4680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 fontAlgn="ctr"/>
            <a:r>
              <a: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实验结果展示</a:t>
            </a:r>
            <a:endParaRPr lang="zh-CN" altLang="zh-CN" sz="24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pic>
        <p:nvPicPr>
          <p:cNvPr id="37" name="图片 36" descr="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84595" y="5345430"/>
            <a:ext cx="5601970" cy="1170305"/>
          </a:xfrm>
          <a:prstGeom prst="rect">
            <a:avLst/>
          </a:prstGeom>
        </p:spPr>
      </p:pic>
      <p:sp>
        <p:nvSpPr>
          <p:cNvPr id="18" name="Shape 1653"/>
          <p:cNvSpPr/>
          <p:nvPr/>
        </p:nvSpPr>
        <p:spPr>
          <a:xfrm>
            <a:off x="3272155" y="4866640"/>
            <a:ext cx="106045" cy="10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Shape 1654"/>
          <p:cNvSpPr/>
          <p:nvPr/>
        </p:nvSpPr>
        <p:spPr>
          <a:xfrm>
            <a:off x="4458970" y="3978275"/>
            <a:ext cx="164465" cy="1644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Shape 1655"/>
          <p:cNvSpPr/>
          <p:nvPr/>
        </p:nvSpPr>
        <p:spPr>
          <a:xfrm>
            <a:off x="5608320" y="3414395"/>
            <a:ext cx="211455" cy="2114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Shape 1656"/>
          <p:cNvSpPr/>
          <p:nvPr/>
        </p:nvSpPr>
        <p:spPr>
          <a:xfrm>
            <a:off x="7223760" y="2879090"/>
            <a:ext cx="261620" cy="261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Shape 1657"/>
          <p:cNvSpPr/>
          <p:nvPr/>
        </p:nvSpPr>
        <p:spPr>
          <a:xfrm>
            <a:off x="9741535" y="1971040"/>
            <a:ext cx="378460" cy="387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35" y="3821"/>
                </a:moveTo>
                <a:lnTo>
                  <a:pt x="4745" y="3821"/>
                </a:lnTo>
                <a:cubicBezTo>
                  <a:pt x="4832" y="6659"/>
                  <a:pt x="5371" y="8569"/>
                  <a:pt x="6052" y="9978"/>
                </a:cubicBezTo>
                <a:cubicBezTo>
                  <a:pt x="3968" y="8590"/>
                  <a:pt x="2022" y="6988"/>
                  <a:pt x="1735" y="3821"/>
                </a:cubicBezTo>
                <a:close/>
                <a:moveTo>
                  <a:pt x="10800" y="1439"/>
                </a:moveTo>
                <a:cubicBezTo>
                  <a:pt x="14079" y="1438"/>
                  <a:pt x="15359" y="2749"/>
                  <a:pt x="15358" y="3236"/>
                </a:cubicBezTo>
                <a:cubicBezTo>
                  <a:pt x="15358" y="3725"/>
                  <a:pt x="14080" y="5035"/>
                  <a:pt x="10800" y="5038"/>
                </a:cubicBezTo>
                <a:cubicBezTo>
                  <a:pt x="7521" y="5035"/>
                  <a:pt x="6242" y="3725"/>
                  <a:pt x="6242" y="3236"/>
                </a:cubicBezTo>
                <a:cubicBezTo>
                  <a:pt x="6241" y="2749"/>
                  <a:pt x="7521" y="1438"/>
                  <a:pt x="10800" y="1439"/>
                </a:cubicBezTo>
                <a:close/>
                <a:moveTo>
                  <a:pt x="15548" y="9978"/>
                </a:moveTo>
                <a:cubicBezTo>
                  <a:pt x="16230" y="8569"/>
                  <a:pt x="16768" y="6659"/>
                  <a:pt x="16855" y="3821"/>
                </a:cubicBezTo>
                <a:lnTo>
                  <a:pt x="19866" y="3821"/>
                </a:lnTo>
                <a:cubicBezTo>
                  <a:pt x="19580" y="6988"/>
                  <a:pt x="17632" y="8590"/>
                  <a:pt x="15548" y="9978"/>
                </a:cubicBezTo>
                <a:close/>
                <a:moveTo>
                  <a:pt x="12216" y="15911"/>
                </a:moveTo>
                <a:cubicBezTo>
                  <a:pt x="12216" y="14207"/>
                  <a:pt x="13537" y="13266"/>
                  <a:pt x="15690" y="11871"/>
                </a:cubicBezTo>
                <a:cubicBezTo>
                  <a:pt x="18323" y="10163"/>
                  <a:pt x="21600" y="8040"/>
                  <a:pt x="21600" y="2998"/>
                </a:cubicBezTo>
                <a:cubicBezTo>
                  <a:pt x="21600" y="2544"/>
                  <a:pt x="21220" y="2177"/>
                  <a:pt x="20750" y="2177"/>
                </a:cubicBezTo>
                <a:lnTo>
                  <a:pt x="16635" y="2177"/>
                </a:lnTo>
                <a:cubicBezTo>
                  <a:pt x="16053" y="1125"/>
                  <a:pt x="14320" y="0"/>
                  <a:pt x="10800" y="0"/>
                </a:cubicBezTo>
                <a:cubicBezTo>
                  <a:pt x="7281" y="0"/>
                  <a:pt x="5547" y="1125"/>
                  <a:pt x="4966" y="2177"/>
                </a:cubicBezTo>
                <a:lnTo>
                  <a:pt x="850" y="2177"/>
                </a:lnTo>
                <a:cubicBezTo>
                  <a:pt x="380" y="2177"/>
                  <a:pt x="0" y="2544"/>
                  <a:pt x="0" y="2998"/>
                </a:cubicBezTo>
                <a:cubicBezTo>
                  <a:pt x="0" y="8040"/>
                  <a:pt x="3277" y="10163"/>
                  <a:pt x="5912" y="11871"/>
                </a:cubicBezTo>
                <a:cubicBezTo>
                  <a:pt x="8065" y="13266"/>
                  <a:pt x="9384" y="14207"/>
                  <a:pt x="9384" y="15911"/>
                </a:cubicBezTo>
                <a:lnTo>
                  <a:pt x="9384" y="17450"/>
                </a:lnTo>
                <a:cubicBezTo>
                  <a:pt x="7122" y="17696"/>
                  <a:pt x="5461" y="18514"/>
                  <a:pt x="5461" y="19487"/>
                </a:cubicBezTo>
                <a:cubicBezTo>
                  <a:pt x="5461" y="20654"/>
                  <a:pt x="7851" y="21600"/>
                  <a:pt x="10800" y="21600"/>
                </a:cubicBezTo>
                <a:cubicBezTo>
                  <a:pt x="13749" y="21600"/>
                  <a:pt x="16139" y="20654"/>
                  <a:pt x="16139" y="19487"/>
                </a:cubicBezTo>
                <a:cubicBezTo>
                  <a:pt x="16139" y="18514"/>
                  <a:pt x="14478" y="17696"/>
                  <a:pt x="12216" y="17450"/>
                </a:cubicBezTo>
                <a:cubicBezTo>
                  <a:pt x="12216" y="17450"/>
                  <a:pt x="12216" y="15911"/>
                  <a:pt x="12216" y="15911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Text Placeholder 3"/>
          <p:cNvSpPr txBox="1"/>
          <p:nvPr/>
        </p:nvSpPr>
        <p:spPr>
          <a:xfrm>
            <a:off x="9455785" y="2410460"/>
            <a:ext cx="934085" cy="3746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id-ID" sz="18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Arial" panose="020B0604020202020204" pitchFamily="34" charset="0"/>
              </a:rPr>
              <a:t>项目成果</a:t>
            </a:r>
            <a:endParaRPr lang="zh-CN" altLang="id-ID" sz="180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Text Placeholder 4"/>
          <p:cNvSpPr txBox="1"/>
          <p:nvPr/>
        </p:nvSpPr>
        <p:spPr>
          <a:xfrm>
            <a:off x="4420870" y="2073910"/>
            <a:ext cx="235585" cy="28321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id-ID" sz="1400">
                <a:solidFill>
                  <a:srgbClr val="FCFCFC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Arial" panose="020B0604020202020204" pitchFamily="34" charset="0"/>
              </a:rPr>
              <a:t>2</a:t>
            </a:r>
            <a:endParaRPr lang="id-ID" sz="1400">
              <a:solidFill>
                <a:srgbClr val="FCFCFC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3135" y="1141730"/>
            <a:ext cx="4853305" cy="4203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为了验证 </a:t>
            </a:r>
            <a:r>
              <a:rPr lang="en-US" altLang="zh-CN"/>
              <a:t>scan cycle-aware fuzzing </a:t>
            </a:r>
            <a:r>
              <a:rPr lang="zh-CN" altLang="en-US"/>
              <a:t>是否真正有效，论文构造了 12 个具有扫描周期状态特征的 </a:t>
            </a:r>
            <a:r>
              <a:rPr lang="en-US" altLang="zh-CN"/>
              <a:t>benchmark，</a:t>
            </a:r>
            <a:r>
              <a:rPr lang="zh-CN" altLang="en-US"/>
              <a:t>并将 </a:t>
            </a:r>
            <a:r>
              <a:rPr lang="en-US" altLang="zh-CN"/>
              <a:t>ICSQuartz </a:t>
            </a:r>
            <a:r>
              <a:rPr lang="zh-CN" altLang="en-US"/>
              <a:t>与 </a:t>
            </a:r>
            <a:r>
              <a:rPr lang="en-US" altLang="zh-CN"/>
              <a:t>AFL++、FieldFuzz </a:t>
            </a:r>
            <a:r>
              <a:rPr lang="zh-CN" altLang="en-US"/>
              <a:t>和 </a:t>
            </a:r>
            <a:r>
              <a:rPr lang="en-US" altLang="zh-CN"/>
              <a:t>ICSFuzz </a:t>
            </a:r>
            <a:r>
              <a:rPr lang="zh-CN" altLang="en-US"/>
              <a:t>进行对比。表 </a:t>
            </a:r>
            <a:r>
              <a:rPr lang="en-US" altLang="zh-CN"/>
              <a:t>V </a:t>
            </a:r>
            <a:r>
              <a:rPr lang="zh-CN" altLang="en-US"/>
              <a:t>展示了 10 次重复实验中的漏洞触发情况、首次触发时间以及所需执行次数。结果表明，</a:t>
            </a:r>
            <a:r>
              <a:rPr lang="en-US" altLang="zh-CN"/>
              <a:t>ICSQuartz </a:t>
            </a:r>
            <a:r>
              <a:rPr lang="zh-CN" altLang="en-US"/>
              <a:t>在全部 12 个 </a:t>
            </a:r>
            <a:r>
              <a:rPr lang="en-US" altLang="zh-CN"/>
              <a:t>benchmark </a:t>
            </a:r>
            <a:r>
              <a:rPr lang="zh-CN" altLang="en-US"/>
              <a:t>中均能稳定发现漏洞，而 </a:t>
            </a:r>
            <a:r>
              <a:rPr lang="en-US" altLang="zh-CN"/>
              <a:t>AFL++、FieldFuzz </a:t>
            </a:r>
            <a:r>
              <a:rPr lang="zh-CN" altLang="en-US"/>
              <a:t>和 </a:t>
            </a:r>
            <a:r>
              <a:rPr lang="en-US" altLang="zh-CN"/>
              <a:t>ICSFuzz </a:t>
            </a:r>
            <a:r>
              <a:rPr lang="zh-CN" altLang="en-US"/>
              <a:t>只能在少数 </a:t>
            </a:r>
            <a:r>
              <a:rPr lang="en-US" altLang="zh-CN"/>
              <a:t>benchmark </a:t>
            </a:r>
            <a:r>
              <a:rPr lang="zh-CN" altLang="en-US"/>
              <a:t>中触发漏洞，尤其是已有 </a:t>
            </a:r>
            <a:r>
              <a:rPr lang="en-US" altLang="zh-CN"/>
              <a:t>mutation </a:t>
            </a:r>
            <a:r>
              <a:rPr lang="zh-CN" altLang="en-US"/>
              <a:t>策略在 12 个 </a:t>
            </a:r>
            <a:r>
              <a:rPr lang="en-US" altLang="zh-CN"/>
              <a:t>benchmark </a:t>
            </a:r>
            <a:r>
              <a:rPr lang="zh-CN" altLang="en-US"/>
              <a:t>中有 7 个无法发现 </a:t>
            </a:r>
            <a:r>
              <a:rPr lang="en-US" altLang="zh-CN"/>
              <a:t>scan-cycle </a:t>
            </a:r>
            <a:r>
              <a:rPr lang="zh-CN" altLang="en-US"/>
              <a:t>相关漏洞。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945" y="1017270"/>
            <a:ext cx="5327379" cy="496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12192000" cy="6858000"/>
            <a:chOff x="-16" y="0"/>
            <a:chExt cx="19200" cy="10800"/>
          </a:xfrm>
        </p:grpSpPr>
        <p:pic>
          <p:nvPicPr>
            <p:cNvPr id="7" name="图片 6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16" y="0"/>
              <a:ext cx="19200" cy="10800"/>
            </a:xfrm>
            <a:prstGeom prst="rect">
              <a:avLst/>
            </a:prstGeom>
          </p:spPr>
        </p:pic>
        <p:sp>
          <p:nvSpPr>
            <p:cNvPr id="15" name="标题 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485" y="674"/>
              <a:ext cx="3949" cy="651"/>
            </a:xfrm>
            <a:prstGeom prst="rect">
              <a:avLst/>
            </a:prstGeom>
          </p:spPr>
          <p:txBody>
            <a:bodyPr vert="horz" lIns="90000" tIns="46800" rIns="90000" bIns="46800" rtlCol="0" anchor="b" anchorCtr="0">
              <a:noAutofit/>
            </a:bodyPr>
            <a:lstStyle>
              <a:lvl1pPr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6000" b="1" u="none" strike="noStrike" kern="1200" cap="none" spc="300" normalizeH="0" baseline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algn="l" fontAlgn="ctr"/>
              <a:r>
                <a:rPr lang="zh-CN" altLang="zh-CN" sz="1800" b="0">
                  <a:solidFill>
                    <a:srgbClr val="324274"/>
                  </a:solidFill>
                  <a:latin typeface="华文新魏" panose="02010800040101010101" charset="-122"/>
                  <a:ea typeface="华文新魏" panose="02010800040101010101" charset="-122"/>
                </a:rPr>
                <a:t>郑州大学</a:t>
              </a:r>
              <a:endParaRPr lang="zh-CN" altLang="zh-CN" sz="18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pic>
          <p:nvPicPr>
            <p:cNvPr id="17" name="图片 16" descr="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881" y="8418"/>
              <a:ext cx="8822" cy="1843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203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2308860" y="2160905"/>
            <a:ext cx="7574280" cy="1059180"/>
          </a:xfrm>
          <a:effectLst>
            <a:outerShdw blurRad="114300" dist="88900" dir="5100000" algn="t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zh-CN" altLang="zh-CN" sz="65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总结分析</a:t>
            </a:r>
            <a:endParaRPr lang="zh-CN" altLang="zh-CN" sz="65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402648" y="1788795"/>
            <a:ext cx="5386705" cy="340995"/>
          </a:xfrm>
        </p:spPr>
        <p:txBody>
          <a:bodyPr>
            <a:normAutofit fontScale="90000" lnSpcReduction="20000"/>
          </a:bodyPr>
          <a:lstStyle/>
          <a:p>
            <a:pPr marL="0" indent="0" algn="ctr" fontAlgn="ctr">
              <a:buNone/>
            </a:pPr>
            <a:r>
              <a:rPr lang="zh-CN" altLang="en-US" sz="16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SUMMARY</a:t>
            </a:r>
            <a:r>
              <a:rPr lang="en-US" altLang="zh-CN" sz="16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 AND </a:t>
            </a:r>
            <a:r>
              <a:rPr lang="zh-CN" altLang="en-US" sz="16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ANALYSIS </a:t>
            </a:r>
            <a:endParaRPr lang="zh-CN" altLang="en-US" sz="160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2" name="副标题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402648" y="3449955"/>
            <a:ext cx="5386705" cy="207645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83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SUMMARY</a:t>
            </a:r>
            <a:r>
              <a:rPr lang="en-US" altLang="zh-CN" sz="83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 AND </a:t>
            </a:r>
            <a:r>
              <a:rPr lang="zh-CN" altLang="en-US" sz="83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ANALYSIS </a:t>
            </a:r>
            <a:endParaRPr lang="zh-CN" altLang="en-US" sz="83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092383" y="4067175"/>
            <a:ext cx="2007235" cy="105918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4800" b="0">
                <a:solidFill>
                  <a:schemeClr val="bg1">
                    <a:lumMod val="9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FOUR</a:t>
            </a:r>
            <a:endParaRPr lang="en-US" altLang="zh-CN" sz="4800" b="0">
              <a:solidFill>
                <a:schemeClr val="bg1">
                  <a:lumMod val="95000"/>
                </a:schemeClr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19" name="MH_Number_1"/>
          <p:cNvSpPr/>
          <p:nvPr>
            <p:custDataLst>
              <p:tags r:id="rId8"/>
            </p:custDataLst>
          </p:nvPr>
        </p:nvSpPr>
        <p:spPr>
          <a:xfrm>
            <a:off x="5828030" y="3947795"/>
            <a:ext cx="535940" cy="535940"/>
          </a:xfrm>
          <a:prstGeom prst="ellipse">
            <a:avLst/>
          </a:prstGeom>
          <a:solidFill>
            <a:srgbClr val="324274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en-US" altLang="zh-CN" sz="28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31" name="图片 30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32" name="矩形 31"/>
            <p:cNvSpPr/>
            <p:nvPr/>
          </p:nvSpPr>
          <p:spPr>
            <a:xfrm>
              <a:off x="219" y="10075"/>
              <a:ext cx="18750" cy="555"/>
            </a:xfrm>
            <a:prstGeom prst="rect">
              <a:avLst/>
            </a:prstGeom>
            <a:solidFill>
              <a:srgbClr val="32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3132" y="428190"/>
            <a:ext cx="2507489" cy="413620"/>
          </a:xfrm>
          <a:prstGeom prst="rect">
            <a:avLst/>
          </a:prstGeom>
        </p:spPr>
        <p:txBody>
          <a:bodyPr vert="horz" wrap="none" lIns="90000" tIns="46800" rIns="90000" bIns="4680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fontAlgn="ctr"/>
            <a:r>
              <a:rPr lang="zh-CN" altLang="zh-CN" sz="24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总结分析</a:t>
            </a:r>
            <a:endParaRPr lang="zh-CN" altLang="zh-CN" sz="24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pic>
        <p:nvPicPr>
          <p:cNvPr id="13" name="图片 12" descr="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84595" y="5345430"/>
            <a:ext cx="5601970" cy="117030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9065" y="6397625"/>
            <a:ext cx="11906250" cy="352425"/>
          </a:xfrm>
          <a:prstGeom prst="rect">
            <a:avLst/>
          </a:prstGeom>
          <a:solidFill>
            <a:srgbClr val="32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201398" y="1528179"/>
            <a:ext cx="1201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egoe UI" panose="020B0502040204020203" pitchFamily="34" charset="0"/>
              </a:rPr>
              <a:t>项目分析</a:t>
            </a: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9185" y="842010"/>
            <a:ext cx="9197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600"/>
              <a:t> 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953135" y="842010"/>
            <a:ext cx="10547350" cy="4991100"/>
          </a:xfrm>
          <a:prstGeom prst="rect">
            <a:avLst/>
          </a:prstGeom>
        </p:spPr>
        <p:txBody>
          <a:bodyPr wrap="square">
            <a:noAutofit/>
          </a:bodyPr>
          <a:p>
            <a:pPr indent="457200" fontAlgn="auto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 b="0">
                <a:solidFill>
                  <a:srgbClr val="1F2329"/>
                </a:solidFill>
              </a:rPr>
              <a:t>总体来看，</a:t>
            </a:r>
            <a:r>
              <a:rPr lang="en-US" altLang="zh-CN" b="0">
                <a:solidFill>
                  <a:srgbClr val="1F2329"/>
                </a:solidFill>
              </a:rPr>
              <a:t>ICSQuartz </a:t>
            </a:r>
            <a:r>
              <a:rPr lang="zh-CN" altLang="en-US" b="0">
                <a:solidFill>
                  <a:srgbClr val="1F2329"/>
                </a:solidFill>
              </a:rPr>
              <a:t>的主要贡献在于将 </a:t>
            </a:r>
            <a:r>
              <a:rPr lang="en-US" altLang="zh-CN" b="0">
                <a:solidFill>
                  <a:srgbClr val="1F2329"/>
                </a:solidFill>
              </a:rPr>
              <a:t>ST </a:t>
            </a:r>
            <a:r>
              <a:rPr lang="zh-CN" altLang="en-US" b="0">
                <a:solidFill>
                  <a:srgbClr val="1F2329"/>
                </a:solidFill>
              </a:rPr>
              <a:t>程序从封闭的 </a:t>
            </a:r>
            <a:r>
              <a:rPr lang="en-US" altLang="zh-CN" b="0">
                <a:solidFill>
                  <a:srgbClr val="1F2329"/>
                </a:solidFill>
              </a:rPr>
              <a:t>PLC </a:t>
            </a:r>
            <a:r>
              <a:rPr lang="zh-CN" altLang="en-US" b="0">
                <a:solidFill>
                  <a:srgbClr val="1F2329"/>
                </a:solidFill>
              </a:rPr>
              <a:t>厂商生态中抽象出来，并通过 </a:t>
            </a:r>
            <a:r>
              <a:rPr lang="en-US" altLang="zh-CN" b="0">
                <a:solidFill>
                  <a:srgbClr val="1F2329"/>
                </a:solidFill>
              </a:rPr>
              <a:t>RuSTy </a:t>
            </a:r>
            <a:r>
              <a:rPr lang="zh-CN" altLang="en-US" b="0">
                <a:solidFill>
                  <a:srgbClr val="1F2329"/>
                </a:solidFill>
              </a:rPr>
              <a:t>与 </a:t>
            </a:r>
            <a:r>
              <a:rPr lang="en-US" altLang="zh-CN" b="0">
                <a:solidFill>
                  <a:srgbClr val="1F2329"/>
                </a:solidFill>
              </a:rPr>
              <a:t>LLVM </a:t>
            </a:r>
            <a:r>
              <a:rPr lang="zh-CN" altLang="en-US" b="0">
                <a:solidFill>
                  <a:srgbClr val="1F2329"/>
                </a:solidFill>
              </a:rPr>
              <a:t>工具链构建了一个可插桩、可覆盖率引导、可内存错误检测的 </a:t>
            </a:r>
            <a:r>
              <a:rPr lang="en-US" altLang="zh-CN" b="0">
                <a:solidFill>
                  <a:srgbClr val="1F2329"/>
                </a:solidFill>
              </a:rPr>
              <a:t>native fuzzing </a:t>
            </a:r>
            <a:r>
              <a:rPr lang="zh-CN" altLang="en-US" b="0">
                <a:solidFill>
                  <a:srgbClr val="1F2329"/>
                </a:solidFill>
              </a:rPr>
              <a:t>框架。相比已有 </a:t>
            </a:r>
            <a:r>
              <a:rPr lang="en-US" altLang="zh-CN" b="0">
                <a:solidFill>
                  <a:srgbClr val="1F2329"/>
                </a:solidFill>
              </a:rPr>
              <a:t>ICS fuzzing </a:t>
            </a:r>
            <a:r>
              <a:rPr lang="zh-CN" altLang="en-US" b="0">
                <a:solidFill>
                  <a:srgbClr val="1F2329"/>
                </a:solidFill>
              </a:rPr>
              <a:t>方法，</a:t>
            </a:r>
            <a:r>
              <a:rPr lang="en-US" altLang="zh-CN" b="0">
                <a:solidFill>
                  <a:srgbClr val="1F2329"/>
                </a:solidFill>
              </a:rPr>
              <a:t>ICSQuartz </a:t>
            </a:r>
            <a:r>
              <a:rPr lang="zh-CN" altLang="en-US" b="0">
                <a:solidFill>
                  <a:srgbClr val="1F2329"/>
                </a:solidFill>
              </a:rPr>
              <a:t>不仅提升了执行效率和漏洞定位能力，还首次将 </a:t>
            </a:r>
            <a:r>
              <a:rPr lang="en-US" altLang="zh-CN" b="0">
                <a:solidFill>
                  <a:srgbClr val="1F2329"/>
                </a:solidFill>
              </a:rPr>
              <a:t>scan cycle </a:t>
            </a:r>
            <a:r>
              <a:rPr lang="zh-CN" altLang="en-US" b="0">
                <a:solidFill>
                  <a:srgbClr val="1F2329"/>
                </a:solidFill>
              </a:rPr>
              <a:t>作为 </a:t>
            </a:r>
            <a:r>
              <a:rPr lang="en-US" altLang="zh-CN" b="0">
                <a:solidFill>
                  <a:srgbClr val="1F2329"/>
                </a:solidFill>
              </a:rPr>
              <a:t>fuzzing </a:t>
            </a:r>
            <a:r>
              <a:rPr lang="zh-CN" altLang="en-US" b="0">
                <a:solidFill>
                  <a:srgbClr val="1F2329"/>
                </a:solidFill>
              </a:rPr>
              <a:t>过程中的核心建模对象，能够探索跨扫描周期状态演化导致的漏洞。</a:t>
            </a:r>
            <a:endParaRPr lang="zh-CN" altLang="en-US" b="0">
              <a:solidFill>
                <a:srgbClr val="1F2329"/>
              </a:solidFill>
            </a:endParaRPr>
          </a:p>
          <a:p>
            <a:pPr indent="457200" fontAlgn="auto">
              <a:lnSpc>
                <a:spcPct val="17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 b="0">
                <a:solidFill>
                  <a:srgbClr val="1F2329"/>
                </a:solidFill>
              </a:rPr>
              <a:t>同时，该方法也存在一定局限。</a:t>
            </a:r>
            <a:r>
              <a:rPr lang="en-US" altLang="zh-CN" b="1">
                <a:solidFill>
                  <a:srgbClr val="1F2329"/>
                </a:solidFill>
              </a:rPr>
              <a:t>ICSQuartz </a:t>
            </a:r>
            <a:r>
              <a:rPr lang="zh-CN" altLang="en-US" b="1">
                <a:solidFill>
                  <a:srgbClr val="1F2329"/>
                </a:solidFill>
              </a:rPr>
              <a:t>依赖 </a:t>
            </a:r>
            <a:r>
              <a:rPr lang="en-US" altLang="zh-CN" b="1">
                <a:solidFill>
                  <a:srgbClr val="1F2329"/>
                </a:solidFill>
              </a:rPr>
              <a:t>RuSTy </a:t>
            </a:r>
            <a:r>
              <a:rPr lang="zh-CN" altLang="en-US" b="1">
                <a:solidFill>
                  <a:srgbClr val="1F2329"/>
                </a:solidFill>
              </a:rPr>
              <a:t>编译器和兼容层来模拟 </a:t>
            </a:r>
            <a:r>
              <a:rPr lang="en-US" altLang="zh-CN" b="1">
                <a:solidFill>
                  <a:srgbClr val="1F2329"/>
                </a:solidFill>
              </a:rPr>
              <a:t>ST </a:t>
            </a:r>
            <a:r>
              <a:rPr lang="zh-CN" altLang="en-US" b="1">
                <a:solidFill>
                  <a:srgbClr val="1F2329"/>
                </a:solidFill>
              </a:rPr>
              <a:t>程序执行环境</a:t>
            </a:r>
            <a:r>
              <a:rPr lang="zh-CN" altLang="en-US" b="0">
                <a:solidFill>
                  <a:srgbClr val="1F2329"/>
                </a:solidFill>
              </a:rPr>
              <a:t>，因此其行为可能与真实 </a:t>
            </a:r>
            <a:r>
              <a:rPr lang="en-US" altLang="zh-CN" b="0">
                <a:solidFill>
                  <a:srgbClr val="1F2329"/>
                </a:solidFill>
              </a:rPr>
              <a:t>PLC runtime </a:t>
            </a:r>
            <a:r>
              <a:rPr lang="zh-CN" altLang="en-US" b="0">
                <a:solidFill>
                  <a:srgbClr val="1F2329"/>
                </a:solidFill>
              </a:rPr>
              <a:t>存在差异；对于闭源预编译厂商库，工具无法直接进行白盒分析；此外，</a:t>
            </a:r>
            <a:r>
              <a:rPr lang="zh-CN" altLang="en-US" b="1">
                <a:solidFill>
                  <a:srgbClr val="1F2329"/>
                </a:solidFill>
              </a:rPr>
              <a:t>真实 </a:t>
            </a:r>
            <a:r>
              <a:rPr lang="en-US" altLang="zh-CN" b="1">
                <a:solidFill>
                  <a:srgbClr val="1F2329"/>
                </a:solidFill>
              </a:rPr>
              <a:t>PLC </a:t>
            </a:r>
            <a:r>
              <a:rPr lang="zh-CN" altLang="en-US" b="1">
                <a:solidFill>
                  <a:srgbClr val="1F2329"/>
                </a:solidFill>
              </a:rPr>
              <a:t>上的漏洞复现和多厂商交叉验证仍需要额外人工工作</a:t>
            </a:r>
            <a:r>
              <a:rPr lang="zh-CN" altLang="en-US" b="0">
                <a:solidFill>
                  <a:srgbClr val="1F2329"/>
                </a:solidFill>
              </a:rPr>
              <a:t>。尽管如此，</a:t>
            </a:r>
            <a:r>
              <a:rPr lang="en-US" altLang="zh-CN" b="0">
                <a:solidFill>
                  <a:srgbClr val="1F2329"/>
                </a:solidFill>
              </a:rPr>
              <a:t>ICSQuartz </a:t>
            </a:r>
            <a:r>
              <a:rPr lang="zh-CN" altLang="en-US" b="0">
                <a:solidFill>
                  <a:srgbClr val="1F2329"/>
                </a:solidFill>
              </a:rPr>
              <a:t>为后续工业控制系统 </a:t>
            </a:r>
            <a:r>
              <a:rPr lang="en-US" altLang="zh-CN" b="0">
                <a:solidFill>
                  <a:srgbClr val="1F2329"/>
                </a:solidFill>
              </a:rPr>
              <a:t>fuzzing </a:t>
            </a:r>
            <a:r>
              <a:rPr lang="zh-CN" altLang="en-US" b="0">
                <a:solidFill>
                  <a:srgbClr val="1F2329"/>
                </a:solidFill>
              </a:rPr>
              <a:t>研究提供了重要启发：</a:t>
            </a:r>
            <a:r>
              <a:rPr lang="en-US" altLang="zh-CN" b="0">
                <a:solidFill>
                  <a:srgbClr val="1F2329"/>
                </a:solidFill>
              </a:rPr>
              <a:t>PLC </a:t>
            </a:r>
            <a:r>
              <a:rPr lang="zh-CN" altLang="en-US" b="0">
                <a:solidFill>
                  <a:srgbClr val="1F2329"/>
                </a:solidFill>
              </a:rPr>
              <a:t>程序安全测试不应只关注单次输入，而应进一步关注 </a:t>
            </a:r>
            <a:r>
              <a:rPr lang="en-US" altLang="zh-CN" b="0">
                <a:solidFill>
                  <a:srgbClr val="1F2329"/>
                </a:solidFill>
              </a:rPr>
              <a:t>scan cycle、</a:t>
            </a:r>
            <a:r>
              <a:rPr lang="zh-CN" altLang="en-US" b="0">
                <a:solidFill>
                  <a:srgbClr val="1F2329"/>
                </a:solidFill>
              </a:rPr>
              <a:t>状态继承与控制逻辑执行之间的耦合关系。</a:t>
            </a:r>
            <a:endParaRPr lang="zh-CN" altLang="en-US" b="0">
              <a:solidFill>
                <a:srgbClr val="1F2329"/>
              </a:solidFill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en-US" b="0">
              <a:solidFill>
                <a:srgbClr val="1F2329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15" name="图片 14" descr="PPT构思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pic>
          <p:nvPicPr>
            <p:cNvPr id="19" name="图片 18" descr="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" y="5723"/>
              <a:ext cx="18227" cy="3807"/>
            </a:xfrm>
            <a:prstGeom prst="rect">
              <a:avLst/>
            </a:prstGeom>
          </p:spPr>
        </p:pic>
        <p:pic>
          <p:nvPicPr>
            <p:cNvPr id="9" name="图片 8" descr="PPT构思02"/>
            <p:cNvPicPr>
              <a:picLocks noChangeAspect="1"/>
            </p:cNvPicPr>
            <p:nvPr/>
          </p:nvPicPr>
          <p:blipFill>
            <a:blip r:embed="rId3"/>
            <a:srcRect t="27763"/>
            <a:stretch>
              <a:fillRect/>
            </a:stretch>
          </p:blipFill>
          <p:spPr>
            <a:xfrm>
              <a:off x="481" y="8957"/>
              <a:ext cx="18238" cy="136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2309042" y="2025333"/>
            <a:ext cx="8050165" cy="1059180"/>
          </a:xfrm>
        </p:spPr>
        <p:txBody>
          <a:bodyPr>
            <a:noAutofit/>
          </a:bodyPr>
          <a:lstStyle/>
          <a:p>
            <a:pPr algn="ctr"/>
            <a:r>
              <a:rPr lang="zh-CN" altLang="zh-CN" sz="7200" b="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感谢聆听！</a:t>
            </a:r>
            <a:endParaRPr lang="zh-CN" altLang="zh-CN" sz="7200" b="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243263" y="3063240"/>
            <a:ext cx="5386705" cy="340995"/>
          </a:xfrm>
        </p:spPr>
        <p:txBody>
          <a:bodyPr>
            <a:normAutofit fontScale="97500" lnSpcReduction="10000"/>
          </a:bodyPr>
          <a:lstStyle/>
          <a:p>
            <a:pPr algn="ctr" fontAlgn="ctr"/>
            <a:r>
              <a:rPr lang="en-US" altLang="zh-CN" sz="1600">
                <a:solidFill>
                  <a:srgbClr val="324274"/>
                </a:solidFill>
                <a:latin typeface="华文新魏" panose="02010800040101010101" charset="-122"/>
                <a:ea typeface="华文新魏" panose="02010800040101010101" charset="-122"/>
              </a:rPr>
              <a:t>Thank you for listening</a:t>
            </a:r>
            <a:endParaRPr lang="en-US" altLang="zh-CN" sz="1600">
              <a:solidFill>
                <a:srgbClr val="324274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576195" y="5864860"/>
            <a:ext cx="7039610" cy="38417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郑州大学</a:t>
            </a:r>
            <a:r>
              <a:rPr lang="en-US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2025</a:t>
            </a:r>
            <a:r>
              <a:rPr lang="zh-CN" altLang="en-US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级</a:t>
            </a:r>
            <a:r>
              <a:rPr lang="en-US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r>
              <a:rPr lang="zh-CN" altLang="en-US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付一飞</a:t>
            </a:r>
            <a:r>
              <a:rPr lang="en-US" altLang="zh-CN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r>
              <a:rPr lang="zh-CN" altLang="en-US" sz="1600" b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论文分享</a:t>
            </a:r>
            <a:endParaRPr kumimoji="0" lang="en-US" altLang="zh-CN" sz="1600" b="0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新魏" panose="02010800040101010101" charset="-122"/>
              <a:ea typeface="华文新魏" panose="02010800040101010101" charset="-122"/>
              <a:cs typeface="Arial" panose="020B0604020202020204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20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22.xml><?xml version="1.0" encoding="utf-8"?>
<p:tagLst xmlns:p="http://schemas.openxmlformats.org/presentationml/2006/main">
  <p:tag name="ID" val="553512"/>
  <p:tag name="MH" val="20160830110146"/>
  <p:tag name="MH_LIBRARY" val="CONTENTS"/>
  <p:tag name="MH_ORDER" val="1"/>
  <p:tag name="MH_TYPE" val="NUMBER"/>
</p:tagLst>
</file>

<file path=ppt/tags/tag23.xml><?xml version="1.0" encoding="utf-8"?>
<p:tagLst xmlns:p="http://schemas.openxmlformats.org/presentationml/2006/main">
  <p:tag name="ID" val="553512"/>
  <p:tag name="MH" val="20160830110146"/>
  <p:tag name="MH_LIBRARY" val="CONTENTS"/>
  <p:tag name="MH_ORDER" val="1"/>
  <p:tag name="MH_TYPE" val="ENTRY"/>
</p:tagLst>
</file>

<file path=ppt/tags/tag24.xml><?xml version="1.0" encoding="utf-8"?>
<p:tagLst xmlns:p="http://schemas.openxmlformats.org/presentationml/2006/main">
  <p:tag name="ID" val="553512"/>
  <p:tag name="MH" val="20160830110146"/>
  <p:tag name="MH_LIBRARY" val="CONTENTS"/>
  <p:tag name="MH_ORDER" val="2"/>
  <p:tag name="MH_TYPE" val="NUMBER"/>
</p:tagLst>
</file>

<file path=ppt/tags/tag25.xml><?xml version="1.0" encoding="utf-8"?>
<p:tagLst xmlns:p="http://schemas.openxmlformats.org/presentationml/2006/main">
  <p:tag name="ID" val="553512"/>
  <p:tag name="MH" val="20160830110146"/>
  <p:tag name="MH_LIBRARY" val="CONTENTS"/>
  <p:tag name="MH_ORDER" val="2"/>
  <p:tag name="MH_TYPE" val="ENTRY"/>
</p:tagLst>
</file>

<file path=ppt/tags/tag26.xml><?xml version="1.0" encoding="utf-8"?>
<p:tagLst xmlns:p="http://schemas.openxmlformats.org/presentationml/2006/main">
  <p:tag name="ID" val="553512"/>
  <p:tag name="MH" val="20160830110146"/>
  <p:tag name="MH_LIBRARY" val="CONTENTS"/>
  <p:tag name="MH_ORDER" val="3"/>
  <p:tag name="MH_TYPE" val="NUMBER"/>
</p:tagLst>
</file>

<file path=ppt/tags/tag27.xml><?xml version="1.0" encoding="utf-8"?>
<p:tagLst xmlns:p="http://schemas.openxmlformats.org/presentationml/2006/main">
  <p:tag name="ID" val="553512"/>
  <p:tag name="MH" val="20160830110146"/>
  <p:tag name="MH_LIBRARY" val="CONTENTS"/>
  <p:tag name="MH_ORDER" val="3"/>
  <p:tag name="MH_TYPE" val="ENTRY"/>
</p:tagLst>
</file>

<file path=ppt/tags/tag28.xml><?xml version="1.0" encoding="utf-8"?>
<p:tagLst xmlns:p="http://schemas.openxmlformats.org/presentationml/2006/main">
  <p:tag name="ID" val="553512"/>
  <p:tag name="MH" val="20160830110146"/>
  <p:tag name="MH_LIBRARY" val="CONTENTS"/>
  <p:tag name="MH_ORDER" val="4"/>
  <p:tag name="MH_TYPE" val="NUMBER"/>
</p:tagLst>
</file>

<file path=ppt/tags/tag29.xml><?xml version="1.0" encoding="utf-8"?>
<p:tagLst xmlns:p="http://schemas.openxmlformats.org/presentationml/2006/main">
  <p:tag name="ID" val="553512"/>
  <p:tag name="MH" val="20160830110146"/>
  <p:tag name="MH_LIBRARY" val="CONTENTS"/>
  <p:tag name="MH_ORDER" val="4"/>
  <p:tag name="MH_TYPE" val="ENTRY"/>
</p:tagLst>
</file>

<file path=ppt/tags/tag30.xml><?xml version="1.0" encoding="utf-8"?>
<p:tagLst xmlns:p="http://schemas.openxmlformats.org/presentationml/2006/main">
  <p:tag name="ID" val="553512"/>
  <p:tag name="MH" val="20160830110146"/>
  <p:tag name="MH_LIBRARY" val="CONTENTS"/>
  <p:tag name="MH_TYPE" val="OTHERS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35.xml><?xml version="1.0" encoding="utf-8"?>
<p:tagLst xmlns:p="http://schemas.openxmlformats.org/presentationml/2006/main">
  <p:tag name="ID" val="553512"/>
  <p:tag name="MH" val="20160830110146"/>
  <p:tag name="MH_LIBRARY" val="CONTENTS"/>
  <p:tag name="MH_ORDER" val="1"/>
  <p:tag name="MH_TYPE" val="NUMBER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48.xml><?xml version="1.0" encoding="utf-8"?>
<p:tagLst xmlns:p="http://schemas.openxmlformats.org/presentationml/2006/main">
  <p:tag name="ID" val="553512"/>
  <p:tag name="MH" val="20160830110146"/>
  <p:tag name="MH_LIBRARY" val="CONTENTS"/>
  <p:tag name="MH_ORDER" val="1"/>
  <p:tag name="MH_TYPE" val="NUMBER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62.xml><?xml version="1.0" encoding="utf-8"?>
<p:tagLst xmlns:p="http://schemas.openxmlformats.org/presentationml/2006/main">
  <p:tag name="ID" val="553512"/>
  <p:tag name="MH" val="20160830110146"/>
  <p:tag name="MH_LIBRARY" val="CONTENTS"/>
  <p:tag name="MH_ORDER" val="1"/>
  <p:tag name="MH_TYPE" val="NUMBER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7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7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7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7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74.xml><?xml version="1.0" encoding="utf-8"?>
<p:tagLst xmlns:p="http://schemas.openxmlformats.org/presentationml/2006/main">
  <p:tag name="ID" val="553512"/>
  <p:tag name="MH" val="20160830110146"/>
  <p:tag name="MH_LIBRARY" val="CONTENTS"/>
  <p:tag name="MH_ORDER" val="1"/>
  <p:tag name="MH_TYPE" val="NUMBER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7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输入您的封面副标题"/>
  <p:tag name="KSO_WM_UNIT_SHOW_EDIT_AREA_INDICATION" val="1"/>
  <p:tag name="KSO_WM_UNIT_TYPE" val="b"/>
  <p:tag name="KSO_WM_UNIT_VALUE" val="111"/>
</p:tagLst>
</file>

<file path=ppt/tags/tag8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custom20205176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空白演示"/>
  <p:tag name="KSO_WM_UNIT_SHOW_EDIT_AREA_INDICATION" val="1"/>
  <p:tag name="KSO_WM_UNIT_TYPE" val="a"/>
  <p:tag name="KSO_WM_UNIT_VALUE" val="28"/>
</p:tagLst>
</file>

<file path=ppt/tags/tag81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4169</Words>
  <Application>WPS 演示</Application>
  <PresentationFormat/>
  <Paragraphs>224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微软雅黑</vt:lpstr>
      <vt:lpstr>Arial</vt:lpstr>
      <vt:lpstr>华文新魏</vt:lpstr>
      <vt:lpstr>Times New Roman</vt:lpstr>
      <vt:lpstr>汉仪雅酷黑-55J</vt:lpstr>
      <vt:lpstr>黑体</vt:lpstr>
      <vt:lpstr>汉仪君黑-45简</vt:lpstr>
      <vt:lpstr>Open Sans</vt:lpstr>
      <vt:lpstr>Segoe Print</vt:lpstr>
      <vt:lpstr>Open Sans</vt:lpstr>
      <vt:lpstr>Segoe UI</vt:lpstr>
      <vt:lpstr>Arial Unicode MS</vt:lpstr>
      <vt:lpstr>Calibri</vt:lpstr>
      <vt:lpstr>Wingdings</vt:lpstr>
      <vt:lpstr>汉仪君黑-45简</vt:lpstr>
      <vt:lpstr>汉仪雅酷黑-55J</vt:lpstr>
      <vt:lpstr>MS PGothic</vt:lpstr>
      <vt:lpstr>第一PPT，www.1ppt.com</vt:lpstr>
      <vt:lpstr>2018 Network and Distributed System Security (NDSS) Symposium, 《IOTFUZZER: Discovering Memory Corruptions in IoT Through App-based Fuzzing》 作者：Jiongyi Chen, Wenrui Diao, Qingchuan Zhao </vt:lpstr>
      <vt:lpstr>PowerPoint 演示文稿</vt:lpstr>
      <vt:lpstr>论文背景与概述</vt:lpstr>
      <vt:lpstr>PowerPoint 演示文稿</vt:lpstr>
      <vt:lpstr>PowerPoint 演示文稿</vt:lpstr>
      <vt:lpstr>研究方法与思路</vt:lpstr>
      <vt:lpstr>PowerPoint 演示文稿</vt:lpstr>
      <vt:lpstr>PowerPoint 演示文稿</vt:lpstr>
      <vt:lpstr>PowerPoint 演示文稿</vt:lpstr>
      <vt:lpstr>PowerPoint 演示文稿</vt:lpstr>
      <vt:lpstr>实验结果展示</vt:lpstr>
      <vt:lpstr>PowerPoint 演示文稿</vt:lpstr>
      <vt:lpstr>PowerPoint 演示文稿</vt:lpstr>
      <vt:lpstr>总结分析</vt:lpstr>
      <vt:lpstr>PowerPoint 演示文稿</vt:lpstr>
      <vt:lpstr>感谢聆听！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善良</cp:lastModifiedBy>
  <cp:revision>24</cp:revision>
  <cp:lastPrinted>2025-09-02T16:37:00Z</cp:lastPrinted>
  <dcterms:created xsi:type="dcterms:W3CDTF">2025-09-02T16:37:00Z</dcterms:created>
  <dcterms:modified xsi:type="dcterms:W3CDTF">2026-05-11T10:54:48Z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mondata">
    <vt:lpwstr>eyJoZGlkIjoiMjkyOGIxMTIzOGJkNWZhNmI4NWI3MzA1MWFjMDBjMjgifQ==</vt:lpwstr>
  </property>
  <property fmtid="{D5CDD505-2E9C-101B-9397-08002B2CF9AE}" pid="3" name="ICV">
    <vt:lpwstr>667089ABBB244BD2BA4B9C27FF99724C_13</vt:lpwstr>
  </property>
  <property fmtid="{D5CDD505-2E9C-101B-9397-08002B2CF9AE}" pid="4" name="KSOProductBuildVer">
    <vt:lpwstr>2052-12.1.0.25865</vt:lpwstr>
  </property>
  <property fmtid="{D5CDD505-2E9C-101B-9397-08002B2CF9AE}" pid="5" name="KSOTemplateUUID">
    <vt:lpwstr>v1.0_mb_lTT2mdl7KVxoBhspg2UoPQ==</vt:lpwstr>
  </property>
</Properties>
</file>