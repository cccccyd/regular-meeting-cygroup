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1855" r:id="rId2"/>
    <p:sldId id="1779" r:id="rId3"/>
    <p:sldId id="1787" r:id="rId4"/>
    <p:sldId id="1788" r:id="rId5"/>
    <p:sldId id="1877" r:id="rId6"/>
    <p:sldId id="1856" r:id="rId7"/>
    <p:sldId id="1882" r:id="rId8"/>
    <p:sldId id="1857" r:id="rId9"/>
    <p:sldId id="1858" r:id="rId10"/>
    <p:sldId id="1859" r:id="rId11"/>
    <p:sldId id="1874" r:id="rId12"/>
    <p:sldId id="1885" r:id="rId13"/>
    <p:sldId id="1884" r:id="rId14"/>
    <p:sldId id="1883" r:id="rId15"/>
    <p:sldId id="1880" r:id="rId16"/>
    <p:sldId id="1881" r:id="rId17"/>
    <p:sldId id="1878" r:id="rId18"/>
    <p:sldId id="1879" r:id="rId19"/>
    <p:sldId id="1876" r:id="rId20"/>
    <p:sldId id="1825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60DB6-D47D-420D-A313-128021A50BB0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5B987-1E06-4EBC-82C5-DF6871542F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23405" b="8394"/>
          <a:stretch>
            <a:fillRect/>
          </a:stretch>
        </p:blipFill>
        <p:spPr>
          <a:xfrm>
            <a:off x="-7998" y="-6894"/>
            <a:ext cx="12199999" cy="4347246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-7999" y="0"/>
            <a:ext cx="12199999" cy="4340352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0">
                <a:schemeClr val="bg1">
                  <a:alpha val="66000"/>
                </a:schemeClr>
              </a:gs>
              <a:gs pos="100000">
                <a:schemeClr val="bg1">
                  <a:alpha val="64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0845"/>
            <a:endParaRPr lang="zh-CN" altLang="en-US" sz="665" kern="0" dirty="0">
              <a:solidFill>
                <a:srgbClr val="FFFFFF"/>
              </a:solidFill>
              <a:sym typeface="Helvetica"/>
            </a:endParaRPr>
          </a:p>
        </p:txBody>
      </p:sp>
      <p:sp>
        <p:nvSpPr>
          <p:cNvPr id="4" name="Shape 30"/>
          <p:cNvSpPr/>
          <p:nvPr userDrawn="1"/>
        </p:nvSpPr>
        <p:spPr>
          <a:xfrm>
            <a:off x="-7998" y="4340352"/>
            <a:ext cx="12199999" cy="251764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10845"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kern="0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" name="AutoShape 7" descr="C:\Users\netlab\AppData\Roaming\Tencent\Users\152540513\QQ\WinTemp\RichOle\%JV)]WU0%W6ZJA7RU(.png"/>
          <p:cNvSpPr>
            <a:spLocks noChangeAspect="1" noChangeArrowheads="1"/>
          </p:cNvSpPr>
          <p:nvPr userDrawn="1"/>
        </p:nvSpPr>
        <p:spPr bwMode="auto">
          <a:xfrm>
            <a:off x="0" y="607568"/>
            <a:ext cx="214306" cy="214313"/>
          </a:xfrm>
          <a:prstGeom prst="rect">
            <a:avLst/>
          </a:prstGeom>
          <a:noFill/>
        </p:spPr>
        <p:txBody>
          <a:bodyPr vert="horz" wrap="square" lIns="64290" tIns="32145" rIns="64290" bIns="32145" numCol="1" anchor="t" anchorCtr="0" compatLnSpc="1"/>
          <a:lstStyle/>
          <a:p>
            <a:pPr algn="ctr" defTabSz="410845"/>
            <a:endParaRPr lang="zh-CN" altLang="en-US" sz="1265" kern="0">
              <a:solidFill>
                <a:sysClr val="windowText" lastClr="000000"/>
              </a:solidFill>
              <a:sym typeface="Helvetica"/>
            </a:endParaRPr>
          </a:p>
        </p:txBody>
      </p:sp>
      <p:sp>
        <p:nvSpPr>
          <p:cNvPr id="6" name="AutoShape 8" descr="C:\Users\netlab\AppData\Roaming\Tencent\Users\152540513\QQ\WinTemp\RichOle\%JV)]WU0%W6ZJA7RU(.png"/>
          <p:cNvSpPr>
            <a:spLocks noChangeAspect="1" noChangeArrowheads="1"/>
          </p:cNvSpPr>
          <p:nvPr userDrawn="1"/>
        </p:nvSpPr>
        <p:spPr bwMode="auto">
          <a:xfrm>
            <a:off x="0" y="607568"/>
            <a:ext cx="214306" cy="214313"/>
          </a:xfrm>
          <a:prstGeom prst="rect">
            <a:avLst/>
          </a:prstGeom>
          <a:noFill/>
        </p:spPr>
        <p:txBody>
          <a:bodyPr vert="horz" wrap="square" lIns="64290" tIns="32145" rIns="64290" bIns="32145" numCol="1" anchor="t" anchorCtr="0" compatLnSpc="1"/>
          <a:lstStyle/>
          <a:p>
            <a:pPr algn="ctr" defTabSz="410845"/>
            <a:endParaRPr lang="zh-CN" altLang="en-US" sz="1265" kern="0">
              <a:solidFill>
                <a:sysClr val="windowText" lastClr="000000"/>
              </a:solidFill>
              <a:sym typeface="Helvetica"/>
            </a:endParaRPr>
          </a:p>
        </p:txBody>
      </p:sp>
      <p:sp>
        <p:nvSpPr>
          <p:cNvPr id="7" name="AutoShape 9" descr="C:\Users\netlab\AppData\Roaming\Tencent\Users\152540513\QQ\WinTemp\RichOle\%JV)]WU0%W6ZJA7RU(.png"/>
          <p:cNvSpPr>
            <a:spLocks noChangeAspect="1" noChangeArrowheads="1"/>
          </p:cNvSpPr>
          <p:nvPr userDrawn="1"/>
        </p:nvSpPr>
        <p:spPr bwMode="auto">
          <a:xfrm>
            <a:off x="0" y="607568"/>
            <a:ext cx="214306" cy="214313"/>
          </a:xfrm>
          <a:prstGeom prst="rect">
            <a:avLst/>
          </a:prstGeom>
          <a:noFill/>
        </p:spPr>
        <p:txBody>
          <a:bodyPr vert="horz" wrap="square" lIns="64290" tIns="32145" rIns="64290" bIns="32145" numCol="1" anchor="t" anchorCtr="0" compatLnSpc="1"/>
          <a:lstStyle/>
          <a:p>
            <a:pPr algn="ctr" defTabSz="410845"/>
            <a:endParaRPr lang="zh-CN" altLang="en-US" sz="1265" kern="0">
              <a:solidFill>
                <a:sysClr val="windowText" lastClr="000000"/>
              </a:solidFill>
              <a:sym typeface="Helvetica"/>
            </a:endParaRPr>
          </a:p>
        </p:txBody>
      </p:sp>
      <p:sp>
        <p:nvSpPr>
          <p:cNvPr id="8" name="AutoShape 10" descr="C:\Users\netlab\AppData\Roaming\Tencent\Users\152540513\QQ\WinTemp\RichOle\%JV)]WU0%W6ZJA7RU(.png"/>
          <p:cNvSpPr>
            <a:spLocks noChangeAspect="1" noChangeArrowheads="1"/>
          </p:cNvSpPr>
          <p:nvPr userDrawn="1"/>
        </p:nvSpPr>
        <p:spPr bwMode="auto">
          <a:xfrm>
            <a:off x="0" y="607568"/>
            <a:ext cx="214306" cy="214313"/>
          </a:xfrm>
          <a:prstGeom prst="rect">
            <a:avLst/>
          </a:prstGeom>
          <a:noFill/>
        </p:spPr>
        <p:txBody>
          <a:bodyPr vert="horz" wrap="square" lIns="64290" tIns="32145" rIns="64290" bIns="32145" numCol="1" anchor="t" anchorCtr="0" compatLnSpc="1"/>
          <a:lstStyle/>
          <a:p>
            <a:pPr algn="ctr" defTabSz="410845"/>
            <a:endParaRPr lang="zh-CN" altLang="en-US" sz="1265" kern="0">
              <a:solidFill>
                <a:sysClr val="windowText" lastClr="000000"/>
              </a:solidFill>
              <a:sym typeface="Helvetica"/>
            </a:endParaRPr>
          </a:p>
        </p:txBody>
      </p:sp>
      <p:sp>
        <p:nvSpPr>
          <p:cNvPr id="9" name="AutoShape 11" descr="C:\Users\netlab\AppData\Roaming\Tencent\Users\152540513\QQ\WinTemp\RichOle\%JV)]WU0%W6ZJA7RU(.png"/>
          <p:cNvSpPr>
            <a:spLocks noChangeAspect="1" noChangeArrowheads="1"/>
          </p:cNvSpPr>
          <p:nvPr userDrawn="1"/>
        </p:nvSpPr>
        <p:spPr bwMode="auto">
          <a:xfrm>
            <a:off x="0" y="607568"/>
            <a:ext cx="214306" cy="214313"/>
          </a:xfrm>
          <a:prstGeom prst="rect">
            <a:avLst/>
          </a:prstGeom>
          <a:noFill/>
        </p:spPr>
        <p:txBody>
          <a:bodyPr vert="horz" wrap="square" lIns="64290" tIns="32145" rIns="64290" bIns="32145" numCol="1" anchor="t" anchorCtr="0" compatLnSpc="1"/>
          <a:lstStyle/>
          <a:p>
            <a:pPr algn="ctr" defTabSz="410845"/>
            <a:endParaRPr lang="zh-CN" altLang="en-US" sz="1265" kern="0">
              <a:solidFill>
                <a:sysClr val="windowText" lastClr="000000"/>
              </a:solidFill>
              <a:sym typeface="Helvetica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1033092" y="543055"/>
            <a:ext cx="10125816" cy="3008784"/>
          </a:xfrm>
          <a:prstGeom prst="rect">
            <a:avLst/>
          </a:prstGeom>
          <a:noFill/>
          <a:ln w="12700" cap="rnd">
            <a:solidFill>
              <a:schemeClr val="bg1"/>
            </a:solidFill>
            <a:prstDash val="dash"/>
            <a:round/>
          </a:ln>
        </p:spPr>
        <p:txBody>
          <a:bodyPr anchor="ctr"/>
          <a:lstStyle>
            <a:lvl1pPr lvl="0" algn="ctr">
              <a:defRPr sz="6185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0"/>
          <p:cNvSpPr/>
          <p:nvPr userDrawn="1"/>
        </p:nvSpPr>
        <p:spPr>
          <a:xfrm>
            <a:off x="-8255" y="-1905"/>
            <a:ext cx="12200255" cy="73723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10845"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250" kern="0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358" y="67310"/>
            <a:ext cx="11772207" cy="744625"/>
          </a:xfrm>
        </p:spPr>
        <p:txBody>
          <a:bodyPr>
            <a:normAutofit/>
          </a:bodyPr>
          <a:lstStyle>
            <a:lvl1pPr>
              <a:defRPr sz="30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35EF0-F1E5-476D-8FAE-E222393CAF14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65F9D-F3F6-4996-8EE6-4E8463525F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8" y="214721"/>
            <a:ext cx="3113573" cy="8345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10310" y="1339850"/>
            <a:ext cx="9346565" cy="1443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1339850"/>
            <a:ext cx="11817985" cy="1592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4000" dirty="0">
                <a:latin typeface="+mn-ea"/>
                <a:sym typeface="+mn-ea"/>
              </a:rPr>
              <a:t>ByCAN Reverse Engineering Controller Area  Network (CAN) Messages From Bit to Byte Level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9870" y="2997200"/>
            <a:ext cx="1158875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dirty="0"/>
              <a:t>ByCAN</a:t>
            </a:r>
            <a:r>
              <a:rPr lang="zh-CN" altLang="en-US" sz="3200" dirty="0"/>
              <a:t>：从位到字节级控制器局域网</a:t>
            </a:r>
            <a:r>
              <a:rPr lang="en-US" altLang="zh-CN" sz="3200" dirty="0"/>
              <a:t> </a:t>
            </a:r>
            <a:r>
              <a:rPr lang="zh-CN" altLang="en-US" sz="3200" dirty="0"/>
              <a:t>（</a:t>
            </a:r>
            <a:r>
              <a:rPr lang="en-US" altLang="zh-CN" sz="3200" dirty="0"/>
              <a:t>CAN</a:t>
            </a:r>
            <a:r>
              <a:rPr lang="zh-CN" altLang="en-US" sz="3200" dirty="0"/>
              <a:t>）</a:t>
            </a:r>
            <a:r>
              <a:rPr lang="en-US" altLang="zh-CN" sz="3200" dirty="0"/>
              <a:t> </a:t>
            </a:r>
            <a:r>
              <a:rPr lang="zh-CN" altLang="en-US" sz="3200" dirty="0"/>
              <a:t>消息的逆向工程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313545" y="4267200"/>
            <a:ext cx="24371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汇报人：任东辰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7705" y="5322570"/>
            <a:ext cx="10469245" cy="959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/>
              <a:t>Xiaojie Lin, Baihe Ma, Xu Wang, Ying He, and Ren Ping Liu</a:t>
            </a:r>
          </a:p>
          <a:p>
            <a:pPr algn="ctr"/>
            <a:r>
              <a:rPr lang="en-US" altLang="zh-CN" dirty="0"/>
              <a:t>Global Big Data Technologies Centre, University of Technology Sydney</a:t>
            </a:r>
          </a:p>
          <a:p>
            <a:pPr algn="ctr"/>
            <a:r>
              <a:rPr lang="en-US" altLang="zh-CN" dirty="0"/>
              <a:t>IEEE INTERNET OF THINGS JOURNAL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/>
        </p:nvSpPr>
        <p:spPr>
          <a:xfrm>
            <a:off x="2055225" y="1565804"/>
            <a:ext cx="8256270" cy="868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0" i="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3600" b="1" dirty="0">
              <a:solidFill>
                <a:schemeClr val="accent5"/>
              </a:solidFill>
              <a:sym typeface="+mn-ea"/>
            </a:endParaRPr>
          </a:p>
        </p:txBody>
      </p:sp>
      <p:grpSp>
        <p:nvGrpSpPr>
          <p:cNvPr id="9" name="组合 16"/>
          <p:cNvGrpSpPr/>
          <p:nvPr/>
        </p:nvGrpSpPr>
        <p:grpSpPr>
          <a:xfrm>
            <a:off x="2646511" y="1497863"/>
            <a:ext cx="7242295" cy="664444"/>
            <a:chOff x="4562352" y="4005559"/>
            <a:chExt cx="10300467" cy="945016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grpSpPr>
        <p:sp>
          <p:nvSpPr>
            <p:cNvPr id="10" name="MH_SubTitle_1"/>
            <p:cNvSpPr>
              <a:spLocks noChangeArrowheads="1"/>
            </p:cNvSpPr>
            <p:nvPr/>
          </p:nvSpPr>
          <p:spPr bwMode="auto">
            <a:xfrm flipH="1">
              <a:off x="4562352" y="4005559"/>
              <a:ext cx="8974666" cy="945015"/>
            </a:xfrm>
            <a:prstGeom prst="homePlat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10845"/>
              <a:r>
                <a:rPr lang="zh-CN" altLang="en-US" sz="3165" b="1" kern="0" dirty="0">
                  <a:solidFill>
                    <a:srgbClr val="FFFFFF"/>
                  </a:solidFill>
                  <a:latin typeface="华文中宋" panose="02010600040101010101" charset="-122"/>
                  <a:ea typeface="华文中宋" panose="02010600040101010101" charset="-122"/>
                  <a:sym typeface="Helvetica"/>
                </a:rPr>
                <a:t>一、研究背景</a:t>
              </a:r>
            </a:p>
          </p:txBody>
        </p:sp>
        <p:sp>
          <p:nvSpPr>
            <p:cNvPr id="11" name="MH_Other_2"/>
            <p:cNvSpPr/>
            <p:nvPr/>
          </p:nvSpPr>
          <p:spPr bwMode="auto">
            <a:xfrm flipH="1">
              <a:off x="13822575" y="4005560"/>
              <a:ext cx="1040244" cy="945015"/>
            </a:xfrm>
            <a:custGeom>
              <a:avLst/>
              <a:gdLst/>
              <a:ahLst/>
              <a:cxnLst>
                <a:cxn ang="0">
                  <a:pos x="406047" y="0"/>
                </a:cxn>
                <a:cxn ang="0">
                  <a:pos x="0" y="0"/>
                </a:cxn>
                <a:cxn ang="0">
                  <a:pos x="137728" y="252028"/>
                </a:cxn>
                <a:cxn ang="0">
                  <a:pos x="0" y="504056"/>
                </a:cxn>
                <a:cxn ang="0">
                  <a:pos x="406047" y="504056"/>
                </a:cxn>
                <a:cxn ang="0">
                  <a:pos x="406047" y="0"/>
                </a:cxn>
              </a:cxnLst>
              <a:rect l="0" t="0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lnTo>
                    <a:pt x="406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10845"/>
              <a:endParaRPr lang="zh-CN" altLang="en-US" sz="2530" kern="0">
                <a:solidFill>
                  <a:sysClr val="windowText" lastClr="000000"/>
                </a:solidFill>
                <a:sym typeface="Helvetica"/>
              </a:endParaRPr>
            </a:p>
          </p:txBody>
        </p:sp>
      </p:grpSp>
      <p:grpSp>
        <p:nvGrpSpPr>
          <p:cNvPr id="18" name="组合 16"/>
          <p:cNvGrpSpPr/>
          <p:nvPr/>
        </p:nvGrpSpPr>
        <p:grpSpPr>
          <a:xfrm>
            <a:off x="2646512" y="4142847"/>
            <a:ext cx="7242294" cy="664444"/>
            <a:chOff x="4562353" y="4005559"/>
            <a:chExt cx="10300466" cy="945016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grpSpPr>
        <p:sp>
          <p:nvSpPr>
            <p:cNvPr id="19" name="MH_SubTitle_1"/>
            <p:cNvSpPr>
              <a:spLocks noChangeArrowheads="1"/>
            </p:cNvSpPr>
            <p:nvPr/>
          </p:nvSpPr>
          <p:spPr bwMode="auto">
            <a:xfrm flipH="1">
              <a:off x="4562353" y="4005559"/>
              <a:ext cx="8974665" cy="945015"/>
            </a:xfrm>
            <a:prstGeom prst="homePlat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l" defTabSz="410845">
                <a:buClrTx/>
                <a:buSzTx/>
                <a:buFontTx/>
              </a:pPr>
              <a:r>
                <a:rPr lang="zh-CN" altLang="en-US" sz="3165" b="1" kern="0" dirty="0">
                  <a:solidFill>
                    <a:srgbClr val="FFFFFF"/>
                  </a:solidFill>
                  <a:latin typeface="华文中宋" panose="02010600040101010101" charset="-122"/>
                  <a:ea typeface="华文中宋" panose="02010600040101010101" charset="-122"/>
                  <a:sym typeface="Helvetica"/>
                </a:rPr>
                <a:t>三、实验评估</a:t>
              </a:r>
            </a:p>
          </p:txBody>
        </p:sp>
        <p:sp>
          <p:nvSpPr>
            <p:cNvPr id="20" name="MH_Other_2"/>
            <p:cNvSpPr/>
            <p:nvPr/>
          </p:nvSpPr>
          <p:spPr bwMode="auto">
            <a:xfrm flipH="1">
              <a:off x="13822575" y="4005560"/>
              <a:ext cx="1040244" cy="945015"/>
            </a:xfrm>
            <a:custGeom>
              <a:avLst/>
              <a:gdLst/>
              <a:ahLst/>
              <a:cxnLst>
                <a:cxn ang="0">
                  <a:pos x="406047" y="0"/>
                </a:cxn>
                <a:cxn ang="0">
                  <a:pos x="0" y="0"/>
                </a:cxn>
                <a:cxn ang="0">
                  <a:pos x="137728" y="252028"/>
                </a:cxn>
                <a:cxn ang="0">
                  <a:pos x="0" y="504056"/>
                </a:cxn>
                <a:cxn ang="0">
                  <a:pos x="406047" y="504056"/>
                </a:cxn>
                <a:cxn ang="0">
                  <a:pos x="406047" y="0"/>
                </a:cxn>
              </a:cxnLst>
              <a:rect l="0" t="0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lnTo>
                    <a:pt x="406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10845"/>
              <a:endParaRPr lang="zh-CN" altLang="en-US" sz="2530" kern="0">
                <a:solidFill>
                  <a:sysClr val="windowText" lastClr="000000"/>
                </a:solidFill>
                <a:sym typeface="Helvetica"/>
              </a:endParaRPr>
            </a:p>
          </p:txBody>
        </p:sp>
      </p:grpSp>
      <p:grpSp>
        <p:nvGrpSpPr>
          <p:cNvPr id="21" name="组合 16"/>
          <p:cNvGrpSpPr/>
          <p:nvPr/>
        </p:nvGrpSpPr>
        <p:grpSpPr>
          <a:xfrm>
            <a:off x="2646567" y="5453401"/>
            <a:ext cx="7242294" cy="738738"/>
            <a:chOff x="4562353" y="4005560"/>
            <a:chExt cx="10300466" cy="1050682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grpSpPr>
        <p:sp>
          <p:nvSpPr>
            <p:cNvPr id="22" name="MH_SubTitle_1"/>
            <p:cNvSpPr>
              <a:spLocks noChangeArrowheads="1"/>
            </p:cNvSpPr>
            <p:nvPr/>
          </p:nvSpPr>
          <p:spPr bwMode="auto">
            <a:xfrm flipH="1">
              <a:off x="4562353" y="4111227"/>
              <a:ext cx="8974665" cy="945015"/>
            </a:xfrm>
            <a:prstGeom prst="homePlat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l" defTabSz="410845">
                <a:buClrTx/>
                <a:buSzTx/>
                <a:buFontTx/>
              </a:pPr>
              <a:r>
                <a:rPr lang="zh-CN" altLang="en-US" sz="3165" b="1" kern="0" dirty="0">
                  <a:solidFill>
                    <a:srgbClr val="FFFFFF"/>
                  </a:solidFill>
                  <a:latin typeface="华文中宋" panose="02010600040101010101" charset="-122"/>
                  <a:ea typeface="华文中宋" panose="02010600040101010101" charset="-122"/>
                  <a:sym typeface="Helvetica"/>
                </a:rPr>
                <a:t>四、总结</a:t>
              </a:r>
            </a:p>
          </p:txBody>
        </p:sp>
        <p:sp>
          <p:nvSpPr>
            <p:cNvPr id="23" name="MH_Other_2"/>
            <p:cNvSpPr/>
            <p:nvPr/>
          </p:nvSpPr>
          <p:spPr bwMode="auto">
            <a:xfrm flipH="1">
              <a:off x="13822575" y="4005560"/>
              <a:ext cx="1040244" cy="945015"/>
            </a:xfrm>
            <a:custGeom>
              <a:avLst/>
              <a:gdLst/>
              <a:ahLst/>
              <a:cxnLst>
                <a:cxn ang="0">
                  <a:pos x="406047" y="0"/>
                </a:cxn>
                <a:cxn ang="0">
                  <a:pos x="0" y="0"/>
                </a:cxn>
                <a:cxn ang="0">
                  <a:pos x="137728" y="252028"/>
                </a:cxn>
                <a:cxn ang="0">
                  <a:pos x="0" y="504056"/>
                </a:cxn>
                <a:cxn ang="0">
                  <a:pos x="406047" y="504056"/>
                </a:cxn>
                <a:cxn ang="0">
                  <a:pos x="406047" y="0"/>
                </a:cxn>
              </a:cxnLst>
              <a:rect l="0" t="0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lnTo>
                    <a:pt x="406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10845"/>
              <a:endParaRPr lang="zh-CN" altLang="en-US" sz="2530" kern="0">
                <a:solidFill>
                  <a:sysClr val="windowText" lastClr="000000"/>
                </a:solidFill>
                <a:sym typeface="Helvetica"/>
              </a:endParaRPr>
            </a:p>
          </p:txBody>
        </p:sp>
      </p:grpSp>
      <p:sp>
        <p:nvSpPr>
          <p:cNvPr id="24" name="标题 1"/>
          <p:cNvSpPr>
            <a:spLocks noGrp="1"/>
          </p:cNvSpPr>
          <p:nvPr/>
        </p:nvSpPr>
        <p:spPr>
          <a:xfrm>
            <a:off x="755923" y="884771"/>
            <a:ext cx="1275147" cy="53072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0" i="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 b="1" dirty="0">
                <a:solidFill>
                  <a:schemeClr val="accent5"/>
                </a:solidFill>
                <a:sym typeface="+mn-ea"/>
              </a:rPr>
              <a:t>目 录</a:t>
            </a:r>
          </a:p>
        </p:txBody>
      </p:sp>
      <p:grpSp>
        <p:nvGrpSpPr>
          <p:cNvPr id="26" name="组合 16"/>
          <p:cNvGrpSpPr/>
          <p:nvPr/>
        </p:nvGrpSpPr>
        <p:grpSpPr>
          <a:xfrm>
            <a:off x="2646511" y="2912771"/>
            <a:ext cx="7242294" cy="664443"/>
            <a:chOff x="4562353" y="4005560"/>
            <a:chExt cx="10300466" cy="945015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grpSpPr>
        <p:sp>
          <p:nvSpPr>
            <p:cNvPr id="27" name="MH_SubTitle_1"/>
            <p:cNvSpPr>
              <a:spLocks noChangeArrowheads="1"/>
            </p:cNvSpPr>
            <p:nvPr/>
          </p:nvSpPr>
          <p:spPr bwMode="auto">
            <a:xfrm flipH="1">
              <a:off x="4562353" y="4005560"/>
              <a:ext cx="8974666" cy="945015"/>
            </a:xfrm>
            <a:prstGeom prst="homePlat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10845"/>
              <a:r>
                <a:rPr lang="zh-CN" altLang="en-US" sz="3165" b="1" kern="0" dirty="0">
                  <a:solidFill>
                    <a:srgbClr val="FFFFFF"/>
                  </a:solidFill>
                  <a:latin typeface="华文中宋" panose="02010600040101010101" charset="-122"/>
                  <a:ea typeface="华文中宋" panose="02010600040101010101" charset="-122"/>
                  <a:sym typeface="Helvetica"/>
                </a:rPr>
                <a:t>二、技术实现</a:t>
              </a:r>
            </a:p>
          </p:txBody>
        </p:sp>
        <p:sp>
          <p:nvSpPr>
            <p:cNvPr id="28" name="MH_Other_2"/>
            <p:cNvSpPr/>
            <p:nvPr/>
          </p:nvSpPr>
          <p:spPr bwMode="auto">
            <a:xfrm flipH="1">
              <a:off x="13822575" y="4005560"/>
              <a:ext cx="1040244" cy="945015"/>
            </a:xfrm>
            <a:custGeom>
              <a:avLst/>
              <a:gdLst/>
              <a:ahLst/>
              <a:cxnLst>
                <a:cxn ang="0">
                  <a:pos x="406047" y="0"/>
                </a:cxn>
                <a:cxn ang="0">
                  <a:pos x="0" y="0"/>
                </a:cxn>
                <a:cxn ang="0">
                  <a:pos x="137728" y="252028"/>
                </a:cxn>
                <a:cxn ang="0">
                  <a:pos x="0" y="504056"/>
                </a:cxn>
                <a:cxn ang="0">
                  <a:pos x="406047" y="504056"/>
                </a:cxn>
                <a:cxn ang="0">
                  <a:pos x="406047" y="0"/>
                </a:cxn>
              </a:cxnLst>
              <a:rect l="0" t="0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lnTo>
                    <a:pt x="406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10845"/>
              <a:endParaRPr lang="zh-CN" altLang="en-US" sz="2530" kern="0">
                <a:solidFill>
                  <a:sysClr val="windowText" lastClr="000000"/>
                </a:solidFill>
                <a:sym typeface="Helvetic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/>
        </p:nvSpPr>
        <p:spPr>
          <a:xfrm>
            <a:off x="1773555" y="1107440"/>
            <a:ext cx="8256270" cy="868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0" i="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3600" b="1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187" y="120730"/>
            <a:ext cx="616984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0845"/>
            <a:r>
              <a:rPr lang="zh-CN" altLang="en-US" sz="3200" b="1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一、研究背景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8988" y="1121154"/>
            <a:ext cx="10279011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CAN</a:t>
            </a:r>
            <a:endParaRPr lang="zh-CN" altLang="en-US" sz="4000" dirty="0">
              <a:solidFill>
                <a:srgbClr val="0070C0"/>
              </a:solidFill>
              <a:latin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7545" y="1850390"/>
            <a:ext cx="110045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zh-CN" altLang="en-US" sz="2000" dirty="0"/>
              <a:t>一个</a:t>
            </a:r>
            <a:r>
              <a:rPr lang="en-US" altLang="zh-CN" sz="2000" dirty="0"/>
              <a:t> CAN </a:t>
            </a:r>
            <a:r>
              <a:rPr lang="zh-CN" altLang="en-US" sz="2000" dirty="0"/>
              <a:t>帧包含</a:t>
            </a:r>
            <a:r>
              <a:rPr lang="en-US" altLang="zh-CN" sz="2000" dirty="0"/>
              <a:t> SOF</a:t>
            </a:r>
            <a:r>
              <a:rPr lang="zh-CN" altLang="en-US" sz="2000" dirty="0"/>
              <a:t>、仲裁字段、控制字段、数据字段、</a:t>
            </a:r>
            <a:r>
              <a:rPr lang="en-US" altLang="zh-CN" sz="2000" dirty="0"/>
              <a:t>CRC </a:t>
            </a:r>
            <a:r>
              <a:rPr lang="zh-CN" altLang="en-US" sz="2000" dirty="0"/>
              <a:t>字段、</a:t>
            </a:r>
            <a:r>
              <a:rPr lang="en-US" altLang="zh-CN" sz="2000" dirty="0"/>
              <a:t>ACK </a:t>
            </a:r>
            <a:r>
              <a:rPr lang="zh-CN" altLang="en-US" sz="2000" dirty="0"/>
              <a:t>字段和</a:t>
            </a:r>
            <a:r>
              <a:rPr lang="en-US" altLang="zh-CN" sz="2000" dirty="0"/>
              <a:t> EOF</a:t>
            </a:r>
            <a:r>
              <a:rPr lang="zh-CN" altLang="en-US" sz="2000" dirty="0"/>
              <a:t>，</a:t>
            </a:r>
            <a:r>
              <a:rPr lang="en-US" altLang="zh-CN" sz="2000" dirty="0"/>
              <a:t>ECU </a:t>
            </a:r>
            <a:r>
              <a:rPr lang="zh-CN" altLang="en-US" sz="2000" dirty="0"/>
              <a:t>有自己的</a:t>
            </a:r>
            <a:r>
              <a:rPr lang="en-US" altLang="zh-CN" sz="2000" dirty="0"/>
              <a:t> CAN ID </a:t>
            </a:r>
            <a:r>
              <a:rPr lang="zh-CN" altLang="en-US" sz="2000" dirty="0"/>
              <a:t>作为唯一标识符。每个帧的</a:t>
            </a:r>
            <a:r>
              <a:rPr lang="en-US" altLang="zh-CN" sz="2000" dirty="0"/>
              <a:t> CAN ID </a:t>
            </a:r>
            <a:r>
              <a:rPr lang="zh-CN" altLang="en-US" sz="2000" dirty="0"/>
              <a:t>是仲裁并发</a:t>
            </a:r>
            <a:r>
              <a:rPr lang="en-US" altLang="zh-CN" sz="2000" dirty="0"/>
              <a:t> CAN </a:t>
            </a:r>
            <a:r>
              <a:rPr lang="zh-CN" altLang="en-US" sz="2000" dirty="0"/>
              <a:t>帧优先级的参考。车辆状态的实时信息包含在数据有效载荷中。数据负载的长度最大为</a:t>
            </a:r>
            <a:r>
              <a:rPr lang="en-US" altLang="zh-CN" sz="2000" dirty="0"/>
              <a:t> 8 </a:t>
            </a:r>
            <a:r>
              <a:rPr lang="zh-CN" altLang="en-US" sz="2000" dirty="0"/>
              <a:t>字节。一个</a:t>
            </a:r>
            <a:r>
              <a:rPr lang="en-US" altLang="zh-CN" sz="2000" dirty="0"/>
              <a:t> CAN </a:t>
            </a:r>
            <a:r>
              <a:rPr lang="zh-CN" altLang="en-US" sz="2000" dirty="0"/>
              <a:t>帧在数据有效载荷中可能包含多个不同功能的</a:t>
            </a:r>
            <a:r>
              <a:rPr lang="en-US" altLang="zh-CN" sz="2000" dirty="0"/>
              <a:t> CAN </a:t>
            </a:r>
            <a:r>
              <a:rPr lang="zh-CN" altLang="en-US" sz="2000" dirty="0"/>
              <a:t>信号。</a:t>
            </a:r>
            <a:r>
              <a:rPr lang="en-US" altLang="zh-CN" sz="2000" dirty="0"/>
              <a:t>OEM </a:t>
            </a:r>
            <a:r>
              <a:rPr lang="zh-CN" altLang="en-US" sz="2000" dirty="0"/>
              <a:t>对</a:t>
            </a:r>
            <a:r>
              <a:rPr lang="en-US" altLang="zh-CN" sz="2000" dirty="0"/>
              <a:t> CAN </a:t>
            </a:r>
            <a:r>
              <a:rPr lang="zh-CN" altLang="en-US" sz="2000" dirty="0"/>
              <a:t>帧的解码规范不同，因此不同的车型可能会对相同的</a:t>
            </a:r>
            <a:r>
              <a:rPr lang="en-US" altLang="zh-CN" sz="2000" dirty="0"/>
              <a:t> CAN </a:t>
            </a:r>
            <a:r>
              <a:rPr lang="zh-CN" altLang="en-US" sz="2000" dirty="0"/>
              <a:t>信号使用不同的</a:t>
            </a:r>
            <a:r>
              <a:rPr lang="en-US" altLang="zh-CN" sz="2000" dirty="0"/>
              <a:t> CAN ID</a:t>
            </a:r>
            <a:r>
              <a:rPr lang="zh-CN" altLang="en-US" sz="2000" dirty="0"/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8365" y="4332605"/>
            <a:ext cx="10457815" cy="1818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/>
              <a:t>DBSCAN </a:t>
            </a:r>
            <a:r>
              <a:rPr lang="zh-CN" altLang="en-US" sz="2000"/>
              <a:t>聚类算法于</a:t>
            </a:r>
            <a:r>
              <a:rPr lang="en-US" altLang="zh-CN" sz="2000"/>
              <a:t> 1996 </a:t>
            </a:r>
            <a:r>
              <a:rPr lang="zh-CN" altLang="en-US" sz="2000"/>
              <a:t>年首次推出，广泛用于识别数据模式</a:t>
            </a:r>
            <a:r>
              <a:rPr lang="en-US" altLang="zh-CN" sz="2000"/>
              <a:t> </a:t>
            </a:r>
            <a:r>
              <a:rPr lang="zh-CN" altLang="en-US" sz="2000"/>
              <a:t>。</a:t>
            </a:r>
            <a:r>
              <a:rPr lang="en-US" altLang="zh-CN" sz="2000"/>
              <a:t>DBSCAN </a:t>
            </a:r>
            <a:r>
              <a:rPr lang="zh-CN" altLang="en-US" sz="2000"/>
              <a:t>识别具有许多附近邻居的核心点、可从核心点到达但本身不密集的边界点，以及单独位于低密度区域的异常值</a:t>
            </a:r>
            <a:r>
              <a:rPr lang="en-US" altLang="zh-CN" sz="2000"/>
              <a:t> </a:t>
            </a:r>
            <a:r>
              <a:rPr lang="zh-CN" altLang="en-US" sz="2000"/>
              <a:t>。与</a:t>
            </a:r>
            <a:r>
              <a:rPr lang="en-US" altLang="zh-CN" sz="2000"/>
              <a:t> K-means </a:t>
            </a:r>
            <a:r>
              <a:rPr lang="zh-CN" altLang="en-US" sz="2000"/>
              <a:t>不同，</a:t>
            </a:r>
            <a:r>
              <a:rPr lang="en-US" altLang="zh-CN" sz="2000"/>
              <a:t>DBSCAN </a:t>
            </a:r>
            <a:r>
              <a:rPr lang="zh-CN" altLang="en-US" sz="2000"/>
              <a:t>不需要将集群数的指定作为输入参数。相反，</a:t>
            </a:r>
            <a:r>
              <a:rPr lang="en-US" altLang="zh-CN" sz="2000"/>
              <a:t>DBSCAN </a:t>
            </a:r>
            <a:r>
              <a:rPr lang="zh-CN" altLang="en-US" sz="2000"/>
              <a:t>聚类算法只需要两个参数：</a:t>
            </a:r>
            <a:r>
              <a:rPr lang="en-US" altLang="zh-CN" sz="2000"/>
              <a:t>1</a:t>
            </a:r>
            <a:r>
              <a:rPr lang="zh-CN" altLang="en-US" sz="2000"/>
              <a:t>）</a:t>
            </a:r>
            <a:r>
              <a:rPr lang="en-US" altLang="zh-CN" sz="2000"/>
              <a:t> </a:t>
            </a:r>
            <a:r>
              <a:rPr lang="zh-CN" altLang="en-US" sz="2000"/>
              <a:t>每个点周围的搜索半径以查找邻居，</a:t>
            </a:r>
            <a:r>
              <a:rPr lang="en-US" altLang="zh-CN" sz="2000"/>
              <a:t> 2</a:t>
            </a:r>
            <a:r>
              <a:rPr lang="zh-CN" altLang="en-US" sz="2000"/>
              <a:t>）</a:t>
            </a:r>
            <a:r>
              <a:rPr lang="en-US" altLang="zh-CN" sz="2000"/>
              <a:t> </a:t>
            </a:r>
            <a:r>
              <a:rPr lang="zh-CN" altLang="en-US" sz="2000"/>
              <a:t>确定核心点的密集区域的最小点数</a:t>
            </a:r>
            <a:r>
              <a:rPr lang="en-US" altLang="zh-CN" sz="2000"/>
              <a:t> minPts</a:t>
            </a:r>
            <a:r>
              <a:rPr lang="zh-CN" altLang="en-US" sz="2000"/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8988" y="3724654"/>
            <a:ext cx="10279011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DBSCAN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3187" y="93425"/>
            <a:ext cx="616984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0845"/>
            <a:r>
              <a:rPr lang="zh-CN" altLang="en-US" sz="3200" b="1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一、研究背景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3157" y="1158114"/>
            <a:ext cx="6169842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OBD-II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453157" y="1734169"/>
            <a:ext cx="11108690" cy="20233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/>
              <a:t>OBD</a:t>
            </a:r>
            <a:r>
              <a:rPr lang="zh-CN" altLang="en-US" sz="2000" dirty="0"/>
              <a:t>车载诊断系统，它是一个请求响应系统。用户使用预定义的</a:t>
            </a:r>
            <a:r>
              <a:rPr lang="en-US" altLang="zh-CN" sz="2000" dirty="0"/>
              <a:t>PID</a:t>
            </a:r>
            <a:r>
              <a:rPr lang="zh-CN" altLang="en-US" sz="2000" dirty="0"/>
              <a:t>来请求查询，</a:t>
            </a:r>
            <a:r>
              <a:rPr lang="en-US" altLang="zh-CN" sz="2000" dirty="0"/>
              <a:t>ECU</a:t>
            </a:r>
            <a:r>
              <a:rPr lang="zh-CN" altLang="en-US" sz="2000" dirty="0"/>
              <a:t>会响应请求并回复车辆状态数据。</a:t>
            </a:r>
            <a:r>
              <a:rPr lang="en-US" altLang="zh-CN" sz="2000" dirty="0"/>
              <a:t>OBD-II </a:t>
            </a:r>
            <a:r>
              <a:rPr lang="zh-CN" altLang="en-US" sz="2000" dirty="0"/>
              <a:t>是现代车辆诊断的全球强制性要求，它的响应和回复报文都由</a:t>
            </a:r>
            <a:r>
              <a:rPr lang="en-US" altLang="zh-CN" sz="2000" dirty="0"/>
              <a:t>CAN</a:t>
            </a:r>
            <a:r>
              <a:rPr lang="zh-CN" altLang="en-US" sz="2000" dirty="0"/>
              <a:t>数据包封装。在诊断响应的同时，</a:t>
            </a:r>
            <a:r>
              <a:rPr lang="en-US" altLang="zh-CN" sz="2000" dirty="0"/>
              <a:t>CAN</a:t>
            </a:r>
            <a:r>
              <a:rPr lang="zh-CN" altLang="en-US" sz="2000" dirty="0"/>
              <a:t>流量中也有车辆的状态数据。使用实时车辆诊断的数据可以帮助我们还原出</a:t>
            </a:r>
            <a:r>
              <a:rPr lang="en-US" altLang="zh-CN" sz="2000" dirty="0"/>
              <a:t>CAN</a:t>
            </a:r>
            <a:r>
              <a:rPr lang="zh-CN" altLang="en-US" sz="2000" dirty="0"/>
              <a:t>流量中的一些协议规范。</a:t>
            </a: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1E9242-6A5C-9AD5-CE46-361EEB31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05" y="3757477"/>
            <a:ext cx="8773749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410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  <a:sym typeface="Helvetica"/>
              </a:rPr>
            </a:b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9435" y="67310"/>
            <a:ext cx="616984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0845"/>
            <a:r>
              <a:rPr lang="zh-CN" altLang="en-US" sz="3200" b="1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一、研究背景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6297" y="1387070"/>
            <a:ext cx="6665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与现有的逆向方法对比：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A13980-FFC8-1A8F-EAE6-556BACB00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80" y="1787180"/>
            <a:ext cx="10704039" cy="4308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49956" y="2148370"/>
            <a:ext cx="986800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79705" algn="just"/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49573" y="1249320"/>
            <a:ext cx="6175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+mj-lt"/>
              </a:rPr>
              <a:t>ByCAN</a:t>
            </a:r>
            <a:r>
              <a:rPr lang="zh-CN" altLang="en-US" sz="2400" dirty="0">
                <a:latin typeface="+mj-lt"/>
              </a:rPr>
              <a:t>整体流程</a:t>
            </a:r>
            <a:r>
              <a:rPr lang="zh-CN" altLang="en-US" sz="2400" dirty="0"/>
              <a:t>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72856C-D271-51C6-FAD2-B693965D6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01" y="1851662"/>
            <a:ext cx="8050369" cy="44115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BD55-0193-A6B4-2996-759BED03E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0279F-594A-5A78-F1E3-149C640F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07F16A-BEE2-795B-5A13-539185806560}"/>
              </a:ext>
            </a:extLst>
          </p:cNvPr>
          <p:cNvSpPr txBox="1"/>
          <p:nvPr/>
        </p:nvSpPr>
        <p:spPr>
          <a:xfrm>
            <a:off x="1239715" y="1872651"/>
            <a:ext cx="815046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本文基于对 </a:t>
            </a:r>
            <a:r>
              <a:rPr lang="en-US" altLang="zh-CN" dirty="0" err="1"/>
              <a:t>OpenDBC</a:t>
            </a:r>
            <a:r>
              <a:rPr lang="en-US" altLang="zh-CN" dirty="0"/>
              <a:t> </a:t>
            </a:r>
            <a:r>
              <a:rPr lang="zh-CN" altLang="en-US" dirty="0"/>
              <a:t>存储库中 </a:t>
            </a:r>
            <a:r>
              <a:rPr lang="en-US" altLang="zh-CN" dirty="0"/>
              <a:t>DBC </a:t>
            </a:r>
            <a:r>
              <a:rPr lang="zh-CN" altLang="en-US" dirty="0"/>
              <a:t>文件的观察，考虑了 </a:t>
            </a:r>
            <a:r>
              <a:rPr lang="en-US" altLang="zh-CN" dirty="0"/>
              <a:t>CAN </a:t>
            </a:r>
            <a:r>
              <a:rPr lang="zh-CN" altLang="en-US" dirty="0"/>
              <a:t>信号的字节级模式。</a:t>
            </a:r>
            <a:r>
              <a:rPr lang="en-US" altLang="zh-CN" dirty="0" err="1"/>
              <a:t>OpenDBC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DBC </a:t>
            </a:r>
            <a:r>
              <a:rPr lang="zh-CN" altLang="en-US" dirty="0"/>
              <a:t>文件中涵盖了 </a:t>
            </a:r>
            <a:r>
              <a:rPr lang="en-US" altLang="zh-CN" dirty="0"/>
              <a:t>34 495 </a:t>
            </a:r>
            <a:r>
              <a:rPr lang="zh-CN" altLang="en-US" dirty="0"/>
              <a:t>个 </a:t>
            </a:r>
            <a:r>
              <a:rPr lang="en-US" altLang="zh-CN" dirty="0"/>
              <a:t>CAN </a:t>
            </a:r>
            <a:r>
              <a:rPr lang="zh-CN" altLang="en-US" dirty="0"/>
              <a:t>信号，其中 </a:t>
            </a:r>
            <a:r>
              <a:rPr lang="en-US" altLang="zh-CN" dirty="0"/>
              <a:t>98.25% </a:t>
            </a:r>
            <a:r>
              <a:rPr lang="zh-CN" altLang="en-US" dirty="0"/>
              <a:t>的 </a:t>
            </a:r>
            <a:r>
              <a:rPr lang="en-US" altLang="zh-CN" dirty="0"/>
              <a:t>CAN </a:t>
            </a:r>
            <a:r>
              <a:rPr lang="zh-CN" altLang="en-US" dirty="0"/>
              <a:t>信号短于或等于 </a:t>
            </a:r>
            <a:r>
              <a:rPr lang="en-US" altLang="zh-CN" dirty="0"/>
              <a:t>16 </a:t>
            </a:r>
            <a:r>
              <a:rPr lang="zh-CN" altLang="en-US" dirty="0"/>
              <a:t>位信号长度。同时，又发现以下规律：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CAN </a:t>
            </a:r>
            <a:r>
              <a:rPr lang="zh-CN" altLang="en-US" dirty="0"/>
              <a:t>信号通常占据 </a:t>
            </a:r>
            <a:r>
              <a:rPr lang="en-US" altLang="zh-CN" dirty="0"/>
              <a:t>CAN </a:t>
            </a:r>
            <a:r>
              <a:rPr lang="zh-CN" altLang="en-US" dirty="0"/>
              <a:t>帧内的连续位，需要信号切片来定位 </a:t>
            </a:r>
            <a:r>
              <a:rPr lang="en-US" altLang="zh-CN" dirty="0"/>
              <a:t>CAN </a:t>
            </a:r>
            <a:r>
              <a:rPr lang="zh-CN" altLang="en-US" dirty="0"/>
              <a:t>信号。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CAN </a:t>
            </a:r>
            <a:r>
              <a:rPr lang="zh-CN" altLang="en-US" dirty="0"/>
              <a:t>信号可能占用 </a:t>
            </a:r>
            <a:r>
              <a:rPr lang="en-US" altLang="zh-CN" dirty="0"/>
              <a:t>1 </a:t>
            </a:r>
            <a:r>
              <a:rPr lang="zh-CN" altLang="en-US" dirty="0"/>
              <a:t>个字节以上，突出了在字节级别识别信号边界的必要性。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 </a:t>
            </a:r>
            <a:r>
              <a:rPr lang="en-US" altLang="zh-CN" dirty="0"/>
              <a:t>CAN </a:t>
            </a:r>
            <a:r>
              <a:rPr lang="zh-CN" altLang="en-US" dirty="0"/>
              <a:t>信号通常与全字节偏移量对齐，这表明初始字节级切片的优势。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本文基于以上发现，在字节级确定边界时将字节级聚类的输出结果最大长度限制在</a:t>
            </a:r>
            <a:r>
              <a:rPr lang="en-US" altLang="zh-CN" dirty="0"/>
              <a:t>2</a:t>
            </a:r>
            <a:r>
              <a:rPr lang="zh-CN" altLang="en-US" dirty="0"/>
              <a:t>字节。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539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68020" y="11188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Step1</a:t>
            </a:r>
            <a:r>
              <a:rPr lang="zh-CN" altLang="en-US" sz="2400" dirty="0"/>
              <a:t>：数据预处理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55343" y="2047164"/>
            <a:ext cx="8966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系统将</a:t>
            </a:r>
            <a:r>
              <a:rPr lang="en-US" altLang="zh-CN" dirty="0"/>
              <a:t>CAN</a:t>
            </a:r>
            <a:r>
              <a:rPr lang="zh-CN" altLang="en-US" dirty="0"/>
              <a:t>信号的种类分为：</a:t>
            </a:r>
            <a:endParaRPr lang="en-US" altLang="zh-CN" dirty="0"/>
          </a:p>
          <a:p>
            <a:r>
              <a:rPr lang="en-US" altLang="zh-CN" dirty="0"/>
              <a:t>Unused</a:t>
            </a:r>
            <a:r>
              <a:rPr lang="zh-CN" altLang="en-US" dirty="0"/>
              <a:t>：在通信期间未被占用的位或 </a:t>
            </a:r>
            <a:r>
              <a:rPr lang="en-US" altLang="zh-CN" dirty="0"/>
              <a:t>CAN </a:t>
            </a:r>
            <a:r>
              <a:rPr lang="zh-CN" altLang="en-US" dirty="0"/>
              <a:t>信号的值未更改的位。</a:t>
            </a:r>
            <a:endParaRPr lang="en-US" altLang="zh-CN" dirty="0"/>
          </a:p>
          <a:p>
            <a:r>
              <a:rPr lang="en-US" altLang="zh-CN" dirty="0"/>
              <a:t>Switch</a:t>
            </a:r>
            <a:r>
              <a:rPr lang="zh-CN" altLang="en-US" dirty="0"/>
              <a:t>：代表车辆状态的 </a:t>
            </a:r>
            <a:r>
              <a:rPr lang="en-US" altLang="zh-CN" dirty="0"/>
              <a:t>CAN </a:t>
            </a:r>
            <a:r>
              <a:rPr lang="zh-CN" altLang="en-US" dirty="0"/>
              <a:t>信号，其值在整个通信周期内很少变化。</a:t>
            </a:r>
            <a:endParaRPr lang="en-US" altLang="zh-CN" dirty="0"/>
          </a:p>
          <a:p>
            <a:r>
              <a:rPr lang="en-US" altLang="zh-CN" dirty="0"/>
              <a:t>Dynamic</a:t>
            </a:r>
            <a:r>
              <a:rPr lang="zh-CN" altLang="en-US" dirty="0"/>
              <a:t>：代表车辆的运动状态，例如车速，这是非常活跃的信号。</a:t>
            </a:r>
            <a:endParaRPr lang="en-US" altLang="zh-CN" dirty="0"/>
          </a:p>
          <a:p>
            <a:r>
              <a:rPr lang="en-US" altLang="zh-CN" dirty="0"/>
              <a:t>Verification</a:t>
            </a:r>
            <a:r>
              <a:rPr lang="zh-CN" altLang="en-US" dirty="0"/>
              <a:t>：代表 </a:t>
            </a:r>
            <a:r>
              <a:rPr lang="en-US" altLang="zh-CN" dirty="0"/>
              <a:t>CAN </a:t>
            </a:r>
            <a:r>
              <a:rPr lang="zh-CN" altLang="en-US" dirty="0"/>
              <a:t>信号计数器或校验和，它们在每个传输的 </a:t>
            </a:r>
            <a:r>
              <a:rPr lang="en-US" altLang="zh-CN" dirty="0"/>
              <a:t>CAN </a:t>
            </a:r>
            <a:r>
              <a:rPr lang="zh-CN" altLang="en-US" dirty="0"/>
              <a:t>帧中不断变化。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087E4D-F2C0-AF43-340F-F1A2FDACC23B}"/>
              </a:ext>
            </a:extLst>
          </p:cNvPr>
          <p:cNvSpPr txBox="1"/>
          <p:nvPr/>
        </p:nvSpPr>
        <p:spPr>
          <a:xfrm>
            <a:off x="955343" y="4267200"/>
            <a:ext cx="10099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文中将收集到的</a:t>
            </a:r>
            <a:r>
              <a:rPr lang="en-US" altLang="zh-CN" dirty="0"/>
              <a:t>CAN</a:t>
            </a:r>
            <a:r>
              <a:rPr lang="zh-CN" altLang="en-US" dirty="0"/>
              <a:t>报文以</a:t>
            </a:r>
            <a:r>
              <a:rPr lang="en-US" altLang="zh-CN" dirty="0"/>
              <a:t>ID</a:t>
            </a:r>
            <a:r>
              <a:rPr lang="zh-CN" altLang="en-US" dirty="0"/>
              <a:t>分组，收集数据载荷，时间戳等有效信息。然后对相同</a:t>
            </a:r>
            <a:r>
              <a:rPr lang="en-US" altLang="zh-CN" dirty="0"/>
              <a:t>ID</a:t>
            </a:r>
            <a:r>
              <a:rPr lang="zh-CN" altLang="en-US" dirty="0"/>
              <a:t>组里的数据载荷进行字节级（</a:t>
            </a:r>
            <a:r>
              <a:rPr lang="en-US" altLang="zh-CN" dirty="0"/>
              <a:t>MC</a:t>
            </a:r>
            <a:r>
              <a:rPr lang="zh-CN" altLang="en-US" dirty="0"/>
              <a:t>）和位级（</a:t>
            </a:r>
            <a:r>
              <a:rPr lang="en-US" altLang="zh-CN" dirty="0"/>
              <a:t>mc</a:t>
            </a:r>
            <a:r>
              <a:rPr lang="zh-CN" altLang="en-US" dirty="0"/>
              <a:t>）的处理。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94385" y="1099185"/>
            <a:ext cx="2843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信号切片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4385" y="1745516"/>
            <a:ext cx="1008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：字节级信号聚类：</a:t>
            </a:r>
            <a:endParaRPr lang="en-US" altLang="zh-CN" dirty="0"/>
          </a:p>
          <a:p>
            <a:r>
              <a:rPr lang="zh-CN" altLang="en-US" dirty="0"/>
              <a:t>将数据载荷按字节划分为</a:t>
            </a:r>
            <a:r>
              <a:rPr lang="en-US" altLang="zh-CN" dirty="0"/>
              <a:t>8</a:t>
            </a:r>
            <a:r>
              <a:rPr lang="zh-CN" altLang="en-US" dirty="0"/>
              <a:t>块，然后计算同</a:t>
            </a:r>
            <a:r>
              <a:rPr lang="en-US" altLang="zh-CN" dirty="0"/>
              <a:t>ID</a:t>
            </a:r>
            <a:r>
              <a:rPr lang="zh-CN" altLang="en-US" dirty="0"/>
              <a:t>下的不同字节的翻转率，平均值，不同值比率。然后将每个字节的位置</a:t>
            </a:r>
            <a:r>
              <a:rPr lang="en-US" altLang="zh-CN" dirty="0" err="1"/>
              <a:t>i</a:t>
            </a:r>
            <a:r>
              <a:rPr lang="zh-CN" altLang="en-US" dirty="0"/>
              <a:t>映射成一个特征向量                                      ，然后使用</a:t>
            </a:r>
            <a:r>
              <a:rPr lang="en-US" altLang="zh-CN" dirty="0"/>
              <a:t>DBSCAN</a:t>
            </a:r>
            <a:r>
              <a:rPr lang="zh-CN" altLang="en-US" dirty="0"/>
              <a:t>对这</a:t>
            </a:r>
            <a:r>
              <a:rPr lang="en-US" altLang="zh-CN" dirty="0"/>
              <a:t>8</a:t>
            </a:r>
            <a:r>
              <a:rPr lang="zh-CN" altLang="en-US" dirty="0"/>
              <a:t>个特征向量进行聚类。输出一些字节组合。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295768-ECAE-6848-7A2C-D0D22E6E0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25" y="2308325"/>
            <a:ext cx="2105319" cy="45726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8078A1D-FAFB-ACBC-6154-2133468E9D65}"/>
              </a:ext>
            </a:extLst>
          </p:cNvPr>
          <p:cNvSpPr txBox="1"/>
          <p:nvPr/>
        </p:nvSpPr>
        <p:spPr>
          <a:xfrm>
            <a:off x="794385" y="3552092"/>
            <a:ext cx="101666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翻转率：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平均值：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不同值比率：                                     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16964EE-6E58-92F5-A12F-888EB0156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026" y="3238104"/>
            <a:ext cx="5477639" cy="13432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0DA41C2-747D-08A5-CF6D-823E98762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026" y="4848773"/>
            <a:ext cx="5506218" cy="77163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4E8C22-6585-A85B-E6CE-A6423D528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858" y="6072202"/>
            <a:ext cx="5620534" cy="6192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9537" y="1598045"/>
            <a:ext cx="3461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：比特级切片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89E781-EDCE-4714-7CBC-9CA52095449F}"/>
              </a:ext>
            </a:extLst>
          </p:cNvPr>
          <p:cNvSpPr txBox="1"/>
          <p:nvPr/>
        </p:nvSpPr>
        <p:spPr>
          <a:xfrm>
            <a:off x="1099537" y="2148851"/>
            <a:ext cx="102518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对于第一步的字节级切片结果再进行位级切片，分别计算有效载荷各位的翻转率，平均值，最后得到边界切分的结果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翻转率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平均值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002183-A4BC-D6B0-C7CB-48CEE74AC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437" y="3304293"/>
            <a:ext cx="4582164" cy="6668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73CCD27-9723-4C09-9065-BCD99708E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437" y="4564533"/>
            <a:ext cx="4439270" cy="6954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121703-3CEF-1CFD-F2AA-4BC5A975F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875" y="2701590"/>
            <a:ext cx="4022877" cy="37258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F300B1-DB6A-09DC-C675-DEF92F5F8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528" y="2535762"/>
            <a:ext cx="476316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340BC6-9040-EF22-01B5-F339FE776B12}"/>
              </a:ext>
            </a:extLst>
          </p:cNvPr>
          <p:cNvSpPr txBox="1"/>
          <p:nvPr/>
        </p:nvSpPr>
        <p:spPr>
          <a:xfrm>
            <a:off x="527537" y="1248508"/>
            <a:ext cx="106914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信号标记：</a:t>
            </a:r>
            <a:endParaRPr lang="en-US" altLang="zh-CN" dirty="0"/>
          </a:p>
          <a:p>
            <a:r>
              <a:rPr lang="zh-CN" altLang="en-US" dirty="0"/>
              <a:t>由于 </a:t>
            </a:r>
            <a:r>
              <a:rPr lang="en-US" altLang="zh-CN" dirty="0"/>
              <a:t>CAN </a:t>
            </a:r>
            <a:r>
              <a:rPr lang="zh-CN" altLang="en-US" dirty="0"/>
              <a:t>信号类型的数量未知，因此使用 </a:t>
            </a:r>
            <a:r>
              <a:rPr lang="en-US" altLang="zh-CN" dirty="0"/>
              <a:t>DBSCAN </a:t>
            </a:r>
            <a:r>
              <a:rPr lang="zh-CN" altLang="en-US" dirty="0"/>
              <a:t>算法根据标记阈值进行聚类，使用识别的位级特征区分不同 </a:t>
            </a:r>
            <a:r>
              <a:rPr lang="en-US" altLang="zh-CN" dirty="0"/>
              <a:t>CAN </a:t>
            </a:r>
            <a:r>
              <a:rPr lang="zh-CN" altLang="en-US" dirty="0"/>
              <a:t>信号的标签。对于识别出的动态 </a:t>
            </a:r>
            <a:r>
              <a:rPr lang="en-US" altLang="zh-CN" dirty="0"/>
              <a:t>CAN </a:t>
            </a:r>
            <a:r>
              <a:rPr lang="zh-CN" altLang="en-US" dirty="0"/>
              <a:t>信号，进一步使用 </a:t>
            </a:r>
            <a:r>
              <a:rPr lang="en-US" altLang="zh-CN" dirty="0"/>
              <a:t>DTW </a:t>
            </a:r>
            <a:r>
              <a:rPr lang="zh-CN" altLang="en-US" dirty="0"/>
              <a:t>模板匹配算法将它们与 </a:t>
            </a:r>
            <a:r>
              <a:rPr lang="en-US" altLang="zh-CN" dirty="0"/>
              <a:t>OBD-II </a:t>
            </a:r>
            <a:r>
              <a:rPr lang="zh-CN" altLang="en-US" dirty="0"/>
              <a:t>诊断数据的模板对齐。</a:t>
            </a:r>
            <a:endParaRPr lang="en-US" altLang="zh-CN" dirty="0"/>
          </a:p>
          <a:p>
            <a:r>
              <a:rPr lang="zh-CN" altLang="en-US" dirty="0"/>
              <a:t>系统将 </a:t>
            </a:r>
            <a:r>
              <a:rPr lang="en-US" altLang="zh-CN" dirty="0"/>
              <a:t>CAN </a:t>
            </a:r>
            <a:r>
              <a:rPr lang="zh-CN" altLang="en-US" dirty="0"/>
              <a:t>信号标记为 </a:t>
            </a:r>
            <a:r>
              <a:rPr lang="en-US" altLang="zh-CN" dirty="0"/>
              <a:t>Unused</a:t>
            </a:r>
            <a:r>
              <a:rPr lang="zh-CN" altLang="en-US" dirty="0"/>
              <a:t>、</a:t>
            </a:r>
            <a:r>
              <a:rPr lang="en-US" altLang="zh-CN" dirty="0"/>
              <a:t>Switch</a:t>
            </a:r>
            <a:r>
              <a:rPr lang="zh-CN" altLang="en-US" dirty="0"/>
              <a:t>、</a:t>
            </a:r>
            <a:r>
              <a:rPr lang="en-US" altLang="zh-CN" dirty="0"/>
              <a:t>Dynamic </a:t>
            </a:r>
            <a:r>
              <a:rPr lang="zh-CN" altLang="en-US" dirty="0"/>
              <a:t>和 </a:t>
            </a:r>
            <a:r>
              <a:rPr lang="en-US" altLang="zh-CN" dirty="0"/>
              <a:t>Verification</a:t>
            </a:r>
            <a:r>
              <a:rPr lang="zh-CN" altLang="en-US" dirty="0"/>
              <a:t>。翻转速率是区分和标记不同 </a:t>
            </a:r>
            <a:r>
              <a:rPr lang="en-US" altLang="zh-CN" dirty="0"/>
              <a:t>CAN </a:t>
            </a:r>
            <a:r>
              <a:rPr lang="zh-CN" altLang="en-US" dirty="0"/>
              <a:t>信号类型的通用参数。为了区分具有相似翻转率但不同值比率不同的信号（例如，</a:t>
            </a:r>
            <a:r>
              <a:rPr lang="en-US" altLang="zh-CN" dirty="0"/>
              <a:t>Unused </a:t>
            </a:r>
            <a:r>
              <a:rPr lang="zh-CN" altLang="en-US" dirty="0"/>
              <a:t>和 </a:t>
            </a:r>
            <a:r>
              <a:rPr lang="en-US" altLang="zh-CN" dirty="0"/>
              <a:t>Switch</a:t>
            </a:r>
            <a:r>
              <a:rPr lang="zh-CN" altLang="en-US" dirty="0"/>
              <a:t>），</a:t>
            </a:r>
            <a:r>
              <a:rPr lang="en-US" altLang="zh-CN" dirty="0" err="1"/>
              <a:t>ByCAN</a:t>
            </a:r>
            <a:r>
              <a:rPr lang="en-US" altLang="zh-CN" dirty="0"/>
              <a:t> </a:t>
            </a:r>
            <a:r>
              <a:rPr lang="zh-CN" altLang="en-US" dirty="0"/>
              <a:t>将翻转率和不同值的比率合并到一个新的标记参数中。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1FCBF9-17F5-D3C7-CE37-A34778F816FB}"/>
              </a:ext>
            </a:extLst>
          </p:cNvPr>
          <p:cNvSpPr txBox="1"/>
          <p:nvPr/>
        </p:nvSpPr>
        <p:spPr>
          <a:xfrm>
            <a:off x="800525" y="3865735"/>
            <a:ext cx="110255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位块翻转速率：                                                                                            不同位块值比：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平均位块值：                                                                                    标记参数：                                                                                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A9255B-B344-4845-32BC-6CB4FF7F3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69" y="3429000"/>
            <a:ext cx="5449060" cy="15908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ED471C7-22A5-F9ED-A6B4-4047F23EC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834" y="5406759"/>
            <a:ext cx="4401164" cy="85737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CD00EAD-48CB-DCEE-F561-4A4D41CE6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129" y="4224448"/>
            <a:ext cx="3919950" cy="55340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100D61-758A-CBF7-EC16-6D6990A6A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528" y="5799936"/>
            <a:ext cx="1819529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728B-1A42-2366-BCA8-97A78747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9183A-537B-C7D4-BF8D-C74E96FE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366444-C9C8-9187-2166-3B8398519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72" y="2354742"/>
            <a:ext cx="5439534" cy="186716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02777E6-39F0-0E9A-6A3D-F92A7445EADF}"/>
              </a:ext>
            </a:extLst>
          </p:cNvPr>
          <p:cNvSpPr txBox="1"/>
          <p:nvPr/>
        </p:nvSpPr>
        <p:spPr>
          <a:xfrm>
            <a:off x="738554" y="1230923"/>
            <a:ext cx="10656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未使用的 </a:t>
            </a:r>
            <a:r>
              <a:rPr lang="en-US" altLang="zh-CN"/>
              <a:t>CAN </a:t>
            </a:r>
            <a:r>
              <a:rPr lang="zh-CN" altLang="en-US"/>
              <a:t>信号块具有 </a:t>
            </a:r>
            <a:r>
              <a:rPr lang="en-US" altLang="zh-CN"/>
              <a:t>θmCn = 0 </a:t>
            </a:r>
            <a:r>
              <a:rPr lang="zh-CN" altLang="en-US"/>
              <a:t>和 </a:t>
            </a:r>
            <a:r>
              <a:rPr lang="en-US" altLang="zh-CN"/>
              <a:t>bCmn = 0</a:t>
            </a:r>
            <a:r>
              <a:rPr lang="zh-CN" altLang="en-US"/>
              <a:t>，无论信号代表的值如何，都可以推断出信号没有变化。验证、开关和动态 </a:t>
            </a:r>
            <a:r>
              <a:rPr lang="en-US" altLang="zh-CN"/>
              <a:t>CAN </a:t>
            </a:r>
            <a:r>
              <a:rPr lang="zh-CN" altLang="en-US"/>
              <a:t>信号的 </a:t>
            </a:r>
            <a:r>
              <a:rPr lang="en-US" altLang="zh-CN"/>
              <a:t>bCmn &gt; 0</a:t>
            </a:r>
            <a:r>
              <a:rPr lang="zh-CN" altLang="en-US"/>
              <a:t>。开关 </a:t>
            </a:r>
            <a:r>
              <a:rPr lang="en-US" altLang="zh-CN"/>
              <a:t>CAN </a:t>
            </a:r>
            <a:r>
              <a:rPr lang="zh-CN" altLang="en-US"/>
              <a:t>信号的触发频率低于动态 </a:t>
            </a:r>
            <a:r>
              <a:rPr lang="en-US" altLang="zh-CN"/>
              <a:t>CAN </a:t>
            </a:r>
            <a:r>
              <a:rPr lang="zh-CN" altLang="en-US"/>
              <a:t>信号。动态和验证 </a:t>
            </a:r>
            <a:r>
              <a:rPr lang="en-US" altLang="zh-CN"/>
              <a:t>CAN </a:t>
            </a:r>
            <a:r>
              <a:rPr lang="zh-CN" altLang="en-US"/>
              <a:t>信号通常具有更高的 </a:t>
            </a:r>
            <a:r>
              <a:rPr lang="en-US" altLang="zh-CN"/>
              <a:t>bCmn</a:t>
            </a:r>
            <a:r>
              <a:rPr lang="zh-CN" altLang="en-US"/>
              <a:t>。给定所有计算的 </a:t>
            </a:r>
            <a:r>
              <a:rPr lang="en-US" altLang="zh-CN"/>
              <a:t>θmCn</a:t>
            </a:r>
            <a:r>
              <a:rPr lang="zh-CN" altLang="en-US"/>
              <a:t>，阈值 </a:t>
            </a:r>
            <a:r>
              <a:rPr lang="en-US" altLang="zh-CN"/>
              <a:t>ε0 </a:t>
            </a:r>
            <a:r>
              <a:rPr lang="zh-CN" altLang="en-US"/>
              <a:t>由无监督聚类算法确定，用于标记 </a:t>
            </a:r>
            <a:r>
              <a:rPr lang="en-US" altLang="zh-CN"/>
              <a:t>Switch</a:t>
            </a:r>
            <a:r>
              <a:rPr lang="zh-CN" altLang="en-US"/>
              <a:t>、</a:t>
            </a:r>
            <a:r>
              <a:rPr lang="en-US" altLang="zh-CN"/>
              <a:t>Dynamic </a:t>
            </a:r>
            <a:r>
              <a:rPr lang="zh-CN" altLang="en-US"/>
              <a:t>和 </a:t>
            </a:r>
            <a:r>
              <a:rPr lang="en-US" altLang="zh-CN"/>
              <a:t>Verification CAN </a:t>
            </a:r>
            <a:r>
              <a:rPr lang="zh-CN" altLang="en-US"/>
              <a:t>信号。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F515E1-0D4D-0C46-6BEB-E936E0F5F838}"/>
              </a:ext>
            </a:extLst>
          </p:cNvPr>
          <p:cNvSpPr txBox="1"/>
          <p:nvPr/>
        </p:nvSpPr>
        <p:spPr>
          <a:xfrm>
            <a:off x="738554" y="4431323"/>
            <a:ext cx="11043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标记完信号类型后进行信号匹配。这两个序列的长度不同，采样频率也不同（</a:t>
            </a:r>
            <a:r>
              <a:rPr lang="en-US" altLang="zh-CN" dirty="0"/>
              <a:t>CAN </a:t>
            </a:r>
            <a:r>
              <a:rPr lang="zh-CN" altLang="en-US" dirty="0"/>
              <a:t>高频，</a:t>
            </a:r>
            <a:r>
              <a:rPr lang="en-US" altLang="zh-CN" dirty="0"/>
              <a:t>OBD-II </a:t>
            </a:r>
            <a:r>
              <a:rPr lang="zh-CN" altLang="en-US" dirty="0"/>
              <a:t>低频），</a:t>
            </a:r>
            <a:r>
              <a:rPr lang="zh-CN" altLang="en-US" b="1" dirty="0"/>
              <a:t>必须使用非线性对齐的 </a:t>
            </a:r>
            <a:r>
              <a:rPr lang="en-US" altLang="zh-CN" b="1" dirty="0"/>
              <a:t>DTW </a:t>
            </a:r>
            <a:r>
              <a:rPr lang="zh-CN" altLang="en-US" b="1" dirty="0"/>
              <a:t>来匹配</a:t>
            </a:r>
            <a:endParaRPr lang="en-US" altLang="zh-CN" dirty="0"/>
          </a:p>
          <a:p>
            <a:r>
              <a:rPr lang="en-US" altLang="zh-CN" dirty="0" err="1"/>
              <a:t>Sx</a:t>
            </a:r>
            <a:r>
              <a:rPr lang="en-US" altLang="zh-CN" dirty="0"/>
              <a:t> </a:t>
            </a:r>
            <a:r>
              <a:rPr lang="zh-CN" altLang="en-US" dirty="0"/>
              <a:t>表示一个动态 </a:t>
            </a:r>
            <a:r>
              <a:rPr lang="en-US" altLang="zh-CN" dirty="0"/>
              <a:t>CAN </a:t>
            </a:r>
            <a:r>
              <a:rPr lang="zh-CN" altLang="en-US" dirty="0"/>
              <a:t>信号 </a:t>
            </a:r>
            <a:r>
              <a:rPr lang="en-US" altLang="zh-CN" dirty="0"/>
              <a:t>x </a:t>
            </a:r>
            <a:r>
              <a:rPr lang="zh-CN" altLang="en-US" dirty="0"/>
              <a:t>的 </a:t>
            </a:r>
            <a:r>
              <a:rPr lang="en-US" altLang="zh-CN" dirty="0"/>
              <a:t>OBD-II </a:t>
            </a:r>
            <a:r>
              <a:rPr lang="zh-CN" altLang="en-US" dirty="0"/>
              <a:t>诊断数据的时间序列模板，其中 </a:t>
            </a:r>
            <a:r>
              <a:rPr lang="en-US" altLang="zh-CN" dirty="0" err="1"/>
              <a:t>Sx</a:t>
            </a:r>
            <a:r>
              <a:rPr lang="en-US" altLang="zh-CN" dirty="0"/>
              <a:t> = {s1</a:t>
            </a:r>
            <a:r>
              <a:rPr lang="zh-CN" altLang="en-US" dirty="0"/>
              <a:t>， </a:t>
            </a:r>
            <a:r>
              <a:rPr lang="en-US" altLang="zh-CN" dirty="0"/>
              <a:t>. . . </a:t>
            </a:r>
            <a:r>
              <a:rPr lang="zh-CN" altLang="en-US" dirty="0"/>
              <a:t>， </a:t>
            </a:r>
            <a:r>
              <a:rPr lang="en-US" altLang="zh-CN" dirty="0" err="1"/>
              <a:t>sa</a:t>
            </a:r>
            <a:r>
              <a:rPr lang="zh-CN" altLang="en-US" dirty="0"/>
              <a:t>， </a:t>
            </a:r>
            <a:r>
              <a:rPr lang="en-US" altLang="zh-CN" dirty="0"/>
              <a:t>. . . </a:t>
            </a:r>
            <a:r>
              <a:rPr lang="zh-CN" altLang="en-US" dirty="0"/>
              <a:t>， </a:t>
            </a:r>
            <a:r>
              <a:rPr lang="en-US" altLang="zh-CN" dirty="0" err="1"/>
              <a:t>sy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切片动态 </a:t>
            </a:r>
            <a:r>
              <a:rPr lang="en-US" altLang="zh-CN" dirty="0"/>
              <a:t>CAN </a:t>
            </a:r>
            <a:r>
              <a:rPr lang="zh-CN" altLang="en-US" dirty="0"/>
              <a:t>信号候选者的时间序列表示为 </a:t>
            </a:r>
            <a:r>
              <a:rPr lang="en-US" altLang="zh-CN" dirty="0"/>
              <a:t>Ex</a:t>
            </a:r>
            <a:r>
              <a:rPr lang="zh-CN" altLang="en-US" dirty="0"/>
              <a:t>， </a:t>
            </a:r>
            <a:r>
              <a:rPr lang="en-US" altLang="zh-CN" dirty="0"/>
              <a:t>Ex = {e1</a:t>
            </a:r>
            <a:r>
              <a:rPr lang="zh-CN" altLang="en-US" dirty="0"/>
              <a:t>， </a:t>
            </a:r>
            <a:r>
              <a:rPr lang="en-US" altLang="zh-CN" dirty="0"/>
              <a:t>. . . </a:t>
            </a:r>
            <a:r>
              <a:rPr lang="zh-CN" altLang="en-US" dirty="0"/>
              <a:t>， ， </a:t>
            </a:r>
            <a:r>
              <a:rPr lang="en-US" altLang="zh-CN" dirty="0" err="1"/>
              <a:t>eb</a:t>
            </a:r>
            <a:r>
              <a:rPr lang="zh-CN" altLang="en-US" dirty="0"/>
              <a:t>， </a:t>
            </a:r>
            <a:r>
              <a:rPr lang="en-US" altLang="zh-CN" dirty="0"/>
              <a:t>. . . </a:t>
            </a:r>
            <a:r>
              <a:rPr lang="zh-CN" altLang="en-US" dirty="0"/>
              <a:t>， </a:t>
            </a:r>
            <a:r>
              <a:rPr lang="en-US" altLang="zh-CN" dirty="0" err="1"/>
              <a:t>ez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因为 </a:t>
            </a:r>
            <a:r>
              <a:rPr lang="en-US" altLang="zh-CN" dirty="0" err="1"/>
              <a:t>Sx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Ex </a:t>
            </a:r>
            <a:r>
              <a:rPr lang="zh-CN" altLang="en-US" dirty="0"/>
              <a:t>是不等长的时间序列 。下面用</a:t>
            </a:r>
            <a:r>
              <a:rPr lang="en-US" altLang="zh-CN" dirty="0"/>
              <a:t>DTW</a:t>
            </a:r>
            <a:r>
              <a:rPr lang="zh-CN" altLang="en-US" dirty="0"/>
              <a:t>来进行模板对齐。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709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0EA5-3597-4794-1268-150A7A9C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1431A-B159-97A4-593D-BC248EE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二、技术实现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4A1BB1-59EB-132B-E2EF-0A31A3592AA7}"/>
              </a:ext>
            </a:extLst>
          </p:cNvPr>
          <p:cNvSpPr txBox="1"/>
          <p:nvPr/>
        </p:nvSpPr>
        <p:spPr>
          <a:xfrm>
            <a:off x="527538" y="1441938"/>
            <a:ext cx="11007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信号匹配：</a:t>
            </a:r>
            <a:endParaRPr lang="en-US" altLang="zh-CN" dirty="0"/>
          </a:p>
          <a:p>
            <a:r>
              <a:rPr lang="en-US" altLang="zh-CN" dirty="0"/>
              <a:t>DTW</a:t>
            </a:r>
            <a:r>
              <a:rPr lang="zh-CN" altLang="en-US" dirty="0"/>
              <a:t>模版对齐：</a:t>
            </a:r>
            <a:endParaRPr lang="en-US" altLang="zh-CN" dirty="0"/>
          </a:p>
          <a:p>
            <a:r>
              <a:rPr lang="zh-CN" altLang="en-US" dirty="0"/>
              <a:t>使用构建一个 </a:t>
            </a:r>
            <a:r>
              <a:rPr lang="en-US" altLang="zh-CN" dirty="0"/>
              <a:t>w × z </a:t>
            </a:r>
            <a:r>
              <a:rPr lang="zh-CN" altLang="en-US" dirty="0"/>
              <a:t>矩阵以对齐 </a:t>
            </a:r>
            <a:r>
              <a:rPr lang="en-US" altLang="zh-CN" dirty="0" err="1"/>
              <a:t>Sx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Ex</a:t>
            </a:r>
            <a:r>
              <a:rPr lang="zh-CN" altLang="en-US" dirty="0"/>
              <a:t>，其中 </a:t>
            </a:r>
            <a:r>
              <a:rPr lang="en-US" altLang="zh-CN" dirty="0"/>
              <a:t>da</a:t>
            </a:r>
            <a:r>
              <a:rPr lang="zh-CN" altLang="en-US" dirty="0"/>
              <a:t>，</a:t>
            </a:r>
            <a:r>
              <a:rPr lang="en-US" altLang="zh-CN" dirty="0"/>
              <a:t>b </a:t>
            </a:r>
            <a:r>
              <a:rPr lang="zh-CN" altLang="en-US" dirty="0"/>
              <a:t>是构建的 </a:t>
            </a:r>
            <a:r>
              <a:rPr lang="en-US" altLang="zh-CN" dirty="0"/>
              <a:t>w × z </a:t>
            </a:r>
            <a:r>
              <a:rPr lang="zh-CN" altLang="en-US" dirty="0"/>
              <a:t>矩阵中的元素（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</a:t>
            </a:r>
            <a:r>
              <a:rPr lang="zh-CN" altLang="en-US" dirty="0"/>
              <a:t>），以表示点 </a:t>
            </a:r>
            <a:r>
              <a:rPr lang="en-US" altLang="zh-CN" dirty="0" err="1"/>
              <a:t>sa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eb</a:t>
            </a:r>
            <a:r>
              <a:rPr lang="en-US" altLang="zh-CN" dirty="0"/>
              <a:t> </a:t>
            </a:r>
            <a:r>
              <a:rPr lang="zh-CN" altLang="en-US" dirty="0"/>
              <a:t>之间的欧几里得距离。</a:t>
            </a:r>
            <a:endParaRPr lang="en-US" altLang="zh-CN" dirty="0"/>
          </a:p>
          <a:p>
            <a:r>
              <a:rPr lang="zh-CN" altLang="en-US" dirty="0"/>
              <a:t>然后定义对齐路径：即构造一个路径，该路径描述模板序列和待匹配序列之间的对齐方式。路径要满足：</a:t>
            </a:r>
          </a:p>
          <a:p>
            <a:r>
              <a:rPr lang="zh-CN" altLang="en-US" dirty="0"/>
              <a:t>从左上角 </a:t>
            </a:r>
            <a:r>
              <a:rPr lang="en-US" altLang="zh-CN" dirty="0"/>
              <a:t>(1,1) </a:t>
            </a:r>
            <a:r>
              <a:rPr lang="zh-CN" altLang="en-US" dirty="0"/>
              <a:t>到右下角 </a:t>
            </a:r>
            <a:r>
              <a:rPr lang="en-US" altLang="zh-CN" dirty="0"/>
              <a:t>(</a:t>
            </a:r>
            <a:r>
              <a:rPr lang="en-US" altLang="zh-CN" dirty="0" err="1"/>
              <a:t>w,z</a:t>
            </a:r>
            <a:r>
              <a:rPr lang="en-US" altLang="zh-CN" dirty="0"/>
              <a:t>)</a:t>
            </a:r>
            <a:r>
              <a:rPr lang="zh-CN" altLang="en-US" dirty="0"/>
              <a:t>。步长只能是右移、下移、或斜对角移动（保证单调、连续）。</a:t>
            </a:r>
          </a:p>
          <a:p>
            <a:r>
              <a:rPr lang="zh-CN" altLang="en-US" dirty="0"/>
              <a:t>最后最小化路径累计代价，对所有可能路径 </a:t>
            </a:r>
            <a:r>
              <a:rPr lang="en-US" altLang="zh-CN" dirty="0"/>
              <a:t>W</a:t>
            </a:r>
            <a:r>
              <a:rPr lang="zh-CN" altLang="en-US" dirty="0"/>
              <a:t>，找到累计代价最小的路径。最终距离越小，说明序列之间越相似。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65D904C-2F19-589C-92C4-6007371E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06" y="3893109"/>
            <a:ext cx="5391902" cy="80021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26FC1C5-0348-5FB4-6223-1BBBE7E18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21" y="3858757"/>
            <a:ext cx="4267796" cy="7335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F075B2B-7328-B508-7321-DE818A2E5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676" y="5260450"/>
            <a:ext cx="4658375" cy="86689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F1A01A9-8D4A-70BB-F658-D96774350028}"/>
              </a:ext>
            </a:extLst>
          </p:cNvPr>
          <p:cNvSpPr txBox="1"/>
          <p:nvPr/>
        </p:nvSpPr>
        <p:spPr>
          <a:xfrm>
            <a:off x="527538" y="3750262"/>
            <a:ext cx="114550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欧几里得距离：                                                      对齐路径：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DTW</a:t>
            </a:r>
            <a:r>
              <a:rPr lang="zh-CN" altLang="en-US" dirty="0"/>
              <a:t>距离：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5864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3EF3-542E-6209-B412-C881C373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5F507-9B9C-2274-3D54-32D0C8A4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三、实验评估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78D307-4DE1-04C3-5D86-0252071947AF}"/>
              </a:ext>
            </a:extLst>
          </p:cNvPr>
          <p:cNvSpPr txBox="1"/>
          <p:nvPr/>
        </p:nvSpPr>
        <p:spPr>
          <a:xfrm>
            <a:off x="457200" y="1136469"/>
            <a:ext cx="1055478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为了量化 </a:t>
            </a:r>
            <a:r>
              <a:rPr lang="en-US" altLang="zh-CN" dirty="0" err="1"/>
              <a:t>ByCAN</a:t>
            </a:r>
            <a:r>
              <a:rPr lang="en-US" altLang="zh-CN" dirty="0"/>
              <a:t> </a:t>
            </a:r>
            <a:r>
              <a:rPr lang="zh-CN" altLang="en-US" dirty="0"/>
              <a:t>的性能，我们提出了三个指标，即切片准确率、切片覆盖率和标记准确率 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 err="1"/>
              <a:t>ByCAN</a:t>
            </a:r>
            <a:r>
              <a:rPr lang="en-US" altLang="zh-CN" dirty="0"/>
              <a:t> </a:t>
            </a:r>
            <a:r>
              <a:rPr lang="zh-CN" altLang="en-US" dirty="0"/>
              <a:t>与其他两个 </a:t>
            </a:r>
            <a:r>
              <a:rPr lang="en-US" altLang="zh-CN" dirty="0"/>
              <a:t>RE </a:t>
            </a:r>
            <a:r>
              <a:rPr lang="zh-CN" altLang="en-US" dirty="0"/>
              <a:t>系统，即 </a:t>
            </a:r>
            <a:r>
              <a:rPr lang="en-US" altLang="zh-CN" dirty="0"/>
              <a:t>READ</a:t>
            </a:r>
            <a:r>
              <a:rPr lang="zh-CN" altLang="en-US" dirty="0"/>
              <a:t>和 </a:t>
            </a:r>
            <a:r>
              <a:rPr lang="en-US" altLang="zh-CN" dirty="0"/>
              <a:t>CAN-D</a:t>
            </a:r>
            <a:r>
              <a:rPr lang="zh-CN" altLang="en-US" dirty="0"/>
              <a:t>进行了比较，评估指标包括切片精度 、切片覆盖率 和标记精度，如表 </a:t>
            </a:r>
            <a:r>
              <a:rPr lang="en-US" altLang="zh-CN" dirty="0"/>
              <a:t>III </a:t>
            </a:r>
            <a:r>
              <a:rPr lang="zh-CN" altLang="en-US" dirty="0"/>
              <a:t>所示。</a:t>
            </a:r>
            <a:r>
              <a:rPr lang="en-US" altLang="zh-CN" dirty="0"/>
              <a:t>READ </a:t>
            </a:r>
            <a:r>
              <a:rPr lang="zh-CN" altLang="en-US" dirty="0"/>
              <a:t>系统仅依靠 </a:t>
            </a:r>
            <a:r>
              <a:rPr lang="en-US" altLang="zh-CN" dirty="0"/>
              <a:t>bit-flip </a:t>
            </a:r>
            <a:r>
              <a:rPr lang="zh-CN" altLang="en-US" dirty="0"/>
              <a:t>速率来对 </a:t>
            </a:r>
            <a:r>
              <a:rPr lang="en-US" altLang="zh-CN" dirty="0"/>
              <a:t>CAN </a:t>
            </a:r>
            <a:r>
              <a:rPr lang="zh-CN" altLang="en-US" dirty="0"/>
              <a:t>信号进行切片和标记。</a:t>
            </a:r>
            <a:r>
              <a:rPr lang="en-US" altLang="zh-CN" dirty="0"/>
              <a:t>CAN-D </a:t>
            </a:r>
            <a:r>
              <a:rPr lang="zh-CN" altLang="en-US" dirty="0"/>
              <a:t>系统利用多个位级功能，包括位翻转速率、两位分布和熵。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切片准确率</a:t>
            </a:r>
            <a:r>
              <a:rPr lang="en-US" altLang="zh-CN" dirty="0"/>
              <a:t>:                                                                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切片覆盖率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标记准确率</a:t>
            </a:r>
            <a:r>
              <a:rPr lang="en-US" altLang="zh-CN" dirty="0"/>
              <a:t>: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1024BF-9FE8-BDBE-6903-88C2D3D45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87" y="3350033"/>
            <a:ext cx="2152950" cy="876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FA4D88-4039-628E-B9B5-8902CB6BE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366" y="4388722"/>
            <a:ext cx="2781688" cy="924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F2287EB-FC19-9BFD-0370-49B70565C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710" y="5404762"/>
            <a:ext cx="2257740" cy="10764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210C21D-7659-C3B9-F330-2FE2AD1FD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937" y="2800822"/>
            <a:ext cx="6977432" cy="354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三、实验评估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B7A893-0239-E0CB-BFCF-9ABDE3B33EAF}"/>
              </a:ext>
            </a:extLst>
          </p:cNvPr>
          <p:cNvSpPr txBox="1"/>
          <p:nvPr/>
        </p:nvSpPr>
        <p:spPr>
          <a:xfrm>
            <a:off x="852352" y="139593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切片性能：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E6F5CB-E014-D4A3-D731-76E1F53B6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21" y="905348"/>
            <a:ext cx="6978038" cy="58853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三、实验评估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B847E4-D918-0502-97DF-500173A0ECD9}"/>
              </a:ext>
            </a:extLst>
          </p:cNvPr>
          <p:cNvSpPr txBox="1"/>
          <p:nvPr/>
        </p:nvSpPr>
        <p:spPr>
          <a:xfrm>
            <a:off x="830424" y="1091682"/>
            <a:ext cx="989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标签性能：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8C70A0-5B32-ED9C-AAE2-14DF6B708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26" y="1702539"/>
            <a:ext cx="11460174" cy="41915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三、实验评估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B49212-64BC-C0D7-532E-5FED84BD36E4}"/>
              </a:ext>
            </a:extLst>
          </p:cNvPr>
          <p:cNvSpPr txBox="1"/>
          <p:nvPr/>
        </p:nvSpPr>
        <p:spPr>
          <a:xfrm>
            <a:off x="393752" y="1604866"/>
            <a:ext cx="10162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 </a:t>
            </a:r>
            <a:r>
              <a:rPr lang="en-US" altLang="zh-CN" dirty="0"/>
              <a:t>CAN ID </a:t>
            </a:r>
            <a:r>
              <a:rPr lang="zh-CN" altLang="en-US" dirty="0"/>
              <a:t>下的切分性能表现：</a:t>
            </a:r>
            <a:endParaRPr lang="en-US" altLang="zh-CN" dirty="0"/>
          </a:p>
          <a:p>
            <a:r>
              <a:rPr lang="zh-CN" altLang="en-US" sz="1400" dirty="0"/>
              <a:t>表 </a:t>
            </a:r>
            <a:r>
              <a:rPr lang="en-US" altLang="zh-CN" sz="1400" dirty="0"/>
              <a:t>4 </a:t>
            </a:r>
            <a:r>
              <a:rPr lang="zh-CN" altLang="en-US" sz="1400" dirty="0"/>
              <a:t>展示了 </a:t>
            </a:r>
            <a:r>
              <a:rPr lang="en-US" altLang="zh-CN" sz="1400" dirty="0" err="1"/>
              <a:t>ByCAN</a:t>
            </a:r>
            <a:r>
              <a:rPr lang="en-US" altLang="zh-CN" sz="1400" dirty="0"/>
              <a:t> </a:t>
            </a:r>
            <a:r>
              <a:rPr lang="zh-CN" altLang="en-US" sz="1400" dirty="0"/>
              <a:t>系统在不同 </a:t>
            </a:r>
            <a:r>
              <a:rPr lang="en-US" altLang="zh-CN" sz="1400" dirty="0"/>
              <a:t>CAN ID </a:t>
            </a:r>
            <a:r>
              <a:rPr lang="zh-CN" altLang="en-US" sz="1400" dirty="0"/>
              <a:t>上的切分准确率（</a:t>
            </a:r>
            <a:r>
              <a:rPr lang="en-US" altLang="zh-CN" sz="1400" dirty="0"/>
              <a:t>accuracy</a:t>
            </a:r>
            <a:r>
              <a:rPr lang="zh-CN" altLang="en-US" sz="1400" dirty="0"/>
              <a:t>）与覆盖率（</a:t>
            </a:r>
            <a:r>
              <a:rPr lang="en-US" altLang="zh-CN" sz="1400" dirty="0"/>
              <a:t>coverage</a:t>
            </a:r>
            <a:r>
              <a:rPr lang="zh-CN" altLang="en-US" sz="1400" dirty="0"/>
              <a:t>）表现。结果显示，</a:t>
            </a:r>
            <a:r>
              <a:rPr lang="en-US" altLang="zh-CN" sz="1400" dirty="0" err="1"/>
              <a:t>ByCAN</a:t>
            </a:r>
            <a:r>
              <a:rPr lang="en-US" altLang="zh-CN" sz="1400" dirty="0"/>
              <a:t> </a:t>
            </a:r>
            <a:r>
              <a:rPr lang="zh-CN" altLang="en-US" sz="1400" dirty="0"/>
              <a:t>在多个 </a:t>
            </a:r>
            <a:r>
              <a:rPr lang="en-US" altLang="zh-CN" sz="1400" dirty="0"/>
              <a:t>CAN ID </a:t>
            </a:r>
            <a:r>
              <a:rPr lang="zh-CN" altLang="en-US" sz="1400" dirty="0"/>
              <a:t>上均保持较高的切分准确率，且覆盖率整体稳定，方差低于其他方法。相比之下，</a:t>
            </a:r>
            <a:r>
              <a:rPr lang="en-US" altLang="zh-CN" sz="1400" dirty="0"/>
              <a:t>READ </a:t>
            </a:r>
            <a:r>
              <a:rPr lang="zh-CN" altLang="en-US" sz="1400" dirty="0"/>
              <a:t>和 </a:t>
            </a:r>
            <a:r>
              <a:rPr lang="en-US" altLang="zh-CN" sz="1400" dirty="0"/>
              <a:t>CAN-D </a:t>
            </a:r>
            <a:r>
              <a:rPr lang="zh-CN" altLang="en-US" sz="1400" dirty="0"/>
              <a:t>两个基准方法在不同 </a:t>
            </a:r>
            <a:r>
              <a:rPr lang="en-US" altLang="zh-CN" sz="1400" dirty="0"/>
              <a:t>CAN ID </a:t>
            </a:r>
            <a:r>
              <a:rPr lang="zh-CN" altLang="en-US" sz="1400" dirty="0"/>
              <a:t>上的表现波动更大，切分效果更不稳定。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1AE94A-A995-0D5A-0D68-A3F0B6D8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52" y="3112533"/>
            <a:ext cx="10783805" cy="26768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三、实验评估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DE57F9E-3A2F-4EC2-89BC-4817D615C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16" y="2502250"/>
            <a:ext cx="9802172" cy="274563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6083217-4631-DB62-7BA7-AC1B7C13B473}"/>
              </a:ext>
            </a:extLst>
          </p:cNvPr>
          <p:cNvSpPr txBox="1"/>
          <p:nvPr/>
        </p:nvSpPr>
        <p:spPr>
          <a:xfrm>
            <a:off x="984016" y="1222310"/>
            <a:ext cx="922367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不同信号长度下的切分性能：</a:t>
            </a:r>
            <a:endParaRPr lang="en-US" altLang="zh-CN" dirty="0"/>
          </a:p>
          <a:p>
            <a:r>
              <a:rPr lang="zh-CN" altLang="en-US" sz="1400" dirty="0"/>
              <a:t>表 </a:t>
            </a:r>
            <a:r>
              <a:rPr lang="en-US" altLang="zh-CN" sz="1400" dirty="0"/>
              <a:t>5 </a:t>
            </a:r>
            <a:r>
              <a:rPr lang="zh-CN" altLang="en-US" sz="1400" dirty="0"/>
              <a:t>分析了 </a:t>
            </a:r>
            <a:r>
              <a:rPr lang="en-US" altLang="zh-CN" sz="1400" dirty="0" err="1"/>
              <a:t>ByCAN</a:t>
            </a:r>
            <a:r>
              <a:rPr lang="en-US" altLang="zh-CN" sz="1400" dirty="0"/>
              <a:t> </a:t>
            </a:r>
            <a:r>
              <a:rPr lang="zh-CN" altLang="en-US" sz="1400" dirty="0"/>
              <a:t>在处理不同长度的 </a:t>
            </a:r>
            <a:r>
              <a:rPr lang="en-US" altLang="zh-CN" sz="1400" dirty="0"/>
              <a:t>CAN </a:t>
            </a:r>
            <a:r>
              <a:rPr lang="zh-CN" altLang="en-US" sz="1400" dirty="0"/>
              <a:t>信号时的切分准确率与覆盖率。结果表明，</a:t>
            </a:r>
            <a:r>
              <a:rPr lang="en-US" altLang="zh-CN" sz="1400" dirty="0" err="1"/>
              <a:t>ByCAN</a:t>
            </a:r>
            <a:r>
              <a:rPr lang="en-US" altLang="zh-CN" sz="1400" dirty="0"/>
              <a:t> </a:t>
            </a:r>
            <a:r>
              <a:rPr lang="zh-CN" altLang="en-US" sz="1400" dirty="0"/>
              <a:t>对于较长信号（尤其是 </a:t>
            </a:r>
            <a:r>
              <a:rPr lang="en-US" altLang="zh-CN" sz="1400" dirty="0"/>
              <a:t>10 </a:t>
            </a:r>
            <a:r>
              <a:rPr lang="zh-CN" altLang="en-US" sz="1400" dirty="0"/>
              <a:t>位和 </a:t>
            </a:r>
            <a:r>
              <a:rPr lang="en-US" altLang="zh-CN" sz="1400" dirty="0"/>
              <a:t>16 </a:t>
            </a:r>
            <a:r>
              <a:rPr lang="zh-CN" altLang="en-US" sz="1400" dirty="0"/>
              <a:t>位）的切分性能明显优于传统方法，尤其在 </a:t>
            </a:r>
            <a:r>
              <a:rPr lang="en-US" altLang="zh-CN" sz="1400" dirty="0"/>
              <a:t>16 </a:t>
            </a:r>
            <a:r>
              <a:rPr lang="zh-CN" altLang="en-US" sz="1400" dirty="0"/>
              <a:t>位信号上的覆盖率高达 </a:t>
            </a:r>
            <a:r>
              <a:rPr lang="en-US" altLang="zh-CN" sz="1400" dirty="0"/>
              <a:t>81.25%</a:t>
            </a:r>
            <a:r>
              <a:rPr lang="zh-CN" altLang="en-US" sz="1400" dirty="0"/>
              <a:t>，远超 </a:t>
            </a:r>
            <a:r>
              <a:rPr lang="en-US" altLang="zh-CN" sz="1400" dirty="0"/>
              <a:t>READ </a:t>
            </a:r>
            <a:r>
              <a:rPr lang="zh-CN" altLang="en-US" sz="1400" dirty="0"/>
              <a:t>的 </a:t>
            </a:r>
            <a:r>
              <a:rPr lang="en-US" altLang="zh-CN" sz="1400" dirty="0"/>
              <a:t>43.75%</a:t>
            </a:r>
            <a:r>
              <a:rPr lang="zh-CN" altLang="en-US" sz="1400" dirty="0"/>
              <a:t>。</a:t>
            </a:r>
            <a:r>
              <a:rPr lang="en-US" altLang="zh-CN" sz="1400" dirty="0" err="1"/>
              <a:t>ByCAN</a:t>
            </a:r>
            <a:r>
              <a:rPr lang="en-US" altLang="zh-CN" sz="1400" dirty="0"/>
              <a:t> </a:t>
            </a:r>
            <a:r>
              <a:rPr lang="zh-CN" altLang="en-US" sz="1400" dirty="0"/>
              <a:t>所采用的“字节级聚类 </a:t>
            </a:r>
            <a:r>
              <a:rPr lang="en-US" altLang="zh-CN" sz="1400" dirty="0"/>
              <a:t>+ </a:t>
            </a:r>
            <a:r>
              <a:rPr lang="zh-CN" altLang="en-US" sz="1400" dirty="0"/>
              <a:t>位级切分”策略更适合还原真实 </a:t>
            </a:r>
            <a:r>
              <a:rPr lang="en-US" altLang="zh-CN" sz="1400" dirty="0"/>
              <a:t>CAN </a:t>
            </a:r>
            <a:r>
              <a:rPr lang="zh-CN" altLang="en-US" sz="1400" dirty="0"/>
              <a:t>信号结构，特别是在长信号识别上具备明显优势，有效避免传统方法在高位信号上的“过度切分”问题。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sym typeface="Helvetica"/>
              </a:rPr>
              <a:t>四、总结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1872" y="1337355"/>
            <a:ext cx="10292067" cy="4183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在本文中提出了名为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ByCAN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的全自动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系统，无需先验知识即可解码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帧的规范。根据对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DBC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文件和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帧的观察，识别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信号模式并在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ByCAN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中用于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RE 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信号。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ByCAN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率先引入了多个字节级和位级功能，这些功能可以捕获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信号的特性和模式，以对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信号进行切片和标记。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ByCAN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将字节级聚类与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DBSCAN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算法相结合，以增强切片和标注性能。所提出的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ByCAN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系统也是第一个使用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DTW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算法将切片动态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信号与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OBD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诊断数据模板匹配以将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信号与描述性标签相关联的系统，以促进进一步研究。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3" y="117566"/>
            <a:ext cx="3113573" cy="8345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72803" y="2186609"/>
            <a:ext cx="3446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望批评指正！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M2ZTE3OWRlNDlmN2Y2NmFhOGFlMmQxMzZkYmYwY2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1819</Words>
  <Application>Microsoft Office PowerPoint</Application>
  <PresentationFormat>宽屏</PresentationFormat>
  <Paragraphs>133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Helvetica Light</vt:lpstr>
      <vt:lpstr>等线</vt:lpstr>
      <vt:lpstr>等线 Light</vt:lpstr>
      <vt:lpstr>华文宋体</vt:lpstr>
      <vt:lpstr>华文中宋</vt:lpstr>
      <vt:lpstr>宋体</vt:lpstr>
      <vt:lpstr>微软雅黑</vt:lpstr>
      <vt:lpstr>Arial</vt:lpstr>
      <vt:lpstr>Calibri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 </vt:lpstr>
      <vt:lpstr>二、技术实现</vt:lpstr>
      <vt:lpstr>二、技术实现</vt:lpstr>
      <vt:lpstr>二、技术实现</vt:lpstr>
      <vt:lpstr>二、技术实现</vt:lpstr>
      <vt:lpstr>二、技术实现</vt:lpstr>
      <vt:lpstr>二、技术实现</vt:lpstr>
      <vt:lpstr>二、技术实现</vt:lpstr>
      <vt:lpstr>二、技术实现</vt:lpstr>
      <vt:lpstr>三、实验评估</vt:lpstr>
      <vt:lpstr>三、实验评估</vt:lpstr>
      <vt:lpstr>三、实验评估</vt:lpstr>
      <vt:lpstr>三、实验评估</vt:lpstr>
      <vt:lpstr>三、实验评估</vt:lpstr>
      <vt:lpstr>四、总结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xiaoguozi</dc:creator>
  <cp:lastModifiedBy>东辰 任</cp:lastModifiedBy>
  <cp:revision>677</cp:revision>
  <dcterms:created xsi:type="dcterms:W3CDTF">2024-04-25T08:40:00Z</dcterms:created>
  <dcterms:modified xsi:type="dcterms:W3CDTF">2025-06-18T13:34:06Z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5A448AFDEA4E42B3AF17E46D168F3E1B_13</vt:lpwstr>
  </property>
  <property fmtid="{D5CDD505-2E9C-101B-9397-08002B2CF9AE}" pid="3" name="KSOProductBuildVer">
    <vt:lpwstr>2052-12.1.0.21171</vt:lpwstr>
  </property>
</Properties>
</file>