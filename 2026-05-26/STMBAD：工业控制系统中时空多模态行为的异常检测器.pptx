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Override2.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63" r:id="rId3"/>
    <p:sldId id="258" r:id="rId4"/>
    <p:sldId id="1397" r:id="rId5"/>
    <p:sldId id="1331" r:id="rId6"/>
    <p:sldId id="264" r:id="rId7"/>
    <p:sldId id="1401" r:id="rId8"/>
    <p:sldId id="265" r:id="rId9"/>
    <p:sldId id="1402" r:id="rId10"/>
    <p:sldId id="1399" r:id="rId11"/>
    <p:sldId id="266" r:id="rId12"/>
    <p:sldId id="1135" r:id="rId13"/>
    <p:sldId id="1394" r:id="rId14"/>
    <p:sldId id="1403" r:id="rId15"/>
    <p:sldId id="1404" r:id="rId16"/>
    <p:sldId id="1405" r:id="rId17"/>
    <p:sldId id="1347" r:id="rId18"/>
    <p:sldId id="1342"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4954"/>
    <a:srgbClr val="F9FB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80735" autoAdjust="0"/>
  </p:normalViewPr>
  <p:slideViewPr>
    <p:cSldViewPr snapToGrid="0">
      <p:cViewPr varScale="1">
        <p:scale>
          <a:sx n="68" d="100"/>
          <a:sy n="68" d="100"/>
        </p:scale>
        <p:origin x="979" y="72"/>
      </p:cViewPr>
      <p:guideLst/>
    </p:cSldViewPr>
  </p:slideViewPr>
  <p:notesTextViewPr>
    <p:cViewPr>
      <p:scale>
        <a:sx n="1" d="1"/>
        <a:sy n="1" d="1"/>
      </p:scale>
      <p:origin x="0" y="0"/>
    </p:cViewPr>
  </p:notesTextViewPr>
  <p:sorterViewPr>
    <p:cViewPr>
      <p:scale>
        <a:sx n="73" d="100"/>
        <a:sy n="73"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A3D24-6083-4546-8C6D-DEE86BAAAE49}" type="datetimeFigureOut">
              <a:rPr lang="zh-CN" altLang="en-US" smtClean="0"/>
              <a:t>2026/5/26</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D8765-8EF3-408C-9341-152904E414E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1</a:t>
            </a:fld>
            <a:endParaRPr lang="zh-CN" altLang="en-US"/>
          </a:p>
        </p:txBody>
      </p:sp>
    </p:spTree>
    <p:extLst>
      <p:ext uri="{BB962C8B-B14F-4D97-AF65-F5344CB8AC3E}">
        <p14:creationId xmlns:p14="http://schemas.microsoft.com/office/powerpoint/2010/main" val="802255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3ED8765-8EF3-408C-9341-152904E414ED}" type="slidenum">
              <a:rPr lang="zh-CN" altLang="en-US" smtClean="0"/>
              <a:t>4</a:t>
            </a:fld>
            <a:endParaRPr lang="zh-CN" altLang="en-US"/>
          </a:p>
        </p:txBody>
      </p:sp>
    </p:spTree>
    <p:extLst>
      <p:ext uri="{BB962C8B-B14F-4D97-AF65-F5344CB8AC3E}">
        <p14:creationId xmlns:p14="http://schemas.microsoft.com/office/powerpoint/2010/main" val="1588864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5</a:t>
            </a:fld>
            <a:endParaRPr lang="zh-CN" altLang="en-US"/>
          </a:p>
        </p:txBody>
      </p:sp>
    </p:spTree>
    <p:extLst>
      <p:ext uri="{BB962C8B-B14F-4D97-AF65-F5344CB8AC3E}">
        <p14:creationId xmlns:p14="http://schemas.microsoft.com/office/powerpoint/2010/main" val="3293590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3ED8765-8EF3-408C-9341-152904E414ED}" type="slidenum">
              <a:rPr lang="zh-CN" altLang="en-US" smtClean="0"/>
              <a:t>7</a:t>
            </a:fld>
            <a:endParaRPr lang="zh-CN" altLang="en-US"/>
          </a:p>
        </p:txBody>
      </p:sp>
    </p:spTree>
    <p:extLst>
      <p:ext uri="{BB962C8B-B14F-4D97-AF65-F5344CB8AC3E}">
        <p14:creationId xmlns:p14="http://schemas.microsoft.com/office/powerpoint/2010/main" val="1766889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8</a:t>
            </a:fld>
            <a:endParaRPr lang="zh-CN" altLang="en-US"/>
          </a:p>
        </p:txBody>
      </p:sp>
    </p:spTree>
    <p:extLst>
      <p:ext uri="{BB962C8B-B14F-4D97-AF65-F5344CB8AC3E}">
        <p14:creationId xmlns:p14="http://schemas.microsoft.com/office/powerpoint/2010/main" val="1018404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9</a:t>
            </a:fld>
            <a:endParaRPr lang="zh-CN" altLang="en-US"/>
          </a:p>
        </p:txBody>
      </p:sp>
    </p:spTree>
    <p:extLst>
      <p:ext uri="{BB962C8B-B14F-4D97-AF65-F5344CB8AC3E}">
        <p14:creationId xmlns:p14="http://schemas.microsoft.com/office/powerpoint/2010/main" val="1643251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10</a:t>
            </a:fld>
            <a:endParaRPr lang="zh-CN" altLang="en-US"/>
          </a:p>
        </p:txBody>
      </p:sp>
    </p:spTree>
    <p:extLst>
      <p:ext uri="{BB962C8B-B14F-4D97-AF65-F5344CB8AC3E}">
        <p14:creationId xmlns:p14="http://schemas.microsoft.com/office/powerpoint/2010/main" val="1878624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12</a:t>
            </a:fld>
            <a:endParaRPr lang="zh-CN" altLang="en-US"/>
          </a:p>
        </p:txBody>
      </p:sp>
    </p:spTree>
    <p:extLst>
      <p:ext uri="{BB962C8B-B14F-4D97-AF65-F5344CB8AC3E}">
        <p14:creationId xmlns:p14="http://schemas.microsoft.com/office/powerpoint/2010/main" val="12943646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13</a:t>
            </a:fld>
            <a:endParaRPr lang="zh-CN" altLang="en-US"/>
          </a:p>
        </p:txBody>
      </p:sp>
    </p:spTree>
    <p:extLst>
      <p:ext uri="{BB962C8B-B14F-4D97-AF65-F5344CB8AC3E}">
        <p14:creationId xmlns:p14="http://schemas.microsoft.com/office/powerpoint/2010/main" val="510560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15</a:t>
            </a:fld>
            <a:endParaRPr lang="zh-CN" altLang="en-US"/>
          </a:p>
        </p:txBody>
      </p:sp>
    </p:spTree>
    <p:extLst>
      <p:ext uri="{BB962C8B-B14F-4D97-AF65-F5344CB8AC3E}">
        <p14:creationId xmlns:p14="http://schemas.microsoft.com/office/powerpoint/2010/main" val="18138386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16</a:t>
            </a:fld>
            <a:endParaRPr lang="zh-CN" altLang="en-US"/>
          </a:p>
        </p:txBody>
      </p:sp>
    </p:spTree>
    <p:extLst>
      <p:ext uri="{BB962C8B-B14F-4D97-AF65-F5344CB8AC3E}">
        <p14:creationId xmlns:p14="http://schemas.microsoft.com/office/powerpoint/2010/main" val="2309482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17</a:t>
            </a:fld>
            <a:endParaRPr lang="zh-CN" altLang="en-US"/>
          </a:p>
        </p:txBody>
      </p:sp>
    </p:spTree>
    <p:extLst>
      <p:ext uri="{BB962C8B-B14F-4D97-AF65-F5344CB8AC3E}">
        <p14:creationId xmlns:p14="http://schemas.microsoft.com/office/powerpoint/2010/main" val="4413636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5" name="组合 4"/>
          <p:cNvGrpSpPr/>
          <p:nvPr userDrawn="1"/>
        </p:nvGrpSpPr>
        <p:grpSpPr>
          <a:xfrm>
            <a:off x="0" y="0"/>
            <a:ext cx="12192000" cy="6858000"/>
            <a:chOff x="0" y="0"/>
            <a:chExt cx="12192000" cy="6858000"/>
          </a:xfrm>
        </p:grpSpPr>
        <p:sp>
          <p:nvSpPr>
            <p:cNvPr id="4" name="矩形 3"/>
            <p:cNvSpPr/>
            <p:nvPr userDrawn="1"/>
          </p:nvSpPr>
          <p:spPr>
            <a:xfrm>
              <a:off x="0" y="0"/>
              <a:ext cx="12192000" cy="6858000"/>
            </a:xfrm>
            <a:prstGeom prst="rect">
              <a:avLst/>
            </a:prstGeom>
            <a:solidFill>
              <a:srgbClr val="F9F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userDrawn="1"/>
          </p:nvPicPr>
          <p:blipFill rotWithShape="1">
            <a:blip r:embed="rId2">
              <a:extLst>
                <a:ext uri="{28A0092B-C50C-407E-A947-70E740481C1C}">
                  <a14:useLocalDpi xmlns:a14="http://schemas.microsoft.com/office/drawing/2010/main" val="0"/>
                </a:ext>
              </a:extLst>
            </a:blip>
            <a:srcRect l="13000" t="27201" r="38803" b="25602"/>
            <a:stretch>
              <a:fillRect/>
            </a:stretch>
          </p:blipFill>
          <p:spPr>
            <a:xfrm>
              <a:off x="760413" y="923344"/>
              <a:ext cx="5741987" cy="5622862"/>
            </a:xfrm>
            <a:prstGeom prst="rect">
              <a:avLst/>
            </a:prstGeom>
          </p:spPr>
        </p:pic>
      </p:grpSp>
      <p:sp>
        <p:nvSpPr>
          <p:cNvPr id="2" name="标题 1"/>
          <p:cNvSpPr>
            <a:spLocks noGrp="1"/>
          </p:cNvSpPr>
          <p:nvPr>
            <p:ph type="ctrTitle" hasCustomPrompt="1"/>
          </p:nvPr>
        </p:nvSpPr>
        <p:spPr>
          <a:xfrm>
            <a:off x="6274051" y="2336800"/>
            <a:ext cx="5244848" cy="1173162"/>
          </a:xfrm>
        </p:spPr>
        <p:txBody>
          <a:bodyPr vert="horz" lIns="91440" tIns="45720" rIns="91440" bIns="45720" rtlCol="0" anchor="b">
            <a:noAutofit/>
          </a:bodyPr>
          <a:lstStyle>
            <a:lvl1pPr marL="0" indent="0" algn="r" defTabSz="914400" rtl="0" eaLnBrk="1" latinLnBrk="0" hangingPunct="1">
              <a:lnSpc>
                <a:spcPct val="90000"/>
              </a:lnSpc>
              <a:spcBef>
                <a:spcPts val="1000"/>
              </a:spcBef>
              <a:buFont typeface="Arial" panose="020B0604020202020204" pitchFamily="34" charset="0"/>
              <a:buNone/>
              <a:defRPr lang="zh-CN" altLang="en-US" sz="4800" b="1" kern="1200" dirty="0">
                <a:ln w="12700">
                  <a:noFill/>
                </a:ln>
                <a:solidFill>
                  <a:srgbClr val="334952"/>
                </a:solidFill>
                <a:latin typeface="+mn-lt"/>
                <a:ea typeface="+mn-ea"/>
                <a:cs typeface="+mn-cs"/>
              </a:defRPr>
            </a:lvl1pPr>
          </a:lstStyle>
          <a:p>
            <a:pPr lvl="0" defTabSz="914400"/>
            <a:r>
              <a:rPr lang="en-US" altLang="zh-CN" dirty="0"/>
              <a:t>Click to edit </a:t>
            </a:r>
            <a:br>
              <a:rPr lang="en-US" altLang="zh-CN" dirty="0"/>
            </a:br>
            <a:r>
              <a:rPr lang="en-US" altLang="zh-CN" dirty="0"/>
              <a:t>Master title style</a:t>
            </a:r>
            <a:endParaRPr lang="zh-CN" altLang="en-US" dirty="0"/>
          </a:p>
        </p:txBody>
      </p:sp>
      <p:sp>
        <p:nvSpPr>
          <p:cNvPr id="3" name="副标题 2"/>
          <p:cNvSpPr>
            <a:spLocks noGrp="1"/>
          </p:cNvSpPr>
          <p:nvPr>
            <p:ph type="subTitle" idx="1"/>
          </p:nvPr>
        </p:nvSpPr>
        <p:spPr>
          <a:xfrm>
            <a:off x="8609846" y="4843603"/>
            <a:ext cx="2909054" cy="424430"/>
          </a:xfrm>
          <a:prstGeom prst="roundRect">
            <a:avLst>
              <a:gd name="adj" fmla="val 50000"/>
            </a:avLst>
          </a:prstGeom>
          <a:solidFill>
            <a:srgbClr val="394A5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zh-CN" altLang="en-US" sz="1400" dirty="0">
                <a:solidFill>
                  <a:schemeClr val="bg1"/>
                </a:solidFill>
              </a:defRPr>
            </a:lvl1pPr>
          </a:lstStyle>
          <a:p>
            <a:pPr marL="0" lvl="0" algn="ctr"/>
            <a:r>
              <a:rPr lang="en-US" altLang="zh-CN" dirty="0"/>
              <a:t>Click to edit Master subtitle style</a:t>
            </a:r>
            <a:endParaRPr lang="zh-CN" altLang="en-US" dirty="0"/>
          </a:p>
        </p:txBody>
      </p:sp>
      <p:sp>
        <p:nvSpPr>
          <p:cNvPr id="8" name="文本占位符 7"/>
          <p:cNvSpPr>
            <a:spLocks noGrp="1"/>
          </p:cNvSpPr>
          <p:nvPr>
            <p:ph type="body" sz="quarter" idx="13" hasCustomPrompt="1"/>
          </p:nvPr>
        </p:nvSpPr>
        <p:spPr>
          <a:xfrm>
            <a:off x="5949950" y="6041844"/>
            <a:ext cx="5568950" cy="296271"/>
          </a:xfrm>
        </p:spPr>
        <p:txBody>
          <a:bodyPr vert="horz" lIns="91440" tIns="45720" rIns="91440" bIns="45720" rtlCol="0" anchor="ctr">
            <a:normAutofit/>
          </a:bodyPr>
          <a:lstStyle>
            <a:lvl1pPr marL="0" indent="0" algn="r">
              <a:buNone/>
              <a:defRPr lang="en-US" altLang="zh-CN" sz="10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Speaker name and title</a:t>
            </a:r>
          </a:p>
        </p:txBody>
      </p:sp>
      <p:sp>
        <p:nvSpPr>
          <p:cNvPr id="9" name="文本占位符 8"/>
          <p:cNvSpPr>
            <a:spLocks noGrp="1"/>
          </p:cNvSpPr>
          <p:nvPr>
            <p:ph type="body" sz="quarter" idx="14" hasCustomPrompt="1"/>
          </p:nvPr>
        </p:nvSpPr>
        <p:spPr>
          <a:xfrm>
            <a:off x="660400" y="6041844"/>
            <a:ext cx="5568950" cy="296271"/>
          </a:xfrm>
        </p:spPr>
        <p:txBody>
          <a:bodyPr vert="horz" lIns="91440" tIns="45720" rIns="91440" bIns="45720" rtlCol="0" anchor="ctr">
            <a:normAutofit/>
          </a:bodyPr>
          <a:lstStyle>
            <a:lvl1pPr marL="0" indent="0">
              <a:buNone/>
              <a:defRPr lang="en-US" altLang="zh-CN" sz="10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OfficePLUS</a:t>
            </a:r>
            <a:endParaRPr lang="en-US" altLang="en-US" dirty="0"/>
          </a:p>
        </p:txBody>
      </p:sp>
      <p:sp>
        <p:nvSpPr>
          <p:cNvPr id="12" name="文本占位符 11"/>
          <p:cNvSpPr>
            <a:spLocks noGrp="1"/>
          </p:cNvSpPr>
          <p:nvPr>
            <p:ph type="body" sz="quarter" idx="15" hasCustomPrompt="1"/>
          </p:nvPr>
        </p:nvSpPr>
        <p:spPr>
          <a:xfrm>
            <a:off x="660400" y="519885"/>
            <a:ext cx="1039091" cy="296271"/>
          </a:xfrm>
        </p:spPr>
        <p:txBody>
          <a:bodyPr vert="horz" wrap="none" lIns="91440" tIns="45720" rIns="91440" bIns="45720" rtlCol="0" anchor="ctr">
            <a:normAutofit/>
          </a:bodyPr>
          <a:lstStyle>
            <a:lvl1pPr marL="0" indent="0">
              <a:buNone/>
              <a:defRPr lang="en-US" altLang="zh-CN" sz="1200" b="1"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LGOO HERE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2" name="矩形 11"/>
          <p:cNvSpPr/>
          <p:nvPr userDrawn="1"/>
        </p:nvSpPr>
        <p:spPr>
          <a:xfrm flipH="1">
            <a:off x="0" y="0"/>
            <a:ext cx="12192000" cy="6858000"/>
          </a:xfrm>
          <a:prstGeom prst="rect">
            <a:avLst/>
          </a:prstGeom>
          <a:solidFill>
            <a:srgbClr val="F9F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占位符 8"/>
          <p:cNvSpPr>
            <a:spLocks noGrp="1"/>
          </p:cNvSpPr>
          <p:nvPr>
            <p:ph type="body" sz="quarter" idx="14" hasCustomPrompt="1"/>
          </p:nvPr>
        </p:nvSpPr>
        <p:spPr>
          <a:xfrm>
            <a:off x="660400" y="1500188"/>
            <a:ext cx="2836562" cy="594626"/>
          </a:xfrm>
        </p:spPr>
        <p:txBody>
          <a:bodyPr>
            <a:normAutofit/>
          </a:bodyPr>
          <a:lstStyle>
            <a:lvl1pPr marL="0" indent="0" algn="r">
              <a:buFont typeface="+mj-lt"/>
              <a:buNone/>
              <a:defRPr sz="2400" b="1"/>
            </a:lvl1pPr>
            <a:lvl2pPr marL="457200" indent="0">
              <a:buFont typeface="+mj-ea"/>
              <a:buNone/>
              <a:defRPr/>
            </a:lvl2pPr>
            <a:lvl3pPr marL="1257300" indent="-342900">
              <a:buFont typeface="+mj-lt"/>
              <a:buAutoNum type="alphaLcParenR"/>
              <a:defRPr/>
            </a:lvl3pPr>
          </a:lstStyle>
          <a:p>
            <a:pPr lvl="0"/>
            <a:r>
              <a:rPr lang="en-US" altLang="zh-CN" dirty="0"/>
              <a:t>CONTENTS</a:t>
            </a:r>
            <a:endParaRPr lang="zh-CN" altLang="en-US" dirty="0"/>
          </a:p>
        </p:txBody>
      </p:sp>
      <p:sp>
        <p:nvSpPr>
          <p:cNvPr id="7" name="文本占位符 6"/>
          <p:cNvSpPr>
            <a:spLocks noGrp="1"/>
          </p:cNvSpPr>
          <p:nvPr>
            <p:ph type="body" sz="quarter" idx="13"/>
          </p:nvPr>
        </p:nvSpPr>
        <p:spPr>
          <a:xfrm>
            <a:off x="3647836" y="1500187"/>
            <a:ext cx="7871045" cy="4633913"/>
          </a:xfrm>
        </p:spPr>
        <p:txBody>
          <a:bodyPr/>
          <a:lstStyle>
            <a:lvl1pPr marL="342900" indent="-342900">
              <a:buFont typeface="+mj-lt"/>
              <a:buAutoNum type="arabicPeriod"/>
              <a:defRPr/>
            </a:lvl1pPr>
            <a:lvl2pPr marL="800100" indent="-342900">
              <a:buFont typeface="+mj-ea"/>
              <a:buAutoNum type="circleNumDbPlain"/>
              <a:defRPr/>
            </a:lvl2pPr>
            <a:lvl3pPr marL="1257300" indent="-342900">
              <a:buFont typeface="+mj-lt"/>
              <a:buAutoNum type="alphaLcParenR"/>
              <a:defRPr/>
            </a:lvl3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3" name="页脚占位符 2"/>
          <p:cNvSpPr>
            <a:spLocks noGrp="1"/>
          </p:cNvSpPr>
          <p:nvPr>
            <p:ph type="ftr" sz="quarter" idx="10"/>
          </p:nvPr>
        </p:nvSpPr>
        <p:spPr>
          <a:xfrm>
            <a:off x="660401" y="6438900"/>
            <a:ext cx="3992171" cy="215900"/>
          </a:xfrm>
          <a:prstGeom prst="rect">
            <a:avLst/>
          </a:prstGeom>
        </p:spPr>
        <p:txBody>
          <a:bodyPr/>
          <a:lstStyle/>
          <a:p>
            <a:endParaRPr lang="zh-CN" altLang="en-US" dirty="0"/>
          </a:p>
        </p:txBody>
      </p:sp>
      <p:sp>
        <p:nvSpPr>
          <p:cNvPr id="4" name="日期占位符 3"/>
          <p:cNvSpPr>
            <a:spLocks noGrp="1"/>
          </p:cNvSpPr>
          <p:nvPr>
            <p:ph type="dt" sz="half" idx="11"/>
          </p:nvPr>
        </p:nvSpPr>
        <p:spPr/>
        <p:txBody>
          <a:bodyPr/>
          <a:lstStyle/>
          <a:p>
            <a:fld id="{AC4CC43B-9EB6-4465-8B1A-3F7180DAD0DF}" type="datetime1">
              <a:rPr lang="zh-CN" altLang="en-US" smtClean="0"/>
              <a:t>2026/5/26</a:t>
            </a:fld>
            <a:endParaRPr lang="en-US" altLang="zh-CN"/>
          </a:p>
        </p:txBody>
      </p:sp>
      <p:sp>
        <p:nvSpPr>
          <p:cNvPr id="5" name="灯片编号占位符 4"/>
          <p:cNvSpPr>
            <a:spLocks noGrp="1"/>
          </p:cNvSpPr>
          <p:nvPr>
            <p:ph type="sldNum" sz="quarter" idx="12"/>
          </p:nvPr>
        </p:nvSpPr>
        <p:spPr/>
        <p:txBody>
          <a:bodyPr/>
          <a:lstStyle/>
          <a:p>
            <a:fld id="{7F65B630-C7FF-41C0-9923-C5E5E29EED81}" type="slidenum">
              <a:rPr lang="en-US" altLang="zh-CN" smtClean="0"/>
              <a:t>‹#›</a:t>
            </a:fld>
            <a:endParaRPr lang="en-US" altLang="zh-CN"/>
          </a:p>
        </p:txBody>
      </p:sp>
      <p:cxnSp>
        <p:nvCxnSpPr>
          <p:cNvPr id="10" name="直接连接符 9"/>
          <p:cNvCxnSpPr/>
          <p:nvPr userDrawn="1"/>
        </p:nvCxnSpPr>
        <p:spPr>
          <a:xfrm>
            <a:off x="3621019" y="1500188"/>
            <a:ext cx="0" cy="4633913"/>
          </a:xfrm>
          <a:prstGeom prst="line">
            <a:avLst/>
          </a:prstGeom>
          <a:solidFill>
            <a:srgbClr val="FFCC00"/>
          </a:solidFill>
          <a:ln w="3175" cap="flat" cmpd="sng" algn="ctr">
            <a:solidFill>
              <a:schemeClr val="bg1">
                <a:lumMod val="75000"/>
              </a:schemeClr>
            </a:solidFill>
            <a:prstDash val="solid"/>
            <a:round/>
            <a:headEnd type="none" w="med" len="med"/>
            <a:tailEnd type="none" w="med" len="med"/>
          </a:ln>
          <a:effectLst/>
        </p:spPr>
      </p:cxnSp>
      <p:sp>
        <p:nvSpPr>
          <p:cNvPr id="11" name="任意多边形: 形状 10"/>
          <p:cNvSpPr>
            <a:spLocks noChangeAspect="1"/>
          </p:cNvSpPr>
          <p:nvPr userDrawn="1"/>
        </p:nvSpPr>
        <p:spPr bwMode="auto">
          <a:xfrm>
            <a:off x="2626456" y="5219207"/>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1">
              <a:lumMod val="85000"/>
            </a:schemeClr>
          </a:solidFill>
          <a:ln>
            <a:noFill/>
          </a:ln>
        </p:spPr>
        <p:txBody>
          <a:bodyPr/>
          <a:lstStyle/>
          <a:p>
            <a:endParaRPr lang="zh-CN" altLang="en-US">
              <a:cs typeface="+mn-ea"/>
              <a:sym typeface="+mn-l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grpSp>
        <p:nvGrpSpPr>
          <p:cNvPr id="7" name="组合 6"/>
          <p:cNvGrpSpPr/>
          <p:nvPr userDrawn="1"/>
        </p:nvGrpSpPr>
        <p:grpSpPr>
          <a:xfrm flipH="1">
            <a:off x="0" y="0"/>
            <a:ext cx="12192000" cy="6858000"/>
            <a:chOff x="0" y="0"/>
            <a:chExt cx="12192000" cy="6858000"/>
          </a:xfrm>
        </p:grpSpPr>
        <p:sp>
          <p:nvSpPr>
            <p:cNvPr id="8" name="矩形 7"/>
            <p:cNvSpPr/>
            <p:nvPr userDrawn="1"/>
          </p:nvSpPr>
          <p:spPr>
            <a:xfrm>
              <a:off x="0" y="0"/>
              <a:ext cx="12192000" cy="6858000"/>
            </a:xfrm>
            <a:prstGeom prst="rect">
              <a:avLst/>
            </a:prstGeom>
            <a:solidFill>
              <a:srgbClr val="F9F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userDrawn="1"/>
          </p:nvPicPr>
          <p:blipFill rotWithShape="1">
            <a:blip r:embed="rId2">
              <a:extLst>
                <a:ext uri="{28A0092B-C50C-407E-A947-70E740481C1C}">
                  <a14:useLocalDpi xmlns:a14="http://schemas.microsoft.com/office/drawing/2010/main" val="0"/>
                </a:ext>
              </a:extLst>
            </a:blip>
            <a:srcRect l="13000" t="27201" r="38803" b="25602"/>
            <a:stretch>
              <a:fillRect/>
            </a:stretch>
          </p:blipFill>
          <p:spPr>
            <a:xfrm>
              <a:off x="760413" y="923344"/>
              <a:ext cx="5741987" cy="5622862"/>
            </a:xfrm>
            <a:prstGeom prst="rect">
              <a:avLst/>
            </a:prstGeom>
          </p:spPr>
        </p:pic>
      </p:grpSp>
      <p:sp>
        <p:nvSpPr>
          <p:cNvPr id="2" name="标题 1"/>
          <p:cNvSpPr>
            <a:spLocks noGrp="1"/>
          </p:cNvSpPr>
          <p:nvPr>
            <p:ph type="title"/>
          </p:nvPr>
        </p:nvSpPr>
        <p:spPr>
          <a:xfrm>
            <a:off x="1393731" y="3662287"/>
            <a:ext cx="4056455" cy="951057"/>
          </a:xfrm>
        </p:spPr>
        <p:txBody>
          <a:bodyPr vert="horz" lIns="91440" tIns="45720" rIns="91440" bIns="45720" rtlCol="0" anchor="b">
            <a:normAutofit/>
          </a:bodyPr>
          <a:lstStyle>
            <a:lvl1pPr>
              <a:defRPr lang="zh-CN" altLang="en-US" sz="2400"/>
            </a:lvl1pPr>
          </a:lstStyle>
          <a:p>
            <a:pPr lvl="0" defTabSz="914400"/>
            <a:r>
              <a:rPr lang="en-US" altLang="zh-CN" dirty="0"/>
              <a:t>Click to edit Master title style</a:t>
            </a:r>
            <a:endParaRPr lang="zh-CN" altLang="en-US" dirty="0"/>
          </a:p>
        </p:txBody>
      </p:sp>
      <p:sp>
        <p:nvSpPr>
          <p:cNvPr id="3" name="文本占位符 2"/>
          <p:cNvSpPr>
            <a:spLocks noGrp="1"/>
          </p:cNvSpPr>
          <p:nvPr>
            <p:ph type="body" idx="1"/>
          </p:nvPr>
        </p:nvSpPr>
        <p:spPr>
          <a:xfrm>
            <a:off x="1393731" y="4613344"/>
            <a:ext cx="4056455" cy="2383991"/>
          </a:xfrm>
        </p:spPr>
        <p:txBody>
          <a:bodyPr/>
          <a:lstStyle>
            <a:lvl1pPr marL="0" indent="0">
              <a:buNone/>
              <a:defRPr lang="en-US" altLang="zh-CN" sz="1200" kern="120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dirty="0"/>
              <a:t>Click to edit Master text styles</a:t>
            </a:r>
          </a:p>
        </p:txBody>
      </p:sp>
      <p:sp>
        <p:nvSpPr>
          <p:cNvPr id="4" name="日期占位符 3"/>
          <p:cNvSpPr>
            <a:spLocks noGrp="1"/>
          </p:cNvSpPr>
          <p:nvPr>
            <p:ph type="dt" sz="half" idx="10"/>
          </p:nvPr>
        </p:nvSpPr>
        <p:spPr/>
        <p:txBody>
          <a:bodyPr/>
          <a:lstStyle/>
          <a:p>
            <a:fld id="{6834F10D-3A58-4285-A9DB-D9098A7BEDDD}" type="datetime1">
              <a:rPr lang="zh-CN" altLang="en-US" smtClean="0"/>
              <a:t>2026/5/26</a:t>
            </a:fld>
            <a:endParaRPr lang="zh-CN" altLang="en-US"/>
          </a:p>
        </p:txBody>
      </p:sp>
      <p:sp>
        <p:nvSpPr>
          <p:cNvPr id="5" name="页脚占位符 4"/>
          <p:cNvSpPr>
            <a:spLocks noGrp="1"/>
          </p:cNvSpPr>
          <p:nvPr>
            <p:ph type="ftr" sz="quarter" idx="11"/>
          </p:nvPr>
        </p:nvSpPr>
        <p:spPr>
          <a:xfrm>
            <a:off x="660401" y="6438900"/>
            <a:ext cx="3992171" cy="215900"/>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7F65B630-C7FF-41C0-9923-C5E5E29EED8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userDrawn="1"/>
        </p:nvSpPr>
        <p:spPr>
          <a:xfrm flipH="1">
            <a:off x="0" y="0"/>
            <a:ext cx="12192000" cy="6858000"/>
          </a:xfrm>
          <a:prstGeom prst="rect">
            <a:avLst/>
          </a:prstGeom>
          <a:solidFill>
            <a:srgbClr val="F9F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日期占位符 2"/>
          <p:cNvSpPr>
            <a:spLocks noGrp="1"/>
          </p:cNvSpPr>
          <p:nvPr>
            <p:ph type="dt" sz="half" idx="10"/>
          </p:nvPr>
        </p:nvSpPr>
        <p:spPr/>
        <p:txBody>
          <a:bodyPr/>
          <a:lstStyle/>
          <a:p>
            <a:fld id="{748B5987-9647-4253-899C-3B9819D6D8A0}" type="datetime1">
              <a:rPr lang="zh-CN" altLang="en-US" smtClean="0"/>
              <a:t>2026/5/26</a:t>
            </a:fld>
            <a:endParaRPr lang="zh-CN" altLang="en-US"/>
          </a:p>
        </p:txBody>
      </p:sp>
      <p:sp>
        <p:nvSpPr>
          <p:cNvPr id="4" name="页脚占位符 3"/>
          <p:cNvSpPr>
            <a:spLocks noGrp="1"/>
          </p:cNvSpPr>
          <p:nvPr>
            <p:ph type="ftr" sz="quarter" idx="11"/>
          </p:nvPr>
        </p:nvSpPr>
        <p:spPr>
          <a:xfrm>
            <a:off x="660401" y="6438900"/>
            <a:ext cx="3992171" cy="215900"/>
          </a:xfrm>
          <a:prstGeom prst="rect">
            <a:avLst/>
          </a:prstGeom>
        </p:spPr>
        <p:txBody>
          <a:bodyPr/>
          <a:lstStyle/>
          <a:p>
            <a:endParaRPr lang="zh-CN" altLang="en-US"/>
          </a:p>
        </p:txBody>
      </p:sp>
      <p:sp>
        <p:nvSpPr>
          <p:cNvPr id="5" name="灯片编号占位符 4"/>
          <p:cNvSpPr>
            <a:spLocks noGrp="1"/>
          </p:cNvSpPr>
          <p:nvPr>
            <p:ph type="sldNum" sz="quarter" idx="12"/>
          </p:nvPr>
        </p:nvSpPr>
        <p:spPr/>
        <p:txBody>
          <a:bodyPr/>
          <a:lstStyle/>
          <a:p>
            <a:fld id="{7F65B630-C7FF-41C0-9923-C5E5E29EED8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50ECBEB-8597-4EA4-9D29-E1D7025CFAA0}" type="datetime1">
              <a:rPr lang="zh-CN" altLang="en-US" smtClean="0"/>
              <a:t>2026/5/26</a:t>
            </a:fld>
            <a:endParaRPr lang="zh-CN" altLang="en-US"/>
          </a:p>
        </p:txBody>
      </p:sp>
      <p:sp>
        <p:nvSpPr>
          <p:cNvPr id="3" name="页脚占位符 2"/>
          <p:cNvSpPr>
            <a:spLocks noGrp="1"/>
          </p:cNvSpPr>
          <p:nvPr>
            <p:ph type="ftr" sz="quarter" idx="11"/>
          </p:nvPr>
        </p:nvSpPr>
        <p:spPr>
          <a:xfrm>
            <a:off x="660401" y="6438900"/>
            <a:ext cx="3992171" cy="215900"/>
          </a:xfrm>
          <a:prstGeom prst="rect">
            <a:avLst/>
          </a:prstGeom>
        </p:spPr>
        <p:txBody>
          <a:bodyPr/>
          <a:lstStyle/>
          <a:p>
            <a:endParaRPr lang="zh-CN" altLang="en-US"/>
          </a:p>
        </p:txBody>
      </p:sp>
      <p:sp>
        <p:nvSpPr>
          <p:cNvPr id="4" name="灯片编号占位符 3"/>
          <p:cNvSpPr>
            <a:spLocks noGrp="1"/>
          </p:cNvSpPr>
          <p:nvPr>
            <p:ph type="sldNum" sz="quarter" idx="12"/>
          </p:nvPr>
        </p:nvSpPr>
        <p:spPr/>
        <p:txBody>
          <a:bodyPr/>
          <a:lstStyle/>
          <a:p>
            <a:fld id="{7F65B630-C7FF-41C0-9923-C5E5E29EED8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grpSp>
        <p:nvGrpSpPr>
          <p:cNvPr id="5" name="组合 4"/>
          <p:cNvGrpSpPr/>
          <p:nvPr userDrawn="1"/>
        </p:nvGrpSpPr>
        <p:grpSpPr>
          <a:xfrm>
            <a:off x="0" y="0"/>
            <a:ext cx="12192000" cy="6858000"/>
            <a:chOff x="0" y="0"/>
            <a:chExt cx="12192000" cy="6858000"/>
          </a:xfrm>
        </p:grpSpPr>
        <p:sp>
          <p:nvSpPr>
            <p:cNvPr id="6" name="矩形 5"/>
            <p:cNvSpPr/>
            <p:nvPr userDrawn="1"/>
          </p:nvSpPr>
          <p:spPr>
            <a:xfrm>
              <a:off x="0" y="0"/>
              <a:ext cx="12192000" cy="6858000"/>
            </a:xfrm>
            <a:prstGeom prst="rect">
              <a:avLst/>
            </a:prstGeom>
            <a:solidFill>
              <a:srgbClr val="F9F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userDrawn="1"/>
          </p:nvPicPr>
          <p:blipFill rotWithShape="1">
            <a:blip r:embed="rId2">
              <a:extLst>
                <a:ext uri="{28A0092B-C50C-407E-A947-70E740481C1C}">
                  <a14:useLocalDpi xmlns:a14="http://schemas.microsoft.com/office/drawing/2010/main" val="0"/>
                </a:ext>
              </a:extLst>
            </a:blip>
            <a:srcRect l="13000" t="27201" r="38803" b="25602"/>
            <a:stretch>
              <a:fillRect/>
            </a:stretch>
          </p:blipFill>
          <p:spPr>
            <a:xfrm>
              <a:off x="760413" y="923344"/>
              <a:ext cx="5741987" cy="5622862"/>
            </a:xfrm>
            <a:prstGeom prst="rect">
              <a:avLst/>
            </a:prstGeom>
          </p:spPr>
        </p:pic>
      </p:grpSp>
      <p:sp>
        <p:nvSpPr>
          <p:cNvPr id="7" name="文本占位符 6"/>
          <p:cNvSpPr>
            <a:spLocks noGrp="1"/>
          </p:cNvSpPr>
          <p:nvPr>
            <p:ph type="body" sz="quarter" idx="13"/>
          </p:nvPr>
        </p:nvSpPr>
        <p:spPr>
          <a:xfrm>
            <a:off x="7061703" y="2003764"/>
            <a:ext cx="4457197" cy="1643062"/>
          </a:xfrm>
        </p:spPr>
        <p:txBody>
          <a:bodyPr vert="horz" lIns="91440" tIns="45720" rIns="91440" bIns="45720" rtlCol="0" anchor="b">
            <a:normAutofit/>
          </a:bodyPr>
          <a:lstStyle>
            <a:lvl1pPr marL="0" indent="0" algn="r">
              <a:buNone/>
              <a:defRPr lang="en-US" altLang="zh-CN" sz="3600" b="1" kern="1200" dirty="0">
                <a:ln w="12700">
                  <a:noFill/>
                </a:ln>
                <a:solidFill>
                  <a:srgbClr val="334952"/>
                </a:solidFill>
                <a:latin typeface="+mn-lt"/>
                <a:ea typeface="+mn-ea"/>
                <a:cs typeface="+mn-cs"/>
              </a:defRPr>
            </a:lvl1pPr>
            <a:lvl2pPr marL="457200" indent="0">
              <a:buNone/>
              <a:defRPr lang="en-US" altLang="zh-CN" smtClean="0"/>
            </a:lvl2pPr>
            <a:lvl3pPr>
              <a:defRPr lang="en-US" altLang="zh-CN" smtClean="0"/>
            </a:lvl3pPr>
            <a:lvl4pPr>
              <a:defRPr lang="en-US" altLang="zh-CN" smtClean="0"/>
            </a:lvl4pPr>
            <a:lvl5pPr>
              <a:defRPr lang="zh-CN" altLang="en-US"/>
            </a:lvl5pPr>
          </a:lstStyle>
          <a:p>
            <a:pPr marL="0" lvl="0" indent="0" algn="r" defTabSz="914400" rtl="0" eaLnBrk="1" latinLnBrk="0" hangingPunct="1">
              <a:lnSpc>
                <a:spcPct val="90000"/>
              </a:lnSpc>
              <a:spcBef>
                <a:spcPts val="1000"/>
              </a:spcBef>
              <a:buFont typeface="Arial" panose="020B0604020202020204" pitchFamily="34" charset="0"/>
              <a:buNone/>
            </a:pPr>
            <a:r>
              <a:rPr lang="en-US" altLang="zh-CN" dirty="0"/>
              <a:t>Click to edit Master text styles</a:t>
            </a:r>
          </a:p>
        </p:txBody>
      </p:sp>
      <p:sp>
        <p:nvSpPr>
          <p:cNvPr id="8" name="文本占位符 7"/>
          <p:cNvSpPr>
            <a:spLocks noGrp="1"/>
          </p:cNvSpPr>
          <p:nvPr>
            <p:ph type="body" sz="quarter" idx="14" hasCustomPrompt="1"/>
          </p:nvPr>
        </p:nvSpPr>
        <p:spPr>
          <a:xfrm>
            <a:off x="673100" y="6041844"/>
            <a:ext cx="10858500" cy="296271"/>
          </a:xfrm>
        </p:spPr>
        <p:txBody>
          <a:bodyPr vert="horz" lIns="91440" tIns="45720" rIns="91440" bIns="45720" rtlCol="0" anchor="ctr">
            <a:normAutofit/>
          </a:bodyPr>
          <a:lstStyle>
            <a:lvl1pPr marL="0" indent="0" algn="r">
              <a:buNone/>
              <a:defRPr lang="en-US" altLang="zh-CN" sz="10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Speaker name and title</a:t>
            </a:r>
          </a:p>
        </p:txBody>
      </p:sp>
      <p:sp>
        <p:nvSpPr>
          <p:cNvPr id="9" name="文本占位符 8"/>
          <p:cNvSpPr>
            <a:spLocks noGrp="1"/>
          </p:cNvSpPr>
          <p:nvPr>
            <p:ph type="body" sz="quarter" idx="15" hasCustomPrompt="1"/>
          </p:nvPr>
        </p:nvSpPr>
        <p:spPr>
          <a:xfrm>
            <a:off x="660400" y="6041844"/>
            <a:ext cx="10858500" cy="296271"/>
          </a:xfrm>
        </p:spPr>
        <p:txBody>
          <a:bodyPr vert="horz" lIns="91440" tIns="45720" rIns="91440" bIns="45720" rtlCol="0" anchor="ctr">
            <a:normAutofit/>
          </a:bodyPr>
          <a:lstStyle>
            <a:lvl1pPr marL="0" indent="0">
              <a:buNone/>
              <a:defRPr lang="en-US" altLang="zh-CN" sz="10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OfficePLUS</a:t>
            </a:r>
            <a:endParaRPr lang="en-US" altLang="en-US" dirty="0"/>
          </a:p>
        </p:txBody>
      </p:sp>
      <p:sp>
        <p:nvSpPr>
          <p:cNvPr id="11" name="副标题 10"/>
          <p:cNvSpPr>
            <a:spLocks noGrp="1"/>
          </p:cNvSpPr>
          <p:nvPr>
            <p:ph type="subTitle" idx="1"/>
          </p:nvPr>
        </p:nvSpPr>
        <p:spPr>
          <a:xfrm>
            <a:off x="8609846" y="4843603"/>
            <a:ext cx="2909054" cy="424430"/>
          </a:xfrm>
          <a:prstGeom prst="roundRect">
            <a:avLst>
              <a:gd name="adj" fmla="val 50000"/>
            </a:avLst>
          </a:prstGeom>
          <a:solidFill>
            <a:srgbClr val="394A5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zh-CN" altLang="en-US" sz="1400" dirty="0">
                <a:solidFill>
                  <a:schemeClr val="bg1"/>
                </a:solidFill>
              </a:defRPr>
            </a:lvl1pPr>
          </a:lstStyle>
          <a:p>
            <a:pPr marL="0" lvl="0" algn="ctr"/>
            <a:r>
              <a:rPr lang="en-US" altLang="zh-CN" dirty="0"/>
              <a:t>Click to edit Master subtitle style</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0"/>
            <a:ext cx="10858500" cy="1028700"/>
          </a:xfrm>
          <a:prstGeom prst="rect">
            <a:avLst/>
          </a:prstGeom>
        </p:spPr>
        <p:txBody>
          <a:bodyPr vert="horz" lIns="91440" tIns="45720" rIns="91440" bIns="45720" rtlCol="0" anchor="b">
            <a:normAutofit/>
          </a:bodyPr>
          <a:lstStyle/>
          <a:p>
            <a:pPr lvl="0" defTabSz="914400"/>
            <a:r>
              <a:rPr lang="en-US" altLang="zh-CN"/>
              <a:t>Click to edit Master title style</a:t>
            </a:r>
            <a:endParaRPr lang="zh-CN" alt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5" name="页脚占位符 4"/>
          <p:cNvSpPr>
            <a:spLocks noGrp="1"/>
          </p:cNvSpPr>
          <p:nvPr>
            <p:ph type="ftr" sz="quarter" idx="3"/>
          </p:nvPr>
        </p:nvSpPr>
        <p:spPr>
          <a:xfrm>
            <a:off x="660401" y="6438900"/>
            <a:ext cx="3992171" cy="215900"/>
          </a:xfrm>
          <a:prstGeom prst="rect">
            <a:avLst/>
          </a:prstGeom>
        </p:spPr>
        <p:txBody>
          <a:bodyPr vert="horz" lIns="91440" tIns="45720" rIns="91440" bIns="45720" rtlCol="0" anchor="ctr"/>
          <a:lstStyle>
            <a:lvl1pPr>
              <a:defRPr lang="zh-CN" altLang="en-US" sz="1000">
                <a:solidFill>
                  <a:schemeClr val="tx1">
                    <a:lumMod val="50000"/>
                    <a:lumOff val="50000"/>
                  </a:schemeClr>
                </a:solidFill>
              </a:defRPr>
            </a:lvl1pPr>
          </a:lstStyle>
          <a:p>
            <a:endParaRPr lang="zh-CN" altLang="en-US" dirty="0"/>
          </a:p>
        </p:txBody>
      </p:sp>
      <p:sp>
        <p:nvSpPr>
          <p:cNvPr id="4" name="日期占位符 3"/>
          <p:cNvSpPr>
            <a:spLocks noGrp="1"/>
          </p:cNvSpPr>
          <p:nvPr>
            <p:ph type="dt" sz="half" idx="2"/>
          </p:nvPr>
        </p:nvSpPr>
        <p:spPr>
          <a:xfrm>
            <a:off x="5504656" y="6438900"/>
            <a:ext cx="1802924" cy="215900"/>
          </a:xfrm>
          <a:prstGeom prst="rect">
            <a:avLst/>
          </a:prstGeom>
        </p:spPr>
        <p:txBody>
          <a:bodyPr vert="horz" lIns="91440" tIns="45720" rIns="91440" bIns="45720" rtlCol="0" anchor="ctr"/>
          <a:lstStyle>
            <a:lvl1pPr algn="ctr">
              <a:defRPr lang="zh-CN" altLang="en-US" sz="1000" smtClean="0">
                <a:solidFill>
                  <a:schemeClr val="tx1">
                    <a:lumMod val="50000"/>
                    <a:lumOff val="50000"/>
                  </a:schemeClr>
                </a:solidFill>
              </a:defRPr>
            </a:lvl1pPr>
          </a:lstStyle>
          <a:p>
            <a:fld id="{3EBAC152-C384-4126-A41C-02F34DED3069}" type="datetime1">
              <a:rPr lang="zh-CN" altLang="en-US" smtClean="0"/>
              <a:t>2026/5/26</a:t>
            </a:fld>
            <a:endParaRPr lang="en-US" altLang="zh-CN"/>
          </a:p>
        </p:txBody>
      </p:sp>
      <p:sp>
        <p:nvSpPr>
          <p:cNvPr id="6" name="灯片编号占位符 5"/>
          <p:cNvSpPr>
            <a:spLocks noGrp="1"/>
          </p:cNvSpPr>
          <p:nvPr>
            <p:ph type="sldNum" sz="quarter" idx="4"/>
          </p:nvPr>
        </p:nvSpPr>
        <p:spPr>
          <a:xfrm>
            <a:off x="8857452" y="6438900"/>
            <a:ext cx="2661448" cy="215900"/>
          </a:xfrm>
          <a:prstGeom prst="rect">
            <a:avLst/>
          </a:prstGeom>
        </p:spPr>
        <p:txBody>
          <a:bodyPr vert="horz" lIns="91440" tIns="45720" rIns="91440" bIns="45720" rtlCol="0" anchor="ctr"/>
          <a:lstStyle>
            <a:lvl1pPr algn="r">
              <a:defRPr lang="zh-CN" altLang="en-US" sz="1000" smtClean="0">
                <a:solidFill>
                  <a:schemeClr val="tx1">
                    <a:lumMod val="50000"/>
                    <a:lumOff val="50000"/>
                  </a:schemeClr>
                </a:solidFill>
              </a:defRPr>
            </a:lvl1pPr>
          </a:lstStyle>
          <a:p>
            <a:fld id="{7F65B630-C7FF-41C0-9923-C5E5E29EED81}" type="slidenum">
              <a:rPr lang="en-US" altLang="zh-CN" smtClean="0"/>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2.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1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1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13.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14.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5.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886742" y="719382"/>
            <a:ext cx="6188075" cy="1778689"/>
          </a:xfrm>
        </p:spPr>
        <p:txBody>
          <a:bodyPr>
            <a:noAutofit/>
          </a:bodyPr>
          <a:lstStyle/>
          <a:p>
            <a:pPr algn="ctr"/>
            <a:r>
              <a:rPr lang="en-US" altLang="zh-CN" sz="3200" dirty="0">
                <a:cs typeface="+mn-ea"/>
                <a:sym typeface="+mn-lt"/>
              </a:rPr>
              <a:t>STMBAD: </a:t>
            </a:r>
            <a:r>
              <a:rPr lang="en-US" altLang="zh-CN" sz="3200" dirty="0" err="1">
                <a:cs typeface="+mn-ea"/>
                <a:sym typeface="+mn-lt"/>
              </a:rPr>
              <a:t>Spatio</a:t>
            </a:r>
            <a:r>
              <a:rPr lang="en-US" altLang="zh-CN" sz="3200" dirty="0">
                <a:cs typeface="+mn-ea"/>
                <a:sym typeface="+mn-lt"/>
              </a:rPr>
              <a:t>-Temporal Multimodal Behavior</a:t>
            </a:r>
            <a:br>
              <a:rPr lang="en-US" altLang="zh-CN" sz="3200" dirty="0">
                <a:cs typeface="+mn-ea"/>
                <a:sym typeface="+mn-lt"/>
              </a:rPr>
            </a:br>
            <a:r>
              <a:rPr lang="en-US" altLang="zh-CN" sz="3200" dirty="0">
                <a:cs typeface="+mn-ea"/>
                <a:sym typeface="+mn-lt"/>
              </a:rPr>
              <a:t>Anomaly Detector for Industrial Control Systems</a:t>
            </a:r>
          </a:p>
        </p:txBody>
      </p:sp>
      <p:sp>
        <p:nvSpPr>
          <p:cNvPr id="10" name="副标题 9"/>
          <p:cNvSpPr>
            <a:spLocks noGrp="1"/>
          </p:cNvSpPr>
          <p:nvPr>
            <p:ph type="subTitle" idx="1"/>
          </p:nvPr>
        </p:nvSpPr>
        <p:spPr>
          <a:xfrm>
            <a:off x="7458591" y="5714188"/>
            <a:ext cx="2909054" cy="424430"/>
          </a:xfrm>
        </p:spPr>
        <p:txBody>
          <a:bodyPr>
            <a:noAutofit/>
          </a:bodyPr>
          <a:lstStyle/>
          <a:p>
            <a:r>
              <a:rPr lang="zh-CN" altLang="en-US" sz="2000" dirty="0">
                <a:solidFill>
                  <a:schemeClr val="tx1"/>
                </a:solidFill>
                <a:cs typeface="+mn-ea"/>
                <a:sym typeface="+mn-lt"/>
              </a:rPr>
              <a:t>汇报人：安桂林</a:t>
            </a:r>
          </a:p>
        </p:txBody>
      </p:sp>
      <p:sp>
        <p:nvSpPr>
          <p:cNvPr id="2" name="文本框 1"/>
          <p:cNvSpPr txBox="1"/>
          <p:nvPr/>
        </p:nvSpPr>
        <p:spPr>
          <a:xfrm>
            <a:off x="5696574" y="5207715"/>
            <a:ext cx="6433087" cy="369332"/>
          </a:xfrm>
          <a:prstGeom prst="rect">
            <a:avLst/>
          </a:prstGeom>
          <a:noFill/>
        </p:spPr>
        <p:txBody>
          <a:bodyPr wrap="square" rtlCol="0" anchor="t">
            <a:spAutoFit/>
          </a:bodyPr>
          <a:lstStyle/>
          <a:p>
            <a:pPr algn="ctr"/>
            <a:r>
              <a:rPr lang="en-US" altLang="zh-CN" b="1" dirty="0">
                <a:solidFill>
                  <a:schemeClr val="bg1"/>
                </a:solidFill>
              </a:rPr>
              <a:t>IEEE Transactions on Industrial Informatics(2025)</a:t>
            </a:r>
          </a:p>
        </p:txBody>
      </p:sp>
      <p:sp>
        <p:nvSpPr>
          <p:cNvPr id="3" name="文本框 2"/>
          <p:cNvSpPr txBox="1"/>
          <p:nvPr/>
        </p:nvSpPr>
        <p:spPr>
          <a:xfrm>
            <a:off x="5941586" y="4157524"/>
            <a:ext cx="6188075" cy="706755"/>
          </a:xfrm>
          <a:prstGeom prst="rect">
            <a:avLst/>
          </a:prstGeom>
        </p:spPr>
        <p:txBody>
          <a:bodyPr wrap="square">
            <a:spAutoFit/>
          </a:bodyPr>
          <a:lstStyle/>
          <a:p>
            <a:pPr algn="ctr"/>
            <a:r>
              <a:rPr lang="en-US" altLang="zh-CN" sz="2000" dirty="0" err="1">
                <a:solidFill>
                  <a:srgbClr val="000000"/>
                </a:solidFill>
                <a:ea typeface="CharisSIL"/>
                <a:cs typeface="+mn-lt"/>
              </a:rPr>
              <a:t>Jianzhen</a:t>
            </a:r>
            <a:r>
              <a:rPr lang="en-US" altLang="zh-CN" sz="2000" dirty="0">
                <a:solidFill>
                  <a:srgbClr val="000000"/>
                </a:solidFill>
                <a:ea typeface="CharisSIL"/>
                <a:cs typeface="+mn-lt"/>
              </a:rPr>
              <a:t> Luo , Yan Cai , Jun Cai , </a:t>
            </a:r>
            <a:r>
              <a:rPr lang="en-US" altLang="zh-CN" sz="2000" dirty="0" err="1">
                <a:solidFill>
                  <a:srgbClr val="000000"/>
                </a:solidFill>
                <a:ea typeface="CharisSIL"/>
                <a:cs typeface="+mn-lt"/>
              </a:rPr>
              <a:t>Wanhan</a:t>
            </a:r>
            <a:r>
              <a:rPr lang="en-US" altLang="zh-CN" sz="2000" dirty="0">
                <a:solidFill>
                  <a:srgbClr val="000000"/>
                </a:solidFill>
                <a:ea typeface="CharisSIL"/>
                <a:cs typeface="+mn-lt"/>
              </a:rPr>
              <a:t> Fang , and Wenwei Zheng</a:t>
            </a:r>
          </a:p>
        </p:txBody>
      </p:sp>
      <p:sp>
        <p:nvSpPr>
          <p:cNvPr id="4" name="标题 8"/>
          <p:cNvSpPr txBox="1"/>
          <p:nvPr/>
        </p:nvSpPr>
        <p:spPr>
          <a:xfrm>
            <a:off x="5886742" y="2747273"/>
            <a:ext cx="6188075" cy="1066815"/>
          </a:xfrm>
          <a:prstGeom prst="rect">
            <a:avLst/>
          </a:prstGeom>
        </p:spPr>
        <p:txBody>
          <a:bodyPr vert="horz" lIns="91440" tIns="45720" rIns="91440" bIns="45720" rtlCol="0" anchor="b">
            <a:noAutofit/>
          </a:bodyPr>
          <a:lstStyle>
            <a:lvl1pPr marL="0" indent="0" algn="r" defTabSz="914400" rtl="0" eaLnBrk="1" latinLnBrk="0" hangingPunct="1">
              <a:lnSpc>
                <a:spcPct val="90000"/>
              </a:lnSpc>
              <a:spcBef>
                <a:spcPts val="1000"/>
              </a:spcBef>
              <a:buFont typeface="Arial" panose="020B0604020202020204" pitchFamily="34" charset="0"/>
              <a:buNone/>
              <a:defRPr lang="zh-CN" altLang="en-US" sz="4800" b="1" kern="1200" dirty="0">
                <a:ln w="12700">
                  <a:noFill/>
                </a:ln>
                <a:solidFill>
                  <a:srgbClr val="334952"/>
                </a:solidFill>
                <a:latin typeface="+mn-lt"/>
                <a:ea typeface="+mn-ea"/>
                <a:cs typeface="+mn-cs"/>
              </a:defRPr>
            </a:lvl1pPr>
          </a:lstStyle>
          <a:p>
            <a:pPr algn="ctr"/>
            <a:r>
              <a:rPr lang="zh-CN" altLang="en-US" sz="3200" dirty="0">
                <a:cs typeface="+mn-ea"/>
                <a:sym typeface="+mn-lt"/>
              </a:rPr>
              <a:t>（</a:t>
            </a:r>
            <a:r>
              <a:rPr lang="en-US" altLang="zh-CN" sz="3200" dirty="0">
                <a:cs typeface="+mn-ea"/>
                <a:sym typeface="+mn-lt"/>
              </a:rPr>
              <a:t>STMBAD</a:t>
            </a:r>
            <a:r>
              <a:rPr lang="zh-CN" altLang="en-US" sz="3200" dirty="0">
                <a:cs typeface="+mn-ea"/>
                <a:sym typeface="+mn-lt"/>
              </a:rPr>
              <a:t>：一种工业控制系统中时空多模态行为的异常检测器）</a:t>
            </a:r>
            <a:endParaRPr lang="en-US" altLang="zh-CN" sz="3200" dirty="0">
              <a:cs typeface="+mn-ea"/>
              <a:sym typeface="+mn-lt"/>
            </a:endParaRP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 name="矩形 23"/>
          <p:cNvSpPr/>
          <p:nvPr/>
        </p:nvSpPr>
        <p:spPr>
          <a:xfrm flipH="1">
            <a:off x="0" y="0"/>
            <a:ext cx="12192000" cy="6858000"/>
          </a:xfrm>
          <a:prstGeom prst="rect">
            <a:avLst/>
          </a:prstGeom>
          <a:solidFill>
            <a:srgbClr val="F9F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灯片编号占位符 2"/>
          <p:cNvSpPr>
            <a:spLocks noGrp="1"/>
          </p:cNvSpPr>
          <p:nvPr>
            <p:ph type="sldNum" sz="quarter" idx="12"/>
          </p:nvPr>
        </p:nvSpPr>
        <p:spPr/>
        <p:txBody>
          <a:bodyPr/>
          <a:lstStyle/>
          <a:p>
            <a:fld id="{7F65B630-C7FF-41C0-9923-C5E5E29EED81}" type="slidenum">
              <a:rPr lang="zh-CN" altLang="en-US" smtClean="0">
                <a:cs typeface="+mn-ea"/>
                <a:sym typeface="+mn-lt"/>
              </a:rPr>
              <a:t>2</a:t>
            </a:fld>
            <a:endParaRPr lang="zh-CN" altLang="en-US">
              <a:cs typeface="+mn-ea"/>
              <a:sym typeface="+mn-lt"/>
            </a:endParaRPr>
          </a:p>
        </p:txBody>
      </p:sp>
      <p:grpSp>
        <p:nvGrpSpPr>
          <p:cNvPr id="4" name="组合 3"/>
          <p:cNvGrpSpPr/>
          <p:nvPr>
            <p:custDataLst>
              <p:tags r:id="rId2"/>
            </p:custDataLst>
          </p:nvPr>
        </p:nvGrpSpPr>
        <p:grpSpPr>
          <a:xfrm>
            <a:off x="654868" y="1601988"/>
            <a:ext cx="10357849" cy="4533522"/>
            <a:chOff x="654868" y="1601353"/>
            <a:chExt cx="10357849" cy="4533522"/>
          </a:xfrm>
        </p:grpSpPr>
        <p:grpSp>
          <p:nvGrpSpPr>
            <p:cNvPr id="5" name="组合 4"/>
            <p:cNvGrpSpPr/>
            <p:nvPr/>
          </p:nvGrpSpPr>
          <p:grpSpPr>
            <a:xfrm>
              <a:off x="5412424" y="2094784"/>
              <a:ext cx="5600293" cy="3475367"/>
              <a:chOff x="6271783" y="1960752"/>
              <a:chExt cx="5056618" cy="3475367"/>
            </a:xfrm>
          </p:grpSpPr>
          <p:grpSp>
            <p:nvGrpSpPr>
              <p:cNvPr id="10" name="组合 9"/>
              <p:cNvGrpSpPr/>
              <p:nvPr/>
            </p:nvGrpSpPr>
            <p:grpSpPr>
              <a:xfrm>
                <a:off x="6271783" y="1960752"/>
                <a:ext cx="5056618" cy="584775"/>
                <a:chOff x="4565168" y="1507767"/>
                <a:chExt cx="5668391" cy="584775"/>
              </a:xfrm>
            </p:grpSpPr>
            <p:sp>
              <p:nvSpPr>
                <p:cNvPr id="20" name="文本框 19"/>
                <p:cNvSpPr txBox="1"/>
                <p:nvPr>
                  <p:custDataLst>
                    <p:tags r:id="rId9"/>
                  </p:custDataLst>
                </p:nvPr>
              </p:nvSpPr>
              <p:spPr>
                <a:xfrm>
                  <a:off x="5328065" y="1565429"/>
                  <a:ext cx="4905494" cy="491489"/>
                </a:xfrm>
                <a:prstGeom prst="roundRect">
                  <a:avLst>
                    <a:gd name="adj" fmla="val 0"/>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spAutoFit/>
                </a:bodyPr>
                <a:lstStyle>
                  <a:defPPr>
                    <a:defRPr lang="zh-CN"/>
                  </a:defPPr>
                  <a:lvl1pPr>
                    <a:defRPr sz="1600" b="1">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30000"/>
                    </a:lnSpc>
                  </a:pPr>
                  <a:r>
                    <a:rPr kumimoji="1" lang="zh-CN" altLang="en-US" sz="2000" dirty="0">
                      <a:cs typeface="+mn-ea"/>
                      <a:sym typeface="+mn-lt"/>
                    </a:rPr>
                    <a:t>研究背景</a:t>
                  </a:r>
                </a:p>
              </p:txBody>
            </p:sp>
            <p:sp>
              <p:nvSpPr>
                <p:cNvPr id="21" name="文本框 20"/>
                <p:cNvSpPr txBox="1"/>
                <p:nvPr>
                  <p:custDataLst>
                    <p:tags r:id="rId10"/>
                  </p:custDataLst>
                </p:nvPr>
              </p:nvSpPr>
              <p:spPr>
                <a:xfrm>
                  <a:off x="4565168" y="1507767"/>
                  <a:ext cx="762897" cy="584775"/>
                </a:xfrm>
                <a:prstGeom prst="rect">
                  <a:avLst/>
                </a:prstGeom>
                <a:noFill/>
              </p:spPr>
              <p:txBody>
                <a:bodyPr wrap="none" rtlCol="0" anchor="ctr" anchorCtr="0">
                  <a:spAutoFit/>
                </a:bodyPr>
                <a:lstStyle>
                  <a:defPPr>
                    <a:defRPr lang="zh-CN"/>
                  </a:defPPr>
                  <a:lvl1pPr algn="r">
                    <a:defRPr sz="3200"/>
                  </a:lvl1pPr>
                </a:lstStyle>
                <a:p>
                  <a:r>
                    <a:rPr lang="en-US" altLang="zh-CN" dirty="0">
                      <a:cs typeface="+mn-ea"/>
                      <a:sym typeface="+mn-lt"/>
                    </a:rPr>
                    <a:t>01.</a:t>
                  </a:r>
                  <a:endParaRPr lang="zh-CN" altLang="en-US" dirty="0">
                    <a:cs typeface="+mn-ea"/>
                    <a:sym typeface="+mn-lt"/>
                  </a:endParaRPr>
                </a:p>
              </p:txBody>
            </p:sp>
          </p:grpSp>
          <p:grpSp>
            <p:nvGrpSpPr>
              <p:cNvPr id="11" name="组合 10"/>
              <p:cNvGrpSpPr/>
              <p:nvPr/>
            </p:nvGrpSpPr>
            <p:grpSpPr>
              <a:xfrm>
                <a:off x="6271783" y="2924283"/>
                <a:ext cx="5056618" cy="584775"/>
                <a:chOff x="4565168" y="2720658"/>
                <a:chExt cx="5668391" cy="584775"/>
              </a:xfrm>
            </p:grpSpPr>
            <p:sp>
              <p:nvSpPr>
                <p:cNvPr id="18" name="文本框 17"/>
                <p:cNvSpPr txBox="1"/>
                <p:nvPr>
                  <p:custDataLst>
                    <p:tags r:id="rId7"/>
                  </p:custDataLst>
                </p:nvPr>
              </p:nvSpPr>
              <p:spPr>
                <a:xfrm>
                  <a:off x="5328065" y="2797592"/>
                  <a:ext cx="4905494" cy="452945"/>
                </a:xfrm>
                <a:prstGeom prst="roundRect">
                  <a:avLst>
                    <a:gd name="adj" fmla="val 0"/>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spAutoFit/>
                </a:bodyPr>
                <a:lstStyle>
                  <a:defPPr>
                    <a:defRPr lang="zh-CN"/>
                  </a:defPPr>
                  <a:lvl1pPr>
                    <a:lnSpc>
                      <a:spcPct val="130000"/>
                    </a:lnSpc>
                    <a:defRPr kumimoji="1" sz="10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zh-CN" altLang="en-US" sz="2000" b="1" dirty="0">
                      <a:cs typeface="+mn-ea"/>
                      <a:sym typeface="+mn-lt"/>
                    </a:rPr>
                    <a:t>设计思路</a:t>
                  </a:r>
                </a:p>
              </p:txBody>
            </p:sp>
            <p:sp>
              <p:nvSpPr>
                <p:cNvPr id="19" name="文本框 18"/>
                <p:cNvSpPr txBox="1"/>
                <p:nvPr>
                  <p:custDataLst>
                    <p:tags r:id="rId8"/>
                  </p:custDataLst>
                </p:nvPr>
              </p:nvSpPr>
              <p:spPr>
                <a:xfrm>
                  <a:off x="4565168" y="2720658"/>
                  <a:ext cx="762897" cy="584775"/>
                </a:xfrm>
                <a:prstGeom prst="rect">
                  <a:avLst/>
                </a:prstGeom>
                <a:noFill/>
              </p:spPr>
              <p:txBody>
                <a:bodyPr wrap="none" rtlCol="0" anchor="ctr" anchorCtr="0">
                  <a:spAutoFit/>
                </a:bodyPr>
                <a:lstStyle>
                  <a:defPPr>
                    <a:defRPr lang="zh-CN"/>
                  </a:defPPr>
                  <a:lvl1pPr algn="r">
                    <a:defRPr sz="3200"/>
                  </a:lvl1pPr>
                </a:lstStyle>
                <a:p>
                  <a:r>
                    <a:rPr lang="en-US" altLang="zh-CN" dirty="0">
                      <a:cs typeface="+mn-ea"/>
                      <a:sym typeface="+mn-lt"/>
                    </a:rPr>
                    <a:t>02.</a:t>
                  </a:r>
                  <a:endParaRPr lang="zh-CN" altLang="en-US" dirty="0">
                    <a:cs typeface="+mn-ea"/>
                    <a:sym typeface="+mn-lt"/>
                  </a:endParaRPr>
                </a:p>
              </p:txBody>
            </p:sp>
          </p:grpSp>
          <p:grpSp>
            <p:nvGrpSpPr>
              <p:cNvPr id="12" name="组合 11"/>
              <p:cNvGrpSpPr/>
              <p:nvPr/>
            </p:nvGrpSpPr>
            <p:grpSpPr>
              <a:xfrm>
                <a:off x="6271783" y="3887814"/>
                <a:ext cx="5056618" cy="584775"/>
                <a:chOff x="4565168" y="3958966"/>
                <a:chExt cx="5668391" cy="584775"/>
              </a:xfrm>
            </p:grpSpPr>
            <p:sp>
              <p:nvSpPr>
                <p:cNvPr id="16" name="文本框 15"/>
                <p:cNvSpPr txBox="1"/>
                <p:nvPr>
                  <p:custDataLst>
                    <p:tags r:id="rId5"/>
                  </p:custDataLst>
                </p:nvPr>
              </p:nvSpPr>
              <p:spPr>
                <a:xfrm>
                  <a:off x="5328065" y="4016628"/>
                  <a:ext cx="4905494" cy="491489"/>
                </a:xfrm>
                <a:prstGeom prst="roundRect">
                  <a:avLst>
                    <a:gd name="adj" fmla="val 0"/>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80000" numCol="1" spcCol="0" rtlCol="0" fromWordArt="0" anchor="ctr" anchorCtr="0" forceAA="0" compatLnSpc="1">
                  <a:spAutoFit/>
                </a:bodyPr>
                <a:lstStyle>
                  <a:defPPr>
                    <a:defRPr lang="zh-CN"/>
                  </a:defPPr>
                  <a:lvl1pPr>
                    <a:lnSpc>
                      <a:spcPct val="130000"/>
                    </a:lnSpc>
                    <a:defRPr kumimoji="1" sz="10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l">
                    <a:buClrTx/>
                    <a:buSzTx/>
                    <a:buFontTx/>
                  </a:pPr>
                  <a:r>
                    <a:rPr lang="zh-CN" altLang="en-US" sz="2000" b="1" dirty="0">
                      <a:cs typeface="+mn-ea"/>
                      <a:sym typeface="+mn-lt"/>
                    </a:rPr>
                    <a:t>实现细节</a:t>
                  </a:r>
                </a:p>
              </p:txBody>
            </p:sp>
            <p:sp>
              <p:nvSpPr>
                <p:cNvPr id="17" name="文本框 16"/>
                <p:cNvSpPr txBox="1"/>
                <p:nvPr>
                  <p:custDataLst>
                    <p:tags r:id="rId6"/>
                  </p:custDataLst>
                </p:nvPr>
              </p:nvSpPr>
              <p:spPr>
                <a:xfrm>
                  <a:off x="4565168" y="3958966"/>
                  <a:ext cx="762897" cy="584775"/>
                </a:xfrm>
                <a:prstGeom prst="rect">
                  <a:avLst/>
                </a:prstGeom>
                <a:noFill/>
              </p:spPr>
              <p:txBody>
                <a:bodyPr wrap="none" rtlCol="0" anchor="ctr" anchorCtr="0">
                  <a:spAutoFit/>
                </a:bodyPr>
                <a:lstStyle>
                  <a:defPPr>
                    <a:defRPr lang="zh-CN"/>
                  </a:defPPr>
                  <a:lvl1pPr algn="r">
                    <a:defRPr sz="3200">
                      <a:solidFill>
                        <a:schemeClr val="accent1"/>
                      </a:solidFill>
                    </a:defRPr>
                  </a:lvl1pPr>
                </a:lstStyle>
                <a:p>
                  <a:r>
                    <a:rPr lang="en-US" altLang="zh-CN" dirty="0">
                      <a:cs typeface="+mn-ea"/>
                      <a:sym typeface="+mn-lt"/>
                    </a:rPr>
                    <a:t>03.</a:t>
                  </a:r>
                  <a:endParaRPr lang="zh-CN" altLang="en-US" dirty="0">
                    <a:cs typeface="+mn-ea"/>
                    <a:sym typeface="+mn-lt"/>
                  </a:endParaRPr>
                </a:p>
              </p:txBody>
            </p:sp>
          </p:grpSp>
          <p:grpSp>
            <p:nvGrpSpPr>
              <p:cNvPr id="13" name="组合 12"/>
              <p:cNvGrpSpPr/>
              <p:nvPr/>
            </p:nvGrpSpPr>
            <p:grpSpPr>
              <a:xfrm>
                <a:off x="6271783" y="4851344"/>
                <a:ext cx="5056618" cy="584775"/>
                <a:chOff x="4565168" y="5197274"/>
                <a:chExt cx="5668391" cy="584775"/>
              </a:xfrm>
            </p:grpSpPr>
            <p:sp>
              <p:nvSpPr>
                <p:cNvPr id="14" name="文本框 13"/>
                <p:cNvSpPr txBox="1"/>
                <p:nvPr>
                  <p:custDataLst>
                    <p:tags r:id="rId3"/>
                  </p:custDataLst>
                </p:nvPr>
              </p:nvSpPr>
              <p:spPr>
                <a:xfrm>
                  <a:off x="5328065" y="5274208"/>
                  <a:ext cx="4905494" cy="452945"/>
                </a:xfrm>
                <a:prstGeom prst="roundRect">
                  <a:avLst>
                    <a:gd name="adj" fmla="val 0"/>
                  </a:avLst>
                </a:prstGeom>
                <a:solidFill>
                  <a:schemeClr val="tx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spAutoFit/>
                </a:bodyPr>
                <a:lstStyle>
                  <a:defPPr>
                    <a:defRPr lang="zh-CN"/>
                  </a:defPPr>
                  <a:lvl1pPr>
                    <a:defRPr sz="1600" b="1">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30000"/>
                    </a:lnSpc>
                  </a:pPr>
                  <a:r>
                    <a:rPr kumimoji="1" lang="zh-CN" altLang="en-US" sz="2000" dirty="0">
                      <a:cs typeface="+mn-ea"/>
                      <a:sym typeface="+mn-lt"/>
                    </a:rPr>
                    <a:t>实验评估</a:t>
                  </a:r>
                </a:p>
              </p:txBody>
            </p:sp>
            <p:sp>
              <p:nvSpPr>
                <p:cNvPr id="15" name="文本框 14"/>
                <p:cNvSpPr txBox="1"/>
                <p:nvPr>
                  <p:custDataLst>
                    <p:tags r:id="rId4"/>
                  </p:custDataLst>
                </p:nvPr>
              </p:nvSpPr>
              <p:spPr>
                <a:xfrm>
                  <a:off x="4565168" y="5197274"/>
                  <a:ext cx="762897" cy="584775"/>
                </a:xfrm>
                <a:prstGeom prst="rect">
                  <a:avLst/>
                </a:prstGeom>
                <a:noFill/>
              </p:spPr>
              <p:txBody>
                <a:bodyPr wrap="none" rtlCol="0" anchor="ctr" anchorCtr="0">
                  <a:spAutoFit/>
                </a:bodyPr>
                <a:lstStyle>
                  <a:defPPr>
                    <a:defRPr lang="zh-CN"/>
                  </a:defPPr>
                  <a:lvl1pPr algn="r">
                    <a:defRPr sz="3200"/>
                  </a:lvl1pPr>
                </a:lstStyle>
                <a:p>
                  <a:r>
                    <a:rPr lang="en-US" altLang="zh-CN" dirty="0">
                      <a:cs typeface="+mn-ea"/>
                      <a:sym typeface="+mn-lt"/>
                    </a:rPr>
                    <a:t>04.</a:t>
                  </a:r>
                  <a:endParaRPr lang="zh-CN" altLang="en-US" dirty="0">
                    <a:cs typeface="+mn-ea"/>
                    <a:sym typeface="+mn-lt"/>
                  </a:endParaRPr>
                </a:p>
              </p:txBody>
            </p:sp>
          </p:grpSp>
        </p:grpSp>
        <p:sp>
          <p:nvSpPr>
            <p:cNvPr id="6" name="文本框 5"/>
            <p:cNvSpPr txBox="1"/>
            <p:nvPr/>
          </p:nvSpPr>
          <p:spPr>
            <a:xfrm>
              <a:off x="654868" y="1601353"/>
              <a:ext cx="3993401" cy="923330"/>
            </a:xfrm>
            <a:prstGeom prst="rect">
              <a:avLst/>
            </a:prstGeom>
            <a:noFill/>
            <a:ln>
              <a:noFill/>
            </a:ln>
          </p:spPr>
          <p:txBody>
            <a:bodyPr wrap="none" lIns="91440" tIns="45720" rIns="91440" bIns="45720" anchor="ctr" anchorCtr="0">
              <a:spAutoFit/>
            </a:bodyPr>
            <a:lstStyle/>
            <a:p>
              <a:pPr>
                <a:buSzPct val="25000"/>
              </a:pPr>
              <a:r>
                <a:rPr lang="en-US" altLang="zh-CN" sz="5400" b="1" dirty="0">
                  <a:cs typeface="+mn-ea"/>
                  <a:sym typeface="+mn-lt"/>
                </a:rPr>
                <a:t>CONTENTS</a:t>
              </a:r>
            </a:p>
          </p:txBody>
        </p:sp>
        <p:cxnSp>
          <p:nvCxnSpPr>
            <p:cNvPr id="8" name="直接连接符 7"/>
            <p:cNvCxnSpPr/>
            <p:nvPr/>
          </p:nvCxnSpPr>
          <p:spPr>
            <a:xfrm>
              <a:off x="4351030" y="3396396"/>
              <a:ext cx="0" cy="2730467"/>
            </a:xfrm>
            <a:prstGeom prst="line">
              <a:avLst/>
            </a:prstGeom>
            <a:ln w="6350">
              <a:solidFill>
                <a:schemeClr val="tx1">
                  <a:lumMod val="50000"/>
                  <a:lumOff val="50000"/>
                  <a:alpha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9" name="任意多边形: 形状 8"/>
            <p:cNvSpPr/>
            <p:nvPr/>
          </p:nvSpPr>
          <p:spPr bwMode="auto">
            <a:xfrm>
              <a:off x="3101587" y="5107265"/>
              <a:ext cx="976928" cy="1027610"/>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tx2">
                <a:alpha val="50000"/>
              </a:schemeClr>
            </a:solidFill>
            <a:ln>
              <a:noFill/>
            </a:ln>
          </p:spPr>
          <p:txBody>
            <a:bodyPr/>
            <a:lstStyle/>
            <a:p>
              <a:endParaRPr lang="zh-CN" altLang="en-US" dirty="0">
                <a:cs typeface="+mn-ea"/>
                <a:sym typeface="+mn-lt"/>
              </a:endParaRPr>
            </a:p>
          </p:txBody>
        </p:sp>
      </p:gr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nSpc>
                <a:spcPct val="130000"/>
              </a:lnSpc>
            </a:pPr>
            <a:r>
              <a:rPr kumimoji="1" lang="zh-CN" altLang="en-US" sz="2400" dirty="0">
                <a:cs typeface="+mn-ea"/>
                <a:sym typeface="+mn-lt"/>
              </a:rPr>
              <a:t>研究背景</a:t>
            </a:r>
          </a:p>
        </p:txBody>
      </p:sp>
      <p:sp>
        <p:nvSpPr>
          <p:cNvPr id="2" name="灯片编号占位符 1"/>
          <p:cNvSpPr>
            <a:spLocks noGrp="1"/>
          </p:cNvSpPr>
          <p:nvPr>
            <p:ph type="sldNum" sz="quarter" idx="12"/>
          </p:nvPr>
        </p:nvSpPr>
        <p:spPr/>
        <p:txBody>
          <a:bodyPr/>
          <a:lstStyle/>
          <a:p>
            <a:fld id="{7F65B630-C7FF-41C0-9923-C5E5E29EED81}" type="slidenum">
              <a:rPr lang="zh-CN" altLang="en-US" smtClean="0">
                <a:cs typeface="+mn-ea"/>
                <a:sym typeface="+mn-lt"/>
              </a:rPr>
              <a:t>3</a:t>
            </a:fld>
            <a:endParaRPr lang="zh-CN" altLang="en-US">
              <a:cs typeface="+mn-ea"/>
              <a:sym typeface="+mn-lt"/>
            </a:endParaRPr>
          </a:p>
        </p:txBody>
      </p:sp>
      <p:sp>
        <p:nvSpPr>
          <p:cNvPr id="3" name="文本框 2"/>
          <p:cNvSpPr txBox="1"/>
          <p:nvPr/>
        </p:nvSpPr>
        <p:spPr>
          <a:xfrm>
            <a:off x="1403287" y="2417275"/>
            <a:ext cx="1553630" cy="1569660"/>
          </a:xfrm>
          <a:prstGeom prst="rect">
            <a:avLst/>
          </a:prstGeom>
          <a:noFill/>
        </p:spPr>
        <p:txBody>
          <a:bodyPr wrap="none" rtlCol="0">
            <a:spAutoFit/>
          </a:bodyPr>
          <a:lstStyle/>
          <a:p>
            <a:r>
              <a:rPr lang="en-US" altLang="zh-CN" sz="9600" b="1" dirty="0">
                <a:solidFill>
                  <a:srgbClr val="2E4954"/>
                </a:solidFill>
                <a:cs typeface="+mn-ea"/>
                <a:sym typeface="+mn-lt"/>
              </a:rPr>
              <a:t>01</a:t>
            </a:r>
            <a:endParaRPr lang="zh-CN" altLang="en-US" sz="9600" b="1" dirty="0">
              <a:solidFill>
                <a:srgbClr val="2E4954"/>
              </a:solidFill>
              <a:cs typeface="+mn-ea"/>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66750" y="-24765"/>
            <a:ext cx="10858500" cy="1028700"/>
          </a:xfrm>
        </p:spPr>
        <p:txBody>
          <a:bodyPr/>
          <a:lstStyle/>
          <a:p>
            <a:r>
              <a:rPr lang="zh-CN" altLang="en-US" dirty="0">
                <a:latin typeface="+mn-lt"/>
                <a:ea typeface="+mn-ea"/>
                <a:cs typeface="+mn-ea"/>
                <a:sym typeface="+mn-lt"/>
              </a:rPr>
              <a:t>研究背景</a:t>
            </a:r>
          </a:p>
        </p:txBody>
      </p:sp>
      <p:pic>
        <p:nvPicPr>
          <p:cNvPr id="4" name="图片 3"/>
          <p:cNvPicPr>
            <a:picLocks noChangeAspect="1"/>
          </p:cNvPicPr>
          <p:nvPr/>
        </p:nvPicPr>
        <p:blipFill>
          <a:blip r:embed="rId3"/>
          <a:stretch>
            <a:fillRect/>
          </a:stretch>
        </p:blipFill>
        <p:spPr>
          <a:xfrm>
            <a:off x="1603263" y="1037988"/>
            <a:ext cx="8985473" cy="58200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66750" y="-24765"/>
            <a:ext cx="10858500" cy="1028700"/>
          </a:xfrm>
        </p:spPr>
        <p:txBody>
          <a:bodyPr/>
          <a:lstStyle/>
          <a:p>
            <a:r>
              <a:rPr lang="zh-CN" altLang="en-US" dirty="0">
                <a:latin typeface="+mn-lt"/>
                <a:ea typeface="+mn-ea"/>
                <a:cs typeface="+mn-ea"/>
                <a:sym typeface="+mn-lt"/>
              </a:rPr>
              <a:t>研究背景</a:t>
            </a:r>
          </a:p>
        </p:txBody>
      </p:sp>
      <p:sp>
        <p:nvSpPr>
          <p:cNvPr id="7" name="文本框 6"/>
          <p:cNvSpPr txBox="1"/>
          <p:nvPr/>
        </p:nvSpPr>
        <p:spPr>
          <a:xfrm>
            <a:off x="893309" y="1269002"/>
            <a:ext cx="10405382" cy="5588998"/>
          </a:xfrm>
          <a:prstGeom prst="rect">
            <a:avLst/>
          </a:prstGeom>
          <a:noFill/>
        </p:spPr>
        <p:txBody>
          <a:bodyPr wrap="square">
            <a:noAutofit/>
          </a:bodyPr>
          <a:lstStyle/>
          <a:p>
            <a:pPr indent="457200">
              <a:lnSpc>
                <a:spcPct val="150000"/>
              </a:lnSpc>
            </a:pPr>
            <a:r>
              <a:rPr lang="zh-CN" altLang="en-US" sz="2000" dirty="0"/>
              <a:t>现有异常检测方法依赖规则定义集成电路系统正确行为，因规则划定的变量范围宽泛，</a:t>
            </a:r>
            <a:r>
              <a:rPr lang="zh-CN" altLang="en-US" sz="2000" dirty="0">
                <a:solidFill>
                  <a:srgbClr val="0070C0"/>
                </a:solidFill>
              </a:rPr>
              <a:t>检测阈值边界松散</a:t>
            </a:r>
            <a:r>
              <a:rPr lang="zh-CN" altLang="en-US" sz="2000" dirty="0"/>
              <a:t>，致使攻击者能借此实施隐形攻击而不被发现。且</a:t>
            </a:r>
            <a:r>
              <a:rPr lang="zh-CN" altLang="en-US" sz="2000" dirty="0">
                <a:solidFill>
                  <a:srgbClr val="0070C0"/>
                </a:solidFill>
              </a:rPr>
              <a:t>工业多模态数据</a:t>
            </a:r>
            <a:r>
              <a:rPr lang="zh-CN" altLang="en-US" sz="2000" dirty="0"/>
              <a:t>具有形式、规模和分辨率的异质性，若使其融合能更精准展现系统运行特征，提升异常检测等数据分析的准确性 </a:t>
            </a:r>
            <a:r>
              <a:rPr lang="zh-CN" altLang="en-US" sz="2000" dirty="0">
                <a:solidFill>
                  <a:srgbClr val="2C3E50"/>
                </a:solidFill>
                <a:latin typeface="+mn-ea"/>
              </a:rPr>
              <a:t>。​</a:t>
            </a:r>
          </a:p>
          <a:p>
            <a:pPr indent="457200">
              <a:lnSpc>
                <a:spcPct val="150000"/>
              </a:lnSpc>
            </a:pPr>
            <a:r>
              <a:rPr lang="zh-CN" altLang="en-US" sz="2000" dirty="0"/>
              <a:t>为了解决这些问题，本文提出了工业控制系统中时空多模态行为异常检测器 </a:t>
            </a:r>
            <a:r>
              <a:rPr lang="en-US" altLang="zh-CN" sz="2000" dirty="0"/>
              <a:t>(STMBAD)</a:t>
            </a:r>
            <a:r>
              <a:rPr lang="zh-CN" altLang="en-US" sz="2000" dirty="0"/>
              <a:t> 。 </a:t>
            </a:r>
            <a:r>
              <a:rPr lang="en-US" altLang="zh-CN" sz="2000" dirty="0"/>
              <a:t>STMBAD</a:t>
            </a:r>
            <a:r>
              <a:rPr lang="zh-CN" altLang="en-US" sz="2000" dirty="0"/>
              <a:t>应用</a:t>
            </a:r>
            <a:r>
              <a:rPr lang="zh-CN" altLang="en-US" sz="2000" dirty="0">
                <a:solidFill>
                  <a:srgbClr val="0070C0"/>
                </a:solidFill>
              </a:rPr>
              <a:t>前馈网络（</a:t>
            </a:r>
            <a:r>
              <a:rPr lang="en-US" altLang="zh-CN" sz="2000" dirty="0">
                <a:solidFill>
                  <a:srgbClr val="0070C0"/>
                </a:solidFill>
              </a:rPr>
              <a:t>FFN</a:t>
            </a:r>
            <a:r>
              <a:rPr lang="zh-CN" altLang="en-US" sz="2000" dirty="0">
                <a:solidFill>
                  <a:srgbClr val="0070C0"/>
                </a:solidFill>
              </a:rPr>
              <a:t>）</a:t>
            </a:r>
            <a:r>
              <a:rPr lang="zh-CN" altLang="en-US" sz="2000" dirty="0"/>
              <a:t>捕获</a:t>
            </a:r>
            <a:r>
              <a:rPr lang="zh-CN" altLang="en-US" sz="2000" dirty="0">
                <a:solidFill>
                  <a:srgbClr val="0070C0"/>
                </a:solidFill>
              </a:rPr>
              <a:t>多变量</a:t>
            </a:r>
            <a:r>
              <a:rPr lang="zh-CN" altLang="en-US" sz="2000" dirty="0"/>
              <a:t>相关性和相互依赖关系。同时，运用</a:t>
            </a:r>
            <a:r>
              <a:rPr lang="zh-CN" altLang="en-US" sz="2000" dirty="0">
                <a:solidFill>
                  <a:srgbClr val="0070C0"/>
                </a:solidFill>
              </a:rPr>
              <a:t>注意力机制</a:t>
            </a:r>
            <a:r>
              <a:rPr lang="zh-CN" altLang="en-US" sz="2000" dirty="0"/>
              <a:t>，捕捉不同模态的</a:t>
            </a:r>
            <a:r>
              <a:rPr lang="zh-CN" altLang="en-US" sz="2000" dirty="0">
                <a:solidFill>
                  <a:srgbClr val="0070C0"/>
                </a:solidFill>
              </a:rPr>
              <a:t>时间演化规律和空间相关性</a:t>
            </a:r>
            <a:r>
              <a:rPr lang="zh-CN" altLang="en-US" sz="2000" dirty="0"/>
              <a:t>，对</a:t>
            </a:r>
            <a:r>
              <a:rPr lang="en-US" altLang="zh-CN" sz="2000" dirty="0"/>
              <a:t>ICS</a:t>
            </a:r>
            <a:r>
              <a:rPr lang="zh-CN" altLang="en-US" sz="2000" dirty="0"/>
              <a:t>的时空多模态行为特征进行建模。在检测攻击时，提出了一种结合</a:t>
            </a:r>
            <a:r>
              <a:rPr lang="zh-CN" altLang="en-US" sz="2000" dirty="0">
                <a:solidFill>
                  <a:srgbClr val="0070C0"/>
                </a:solidFill>
              </a:rPr>
              <a:t>全局和局部检测</a:t>
            </a:r>
            <a:r>
              <a:rPr lang="zh-CN" altLang="en-US" sz="2000" dirty="0"/>
              <a:t>的自适应检测机制，利用不同层次的</a:t>
            </a:r>
            <a:r>
              <a:rPr lang="zh-CN" altLang="en-US" sz="2000" dirty="0">
                <a:solidFill>
                  <a:srgbClr val="0070C0"/>
                </a:solidFill>
              </a:rPr>
              <a:t>动态阈值</a:t>
            </a:r>
            <a:r>
              <a:rPr lang="zh-CN" altLang="en-US" sz="2000" dirty="0"/>
              <a:t>，减少了松散的全局阈值带来的误差。</a:t>
            </a:r>
            <a:endParaRPr lang="zh-CN" altLang="en-US" sz="2000" dirty="0">
              <a:solidFill>
                <a:srgbClr val="2C3E50"/>
              </a:solidFill>
              <a:latin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ea typeface="+mn-ea"/>
                <a:cs typeface="+mn-ea"/>
                <a:sym typeface="+mn-lt"/>
              </a:rPr>
              <a:t>设计思路</a:t>
            </a:r>
          </a:p>
        </p:txBody>
      </p:sp>
      <p:sp>
        <p:nvSpPr>
          <p:cNvPr id="2" name="灯片编号占位符 1"/>
          <p:cNvSpPr>
            <a:spLocks noGrp="1"/>
          </p:cNvSpPr>
          <p:nvPr>
            <p:ph type="sldNum" sz="quarter" idx="12"/>
          </p:nvPr>
        </p:nvSpPr>
        <p:spPr/>
        <p:txBody>
          <a:bodyPr/>
          <a:lstStyle/>
          <a:p>
            <a:fld id="{7F65B630-C7FF-41C0-9923-C5E5E29EED81}" type="slidenum">
              <a:rPr lang="zh-CN" altLang="en-US" smtClean="0">
                <a:cs typeface="+mn-ea"/>
                <a:sym typeface="+mn-lt"/>
              </a:rPr>
              <a:t>6</a:t>
            </a:fld>
            <a:endParaRPr lang="zh-CN" altLang="en-US">
              <a:cs typeface="+mn-ea"/>
              <a:sym typeface="+mn-lt"/>
            </a:endParaRPr>
          </a:p>
        </p:txBody>
      </p:sp>
      <p:sp>
        <p:nvSpPr>
          <p:cNvPr id="3" name="文本框 2"/>
          <p:cNvSpPr txBox="1"/>
          <p:nvPr/>
        </p:nvSpPr>
        <p:spPr>
          <a:xfrm>
            <a:off x="1403287" y="2417275"/>
            <a:ext cx="1553630" cy="1569660"/>
          </a:xfrm>
          <a:prstGeom prst="rect">
            <a:avLst/>
          </a:prstGeom>
          <a:noFill/>
        </p:spPr>
        <p:txBody>
          <a:bodyPr wrap="none" rtlCol="0">
            <a:spAutoFit/>
          </a:bodyPr>
          <a:lstStyle/>
          <a:p>
            <a:r>
              <a:rPr lang="en-US" altLang="zh-CN" sz="9600" b="1" dirty="0">
                <a:solidFill>
                  <a:srgbClr val="2E4954"/>
                </a:solidFill>
                <a:cs typeface="+mn-ea"/>
                <a:sym typeface="+mn-lt"/>
              </a:rPr>
              <a:t>02</a:t>
            </a:r>
            <a:endParaRPr lang="zh-CN" altLang="en-US" sz="9600" b="1" dirty="0">
              <a:solidFill>
                <a:srgbClr val="2E4954"/>
              </a:solidFill>
              <a:cs typeface="+mn-ea"/>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60400" y="-127635"/>
            <a:ext cx="10858500" cy="1028700"/>
          </a:xfrm>
        </p:spPr>
        <p:txBody>
          <a:bodyPr/>
          <a:lstStyle/>
          <a:p>
            <a:r>
              <a:rPr lang="en-US" dirty="0">
                <a:latin typeface="+mn-lt"/>
                <a:ea typeface="+mn-ea"/>
                <a:cs typeface="+mn-ea"/>
                <a:sym typeface="+mn-ea"/>
              </a:rPr>
              <a:t>STMBAD</a:t>
            </a:r>
            <a:r>
              <a:rPr lang="zh-CN" altLang="en-US" dirty="0">
                <a:latin typeface="+mn-lt"/>
                <a:ea typeface="+mn-ea"/>
                <a:cs typeface="+mn-ea"/>
                <a:sym typeface="+mn-ea"/>
              </a:rPr>
              <a:t>框架</a:t>
            </a:r>
            <a:endParaRPr lang="zh-CN" altLang="en-US" dirty="0">
              <a:latin typeface="+mn-lt"/>
              <a:ea typeface="+mn-ea"/>
              <a:cs typeface="+mn-ea"/>
              <a:sym typeface="+mn-lt"/>
            </a:endParaRPr>
          </a:p>
        </p:txBody>
      </p:sp>
      <p:sp>
        <p:nvSpPr>
          <p:cNvPr id="4" name="文本框 3"/>
          <p:cNvSpPr txBox="1"/>
          <p:nvPr/>
        </p:nvSpPr>
        <p:spPr>
          <a:xfrm>
            <a:off x="1024815" y="1212351"/>
            <a:ext cx="9836785" cy="506730"/>
          </a:xfrm>
          <a:prstGeom prst="rect">
            <a:avLst/>
          </a:prstGeom>
        </p:spPr>
        <p:txBody>
          <a:bodyPr wrap="square">
            <a:spAutoFit/>
          </a:bodyPr>
          <a:lstStyle/>
          <a:p>
            <a:pPr indent="457200" algn="just" fontAlgn="auto">
              <a:lnSpc>
                <a:spcPct val="150000"/>
              </a:lnSpc>
              <a:spcBef>
                <a:spcPts val="0"/>
              </a:spcBef>
              <a:buClrTx/>
              <a:buSzTx/>
              <a:buNone/>
              <a:extLst>
                <a:ext uri="{35155182-B16C-46BC-9424-99874614C6A1}">
                  <wpsdc:indentchars xmlns="" xmlns:wpsdc="http://www.wps.cn/officeDocument/2017/drawingmlCustomData" val="200" checksum="59296752"/>
                </a:ext>
              </a:extLst>
            </a:pPr>
            <a:r>
              <a:rPr lang="en-US" altLang="zh-CN" dirty="0"/>
              <a:t>STMBAD</a:t>
            </a:r>
            <a:r>
              <a:rPr lang="zh-CN" altLang="en-US" dirty="0"/>
              <a:t>框架主要由行为建模模块和异常检测模块两大部分组成，如图</a:t>
            </a:r>
            <a:r>
              <a:rPr lang="en-US" altLang="zh-CN" dirty="0"/>
              <a:t>2</a:t>
            </a:r>
            <a:r>
              <a:rPr lang="zh-CN" altLang="en-US" dirty="0"/>
              <a:t>所示。</a:t>
            </a:r>
            <a:endParaRPr lang="zh-CN" altLang="en-US" sz="1800" b="0" i="0" dirty="0">
              <a:solidFill>
                <a:srgbClr val="000000"/>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4"/>
          <a:stretch>
            <a:fillRect/>
          </a:stretch>
        </p:blipFill>
        <p:spPr>
          <a:xfrm>
            <a:off x="439420" y="1817370"/>
            <a:ext cx="11299825" cy="4908550"/>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ea typeface="+mn-ea"/>
                <a:cs typeface="+mn-ea"/>
                <a:sym typeface="+mn-lt"/>
              </a:rPr>
              <a:t>实现细节</a:t>
            </a:r>
          </a:p>
        </p:txBody>
      </p:sp>
      <p:sp>
        <p:nvSpPr>
          <p:cNvPr id="2" name="灯片编号占位符 1"/>
          <p:cNvSpPr>
            <a:spLocks noGrp="1"/>
          </p:cNvSpPr>
          <p:nvPr>
            <p:ph type="sldNum" sz="quarter" idx="12"/>
          </p:nvPr>
        </p:nvSpPr>
        <p:spPr/>
        <p:txBody>
          <a:bodyPr/>
          <a:lstStyle/>
          <a:p>
            <a:fld id="{7F65B630-C7FF-41C0-9923-C5E5E29EED81}" type="slidenum">
              <a:rPr lang="zh-CN" altLang="en-US" smtClean="0">
                <a:cs typeface="+mn-ea"/>
                <a:sym typeface="+mn-lt"/>
              </a:rPr>
              <a:t>8</a:t>
            </a:fld>
            <a:endParaRPr lang="zh-CN" altLang="en-US">
              <a:cs typeface="+mn-ea"/>
              <a:sym typeface="+mn-lt"/>
            </a:endParaRPr>
          </a:p>
        </p:txBody>
      </p:sp>
      <p:sp>
        <p:nvSpPr>
          <p:cNvPr id="3" name="文本框 2"/>
          <p:cNvSpPr txBox="1"/>
          <p:nvPr/>
        </p:nvSpPr>
        <p:spPr>
          <a:xfrm>
            <a:off x="1403287" y="2417275"/>
            <a:ext cx="1553630" cy="1569660"/>
          </a:xfrm>
          <a:prstGeom prst="rect">
            <a:avLst/>
          </a:prstGeom>
          <a:noFill/>
        </p:spPr>
        <p:txBody>
          <a:bodyPr wrap="none" rtlCol="0">
            <a:spAutoFit/>
          </a:bodyPr>
          <a:lstStyle/>
          <a:p>
            <a:r>
              <a:rPr lang="en-US" altLang="zh-CN" sz="9600" b="1" dirty="0">
                <a:solidFill>
                  <a:srgbClr val="2E4954"/>
                </a:solidFill>
                <a:cs typeface="+mn-ea"/>
                <a:sym typeface="+mn-lt"/>
              </a:rPr>
              <a:t>03</a:t>
            </a:r>
            <a:endParaRPr lang="zh-CN" altLang="en-US" sz="9600" b="1" dirty="0">
              <a:solidFill>
                <a:srgbClr val="2E4954"/>
              </a:solidFill>
              <a:cs typeface="+mn-ea"/>
              <a:sym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92455" y="-135890"/>
            <a:ext cx="10858500" cy="1028700"/>
          </a:xfrm>
        </p:spPr>
        <p:txBody>
          <a:bodyPr/>
          <a:lstStyle/>
          <a:p>
            <a:r>
              <a:rPr dirty="0">
                <a:sym typeface="+mn-ea"/>
              </a:rPr>
              <a:t>行为建模模块</a:t>
            </a:r>
            <a:r>
              <a:rPr lang="en-US" altLang="zh-CN" dirty="0">
                <a:sym typeface="+mn-ea"/>
              </a:rPr>
              <a:t>——</a:t>
            </a:r>
            <a:r>
              <a:rPr lang="en-US" altLang="zh-CN" dirty="0">
                <a:latin typeface="+mn-lt"/>
                <a:ea typeface="+mn-ea"/>
                <a:cs typeface="+mn-ea"/>
                <a:sym typeface="+mn-lt"/>
              </a:rPr>
              <a:t>iTransformer</a:t>
            </a:r>
            <a:r>
              <a:rPr dirty="0">
                <a:latin typeface="+mn-lt"/>
                <a:ea typeface="+mn-ea"/>
                <a:cs typeface="+mn-ea"/>
                <a:sym typeface="+mn-lt"/>
              </a:rPr>
              <a:t>框架介绍</a:t>
            </a:r>
          </a:p>
        </p:txBody>
      </p:sp>
      <p:pic>
        <p:nvPicPr>
          <p:cNvPr id="2" name="图片 1"/>
          <p:cNvPicPr>
            <a:picLocks noChangeAspect="1"/>
          </p:cNvPicPr>
          <p:nvPr/>
        </p:nvPicPr>
        <p:blipFill>
          <a:blip r:embed="rId4"/>
          <a:stretch>
            <a:fillRect/>
          </a:stretch>
        </p:blipFill>
        <p:spPr>
          <a:xfrm>
            <a:off x="1529715" y="2567305"/>
            <a:ext cx="8902700" cy="4290695"/>
          </a:xfrm>
          <a:prstGeom prst="rect">
            <a:avLst/>
          </a:prstGeom>
        </p:spPr>
      </p:pic>
      <p:sp>
        <p:nvSpPr>
          <p:cNvPr id="4" name="文本框 3"/>
          <p:cNvSpPr txBox="1"/>
          <p:nvPr/>
        </p:nvSpPr>
        <p:spPr>
          <a:xfrm>
            <a:off x="662940" y="892810"/>
            <a:ext cx="11286490" cy="2306955"/>
          </a:xfrm>
          <a:prstGeom prst="rect">
            <a:avLst/>
          </a:prstGeom>
          <a:noFill/>
        </p:spPr>
        <p:txBody>
          <a:bodyPr wrap="square" rtlCol="0">
            <a:spAutoFit/>
          </a:bodyPr>
          <a:lstStyle/>
          <a:p>
            <a:r>
              <a:rPr lang="zh-CN" altLang="en-US"/>
              <a:t>（</a:t>
            </a:r>
            <a:r>
              <a:rPr lang="en-US" altLang="zh-CN"/>
              <a:t>1</a:t>
            </a:r>
            <a:r>
              <a:rPr lang="zh-CN" altLang="en-US"/>
              <a:t>）</a:t>
            </a:r>
            <a:r>
              <a:rPr lang="en-US" altLang="zh-CN"/>
              <a:t>Embedding</a:t>
            </a:r>
            <a:r>
              <a:rPr lang="zh-CN" altLang="en-US"/>
              <a:t>（嵌入层）：</a:t>
            </a:r>
            <a:r>
              <a:rPr lang="en-US" altLang="zh-CN"/>
              <a:t>iTransformer</a:t>
            </a:r>
            <a:r>
              <a:rPr lang="zh-CN" altLang="en-US"/>
              <a:t>将整个时间序列独立地嵌入到变量令牌中。</a:t>
            </a:r>
          </a:p>
          <a:p>
            <a:r>
              <a:rPr lang="zh-CN" altLang="en-US"/>
              <a:t>（</a:t>
            </a:r>
            <a:r>
              <a:rPr lang="en-US" altLang="zh-CN"/>
              <a:t>2</a:t>
            </a:r>
            <a:r>
              <a:rPr lang="zh-CN" altLang="en-US"/>
              <a:t>）</a:t>
            </a:r>
            <a:r>
              <a:rPr lang="en-US">
                <a:sym typeface="+mn-ea"/>
              </a:rPr>
              <a:t>Multivariate Atteintion</a:t>
            </a:r>
            <a:r>
              <a:rPr lang="zh-CN" altLang="en-US">
                <a:sym typeface="+mn-ea"/>
              </a:rPr>
              <a:t>（多头自注意力机制）：</a:t>
            </a:r>
            <a:r>
              <a:rPr lang="zh-CN" altLang="en-US"/>
              <a:t>通过线性投影得到查询、键和值，并利用这些元素计算预</a:t>
            </a:r>
            <a:r>
              <a:rPr lang="en-US" altLang="zh-CN"/>
              <a:t>Softmax</a:t>
            </a:r>
            <a:r>
              <a:rPr lang="zh-CN" altLang="en-US"/>
              <a:t>分数，以揭示变量之间的相关性。高度相关的变量将在下一次表示交互时获得更大的权重。</a:t>
            </a:r>
          </a:p>
          <a:p>
            <a:r>
              <a:rPr lang="zh-CN" altLang="en-US">
                <a:sym typeface="+mn-ea"/>
              </a:rPr>
              <a:t>（</a:t>
            </a:r>
            <a:r>
              <a:rPr lang="en-US" altLang="zh-CN">
                <a:sym typeface="+mn-ea"/>
              </a:rPr>
              <a:t>3</a:t>
            </a:r>
            <a:r>
              <a:rPr lang="zh-CN" altLang="en-US">
                <a:sym typeface="+mn-ea"/>
              </a:rPr>
              <a:t>）</a:t>
            </a:r>
            <a:r>
              <a:rPr lang="en-US" altLang="zh-CN">
                <a:sym typeface="+mn-ea"/>
              </a:rPr>
              <a:t>Add</a:t>
            </a:r>
            <a:r>
              <a:rPr lang="zh-CN" altLang="en-US">
                <a:sym typeface="+mn-ea"/>
              </a:rPr>
              <a:t>（残差连接）：将多头注意力机制的输出与输入相加，来解决深层网络中的梯度消失问题。</a:t>
            </a:r>
            <a:endParaRPr lang="zh-CN" altLang="en-US"/>
          </a:p>
          <a:p>
            <a:r>
              <a:rPr lang="zh-CN" altLang="en-US"/>
              <a:t>（</a:t>
            </a:r>
            <a:r>
              <a:rPr lang="en-US" altLang="zh-CN"/>
              <a:t>4</a:t>
            </a:r>
            <a:r>
              <a:rPr lang="zh-CN" altLang="en-US"/>
              <a:t>）</a:t>
            </a:r>
            <a:r>
              <a:rPr lang="en-US" altLang="zh-CN">
                <a:sym typeface="+mn-ea"/>
              </a:rPr>
              <a:t>LayerNorm</a:t>
            </a:r>
            <a:r>
              <a:rPr lang="zh-CN" altLang="en-US">
                <a:sym typeface="+mn-ea"/>
              </a:rPr>
              <a:t>（层归一化）：</a:t>
            </a:r>
            <a:r>
              <a:rPr lang="zh-CN" altLang="en-US"/>
              <a:t>采用层归一化来减少变量之间的差异。</a:t>
            </a:r>
          </a:p>
          <a:p>
            <a:r>
              <a:rPr lang="zh-CN" altLang="en-US"/>
              <a:t>（</a:t>
            </a:r>
            <a:r>
              <a:rPr lang="en-US" altLang="zh-CN"/>
              <a:t>5</a:t>
            </a:r>
            <a:r>
              <a:rPr lang="zh-CN" altLang="en-US"/>
              <a:t>）</a:t>
            </a:r>
            <a:r>
              <a:rPr lang="en-US" altLang="zh-CN">
                <a:sym typeface="+mn-ea"/>
              </a:rPr>
              <a:t>Feed-forward</a:t>
            </a:r>
            <a:r>
              <a:rPr lang="zh-CN" altLang="en-US">
                <a:sym typeface="+mn-ea"/>
              </a:rPr>
              <a:t>（前馈神经网络）：</a:t>
            </a:r>
            <a:r>
              <a:rPr lang="zh-CN" altLang="en-US"/>
              <a:t>对自注意力机制层的输出进行进一步的变换，使其能够学习更加复杂的函数关系。</a:t>
            </a:r>
          </a:p>
          <a:p>
            <a:endParaRPr lang="zh-CN"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141605"/>
            <a:ext cx="10858500" cy="1028700"/>
          </a:xfrm>
        </p:spPr>
        <p:txBody>
          <a:bodyPr/>
          <a:lstStyle/>
          <a:p>
            <a:r>
              <a:rPr dirty="0">
                <a:solidFill>
                  <a:srgbClr val="2C3E50"/>
                </a:solidFill>
                <a:effectLst/>
                <a:latin typeface="+mn-ea"/>
                <a:sym typeface="+mn-ea"/>
              </a:rPr>
              <a:t>异常检测模块</a:t>
            </a:r>
          </a:p>
        </p:txBody>
      </p:sp>
      <p:pic>
        <p:nvPicPr>
          <p:cNvPr id="7" name="图片 6"/>
          <p:cNvPicPr>
            <a:picLocks noChangeAspect="1"/>
          </p:cNvPicPr>
          <p:nvPr/>
        </p:nvPicPr>
        <p:blipFill>
          <a:blip r:embed="rId4"/>
          <a:stretch>
            <a:fillRect/>
          </a:stretch>
        </p:blipFill>
        <p:spPr>
          <a:xfrm>
            <a:off x="4928235" y="1534160"/>
            <a:ext cx="7263765" cy="4159250"/>
          </a:xfrm>
          <a:prstGeom prst="rect">
            <a:avLst/>
          </a:prstGeom>
        </p:spPr>
      </p:pic>
      <p:sp>
        <p:nvSpPr>
          <p:cNvPr id="2" name="文本框 1"/>
          <p:cNvSpPr txBox="1"/>
          <p:nvPr/>
        </p:nvSpPr>
        <p:spPr>
          <a:xfrm>
            <a:off x="368935" y="1028700"/>
            <a:ext cx="4795520" cy="5169535"/>
          </a:xfrm>
          <a:prstGeom prst="rect">
            <a:avLst/>
          </a:prstGeom>
          <a:noFill/>
        </p:spPr>
        <p:txBody>
          <a:bodyPr wrap="square">
            <a:spAutoFit/>
          </a:bodyPr>
          <a:lstStyle/>
          <a:p>
            <a:pPr>
              <a:lnSpc>
                <a:spcPct val="150000"/>
              </a:lnSpc>
            </a:pPr>
            <a:r>
              <a:rPr lang="zh-CN" altLang="en-US" sz="2000" dirty="0" err="1">
                <a:solidFill>
                  <a:srgbClr val="00B0F0"/>
                </a:solidFill>
                <a:latin typeface="+mn-ea"/>
              </a:rPr>
              <a:t>全局检测</a:t>
            </a:r>
          </a:p>
          <a:p>
            <a:pPr>
              <a:lnSpc>
                <a:spcPct val="150000"/>
              </a:lnSpc>
            </a:pPr>
            <a:r>
              <a:rPr lang="zh-CN" altLang="en-US" sz="1600" dirty="0" err="1"/>
              <a:t>对于全局检测，采用百分比法确定阈值。百分比法基于数据分布原理，将数据集按升序排序，选择第</a:t>
            </a:r>
            <a:r>
              <a:rPr lang="en-US" altLang="zh-CN" sz="1600" dirty="0" err="1"/>
              <a:t>p</a:t>
            </a:r>
            <a:r>
              <a:rPr lang="zh-CN" altLang="en-US" sz="1600" dirty="0" err="1"/>
              <a:t>个百分位数作为阈值。如果任何一个点超过阈值，该时间点就标记为异常。</a:t>
            </a:r>
          </a:p>
          <a:p>
            <a:pPr>
              <a:lnSpc>
                <a:spcPct val="150000"/>
              </a:lnSpc>
            </a:pPr>
            <a:r>
              <a:rPr lang="zh-CN" altLang="en-US" sz="2000" dirty="0">
                <a:solidFill>
                  <a:srgbClr val="00B0F0"/>
                </a:solidFill>
                <a:latin typeface="+mn-ea"/>
              </a:rPr>
              <a:t>局部检测</a:t>
            </a:r>
          </a:p>
          <a:p>
            <a:pPr>
              <a:lnSpc>
                <a:spcPct val="150000"/>
              </a:lnSpc>
            </a:pPr>
            <a:r>
              <a:rPr lang="zh-CN" altLang="en-US" sz="1600" dirty="0" err="1"/>
              <a:t>窗口x[s:s+w]与前⼀个窗口x[s−w−1:s−1]部分重叠。重叠部分经过重复检测，结果可能由于噪声或突然的数据变化而显示偏差。</a:t>
            </a:r>
            <a:endParaRPr lang="zh-CN" altLang="en-US" sz="2000" dirty="0">
              <a:solidFill>
                <a:srgbClr val="00B0F0"/>
              </a:solidFill>
              <a:latin typeface="+mn-ea"/>
            </a:endParaRPr>
          </a:p>
          <a:p>
            <a:pPr>
              <a:lnSpc>
                <a:spcPct val="150000"/>
              </a:lnSpc>
            </a:pPr>
            <a:r>
              <a:rPr lang="zh-CN" altLang="en-US" sz="2000" dirty="0">
                <a:solidFill>
                  <a:srgbClr val="00B0F0"/>
                </a:solidFill>
                <a:latin typeface="+mn-ea"/>
              </a:rPr>
              <a:t>最终结果</a:t>
            </a:r>
          </a:p>
          <a:p>
            <a:pPr>
              <a:lnSpc>
                <a:spcPct val="150000"/>
              </a:lnSpc>
            </a:pPr>
            <a:r>
              <a:rPr lang="zh-CN" altLang="en-US" sz="1600" dirty="0"/>
              <a:t>最后，面对全局检测和局部检测得到的不同结果，我们使用</a:t>
            </a:r>
            <a:r>
              <a:rPr lang="en-US" altLang="zh-CN" sz="1600" dirty="0"/>
              <a:t>OR</a:t>
            </a:r>
            <a:r>
              <a:rPr lang="zh-CN" altLang="en-US" sz="1600" dirty="0"/>
              <a:t>运算，</a:t>
            </a:r>
            <a:r>
              <a:rPr lang="en-US" altLang="zh-CN" sz="1600" dirty="0"/>
              <a:t>OR</a:t>
            </a:r>
            <a:r>
              <a:rPr lang="zh-CN" altLang="en-US" sz="1600" dirty="0"/>
              <a:t>操作可以将局部和全局检测结果结合起来。</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ea typeface="+mn-ea"/>
                <a:cs typeface="+mn-ea"/>
                <a:sym typeface="+mn-lt"/>
              </a:rPr>
              <a:t>实验评估</a:t>
            </a:r>
          </a:p>
        </p:txBody>
      </p:sp>
      <p:sp>
        <p:nvSpPr>
          <p:cNvPr id="2" name="灯片编号占位符 1"/>
          <p:cNvSpPr>
            <a:spLocks noGrp="1"/>
          </p:cNvSpPr>
          <p:nvPr>
            <p:ph type="sldNum" sz="quarter" idx="12"/>
          </p:nvPr>
        </p:nvSpPr>
        <p:spPr/>
        <p:txBody>
          <a:bodyPr/>
          <a:lstStyle/>
          <a:p>
            <a:fld id="{7F65B630-C7FF-41C0-9923-C5E5E29EED81}" type="slidenum">
              <a:rPr lang="zh-CN" altLang="en-US" smtClean="0">
                <a:cs typeface="+mn-ea"/>
                <a:sym typeface="+mn-lt"/>
              </a:rPr>
              <a:t>11</a:t>
            </a:fld>
            <a:endParaRPr lang="zh-CN" altLang="en-US">
              <a:cs typeface="+mn-ea"/>
              <a:sym typeface="+mn-lt"/>
            </a:endParaRPr>
          </a:p>
        </p:txBody>
      </p:sp>
      <p:sp>
        <p:nvSpPr>
          <p:cNvPr id="3" name="文本框 2"/>
          <p:cNvSpPr txBox="1"/>
          <p:nvPr/>
        </p:nvSpPr>
        <p:spPr>
          <a:xfrm>
            <a:off x="1403287" y="2417275"/>
            <a:ext cx="1553630" cy="1569660"/>
          </a:xfrm>
          <a:prstGeom prst="rect">
            <a:avLst/>
          </a:prstGeom>
          <a:noFill/>
        </p:spPr>
        <p:txBody>
          <a:bodyPr wrap="none" rtlCol="0">
            <a:spAutoFit/>
          </a:bodyPr>
          <a:lstStyle/>
          <a:p>
            <a:r>
              <a:rPr lang="en-US" altLang="zh-CN" sz="9600" b="1" dirty="0">
                <a:solidFill>
                  <a:srgbClr val="2E4954"/>
                </a:solidFill>
                <a:cs typeface="+mn-ea"/>
                <a:sym typeface="+mn-lt"/>
              </a:rPr>
              <a:t>04</a:t>
            </a:r>
            <a:endParaRPr lang="zh-CN" altLang="en-US" sz="9600" b="1" dirty="0">
              <a:solidFill>
                <a:srgbClr val="2E4954"/>
              </a:solidFill>
              <a:cs typeface="+mn-ea"/>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23240" y="-62230"/>
            <a:ext cx="10858500" cy="1028700"/>
          </a:xfrm>
        </p:spPr>
        <p:txBody>
          <a:bodyPr/>
          <a:lstStyle/>
          <a:p>
            <a:r>
              <a:rPr lang="zh-CN" altLang="en-US" dirty="0">
                <a:latin typeface="+mn-lt"/>
                <a:ea typeface="+mn-ea"/>
                <a:cs typeface="+mn-ea"/>
                <a:sym typeface="+mn-lt"/>
              </a:rPr>
              <a:t>实验</a:t>
            </a:r>
            <a:r>
              <a:rPr dirty="0">
                <a:latin typeface="+mn-lt"/>
                <a:ea typeface="+mn-ea"/>
                <a:cs typeface="+mn-ea"/>
                <a:sym typeface="+mn-lt"/>
              </a:rPr>
              <a:t>数据集</a:t>
            </a:r>
          </a:p>
        </p:txBody>
      </p:sp>
      <p:pic>
        <p:nvPicPr>
          <p:cNvPr id="4" name="图片 3"/>
          <p:cNvPicPr>
            <a:picLocks noChangeAspect="1"/>
          </p:cNvPicPr>
          <p:nvPr/>
        </p:nvPicPr>
        <p:blipFill>
          <a:blip r:embed="rId4"/>
          <a:stretch>
            <a:fillRect/>
          </a:stretch>
        </p:blipFill>
        <p:spPr>
          <a:xfrm>
            <a:off x="5650169" y="1024741"/>
            <a:ext cx="6541831" cy="4879025"/>
          </a:xfrm>
          <a:prstGeom prst="rect">
            <a:avLst/>
          </a:prstGeom>
        </p:spPr>
      </p:pic>
      <p:sp>
        <p:nvSpPr>
          <p:cNvPr id="7" name="文本框 6"/>
          <p:cNvSpPr txBox="1"/>
          <p:nvPr/>
        </p:nvSpPr>
        <p:spPr>
          <a:xfrm>
            <a:off x="254686" y="1515705"/>
            <a:ext cx="5395483" cy="4388061"/>
          </a:xfrm>
          <a:prstGeom prst="rect">
            <a:avLst/>
          </a:prstGeom>
          <a:noFill/>
        </p:spPr>
        <p:txBody>
          <a:bodyPr wrap="square">
            <a:spAutoFit/>
          </a:bodyPr>
          <a:lstStyle/>
          <a:p>
            <a:pPr>
              <a:lnSpc>
                <a:spcPct val="150000"/>
              </a:lnSpc>
            </a:pPr>
            <a:r>
              <a:rPr lang="en-US" altLang="zh-CN" sz="2000" dirty="0" err="1">
                <a:solidFill>
                  <a:srgbClr val="00B0F0"/>
                </a:solidFill>
                <a:latin typeface="+mn-ea"/>
              </a:rPr>
              <a:t>SWaT</a:t>
            </a:r>
            <a:endParaRPr lang="en-US" altLang="zh-CN" sz="2000" dirty="0">
              <a:solidFill>
                <a:srgbClr val="00B0F0"/>
              </a:solidFill>
              <a:latin typeface="+mn-ea"/>
            </a:endParaRPr>
          </a:p>
          <a:p>
            <a:pPr>
              <a:lnSpc>
                <a:spcPct val="150000"/>
              </a:lnSpc>
            </a:pPr>
            <a:r>
              <a:rPr lang="en-US" altLang="zh-CN" sz="1600" dirty="0" err="1"/>
              <a:t>SWaT</a:t>
            </a:r>
            <a:r>
              <a:rPr lang="zh-CN" altLang="en-US" sz="1600" dirty="0"/>
              <a:t>是网络安全领域研究的水处理试验台。在数据收集期间，</a:t>
            </a:r>
            <a:r>
              <a:rPr lang="en-US" altLang="zh-CN" sz="1600" dirty="0"/>
              <a:t>ICS</a:t>
            </a:r>
            <a:r>
              <a:rPr lang="zh-CN" altLang="en-US" sz="1600" dirty="0"/>
              <a:t>连续运行了</a:t>
            </a:r>
            <a:r>
              <a:rPr lang="en-US" altLang="zh-CN" sz="1600" dirty="0"/>
              <a:t>11</a:t>
            </a:r>
            <a:r>
              <a:rPr lang="zh-CN" altLang="en-US" sz="1600" dirty="0"/>
              <a:t>天。其中， </a:t>
            </a:r>
            <a:r>
              <a:rPr lang="en-US" altLang="zh-CN" sz="1600" dirty="0"/>
              <a:t>7</a:t>
            </a:r>
            <a:r>
              <a:rPr lang="zh-CN" altLang="en-US" sz="1600" dirty="0"/>
              <a:t>天处于正常运行状态，</a:t>
            </a:r>
            <a:r>
              <a:rPr lang="en-US" altLang="zh-CN" sz="1600" dirty="0"/>
              <a:t>4</a:t>
            </a:r>
            <a:r>
              <a:rPr lang="zh-CN" altLang="en-US" sz="1600" dirty="0"/>
              <a:t>天处于攻击场景。</a:t>
            </a:r>
            <a:endParaRPr lang="en-US" altLang="zh-CN" sz="1600" dirty="0"/>
          </a:p>
          <a:p>
            <a:pPr>
              <a:lnSpc>
                <a:spcPct val="150000"/>
              </a:lnSpc>
            </a:pPr>
            <a:r>
              <a:rPr lang="en-US" altLang="zh-CN" sz="2000" dirty="0">
                <a:solidFill>
                  <a:srgbClr val="00B0F0"/>
                </a:solidFill>
                <a:latin typeface="+mn-ea"/>
              </a:rPr>
              <a:t>WADI</a:t>
            </a:r>
          </a:p>
          <a:p>
            <a:pPr>
              <a:lnSpc>
                <a:spcPct val="150000"/>
              </a:lnSpc>
            </a:pPr>
            <a:r>
              <a:rPr lang="en-US" altLang="zh-CN" sz="1600" dirty="0"/>
              <a:t>WADI</a:t>
            </a:r>
            <a:r>
              <a:rPr lang="zh-CN" altLang="en-US" sz="1600" dirty="0"/>
              <a:t>是</a:t>
            </a:r>
            <a:r>
              <a:rPr lang="en-US" altLang="zh-CN" sz="1600" dirty="0" err="1"/>
              <a:t>SWaT</a:t>
            </a:r>
            <a:r>
              <a:rPr lang="zh-CN" altLang="en-US" sz="1600" dirty="0"/>
              <a:t>的自然延伸，形成了一个完整的、现实的水处理、储存和分配网络。系统连续 运行了</a:t>
            </a:r>
            <a:r>
              <a:rPr lang="en-US" altLang="zh-CN" sz="1600" dirty="0"/>
              <a:t>16</a:t>
            </a:r>
            <a:r>
              <a:rPr lang="zh-CN" altLang="en-US" sz="1600" dirty="0"/>
              <a:t>天，其中</a:t>
            </a:r>
            <a:r>
              <a:rPr lang="en-US" altLang="zh-CN" sz="1600" dirty="0"/>
              <a:t>14</a:t>
            </a:r>
            <a:r>
              <a:rPr lang="zh-CN" altLang="en-US" sz="1600" dirty="0"/>
              <a:t>天正常运行，</a:t>
            </a:r>
            <a:r>
              <a:rPr lang="en-US" altLang="zh-CN" sz="1600" dirty="0"/>
              <a:t>2</a:t>
            </a:r>
            <a:r>
              <a:rPr lang="zh-CN" altLang="en-US" sz="1600" dirty="0"/>
              <a:t>天遭受攻击。</a:t>
            </a:r>
            <a:endParaRPr lang="en-US" altLang="zh-CN" sz="1600" dirty="0"/>
          </a:p>
          <a:p>
            <a:pPr>
              <a:lnSpc>
                <a:spcPct val="150000"/>
              </a:lnSpc>
            </a:pPr>
            <a:r>
              <a:rPr lang="en-US" altLang="zh-CN" sz="2000" dirty="0">
                <a:solidFill>
                  <a:srgbClr val="00B0F0"/>
                </a:solidFill>
                <a:latin typeface="+mn-ea"/>
              </a:rPr>
              <a:t>BATADAL</a:t>
            </a:r>
          </a:p>
          <a:p>
            <a:pPr>
              <a:lnSpc>
                <a:spcPct val="150000"/>
              </a:lnSpc>
            </a:pPr>
            <a:r>
              <a:rPr lang="en-US" altLang="zh-CN" sz="1600" dirty="0"/>
              <a:t>BATADAL</a:t>
            </a:r>
            <a:r>
              <a:rPr lang="zh-CN" altLang="en-US" sz="1600" dirty="0"/>
              <a:t>数据集代表一个由七个存储罐组成的</a:t>
            </a:r>
            <a:r>
              <a:rPr lang="en-US" altLang="zh-CN" sz="1600" dirty="0"/>
              <a:t>WADI</a:t>
            </a:r>
            <a:r>
              <a:rPr lang="zh-CN" altLang="en-US" sz="1600" dirty="0"/>
              <a:t>网络。该训练集是由一年的模拟生成的，不包含任何攻击。</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25425" y="-140335"/>
            <a:ext cx="11740515" cy="1028700"/>
          </a:xfrm>
        </p:spPr>
        <p:txBody>
          <a:bodyPr/>
          <a:lstStyle/>
          <a:p>
            <a:r>
              <a:rPr lang="zh-CN" altLang="en-US" dirty="0">
                <a:latin typeface="+mn-lt"/>
                <a:ea typeface="+mn-ea"/>
                <a:cs typeface="+mn-ea"/>
                <a:sym typeface="+mn-lt"/>
              </a:rPr>
              <a:t>最优滑动窗口大小和滑动步长</a:t>
            </a:r>
          </a:p>
        </p:txBody>
      </p:sp>
      <p:sp>
        <p:nvSpPr>
          <p:cNvPr id="4" name="文本框 3"/>
          <p:cNvSpPr txBox="1"/>
          <p:nvPr/>
        </p:nvSpPr>
        <p:spPr>
          <a:xfrm>
            <a:off x="1019175" y="955675"/>
            <a:ext cx="10153015" cy="1635760"/>
          </a:xfrm>
          <a:prstGeom prst="rect">
            <a:avLst/>
          </a:prstGeom>
        </p:spPr>
        <p:txBody>
          <a:bodyPr wrap="square">
            <a:noAutofit/>
          </a:bodyPr>
          <a:lstStyle/>
          <a:p>
            <a:pPr indent="457200" algn="just" fontAlgn="auto">
              <a:lnSpc>
                <a:spcPct val="150000"/>
              </a:lnSpc>
              <a:extLst>
                <a:ext uri="{35155182-B16C-46BC-9424-99874614C6A1}">
                  <wpsdc:indentchars xmlns="" xmlns:wpsdc="http://www.wps.cn/officeDocument/2017/drawingmlCustomData" val="200" checksum="59296752"/>
                </a:ext>
              </a:extLst>
            </a:pPr>
            <a:r>
              <a:rPr lang="zh-CN" altLang="en-US" b="0" i="0" dirty="0">
                <a:solidFill>
                  <a:srgbClr val="000000"/>
                </a:solidFill>
                <a:latin typeface="微软雅黑" panose="020B0503020204020204" charset="-122"/>
                <a:ea typeface="微软雅黑" panose="020B0503020204020204" charset="-122"/>
              </a:rPr>
              <a:t>在异常检测阶段，使用滑动窗口提取动态和局部化信息。为了确定每个数据集对应的最优滑动窗口大小和滑动步长，进行了多次测试。图</a:t>
            </a:r>
            <a:r>
              <a:rPr lang="en-US" altLang="zh-CN" b="0" i="0" dirty="0">
                <a:solidFill>
                  <a:srgbClr val="000000"/>
                </a:solidFill>
                <a:latin typeface="微软雅黑" panose="020B0503020204020204" charset="-122"/>
                <a:ea typeface="微软雅黑" panose="020B0503020204020204" charset="-122"/>
              </a:rPr>
              <a:t>6(a)</a:t>
            </a:r>
            <a:r>
              <a:rPr lang="zh-CN" altLang="en-US" b="0" i="0" dirty="0">
                <a:solidFill>
                  <a:srgbClr val="000000"/>
                </a:solidFill>
                <a:latin typeface="微软雅黑" panose="020B0503020204020204" charset="-122"/>
                <a:ea typeface="微软雅黑" panose="020B0503020204020204" charset="-122"/>
              </a:rPr>
              <a:t>显示了固定</a:t>
            </a:r>
            <a:r>
              <a:rPr lang="en-US" altLang="zh-CN" b="0" i="0" dirty="0">
                <a:solidFill>
                  <a:srgbClr val="000000"/>
                </a:solidFill>
                <a:latin typeface="微软雅黑" panose="020B0503020204020204" charset="-122"/>
                <a:ea typeface="微软雅黑" panose="020B0503020204020204" charset="-122"/>
              </a:rPr>
              <a:t>m</a:t>
            </a:r>
            <a:r>
              <a:rPr lang="zh-CN" altLang="en-US" b="0" i="0" dirty="0">
                <a:solidFill>
                  <a:srgbClr val="000000"/>
                </a:solidFill>
                <a:latin typeface="微软雅黑" panose="020B0503020204020204" charset="-122"/>
                <a:ea typeface="微软雅黑" panose="020B0503020204020204" charset="-122"/>
              </a:rPr>
              <a:t>下</a:t>
            </a:r>
            <a:r>
              <a:rPr lang="en-US" altLang="zh-CN" b="0" i="0" dirty="0">
                <a:solidFill>
                  <a:srgbClr val="000000"/>
                </a:solidFill>
                <a:latin typeface="微软雅黑" panose="020B0503020204020204" charset="-122"/>
                <a:ea typeface="微软雅黑" panose="020B0503020204020204" charset="-122"/>
              </a:rPr>
              <a:t>w</a:t>
            </a:r>
            <a:r>
              <a:rPr lang="zh-CN" altLang="en-US" b="0" i="0" dirty="0">
                <a:solidFill>
                  <a:srgbClr val="000000"/>
                </a:solidFill>
                <a:latin typeface="微软雅黑" panose="020B0503020204020204" charset="-122"/>
                <a:ea typeface="微软雅黑" panose="020B0503020204020204" charset="-122"/>
              </a:rPr>
              <a:t>的调优情况，从图中可以看出，当</a:t>
            </a:r>
            <a:r>
              <a:rPr lang="en-US" altLang="zh-CN" b="0" i="0" dirty="0">
                <a:solidFill>
                  <a:srgbClr val="000000"/>
                </a:solidFill>
                <a:latin typeface="微软雅黑" panose="020B0503020204020204" charset="-122"/>
                <a:ea typeface="微软雅黑" panose="020B0503020204020204" charset="-122"/>
              </a:rPr>
              <a:t>w = 205</a:t>
            </a:r>
            <a:r>
              <a:rPr lang="zh-CN" altLang="en-US" b="0" i="0" dirty="0">
                <a:solidFill>
                  <a:srgbClr val="000000"/>
                </a:solidFill>
                <a:latin typeface="微软雅黑" panose="020B0503020204020204" charset="-122"/>
                <a:ea typeface="微软雅黑" panose="020B0503020204020204" charset="-122"/>
              </a:rPr>
              <a:t>或</a:t>
            </a:r>
            <a:r>
              <a:rPr lang="en-US" altLang="zh-CN" b="0" i="0" dirty="0">
                <a:solidFill>
                  <a:srgbClr val="000000"/>
                </a:solidFill>
                <a:latin typeface="微软雅黑" panose="020B0503020204020204" charset="-122"/>
                <a:ea typeface="微软雅黑" panose="020B0503020204020204" charset="-122"/>
              </a:rPr>
              <a:t>w = 210</a:t>
            </a:r>
            <a:r>
              <a:rPr lang="zh-CN" altLang="en-US" b="0" i="0" dirty="0">
                <a:solidFill>
                  <a:srgbClr val="000000"/>
                </a:solidFill>
                <a:latin typeface="微软雅黑" panose="020B0503020204020204" charset="-122"/>
                <a:ea typeface="微软雅黑" panose="020B0503020204020204" charset="-122"/>
              </a:rPr>
              <a:t>时，模型表现最佳。然后，分别在</a:t>
            </a:r>
            <a:r>
              <a:rPr lang="en-US" altLang="zh-CN" b="0" i="0" dirty="0">
                <a:solidFill>
                  <a:srgbClr val="000000"/>
                </a:solidFill>
                <a:latin typeface="微软雅黑" panose="020B0503020204020204" charset="-122"/>
                <a:ea typeface="微软雅黑" panose="020B0503020204020204" charset="-122"/>
              </a:rPr>
              <a:t>w = 205</a:t>
            </a:r>
            <a:r>
              <a:rPr lang="zh-CN" altLang="en-US" b="0" i="0" dirty="0">
                <a:solidFill>
                  <a:srgbClr val="000000"/>
                </a:solidFill>
                <a:latin typeface="微软雅黑" panose="020B0503020204020204" charset="-122"/>
                <a:ea typeface="微软雅黑" panose="020B0503020204020204" charset="-122"/>
              </a:rPr>
              <a:t>或</a:t>
            </a:r>
            <a:r>
              <a:rPr lang="en-US" altLang="zh-CN" b="0" i="0" dirty="0">
                <a:solidFill>
                  <a:srgbClr val="000000"/>
                </a:solidFill>
                <a:latin typeface="微软雅黑" panose="020B0503020204020204" charset="-122"/>
                <a:ea typeface="微软雅黑" panose="020B0503020204020204" charset="-122"/>
              </a:rPr>
              <a:t>210</a:t>
            </a:r>
            <a:r>
              <a:rPr lang="zh-CN" altLang="en-US" b="0" i="0" dirty="0">
                <a:solidFill>
                  <a:srgbClr val="000000"/>
                </a:solidFill>
                <a:latin typeface="微软雅黑" panose="020B0503020204020204" charset="-122"/>
                <a:ea typeface="微软雅黑" panose="020B0503020204020204" charset="-122"/>
              </a:rPr>
              <a:t>时对</a:t>
            </a:r>
            <a:r>
              <a:rPr lang="en-US" altLang="zh-CN" b="0" i="0" dirty="0">
                <a:solidFill>
                  <a:srgbClr val="000000"/>
                </a:solidFill>
                <a:latin typeface="微软雅黑" panose="020B0503020204020204" charset="-122"/>
                <a:ea typeface="微软雅黑" panose="020B0503020204020204" charset="-122"/>
              </a:rPr>
              <a:t>m</a:t>
            </a:r>
            <a:r>
              <a:rPr lang="zh-CN" altLang="en-US" b="0" i="0" dirty="0">
                <a:solidFill>
                  <a:srgbClr val="000000"/>
                </a:solidFill>
                <a:latin typeface="微软雅黑" panose="020B0503020204020204" charset="-122"/>
                <a:ea typeface="微软雅黑" panose="020B0503020204020204" charset="-122"/>
              </a:rPr>
              <a:t>进行调整。从图</a:t>
            </a:r>
            <a:r>
              <a:rPr lang="en-US" altLang="zh-CN" b="0" i="0" dirty="0">
                <a:solidFill>
                  <a:srgbClr val="000000"/>
                </a:solidFill>
                <a:latin typeface="微软雅黑" panose="020B0503020204020204" charset="-122"/>
                <a:ea typeface="微软雅黑" panose="020B0503020204020204" charset="-122"/>
              </a:rPr>
              <a:t>(b)</a:t>
            </a:r>
            <a:r>
              <a:rPr lang="zh-CN" altLang="en-US" b="0" i="0" dirty="0">
                <a:solidFill>
                  <a:srgbClr val="000000"/>
                </a:solidFill>
                <a:latin typeface="微软雅黑" panose="020B0503020204020204" charset="-122"/>
                <a:ea typeface="微软雅黑" panose="020B0503020204020204" charset="-122"/>
              </a:rPr>
              <a:t>可以看出，模型的</a:t>
            </a:r>
            <a:r>
              <a:rPr lang="en-US" altLang="zh-CN" b="0" i="0" dirty="0">
                <a:solidFill>
                  <a:srgbClr val="000000"/>
                </a:solidFill>
                <a:latin typeface="微软雅黑" panose="020B0503020204020204" charset="-122"/>
                <a:ea typeface="微软雅黑" panose="020B0503020204020204" charset="-122"/>
              </a:rPr>
              <a:t>F1</a:t>
            </a:r>
            <a:r>
              <a:rPr lang="zh-CN" altLang="en-US" b="0" i="0" dirty="0">
                <a:solidFill>
                  <a:srgbClr val="000000"/>
                </a:solidFill>
                <a:latin typeface="微软雅黑" panose="020B0503020204020204" charset="-122"/>
                <a:ea typeface="微软雅黑" panose="020B0503020204020204" charset="-122"/>
              </a:rPr>
              <a:t>分数在</a:t>
            </a:r>
            <a:r>
              <a:rPr lang="en-US" altLang="zh-CN" b="0" i="0" dirty="0">
                <a:solidFill>
                  <a:srgbClr val="000000"/>
                </a:solidFill>
                <a:latin typeface="微软雅黑" panose="020B0503020204020204" charset="-122"/>
                <a:ea typeface="微软雅黑" panose="020B0503020204020204" charset="-122"/>
              </a:rPr>
              <a:t>w = 205</a:t>
            </a:r>
            <a:r>
              <a:rPr lang="zh-CN" altLang="en-US" b="0" i="0" dirty="0">
                <a:solidFill>
                  <a:srgbClr val="000000"/>
                </a:solidFill>
                <a:latin typeface="微软雅黑" panose="020B0503020204020204" charset="-122"/>
                <a:ea typeface="微软雅黑" panose="020B0503020204020204" charset="-122"/>
              </a:rPr>
              <a:t>、</a:t>
            </a:r>
            <a:r>
              <a:rPr lang="en-US" altLang="zh-CN" b="0" i="0" dirty="0">
                <a:solidFill>
                  <a:srgbClr val="000000"/>
                </a:solidFill>
                <a:latin typeface="微软雅黑" panose="020B0503020204020204" charset="-122"/>
                <a:ea typeface="微软雅黑" panose="020B0503020204020204" charset="-122"/>
              </a:rPr>
              <a:t>m = 20</a:t>
            </a:r>
            <a:r>
              <a:rPr lang="zh-CN" altLang="en-US" b="0" i="0" dirty="0">
                <a:solidFill>
                  <a:srgbClr val="000000"/>
                </a:solidFill>
                <a:latin typeface="微软雅黑" panose="020B0503020204020204" charset="-122"/>
                <a:ea typeface="微软雅黑" panose="020B0503020204020204" charset="-122"/>
              </a:rPr>
              <a:t>时达到最大值。</a:t>
            </a:r>
          </a:p>
        </p:txBody>
      </p:sp>
      <p:pic>
        <p:nvPicPr>
          <p:cNvPr id="2" name="图片 1"/>
          <p:cNvPicPr>
            <a:picLocks noChangeAspect="1"/>
          </p:cNvPicPr>
          <p:nvPr/>
        </p:nvPicPr>
        <p:blipFill>
          <a:blip r:embed="rId4"/>
          <a:stretch>
            <a:fillRect/>
          </a:stretch>
        </p:blipFill>
        <p:spPr>
          <a:xfrm>
            <a:off x="453390" y="2717800"/>
            <a:ext cx="11284585" cy="4051935"/>
          </a:xfrm>
          <a:prstGeom prst="rect">
            <a:avLst/>
          </a:prstGeom>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2135" y="-238125"/>
            <a:ext cx="10858500" cy="1028700"/>
          </a:xfrm>
        </p:spPr>
        <p:txBody>
          <a:bodyPr/>
          <a:lstStyle/>
          <a:p>
            <a:r>
              <a:rPr lang="zh-CN" altLang="en-US"/>
              <a:t>对比试验</a:t>
            </a:r>
            <a:r>
              <a:rPr lang="en-US" altLang="zh-CN"/>
              <a:t>——</a:t>
            </a:r>
            <a:r>
              <a:t>异常检测能力</a:t>
            </a:r>
          </a:p>
        </p:txBody>
      </p:sp>
      <p:sp>
        <p:nvSpPr>
          <p:cNvPr id="3" name="灯片编号占位符 2"/>
          <p:cNvSpPr>
            <a:spLocks noGrp="1"/>
          </p:cNvSpPr>
          <p:nvPr>
            <p:ph type="sldNum" sz="quarter" idx="12"/>
          </p:nvPr>
        </p:nvSpPr>
        <p:spPr/>
        <p:txBody>
          <a:bodyPr/>
          <a:lstStyle/>
          <a:p>
            <a:fld id="{7F65B630-C7FF-41C0-9923-C5E5E29EED81}" type="slidenum">
              <a:rPr lang="zh-CN" altLang="en-US" smtClean="0"/>
              <a:t>14</a:t>
            </a:fld>
            <a:endParaRPr lang="zh-CN" altLang="en-US"/>
          </a:p>
        </p:txBody>
      </p:sp>
      <p:pic>
        <p:nvPicPr>
          <p:cNvPr id="4" name="图片 3"/>
          <p:cNvPicPr>
            <a:picLocks noChangeAspect="1"/>
          </p:cNvPicPr>
          <p:nvPr/>
        </p:nvPicPr>
        <p:blipFill>
          <a:blip r:embed="rId2"/>
          <a:stretch>
            <a:fillRect/>
          </a:stretch>
        </p:blipFill>
        <p:spPr>
          <a:xfrm>
            <a:off x="67945" y="1722120"/>
            <a:ext cx="12070080" cy="34137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2135" y="-238125"/>
            <a:ext cx="10858500" cy="1028700"/>
          </a:xfrm>
        </p:spPr>
        <p:txBody>
          <a:bodyPr/>
          <a:lstStyle/>
          <a:p>
            <a:r>
              <a:rPr lang="zh-CN" altLang="en-US"/>
              <a:t>对比试验</a:t>
            </a:r>
            <a:r>
              <a:rPr lang="en-US" altLang="zh-CN"/>
              <a:t>——ROC</a:t>
            </a:r>
            <a:r>
              <a:t>曲线</a:t>
            </a:r>
          </a:p>
        </p:txBody>
      </p:sp>
      <p:sp>
        <p:nvSpPr>
          <p:cNvPr id="3" name="灯片编号占位符 2"/>
          <p:cNvSpPr>
            <a:spLocks noGrp="1"/>
          </p:cNvSpPr>
          <p:nvPr>
            <p:ph type="sldNum" sz="quarter" idx="12"/>
          </p:nvPr>
        </p:nvSpPr>
        <p:spPr/>
        <p:txBody>
          <a:bodyPr/>
          <a:lstStyle/>
          <a:p>
            <a:fld id="{7F65B630-C7FF-41C0-9923-C5E5E29EED81}" type="slidenum">
              <a:rPr lang="zh-CN" altLang="en-US" smtClean="0"/>
              <a:t>15</a:t>
            </a:fld>
            <a:endParaRPr lang="zh-CN" altLang="en-US"/>
          </a:p>
        </p:txBody>
      </p:sp>
      <p:pic>
        <p:nvPicPr>
          <p:cNvPr id="7" name="图片 6"/>
          <p:cNvPicPr>
            <a:picLocks noChangeAspect="1"/>
          </p:cNvPicPr>
          <p:nvPr/>
        </p:nvPicPr>
        <p:blipFill>
          <a:blip r:embed="rId3"/>
          <a:stretch>
            <a:fillRect/>
          </a:stretch>
        </p:blipFill>
        <p:spPr>
          <a:xfrm>
            <a:off x="391160" y="2450465"/>
            <a:ext cx="11220450" cy="3988435"/>
          </a:xfrm>
          <a:prstGeom prst="rect">
            <a:avLst/>
          </a:prstGeom>
        </p:spPr>
      </p:pic>
      <p:sp>
        <p:nvSpPr>
          <p:cNvPr id="8" name="文本框 7"/>
          <p:cNvSpPr txBox="1"/>
          <p:nvPr/>
        </p:nvSpPr>
        <p:spPr>
          <a:xfrm>
            <a:off x="720090" y="952500"/>
            <a:ext cx="9862185" cy="922020"/>
          </a:xfrm>
          <a:prstGeom prst="rect">
            <a:avLst/>
          </a:prstGeom>
          <a:noFill/>
        </p:spPr>
        <p:txBody>
          <a:bodyPr wrap="square" rtlCol="0">
            <a:spAutoFit/>
          </a:bodyPr>
          <a:lstStyle/>
          <a:p>
            <a:r>
              <a:rPr lang="en-US" altLang="zh-CN" dirty="0">
                <a:solidFill>
                  <a:srgbClr val="000000"/>
                </a:solidFill>
                <a:latin typeface="微软雅黑" panose="020B0503020204020204" charset="-122"/>
                <a:ea typeface="微软雅黑" panose="020B0503020204020204" charset="-122"/>
              </a:rPr>
              <a:t>ROC</a:t>
            </a:r>
            <a:r>
              <a:rPr lang="zh-CN" altLang="en-US" dirty="0">
                <a:solidFill>
                  <a:srgbClr val="000000"/>
                </a:solidFill>
                <a:latin typeface="微软雅黑" panose="020B0503020204020204" charset="-122"/>
                <a:ea typeface="微软雅黑" panose="020B0503020204020204" charset="-122"/>
              </a:rPr>
              <a:t>曲线是一种用于表示分类模型性能的图形工具。它通过将真阳性率和假阳性率作为横纵坐标来描绘分类器在不同阈值下的性能。采用特征曲线(ROC)分析假阳性率(FPR)与真阳性率(TPR)的关系。计算ROC曲线下的面积，即AUC，以评估整体性能</a:t>
            </a:r>
            <a:r>
              <a:rPr lang="zh-CN" altLang="en-US"/>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2135" y="-238125"/>
            <a:ext cx="10858500" cy="1028700"/>
          </a:xfrm>
        </p:spPr>
        <p:txBody>
          <a:bodyPr/>
          <a:lstStyle/>
          <a:p>
            <a:r>
              <a:rPr lang="zh-CN" altLang="en-US"/>
              <a:t>对比试验</a:t>
            </a:r>
            <a:r>
              <a:rPr lang="en-US" altLang="zh-CN"/>
              <a:t>——</a:t>
            </a:r>
            <a:r>
              <a:t>异常检测结果和延迟时间</a:t>
            </a:r>
          </a:p>
        </p:txBody>
      </p:sp>
      <p:sp>
        <p:nvSpPr>
          <p:cNvPr id="3" name="灯片编号占位符 2"/>
          <p:cNvSpPr>
            <a:spLocks noGrp="1"/>
          </p:cNvSpPr>
          <p:nvPr>
            <p:ph type="sldNum" sz="quarter" idx="12"/>
          </p:nvPr>
        </p:nvSpPr>
        <p:spPr/>
        <p:txBody>
          <a:bodyPr/>
          <a:lstStyle/>
          <a:p>
            <a:fld id="{7F65B630-C7FF-41C0-9923-C5E5E29EED81}" type="slidenum">
              <a:rPr lang="zh-CN" altLang="en-US" smtClean="0"/>
              <a:t>16</a:t>
            </a:fld>
            <a:endParaRPr lang="zh-CN" altLang="en-US"/>
          </a:p>
        </p:txBody>
      </p:sp>
      <p:pic>
        <p:nvPicPr>
          <p:cNvPr id="4" name="图片 3"/>
          <p:cNvPicPr>
            <a:picLocks noChangeAspect="1"/>
          </p:cNvPicPr>
          <p:nvPr/>
        </p:nvPicPr>
        <p:blipFill>
          <a:blip r:embed="rId3"/>
          <a:stretch>
            <a:fillRect/>
          </a:stretch>
        </p:blipFill>
        <p:spPr>
          <a:xfrm>
            <a:off x="0" y="1882775"/>
            <a:ext cx="6496685" cy="4975225"/>
          </a:xfrm>
          <a:prstGeom prst="rect">
            <a:avLst/>
          </a:prstGeom>
        </p:spPr>
      </p:pic>
      <p:pic>
        <p:nvPicPr>
          <p:cNvPr id="5" name="图片 4"/>
          <p:cNvPicPr>
            <a:picLocks noChangeAspect="1"/>
          </p:cNvPicPr>
          <p:nvPr/>
        </p:nvPicPr>
        <p:blipFill>
          <a:blip r:embed="rId4"/>
          <a:stretch>
            <a:fillRect/>
          </a:stretch>
        </p:blipFill>
        <p:spPr>
          <a:xfrm>
            <a:off x="6496685" y="1837690"/>
            <a:ext cx="5695315" cy="5020310"/>
          </a:xfrm>
          <a:prstGeom prst="rect">
            <a:avLst/>
          </a:prstGeom>
        </p:spPr>
      </p:pic>
      <p:sp>
        <p:nvSpPr>
          <p:cNvPr id="6" name="文本框 5"/>
          <p:cNvSpPr txBox="1"/>
          <p:nvPr/>
        </p:nvSpPr>
        <p:spPr>
          <a:xfrm>
            <a:off x="6790690" y="1191260"/>
            <a:ext cx="5536565" cy="368300"/>
          </a:xfrm>
          <a:prstGeom prst="rect">
            <a:avLst/>
          </a:prstGeom>
          <a:noFill/>
        </p:spPr>
        <p:txBody>
          <a:bodyPr wrap="square" rtlCol="0">
            <a:spAutoFit/>
          </a:bodyPr>
          <a:lstStyle/>
          <a:p>
            <a:r>
              <a:rPr lang="zh-CN" altLang="en-US"/>
              <a:t>三种数据集下不同模型的检测推断和延迟时间比较</a:t>
            </a:r>
          </a:p>
        </p:txBody>
      </p:sp>
      <p:sp>
        <p:nvSpPr>
          <p:cNvPr id="9" name="文本框 8"/>
          <p:cNvSpPr txBox="1"/>
          <p:nvPr/>
        </p:nvSpPr>
        <p:spPr>
          <a:xfrm>
            <a:off x="480060" y="1191260"/>
            <a:ext cx="5536565" cy="368300"/>
          </a:xfrm>
          <a:prstGeom prst="rect">
            <a:avLst/>
          </a:prstGeom>
          <a:noFill/>
        </p:spPr>
        <p:txBody>
          <a:bodyPr wrap="square" rtlCol="0">
            <a:spAutoFit/>
          </a:bodyPr>
          <a:lstStyle/>
          <a:p>
            <a:r>
              <a:rPr lang="zh-CN" altLang="en-US"/>
              <a:t>三种数据集下不同方法的异常检测结果比较</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mn-lt"/>
                <a:ea typeface="+mn-ea"/>
                <a:cs typeface="+mn-ea"/>
                <a:sym typeface="+mn-lt"/>
              </a:rPr>
              <a:t>实验总结</a:t>
            </a:r>
          </a:p>
        </p:txBody>
      </p:sp>
      <p:sp>
        <p:nvSpPr>
          <p:cNvPr id="5" name="文本框 4"/>
          <p:cNvSpPr txBox="1"/>
          <p:nvPr/>
        </p:nvSpPr>
        <p:spPr>
          <a:xfrm>
            <a:off x="1641190" y="1412464"/>
            <a:ext cx="9564940" cy="645160"/>
          </a:xfrm>
          <a:prstGeom prst="rect">
            <a:avLst/>
          </a:prstGeom>
          <a:noFill/>
        </p:spPr>
        <p:txBody>
          <a:bodyPr wrap="square">
            <a:spAutoFit/>
          </a:bodyPr>
          <a:lstStyle/>
          <a:p>
            <a:pPr indent="457200">
              <a:lnSpc>
                <a:spcPct val="150000"/>
              </a:lnSpc>
            </a:pPr>
            <a:endParaRPr sz="2400" dirty="0">
              <a:latin typeface="+mn-ea"/>
            </a:endParaRPr>
          </a:p>
        </p:txBody>
      </p:sp>
      <p:sp>
        <p:nvSpPr>
          <p:cNvPr id="2" name="文本框 1"/>
          <p:cNvSpPr txBox="1"/>
          <p:nvPr/>
        </p:nvSpPr>
        <p:spPr>
          <a:xfrm>
            <a:off x="1070610" y="1080770"/>
            <a:ext cx="9658350" cy="3415030"/>
          </a:xfrm>
          <a:prstGeom prst="rect">
            <a:avLst/>
          </a:prstGeom>
        </p:spPr>
        <p:txBody>
          <a:bodyPr wrap="square">
            <a:spAutoFit/>
          </a:bodyPr>
          <a:lstStyle/>
          <a:p>
            <a:pPr marL="0" indent="0" algn="just">
              <a:lnSpc>
                <a:spcPct val="150000"/>
              </a:lnSpc>
              <a:spcBef>
                <a:spcPts val="100"/>
              </a:spcBef>
              <a:buClrTx/>
              <a:buSzTx/>
              <a:buFont typeface="Arial" panose="020B0604020202020204"/>
              <a:buNone/>
            </a:pPr>
            <a:endParaRPr lang="en-US" altLang="zh-CN" sz="1800" dirty="0">
              <a:solidFill>
                <a:srgbClr val="000000"/>
              </a:solidFill>
              <a:latin typeface="微软雅黑" panose="020B0503020204020204" charset="-122"/>
              <a:ea typeface="微软雅黑" panose="020B0503020204020204" charset="-122"/>
            </a:endParaRPr>
          </a:p>
          <a:p>
            <a:pPr marL="0" lvl="1" indent="457200" algn="just" fontAlgn="auto">
              <a:lnSpc>
                <a:spcPct val="150000"/>
              </a:lnSpc>
              <a:spcBef>
                <a:spcPts val="0"/>
              </a:spcBef>
              <a:buClrTx/>
              <a:buSzTx/>
              <a:buFont typeface="Arial" panose="020B0604020202020204"/>
              <a:buNone/>
              <a:extLst>
                <a:ext uri="{35155182-B16C-46BC-9424-99874614C6A1}">
                  <wpsdc:indentchars xmlns="" xmlns:wpsdc="http://www.wps.cn/officeDocument/2017/drawingmlCustomData" val="200" checksum="59296752"/>
                </a:ext>
              </a:extLst>
            </a:pPr>
            <a:r>
              <a:rPr lang="zh-CN" altLang="en-US" dirty="0"/>
              <a:t>本工作提出了一种基于时空多模态行为的</a:t>
            </a:r>
            <a:r>
              <a:rPr lang="en-US" altLang="zh-CN" dirty="0"/>
              <a:t>ICS</a:t>
            </a:r>
            <a:r>
              <a:rPr lang="zh-CN" altLang="en-US" dirty="0"/>
              <a:t>异常检测方法</a:t>
            </a:r>
            <a:r>
              <a:rPr lang="en-US" altLang="zh-CN" dirty="0"/>
              <a:t>——STMBAD</a:t>
            </a:r>
            <a:r>
              <a:rPr lang="zh-CN" altLang="en-US" dirty="0"/>
              <a:t>。</a:t>
            </a:r>
            <a:r>
              <a:rPr lang="en-US" altLang="zh-CN" dirty="0"/>
              <a:t>STMBAD</a:t>
            </a:r>
            <a:r>
              <a:rPr lang="zh-CN" altLang="en-US" dirty="0"/>
              <a:t>利用工业多模态数据中的丰富信息，加深对复杂</a:t>
            </a:r>
            <a:r>
              <a:rPr lang="en-US" altLang="zh-CN" dirty="0"/>
              <a:t>ICS</a:t>
            </a:r>
            <a:r>
              <a:rPr lang="zh-CN" altLang="en-US" dirty="0"/>
              <a:t>行为的理解，增强检测隐身攻击的能力。所提出的方法首先将单个模态序列单独嵌入到变量令牌中，然后使用注意机制和</a:t>
            </a:r>
            <a:r>
              <a:rPr lang="en-US" altLang="zh-CN" dirty="0"/>
              <a:t>FFN</a:t>
            </a:r>
            <a:r>
              <a:rPr lang="zh-CN" altLang="en-US" dirty="0"/>
              <a:t>来捕获多变量相关性和相互依赖性，并对</a:t>
            </a:r>
            <a:r>
              <a:rPr lang="en-US" altLang="zh-CN" dirty="0"/>
              <a:t>ICS</a:t>
            </a:r>
            <a:r>
              <a:rPr lang="zh-CN" altLang="en-US" dirty="0"/>
              <a:t>的时空多模态行为特征进行建模。</a:t>
            </a:r>
            <a:r>
              <a:rPr lang="en-US" altLang="zh-CN" dirty="0"/>
              <a:t>STMBAD</a:t>
            </a:r>
            <a:r>
              <a:rPr lang="zh-CN" altLang="en-US" dirty="0"/>
              <a:t>通过评估重构变量标记的偏差来进行异常检测，并利用一种结合全局和局部检测的自适应检测机制来检测可变工业过程。仿真结果表明，所提出的方法能够有效地识别出</a:t>
            </a:r>
            <a:r>
              <a:rPr lang="en-US" altLang="zh-CN" dirty="0" err="1"/>
              <a:t>ICS</a:t>
            </a:r>
            <a:r>
              <a:rPr lang="zh-CN" altLang="en-US" dirty="0"/>
              <a:t>中的异常， 并在异常检测任务中表现出较高的性能。</a:t>
            </a:r>
            <a:endParaRPr lang="en-US" altLang="zh-CN" sz="1600" dirty="0">
              <a:solidFill>
                <a:srgbClr val="404040"/>
              </a:solidFill>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r>
              <a:rPr lang="en-GB" altLang="zh-CN" dirty="0">
                <a:cs typeface="+mn-ea"/>
                <a:sym typeface="+mn-lt"/>
              </a:rPr>
              <a:t>Thank you for </a:t>
            </a:r>
          </a:p>
          <a:p>
            <a:r>
              <a:rPr lang="en-US" altLang="zh-CN" dirty="0">
                <a:cs typeface="+mn-ea"/>
                <a:sym typeface="+mn-lt"/>
              </a:rPr>
              <a:t>listening</a:t>
            </a:r>
            <a:r>
              <a:rPr lang="en-GB" altLang="zh-CN" dirty="0">
                <a:cs typeface="+mn-ea"/>
                <a:sym typeface="+mn-lt"/>
              </a:rPr>
              <a:t>.</a:t>
            </a:r>
          </a:p>
        </p:txBody>
      </p:sp>
      <p:sp>
        <p:nvSpPr>
          <p:cNvPr id="8" name="副标题 7"/>
          <p:cNvSpPr>
            <a:spLocks noGrp="1"/>
          </p:cNvSpPr>
          <p:nvPr>
            <p:ph type="subTitle" idx="1"/>
          </p:nvPr>
        </p:nvSpPr>
        <p:spPr>
          <a:xfrm>
            <a:off x="8830564" y="4632120"/>
            <a:ext cx="2909054" cy="424430"/>
          </a:xfrm>
        </p:spPr>
        <p:txBody>
          <a:bodyPr>
            <a:normAutofit fontScale="97500"/>
          </a:bodyPr>
          <a:lstStyle/>
          <a:p>
            <a:r>
              <a:rPr lang="zh-CN" altLang="en-US" dirty="0">
                <a:cs typeface="+mn-ea"/>
                <a:sym typeface="+mn-lt"/>
              </a:rPr>
              <a:t>汇报人：安桂林</a:t>
            </a:r>
          </a:p>
        </p:txBody>
      </p:sp>
      <p:sp>
        <p:nvSpPr>
          <p:cNvPr id="9" name="文本框 8"/>
          <p:cNvSpPr txBox="1"/>
          <p:nvPr/>
        </p:nvSpPr>
        <p:spPr>
          <a:xfrm>
            <a:off x="660400" y="540405"/>
            <a:ext cx="2000504" cy="296271"/>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altLang="zh-CN" sz="1200" b="0" kern="1200" smtClean="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altLang="zh-CN" sz="1600" kern="1200" smtClean="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altLang="zh-CN" sz="1400" kern="1200" smtClean="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altLang="zh-CN" sz="1200" kern="1200" smtClean="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tLang="zh-CN" b="1" dirty="0">
                <a:solidFill>
                  <a:schemeClr val="bg1"/>
                </a:solidFill>
                <a:cs typeface="+mn-ea"/>
                <a:sym typeface="+mn-lt"/>
              </a:rPr>
              <a:t>LOGO HERE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DIAGRAM" val="#873124;"/>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56.97023622047243,&quot;left&quot;:51.5644094488189,&quot;top&quot;:126.14078740157481,&quot;width&quot;:815.578661417322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56.97023622047243,&quot;left&quot;:51.5644094488189,&quot;top&quot;:126.14078740157481,&quot;width&quot;:815.578661417322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56.97023622047243,&quot;left&quot;:51.5644094488189,&quot;top&quot;:126.14078740157481,&quot;width&quot;:815.578661417322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56.97023622047243,&quot;left&quot;:51.5644094488189,&quot;top&quot;:126.14078740157481,&quot;width&quot;:815.578661417322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56.97023622047243,&quot;left&quot;:51.5644094488189,&quot;top&quot;:126.14078740157481,&quot;width&quot;:815.578661417322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56.97023622047243,&quot;left&quot;:51.5644094488189,&quot;top&quot;:126.14078740157481,&quot;width&quot;:815.578661417322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56.97023622047243,&quot;left&quot;:51.5644094488189,&quot;top&quot;:126.14078740157481,&quot;width&quot;:815.578661417322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56.97023622047243,&quot;left&quot;:51.5644094488189,&quot;top&quot;:126.14078740157481,&quot;width&quot;:815.578661417322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56.97023622047243,&quot;left&quot;:51.5644094488189,&quot;top&quot;:126.14078740157481,&quot;width&quot;:815.5786614173228}"/>
</p:tagLst>
</file>

<file path=ppt/tags/tag11.xml><?xml version="1.0" encoding="utf-8"?>
<p:tagLst xmlns:a="http://schemas.openxmlformats.org/drawingml/2006/main" xmlns:r="http://schemas.openxmlformats.org/officeDocument/2006/relationships" xmlns:p="http://schemas.openxmlformats.org/presentationml/2006/main">
  <p:tag name="ISLIDE.VECTOR" val="#275470;#187380;#752857;#752857;"/>
</p:tagLst>
</file>

<file path=ppt/tags/tag12.xml><?xml version="1.0" encoding="utf-8"?>
<p:tagLst xmlns:a="http://schemas.openxmlformats.org/drawingml/2006/main" xmlns:r="http://schemas.openxmlformats.org/officeDocument/2006/relationships" xmlns:p="http://schemas.openxmlformats.org/presentationml/2006/main">
  <p:tag name="ISLIDE.VECTOR" val="#275470;#187380;#752857;#752857;"/>
</p:tagLst>
</file>

<file path=ppt/tags/tag13.xml><?xml version="1.0" encoding="utf-8"?>
<p:tagLst xmlns:a="http://schemas.openxmlformats.org/drawingml/2006/main" xmlns:r="http://schemas.openxmlformats.org/officeDocument/2006/relationships" xmlns:p="http://schemas.openxmlformats.org/presentationml/2006/main">
  <p:tag name="ISLIDE.VECTOR" val="#275470;#187380;#752857;#752857;"/>
</p:tagLst>
</file>

<file path=ppt/tags/tag14.xml><?xml version="1.0" encoding="utf-8"?>
<p:tagLst xmlns:a="http://schemas.openxmlformats.org/drawingml/2006/main" xmlns:r="http://schemas.openxmlformats.org/officeDocument/2006/relationships" xmlns:p="http://schemas.openxmlformats.org/presentationml/2006/main">
  <p:tag name="ISLIDE.VECTOR" val="#294874;#577048;#569071;#569076;#565210;#565206;#562967;"/>
</p:tagLst>
</file>

<file path=ppt/tags/tag15.xml><?xml version="1.0" encoding="utf-8"?>
<p:tagLst xmlns:a="http://schemas.openxmlformats.org/drawingml/2006/main" xmlns:r="http://schemas.openxmlformats.org/officeDocument/2006/relationships" xmlns:p="http://schemas.openxmlformats.org/presentationml/2006/main">
  <p:tag name="ISLIDE.VECTOR" val="#294874;#577048;#569071;#569076;#565210;#565206;#562967;"/>
</p:tagLst>
</file>

<file path=ppt/tags/tag16.xml><?xml version="1.0" encoding="utf-8"?>
<p:tagLst xmlns:a="http://schemas.openxmlformats.org/drawingml/2006/main" xmlns:r="http://schemas.openxmlformats.org/officeDocument/2006/relationships" xmlns:p="http://schemas.openxmlformats.org/presentationml/2006/main">
  <p:tag name="ISLIDE.VECTOR" val="#294874;#577048;#569071;#569076;#565210;#565206;#562967;"/>
</p:tagLst>
</file>

<file path=ppt/theme/theme1.xml><?xml version="1.0" encoding="utf-8"?>
<a:theme xmlns:a="http://schemas.openxmlformats.org/drawingml/2006/main" name="Designed by iSlide">
  <a:themeElements>
    <a:clrScheme name="iSlide VI标准">
      <a:dk1>
        <a:srgbClr val="2F2F2F"/>
      </a:dk1>
      <a:lt1>
        <a:srgbClr val="FFFFFF"/>
      </a:lt1>
      <a:dk2>
        <a:srgbClr val="778495"/>
      </a:dk2>
      <a:lt2>
        <a:srgbClr val="F0F0F0"/>
      </a:lt2>
      <a:accent1>
        <a:srgbClr val="2E4954"/>
      </a:accent1>
      <a:accent2>
        <a:srgbClr val="C6815B"/>
      </a:accent2>
      <a:accent3>
        <a:srgbClr val="ECC189"/>
      </a:accent3>
      <a:accent4>
        <a:srgbClr val="EBAA88"/>
      </a:accent4>
      <a:accent5>
        <a:srgbClr val="9A9A9A"/>
      </a:accent5>
      <a:accent6>
        <a:srgbClr val="C3C3C3"/>
      </a:accent6>
      <a:hlink>
        <a:srgbClr val="F84D4D"/>
      </a:hlink>
      <a:folHlink>
        <a:srgbClr val="979797"/>
      </a:folHlink>
    </a:clrScheme>
    <a:fontScheme name="t1ntmcmu">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Slide VI标准">
    <a:dk1>
      <a:srgbClr val="2F2F2F"/>
    </a:dk1>
    <a:lt1>
      <a:srgbClr val="FFFFFF"/>
    </a:lt1>
    <a:dk2>
      <a:srgbClr val="778495"/>
    </a:dk2>
    <a:lt2>
      <a:srgbClr val="F0F0F0"/>
    </a:lt2>
    <a:accent1>
      <a:srgbClr val="2E4954"/>
    </a:accent1>
    <a:accent2>
      <a:srgbClr val="C6815B"/>
    </a:accent2>
    <a:accent3>
      <a:srgbClr val="ECC189"/>
    </a:accent3>
    <a:accent4>
      <a:srgbClr val="EBAA88"/>
    </a:accent4>
    <a:accent5>
      <a:srgbClr val="9A9A9A"/>
    </a:accent5>
    <a:accent6>
      <a:srgbClr val="C3C3C3"/>
    </a:accent6>
    <a:hlink>
      <a:srgbClr val="F84D4D"/>
    </a:hlink>
    <a:folHlink>
      <a:srgbClr val="979797"/>
    </a:folHlink>
  </a:clrScheme>
</a:themeOverride>
</file>

<file path=ppt/theme/themeOverride2.xml><?xml version="1.0" encoding="utf-8"?>
<a:themeOverride xmlns:a="http://schemas.openxmlformats.org/drawingml/2006/main">
  <a:clrScheme name="iSlide VI标准">
    <a:dk1>
      <a:srgbClr val="2F2F2F"/>
    </a:dk1>
    <a:lt1>
      <a:srgbClr val="FFFFFF"/>
    </a:lt1>
    <a:dk2>
      <a:srgbClr val="778495"/>
    </a:dk2>
    <a:lt2>
      <a:srgbClr val="F0F0F0"/>
    </a:lt2>
    <a:accent1>
      <a:srgbClr val="2E4954"/>
    </a:accent1>
    <a:accent2>
      <a:srgbClr val="C6815B"/>
    </a:accent2>
    <a:accent3>
      <a:srgbClr val="ECC189"/>
    </a:accent3>
    <a:accent4>
      <a:srgbClr val="EBAA88"/>
    </a:accent4>
    <a:accent5>
      <a:srgbClr val="9A9A9A"/>
    </a:accent5>
    <a:accent6>
      <a:srgbClr val="C3C3C3"/>
    </a:accent6>
    <a:hlink>
      <a:srgbClr val="F84D4D"/>
    </a:hlink>
    <a:folHlink>
      <a:srgbClr val="979797"/>
    </a:folHlink>
  </a:clrScheme>
</a:themeOverride>
</file>

<file path=docProps/app.xml><?xml version="1.0" encoding="utf-8"?>
<Properties xmlns="http://schemas.openxmlformats.org/officeDocument/2006/extended-properties" xmlns:vt="http://schemas.openxmlformats.org/officeDocument/2006/docPropsVTypes">
  <Template>Nian</Template>
  <TotalTime>8748</TotalTime>
  <Words>1101</Words>
  <Application>Microsoft Office PowerPoint</Application>
  <PresentationFormat>宽屏</PresentationFormat>
  <Paragraphs>83</Paragraphs>
  <Slides>18</Slides>
  <Notes>12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18</vt:i4>
      </vt:variant>
    </vt:vector>
  </HeadingPairs>
  <TitlesOfParts>
    <vt:vector size="23" baseType="lpstr">
      <vt:lpstr>CharisSIL</vt:lpstr>
      <vt:lpstr>等线</vt:lpstr>
      <vt:lpstr>微软雅黑</vt:lpstr>
      <vt:lpstr>Arial</vt:lpstr>
      <vt:lpstr>Designed by iSlide</vt:lpstr>
      <vt:lpstr>STMBAD: Spatio-Temporal Multimodal Behavior Anomaly Detector for Industrial Control Systems</vt:lpstr>
      <vt:lpstr>PowerPoint 演示文稿</vt:lpstr>
      <vt:lpstr>研究背景</vt:lpstr>
      <vt:lpstr>研究背景</vt:lpstr>
      <vt:lpstr>研究背景</vt:lpstr>
      <vt:lpstr>设计思路</vt:lpstr>
      <vt:lpstr>STMBAD框架</vt:lpstr>
      <vt:lpstr>实现细节</vt:lpstr>
      <vt:lpstr>行为建模模块——iTransformer框架介绍</vt:lpstr>
      <vt:lpstr>异常检测模块</vt:lpstr>
      <vt:lpstr>实验评估</vt:lpstr>
      <vt:lpstr>实验数据集</vt:lpstr>
      <vt:lpstr>最优滑动窗口大小和滑动步长</vt:lpstr>
      <vt:lpstr>对比试验——异常检测能力</vt:lpstr>
      <vt:lpstr>对比试验——ROC曲线</vt:lpstr>
      <vt:lpstr>对比试验——异常检测结果和延迟时间</vt:lpstr>
      <vt:lpstr>实验总结</vt:lpstr>
      <vt:lpstr>PowerPoint 演示文稿</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Nian</dc:creator>
  <cp:lastModifiedBy>8618737192375</cp:lastModifiedBy>
  <cp:revision>552</cp:revision>
  <cp:lastPrinted>2022-07-24T16:00:00Z</cp:lastPrinted>
  <dcterms:created xsi:type="dcterms:W3CDTF">2022-07-24T16:00:00Z</dcterms:created>
  <dcterms:modified xsi:type="dcterms:W3CDTF">2026-05-26T02:29:10Z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EMPLATE">
    <vt:lpwstr>c9736713-fe94-45e4-9b37-daa688d413c7</vt:lpwstr>
  </property>
  <property fmtid="{D5CDD505-2E9C-101B-9397-08002B2CF9AE}" pid="3" name="ContentTypeId">
    <vt:lpwstr>0x010100D1443A8EF62DE444B1FF07917E22EF72</vt:lpwstr>
  </property>
  <property fmtid="{D5CDD505-2E9C-101B-9397-08002B2CF9AE}" pid="4" name="KSOProductBuildVer">
    <vt:lpwstr>2052-10.8.2.7090</vt:lpwstr>
  </property>
  <property fmtid="{D5CDD505-2E9C-101B-9397-08002B2CF9AE}" pid="5" name="ICV">
    <vt:lpwstr>317C57A33AE142B9BF283A97A2AE799E_12</vt:lpwstr>
  </property>
</Properties>
</file>