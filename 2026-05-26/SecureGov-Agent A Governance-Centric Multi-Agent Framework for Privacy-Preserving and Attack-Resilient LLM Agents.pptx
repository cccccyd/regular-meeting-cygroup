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25.svg" ContentType="image/svg+xml"/>
  <Override PartName="/ppt/media/image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  <p:sldMasterId id="2147483674" r:id="rId4"/>
    <p:sldMasterId id="2147483687" r:id="rId5"/>
  </p:sldMasterIdLst>
  <p:notesMasterIdLst>
    <p:notesMasterId r:id="rId7"/>
  </p:notesMasterIdLst>
  <p:sldIdLst>
    <p:sldId id="362" r:id="rId6"/>
    <p:sldId id="364" r:id="rId8"/>
    <p:sldId id="415" r:id="rId9"/>
    <p:sldId id="365" r:id="rId10"/>
    <p:sldId id="429" r:id="rId11"/>
    <p:sldId id="416" r:id="rId12"/>
    <p:sldId id="445" r:id="rId13"/>
    <p:sldId id="430" r:id="rId14"/>
    <p:sldId id="419" r:id="rId15"/>
    <p:sldId id="423" r:id="rId16"/>
    <p:sldId id="421" r:id="rId17"/>
    <p:sldId id="431" r:id="rId18"/>
    <p:sldId id="420" r:id="rId19"/>
    <p:sldId id="426" r:id="rId20"/>
    <p:sldId id="442" r:id="rId21"/>
    <p:sldId id="443" r:id="rId22"/>
    <p:sldId id="448" r:id="rId23"/>
    <p:sldId id="449" r:id="rId24"/>
    <p:sldId id="432" r:id="rId25"/>
    <p:sldId id="428" r:id="rId26"/>
    <p:sldId id="41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0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507" autoAdjust="0"/>
  </p:normalViewPr>
  <p:slideViewPr>
    <p:cSldViewPr snapToGrid="0">
      <p:cViewPr varScale="1">
        <p:scale>
          <a:sx n="104" d="100"/>
          <a:sy n="104" d="100"/>
        </p:scale>
        <p:origin x="636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600B0-C7BB-47DA-9DA3-389B488545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515BF-C79C-4BED-9127-BE39BCA31C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15BF-C79C-4BED-9127-BE39BCA31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15BF-C79C-4BED-9127-BE39BCA31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15BF-C79C-4BED-9127-BE39BCA31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</a:t>
            </a:r>
            <a:r>
              <a:rPr lang="zh-CN" altLang="en-US" dirty="0"/>
              <a:t>是用户自主在离散高斯分布中自主采样的秘密值，仅用户知晓，抗</a:t>
            </a:r>
            <a:r>
              <a:rPr lang="en-US" altLang="zh-CN" dirty="0"/>
              <a:t>KGC</a:t>
            </a:r>
            <a:r>
              <a:rPr lang="zh-CN" altLang="en-US" dirty="0"/>
              <a:t>托管</a:t>
            </a:r>
            <a:endParaRPr lang="en-US" altLang="zh-CN" dirty="0"/>
          </a:p>
          <a:p>
            <a:r>
              <a:rPr lang="en-US" altLang="zh-CN" dirty="0" err="1"/>
              <a:t>Psk_i</a:t>
            </a:r>
            <a:r>
              <a:rPr lang="zh-CN" altLang="en-US" dirty="0"/>
              <a:t>是</a:t>
            </a:r>
            <a:r>
              <a:rPr lang="en-US" altLang="zh-CN" dirty="0"/>
              <a:t>KGC</a:t>
            </a:r>
            <a:r>
              <a:rPr lang="zh-CN" altLang="en-US" dirty="0"/>
              <a:t>用</a:t>
            </a:r>
            <a:r>
              <a:rPr lang="en-US" altLang="zh-CN" dirty="0" err="1"/>
              <a:t>SamplePre</a:t>
            </a:r>
            <a:r>
              <a:rPr lang="zh-CN" altLang="en-US" dirty="0"/>
              <a:t>算法生成的部分私钥，与用户身份</a:t>
            </a:r>
            <a:r>
              <a:rPr lang="en-US" altLang="zh-CN" dirty="0" err="1"/>
              <a:t>ID_i</a:t>
            </a:r>
            <a:r>
              <a:rPr lang="zh-CN" altLang="en-US" dirty="0"/>
              <a:t>绑定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15BF-C79C-4BED-9127-BE39BCA31C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任意多边形: 形状 64"/>
          <p:cNvSpPr/>
          <p:nvPr/>
        </p:nvSpPr>
        <p:spPr>
          <a:xfrm>
            <a:off x="0" y="5759792"/>
            <a:ext cx="12192000" cy="1098209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4" name="任意多边形: 形状 63"/>
          <p:cNvSpPr/>
          <p:nvPr/>
        </p:nvSpPr>
        <p:spPr>
          <a:xfrm>
            <a:off x="4874318" y="4912822"/>
            <a:ext cx="7317682" cy="1945179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4874320" y="5989800"/>
            <a:ext cx="7317680" cy="868200"/>
          </a:xfrm>
          <a:custGeom>
            <a:avLst/>
            <a:gdLst>
              <a:gd name="connsiteX0" fmla="*/ 5281377 w 7317680"/>
              <a:gd name="connsiteY0" fmla="*/ 0 h 3060960"/>
              <a:gd name="connsiteX1" fmla="*/ 5346651 w 7317680"/>
              <a:gd name="connsiteY1" fmla="*/ 20477 h 3060960"/>
              <a:gd name="connsiteX2" fmla="*/ 7175259 w 7317680"/>
              <a:gd name="connsiteY2" fmla="*/ 863971 h 3060960"/>
              <a:gd name="connsiteX3" fmla="*/ 7317680 w 7317680"/>
              <a:gd name="connsiteY3" fmla="*/ 964679 h 3060960"/>
              <a:gd name="connsiteX4" fmla="*/ 7317680 w 7317680"/>
              <a:gd name="connsiteY4" fmla="*/ 3060960 h 3060960"/>
              <a:gd name="connsiteX5" fmla="*/ 0 w 7317680"/>
              <a:gd name="connsiteY5" fmla="*/ 3060960 h 3060960"/>
              <a:gd name="connsiteX6" fmla="*/ 457116 w 7317680"/>
              <a:gd name="connsiteY6" fmla="*/ 2922614 h 3060960"/>
              <a:gd name="connsiteX7" fmla="*/ 5142086 w 7317680"/>
              <a:gd name="connsiteY7" fmla="*/ 145952 h 30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680" h="3060960">
                <a:moveTo>
                  <a:pt x="5281377" y="0"/>
                </a:moveTo>
                <a:lnTo>
                  <a:pt x="5346651" y="20477"/>
                </a:lnTo>
                <a:cubicBezTo>
                  <a:pt x="6079003" y="261542"/>
                  <a:pt x="6699119" y="546538"/>
                  <a:pt x="7175259" y="863971"/>
                </a:cubicBezTo>
                <a:lnTo>
                  <a:pt x="7317680" y="964679"/>
                </a:lnTo>
                <a:lnTo>
                  <a:pt x="7317680" y="3060960"/>
                </a:lnTo>
                <a:lnTo>
                  <a:pt x="0" y="3060960"/>
                </a:lnTo>
                <a:lnTo>
                  <a:pt x="457116" y="2922614"/>
                </a:lnTo>
                <a:cubicBezTo>
                  <a:pt x="2316040" y="2309423"/>
                  <a:pt x="3926266" y="1347247"/>
                  <a:pt x="5142086" y="145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0" y="5889812"/>
            <a:ext cx="12192000" cy="968188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bg2"/>
                </a:gs>
                <a:gs pos="52000">
                  <a:schemeClr val="bg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4874318" y="5126636"/>
            <a:ext cx="7317682" cy="1731365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bg2"/>
                </a:gs>
                <a:gs pos="51000">
                  <a:schemeClr val="bg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D707F-36DE-4AAF-BD6E-37756C09CC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9B67-534D-4770-A6BF-F30E9E7C2A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7D504-8F52-4900-B3B1-A3596282B25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210A-0E12-43D3-98D3-E28DDFC5651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E6AC-BF47-453D-965D-30AD85E13D8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8346954" y="202901"/>
            <a:ext cx="3757123" cy="945363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/>
        </p:nvSpPr>
        <p:spPr>
          <a:xfrm flipH="1">
            <a:off x="-1" y="0"/>
            <a:ext cx="3100647" cy="6858000"/>
          </a:xfrm>
          <a:custGeom>
            <a:avLst/>
            <a:gdLst>
              <a:gd name="connsiteX0" fmla="*/ 0 w 3668486"/>
              <a:gd name="connsiteY0" fmla="*/ 0 h 6858000"/>
              <a:gd name="connsiteX1" fmla="*/ 3668486 w 3668486"/>
              <a:gd name="connsiteY1" fmla="*/ 0 h 6858000"/>
              <a:gd name="connsiteX2" fmla="*/ 3668486 w 3668486"/>
              <a:gd name="connsiteY2" fmla="*/ 6858000 h 6858000"/>
              <a:gd name="connsiteX3" fmla="*/ 2592838 w 3668486"/>
              <a:gd name="connsiteY3" fmla="*/ 6858000 h 6858000"/>
              <a:gd name="connsiteX4" fmla="*/ 2602803 w 3668486"/>
              <a:gd name="connsiteY4" fmla="*/ 6814919 h 6858000"/>
              <a:gd name="connsiteX5" fmla="*/ 2753901 w 3668486"/>
              <a:gd name="connsiteY5" fmla="*/ 5342469 h 6858000"/>
              <a:gd name="connsiteX6" fmla="*/ 35244 w 3668486"/>
              <a:gd name="connsiteY6" fmla="*/ 31673 h 6858000"/>
              <a:gd name="connsiteX7" fmla="*/ 0 w 3668486"/>
              <a:gd name="connsiteY7" fmla="*/ 12113 h 6858000"/>
              <a:gd name="connsiteX8" fmla="*/ 0 w 3668486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8486" h="6858000">
                <a:moveTo>
                  <a:pt x="0" y="0"/>
                </a:moveTo>
                <a:lnTo>
                  <a:pt x="3668486" y="0"/>
                </a:lnTo>
                <a:lnTo>
                  <a:pt x="3668486" y="6858000"/>
                </a:lnTo>
                <a:lnTo>
                  <a:pt x="2592838" y="6858000"/>
                </a:lnTo>
                <a:lnTo>
                  <a:pt x="2602803" y="6814919"/>
                </a:lnTo>
                <a:cubicBezTo>
                  <a:pt x="2701441" y="6344286"/>
                  <a:pt x="2753901" y="5850898"/>
                  <a:pt x="2753901" y="5342469"/>
                </a:cubicBezTo>
                <a:cubicBezTo>
                  <a:pt x="2753901" y="3003695"/>
                  <a:pt x="1643848" y="983200"/>
                  <a:pt x="35244" y="31673"/>
                </a:cubicBezTo>
                <a:lnTo>
                  <a:pt x="0" y="121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 userDrawn="1"/>
        </p:nvSpPr>
        <p:spPr>
          <a:xfrm rot="1009026" flipH="1" flipV="1">
            <a:off x="360905" y="663589"/>
            <a:ext cx="2621021" cy="6426530"/>
          </a:xfrm>
          <a:custGeom>
            <a:avLst/>
            <a:gdLst>
              <a:gd name="connsiteX0" fmla="*/ 2621021 w 2621021"/>
              <a:gd name="connsiteY0" fmla="*/ 6426530 h 6426530"/>
              <a:gd name="connsiteX1" fmla="*/ 1759321 w 2621021"/>
              <a:gd name="connsiteY1" fmla="*/ 6426530 h 6426530"/>
              <a:gd name="connsiteX2" fmla="*/ 1700983 w 2621021"/>
              <a:gd name="connsiteY2" fmla="*/ 6233513 h 6426530"/>
              <a:gd name="connsiteX3" fmla="*/ 1732487 w 2621021"/>
              <a:gd name="connsiteY3" fmla="*/ 6051507 h 6426530"/>
              <a:gd name="connsiteX4" fmla="*/ 1808755 w 2621021"/>
              <a:gd name="connsiteY4" fmla="*/ 5006348 h 6426530"/>
              <a:gd name="connsiteX5" fmla="*/ 147581 w 2621021"/>
              <a:gd name="connsiteY5" fmla="*/ 632253 h 6426530"/>
              <a:gd name="connsiteX6" fmla="*/ 0 w 2621021"/>
              <a:gd name="connsiteY6" fmla="*/ 495022 h 6426530"/>
              <a:gd name="connsiteX7" fmla="*/ 1637824 w 2621021"/>
              <a:gd name="connsiteY7" fmla="*/ 0 h 6426530"/>
              <a:gd name="connsiteX8" fmla="*/ 2085413 w 2621021"/>
              <a:gd name="connsiteY8" fmla="*/ 0 h 6426530"/>
              <a:gd name="connsiteX9" fmla="*/ 2621021 w 2621021"/>
              <a:gd name="connsiteY9" fmla="*/ 1772109 h 642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21021" h="6426530">
                <a:moveTo>
                  <a:pt x="2621021" y="6426530"/>
                </a:moveTo>
                <a:lnTo>
                  <a:pt x="1759321" y="6426530"/>
                </a:lnTo>
                <a:lnTo>
                  <a:pt x="1700983" y="6233513"/>
                </a:lnTo>
                <a:lnTo>
                  <a:pt x="1732487" y="6051507"/>
                </a:lnTo>
                <a:cubicBezTo>
                  <a:pt x="1782548" y="5713082"/>
                  <a:pt x="1808755" y="5363679"/>
                  <a:pt x="1808755" y="5006348"/>
                </a:cubicBezTo>
                <a:cubicBezTo>
                  <a:pt x="1808755" y="3225649"/>
                  <a:pt x="1157930" y="1641844"/>
                  <a:pt x="147581" y="632253"/>
                </a:cubicBezTo>
                <a:lnTo>
                  <a:pt x="0" y="495022"/>
                </a:lnTo>
                <a:lnTo>
                  <a:pt x="1637824" y="0"/>
                </a:lnTo>
                <a:lnTo>
                  <a:pt x="2085413" y="0"/>
                </a:lnTo>
                <a:lnTo>
                  <a:pt x="2621021" y="1772109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 rot="369086" flipH="1" flipV="1">
            <a:off x="735472" y="665486"/>
            <a:ext cx="3170483" cy="6397720"/>
          </a:xfrm>
          <a:custGeom>
            <a:avLst/>
            <a:gdLst>
              <a:gd name="connsiteX0" fmla="*/ 3170483 w 3170483"/>
              <a:gd name="connsiteY0" fmla="*/ 6397720 h 6397720"/>
              <a:gd name="connsiteX1" fmla="*/ 2073778 w 3170483"/>
              <a:gd name="connsiteY1" fmla="*/ 6397720 h 6397720"/>
              <a:gd name="connsiteX2" fmla="*/ 2083938 w 3170483"/>
              <a:gd name="connsiteY2" fmla="*/ 6357349 h 6397720"/>
              <a:gd name="connsiteX3" fmla="*/ 2237994 w 3170483"/>
              <a:gd name="connsiteY3" fmla="*/ 4977538 h 6397720"/>
              <a:gd name="connsiteX4" fmla="*/ 56107 w 3170483"/>
              <a:gd name="connsiteY4" fmla="*/ 380825 h 6397720"/>
              <a:gd name="connsiteX5" fmla="*/ 0 w 3170483"/>
              <a:gd name="connsiteY5" fmla="*/ 341706 h 6397720"/>
              <a:gd name="connsiteX6" fmla="*/ 3170483 w 3170483"/>
              <a:gd name="connsiteY6" fmla="*/ 0 h 63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0483" h="6397720">
                <a:moveTo>
                  <a:pt x="3170483" y="6397720"/>
                </a:moveTo>
                <a:lnTo>
                  <a:pt x="2073778" y="6397720"/>
                </a:lnTo>
                <a:lnTo>
                  <a:pt x="2083938" y="6357349"/>
                </a:lnTo>
                <a:cubicBezTo>
                  <a:pt x="2184507" y="5916326"/>
                  <a:pt x="2237994" y="5453979"/>
                  <a:pt x="2237994" y="4977538"/>
                </a:cubicBezTo>
                <a:cubicBezTo>
                  <a:pt x="2237994" y="3059862"/>
                  <a:pt x="1371473" y="1370536"/>
                  <a:pt x="56107" y="380825"/>
                </a:cubicBezTo>
                <a:lnTo>
                  <a:pt x="0" y="341706"/>
                </a:lnTo>
                <a:lnTo>
                  <a:pt x="3170483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 rot="10800000">
            <a:off x="295584" y="206262"/>
            <a:ext cx="559953" cy="1039210"/>
            <a:chOff x="7704258" y="1300709"/>
            <a:chExt cx="725619" cy="1346667"/>
          </a:xfrm>
          <a:solidFill>
            <a:schemeClr val="bg1">
              <a:alpha val="50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 flipH="1">
              <a:off x="7704258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73" name="组合 72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83" name="椭圆 82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4" name="椭圆 83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椭圆 85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椭圆 86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8" name="椭圆 87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椭圆 88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75" name="椭圆 7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 flipH="1">
              <a:off x="8137279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185573" y="151879"/>
            <a:ext cx="3757123" cy="945363"/>
          </a:xfrm>
          <a:prstGeom prst="rect">
            <a:avLst/>
          </a:prstGeom>
        </p:spPr>
      </p:pic>
      <p:grpSp>
        <p:nvGrpSpPr>
          <p:cNvPr id="233" name="组合 232"/>
          <p:cNvGrpSpPr/>
          <p:nvPr userDrawn="1"/>
        </p:nvGrpSpPr>
        <p:grpSpPr>
          <a:xfrm flipH="1">
            <a:off x="8286044" y="0"/>
            <a:ext cx="3905956" cy="7090119"/>
            <a:chOff x="-1" y="0"/>
            <a:chExt cx="3905956" cy="7090119"/>
          </a:xfrm>
        </p:grpSpPr>
        <p:sp>
          <p:nvSpPr>
            <p:cNvPr id="191" name="任意多边形: 形状 190"/>
            <p:cNvSpPr/>
            <p:nvPr userDrawn="1"/>
          </p:nvSpPr>
          <p:spPr>
            <a:xfrm flipH="1">
              <a:off x="-1" y="0"/>
              <a:ext cx="3100647" cy="6858000"/>
            </a:xfrm>
            <a:custGeom>
              <a:avLst/>
              <a:gdLst>
                <a:gd name="connsiteX0" fmla="*/ 0 w 3668486"/>
                <a:gd name="connsiteY0" fmla="*/ 0 h 6858000"/>
                <a:gd name="connsiteX1" fmla="*/ 3668486 w 3668486"/>
                <a:gd name="connsiteY1" fmla="*/ 0 h 6858000"/>
                <a:gd name="connsiteX2" fmla="*/ 3668486 w 3668486"/>
                <a:gd name="connsiteY2" fmla="*/ 6858000 h 6858000"/>
                <a:gd name="connsiteX3" fmla="*/ 2592838 w 3668486"/>
                <a:gd name="connsiteY3" fmla="*/ 6858000 h 6858000"/>
                <a:gd name="connsiteX4" fmla="*/ 2602803 w 3668486"/>
                <a:gd name="connsiteY4" fmla="*/ 6814919 h 6858000"/>
                <a:gd name="connsiteX5" fmla="*/ 2753901 w 3668486"/>
                <a:gd name="connsiteY5" fmla="*/ 5342469 h 6858000"/>
                <a:gd name="connsiteX6" fmla="*/ 35244 w 3668486"/>
                <a:gd name="connsiteY6" fmla="*/ 31673 h 6858000"/>
                <a:gd name="connsiteX7" fmla="*/ 0 w 3668486"/>
                <a:gd name="connsiteY7" fmla="*/ 12113 h 6858000"/>
                <a:gd name="connsiteX8" fmla="*/ 0 w 3668486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8486" h="6858000">
                  <a:moveTo>
                    <a:pt x="0" y="0"/>
                  </a:moveTo>
                  <a:lnTo>
                    <a:pt x="3668486" y="0"/>
                  </a:lnTo>
                  <a:lnTo>
                    <a:pt x="3668486" y="6858000"/>
                  </a:lnTo>
                  <a:lnTo>
                    <a:pt x="2592838" y="6858000"/>
                  </a:lnTo>
                  <a:lnTo>
                    <a:pt x="2602803" y="6814919"/>
                  </a:lnTo>
                  <a:cubicBezTo>
                    <a:pt x="2701441" y="6344286"/>
                    <a:pt x="2753901" y="5850898"/>
                    <a:pt x="2753901" y="5342469"/>
                  </a:cubicBezTo>
                  <a:cubicBezTo>
                    <a:pt x="2753901" y="3003695"/>
                    <a:pt x="1643848" y="983200"/>
                    <a:pt x="35244" y="31673"/>
                  </a:cubicBezTo>
                  <a:lnTo>
                    <a:pt x="0" y="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: 形状 191"/>
            <p:cNvSpPr/>
            <p:nvPr userDrawn="1"/>
          </p:nvSpPr>
          <p:spPr>
            <a:xfrm rot="1009026" flipH="1" flipV="1">
              <a:off x="360905" y="663589"/>
              <a:ext cx="2621021" cy="6426530"/>
            </a:xfrm>
            <a:custGeom>
              <a:avLst/>
              <a:gdLst>
                <a:gd name="connsiteX0" fmla="*/ 2621021 w 2621021"/>
                <a:gd name="connsiteY0" fmla="*/ 6426530 h 6426530"/>
                <a:gd name="connsiteX1" fmla="*/ 1759321 w 2621021"/>
                <a:gd name="connsiteY1" fmla="*/ 6426530 h 6426530"/>
                <a:gd name="connsiteX2" fmla="*/ 1700983 w 2621021"/>
                <a:gd name="connsiteY2" fmla="*/ 6233513 h 6426530"/>
                <a:gd name="connsiteX3" fmla="*/ 1732487 w 2621021"/>
                <a:gd name="connsiteY3" fmla="*/ 6051507 h 6426530"/>
                <a:gd name="connsiteX4" fmla="*/ 1808755 w 2621021"/>
                <a:gd name="connsiteY4" fmla="*/ 5006348 h 6426530"/>
                <a:gd name="connsiteX5" fmla="*/ 147581 w 2621021"/>
                <a:gd name="connsiteY5" fmla="*/ 632253 h 6426530"/>
                <a:gd name="connsiteX6" fmla="*/ 0 w 2621021"/>
                <a:gd name="connsiteY6" fmla="*/ 495022 h 6426530"/>
                <a:gd name="connsiteX7" fmla="*/ 1637824 w 2621021"/>
                <a:gd name="connsiteY7" fmla="*/ 0 h 6426530"/>
                <a:gd name="connsiteX8" fmla="*/ 2085413 w 2621021"/>
                <a:gd name="connsiteY8" fmla="*/ 0 h 6426530"/>
                <a:gd name="connsiteX9" fmla="*/ 2621021 w 2621021"/>
                <a:gd name="connsiteY9" fmla="*/ 1772109 h 642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21021" h="6426530">
                  <a:moveTo>
                    <a:pt x="2621021" y="6426530"/>
                  </a:moveTo>
                  <a:lnTo>
                    <a:pt x="1759321" y="6426530"/>
                  </a:lnTo>
                  <a:lnTo>
                    <a:pt x="1700983" y="6233513"/>
                  </a:lnTo>
                  <a:lnTo>
                    <a:pt x="1732487" y="6051507"/>
                  </a:lnTo>
                  <a:cubicBezTo>
                    <a:pt x="1782548" y="5713082"/>
                    <a:pt x="1808755" y="5363679"/>
                    <a:pt x="1808755" y="5006348"/>
                  </a:cubicBezTo>
                  <a:cubicBezTo>
                    <a:pt x="1808755" y="3225649"/>
                    <a:pt x="1157930" y="1641844"/>
                    <a:pt x="147581" y="632253"/>
                  </a:cubicBezTo>
                  <a:lnTo>
                    <a:pt x="0" y="495022"/>
                  </a:lnTo>
                  <a:lnTo>
                    <a:pt x="1637824" y="0"/>
                  </a:lnTo>
                  <a:lnTo>
                    <a:pt x="2085413" y="0"/>
                  </a:lnTo>
                  <a:lnTo>
                    <a:pt x="2621021" y="1772109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: 形状 192"/>
            <p:cNvSpPr/>
            <p:nvPr userDrawn="1"/>
          </p:nvSpPr>
          <p:spPr>
            <a:xfrm rot="369086" flipH="1" flipV="1">
              <a:off x="735472" y="665486"/>
              <a:ext cx="3170483" cy="6397720"/>
            </a:xfrm>
            <a:custGeom>
              <a:avLst/>
              <a:gdLst>
                <a:gd name="connsiteX0" fmla="*/ 3170483 w 3170483"/>
                <a:gd name="connsiteY0" fmla="*/ 6397720 h 6397720"/>
                <a:gd name="connsiteX1" fmla="*/ 2073778 w 3170483"/>
                <a:gd name="connsiteY1" fmla="*/ 6397720 h 6397720"/>
                <a:gd name="connsiteX2" fmla="*/ 2083938 w 3170483"/>
                <a:gd name="connsiteY2" fmla="*/ 6357349 h 6397720"/>
                <a:gd name="connsiteX3" fmla="*/ 2237994 w 3170483"/>
                <a:gd name="connsiteY3" fmla="*/ 4977538 h 6397720"/>
                <a:gd name="connsiteX4" fmla="*/ 56107 w 3170483"/>
                <a:gd name="connsiteY4" fmla="*/ 380825 h 6397720"/>
                <a:gd name="connsiteX5" fmla="*/ 0 w 3170483"/>
                <a:gd name="connsiteY5" fmla="*/ 341706 h 6397720"/>
                <a:gd name="connsiteX6" fmla="*/ 3170483 w 3170483"/>
                <a:gd name="connsiteY6" fmla="*/ 0 h 639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0483" h="6397720">
                  <a:moveTo>
                    <a:pt x="3170483" y="6397720"/>
                  </a:moveTo>
                  <a:lnTo>
                    <a:pt x="2073778" y="6397720"/>
                  </a:lnTo>
                  <a:lnTo>
                    <a:pt x="2083938" y="6357349"/>
                  </a:lnTo>
                  <a:cubicBezTo>
                    <a:pt x="2184507" y="5916326"/>
                    <a:pt x="2237994" y="5453979"/>
                    <a:pt x="2237994" y="4977538"/>
                  </a:cubicBezTo>
                  <a:cubicBezTo>
                    <a:pt x="2237994" y="3059862"/>
                    <a:pt x="1371473" y="1370536"/>
                    <a:pt x="56107" y="380825"/>
                  </a:cubicBezTo>
                  <a:lnTo>
                    <a:pt x="0" y="341706"/>
                  </a:lnTo>
                  <a:lnTo>
                    <a:pt x="3170483" y="0"/>
                  </a:ln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94" name="组合 193"/>
            <p:cNvGrpSpPr/>
            <p:nvPr userDrawn="1"/>
          </p:nvGrpSpPr>
          <p:grpSpPr>
            <a:xfrm rot="10800000">
              <a:off x="295584" y="206262"/>
              <a:ext cx="559953" cy="1039210"/>
              <a:chOff x="7704258" y="1300709"/>
              <a:chExt cx="725619" cy="1346667"/>
            </a:xfrm>
            <a:solidFill>
              <a:schemeClr val="bg1">
                <a:alpha val="50000"/>
              </a:schemeClr>
            </a:solidFill>
          </p:grpSpPr>
          <p:grpSp>
            <p:nvGrpSpPr>
              <p:cNvPr id="195" name="组合 194"/>
              <p:cNvGrpSpPr/>
              <p:nvPr/>
            </p:nvGrpSpPr>
            <p:grpSpPr>
              <a:xfrm flipH="1">
                <a:off x="7704258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215" name="组合 214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25" name="椭圆 224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6" name="椭圆 225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7" name="椭圆 226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8" name="椭圆 227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椭圆 228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0" name="椭圆 229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椭圆 230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椭圆 231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6" name="组合 215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17" name="椭圆 21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椭圆 21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9" name="椭圆 21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0" name="椭圆 21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1" name="椭圆 22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2" name="椭圆 22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椭圆 22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4" name="椭圆 22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96" name="组合 195"/>
              <p:cNvGrpSpPr/>
              <p:nvPr/>
            </p:nvGrpSpPr>
            <p:grpSpPr>
              <a:xfrm flipH="1">
                <a:off x="8137279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197" name="组合 196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07" name="椭圆 20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8" name="椭圆 20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9" name="椭圆 20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椭圆 20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椭圆 21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2" name="椭圆 21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3" name="椭圆 21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椭圆 21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98" name="组合 197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199" name="椭圆 198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0" name="椭圆 199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1" name="椭圆 200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2" name="椭圆 201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椭圆 202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椭圆 203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椭圆 204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38" name="组合 237"/>
          <p:cNvGrpSpPr/>
          <p:nvPr userDrawn="1"/>
        </p:nvGrpSpPr>
        <p:grpSpPr>
          <a:xfrm>
            <a:off x="0" y="5632704"/>
            <a:ext cx="4240782" cy="1261873"/>
            <a:chOff x="0" y="4701178"/>
            <a:chExt cx="4240782" cy="2156823"/>
          </a:xfrm>
        </p:grpSpPr>
        <p:sp>
          <p:nvSpPr>
            <p:cNvPr id="236" name="任意多边形: 形状 235"/>
            <p:cNvSpPr/>
            <p:nvPr userDrawn="1"/>
          </p:nvSpPr>
          <p:spPr>
            <a:xfrm>
              <a:off x="0" y="4701178"/>
              <a:ext cx="4240782" cy="2156823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7" name="任意多边形: 形状 236"/>
            <p:cNvSpPr/>
            <p:nvPr userDrawn="1"/>
          </p:nvSpPr>
          <p:spPr>
            <a:xfrm>
              <a:off x="0" y="5481466"/>
              <a:ext cx="2706565" cy="1376534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solidFill>
              <a:schemeClr val="bg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99369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209862" y="314793"/>
            <a:ext cx="1573967" cy="1573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1928673" y="432337"/>
            <a:ext cx="263327" cy="263327"/>
            <a:chOff x="4895945" y="3693531"/>
            <a:chExt cx="428427" cy="428427"/>
          </a:xfrm>
        </p:grpSpPr>
        <p:pic>
          <p:nvPicPr>
            <p:cNvPr id="11" name="图形 10" descr="原子 纯色填充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95945" y="3693531"/>
              <a:ext cx="428427" cy="428427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4910414" y="3708000"/>
              <a:ext cx="399488" cy="39948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>
            <a:stCxn id="12" idx="2"/>
          </p:cNvCxnSpPr>
          <p:nvPr userDrawn="1"/>
        </p:nvCxnSpPr>
        <p:spPr>
          <a:xfrm flipH="1">
            <a:off x="1993692" y="564000"/>
            <a:ext cx="994387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11814628" y="6480628"/>
            <a:ext cx="377372" cy="377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72972" b="36065"/>
          <a:stretch>
            <a:fillRect/>
          </a:stretch>
        </p:blipFill>
        <p:spPr>
          <a:xfrm>
            <a:off x="115061" y="223741"/>
            <a:ext cx="1750120" cy="18098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57768" y="6484100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0235-FCB1-48AB-A9FC-1CCF94A11FE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E177-17A6-4AC7-9FC6-D2187A0A422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6DD2-2086-4C77-BF85-0EE5F9CD67A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任意多边形: 形状 64"/>
          <p:cNvSpPr/>
          <p:nvPr/>
        </p:nvSpPr>
        <p:spPr>
          <a:xfrm>
            <a:off x="0" y="5759792"/>
            <a:ext cx="12192000" cy="1098209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4" name="任意多边形: 形状 63"/>
          <p:cNvSpPr/>
          <p:nvPr/>
        </p:nvSpPr>
        <p:spPr>
          <a:xfrm>
            <a:off x="4874318" y="4912822"/>
            <a:ext cx="7317682" cy="1945179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4874320" y="5989800"/>
            <a:ext cx="7317680" cy="868200"/>
          </a:xfrm>
          <a:custGeom>
            <a:avLst/>
            <a:gdLst>
              <a:gd name="connsiteX0" fmla="*/ 5281377 w 7317680"/>
              <a:gd name="connsiteY0" fmla="*/ 0 h 3060960"/>
              <a:gd name="connsiteX1" fmla="*/ 5346651 w 7317680"/>
              <a:gd name="connsiteY1" fmla="*/ 20477 h 3060960"/>
              <a:gd name="connsiteX2" fmla="*/ 7175259 w 7317680"/>
              <a:gd name="connsiteY2" fmla="*/ 863971 h 3060960"/>
              <a:gd name="connsiteX3" fmla="*/ 7317680 w 7317680"/>
              <a:gd name="connsiteY3" fmla="*/ 964679 h 3060960"/>
              <a:gd name="connsiteX4" fmla="*/ 7317680 w 7317680"/>
              <a:gd name="connsiteY4" fmla="*/ 3060960 h 3060960"/>
              <a:gd name="connsiteX5" fmla="*/ 0 w 7317680"/>
              <a:gd name="connsiteY5" fmla="*/ 3060960 h 3060960"/>
              <a:gd name="connsiteX6" fmla="*/ 457116 w 7317680"/>
              <a:gd name="connsiteY6" fmla="*/ 2922614 h 3060960"/>
              <a:gd name="connsiteX7" fmla="*/ 5142086 w 7317680"/>
              <a:gd name="connsiteY7" fmla="*/ 145952 h 30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680" h="3060960">
                <a:moveTo>
                  <a:pt x="5281377" y="0"/>
                </a:moveTo>
                <a:lnTo>
                  <a:pt x="5346651" y="20477"/>
                </a:lnTo>
                <a:cubicBezTo>
                  <a:pt x="6079003" y="261542"/>
                  <a:pt x="6699119" y="546538"/>
                  <a:pt x="7175259" y="863971"/>
                </a:cubicBezTo>
                <a:lnTo>
                  <a:pt x="7317680" y="964679"/>
                </a:lnTo>
                <a:lnTo>
                  <a:pt x="7317680" y="3060960"/>
                </a:lnTo>
                <a:lnTo>
                  <a:pt x="0" y="3060960"/>
                </a:lnTo>
                <a:lnTo>
                  <a:pt x="457116" y="2922614"/>
                </a:lnTo>
                <a:cubicBezTo>
                  <a:pt x="2316040" y="2309423"/>
                  <a:pt x="3926266" y="1347247"/>
                  <a:pt x="5142086" y="145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0" y="5889812"/>
            <a:ext cx="12192000" cy="968188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bg2"/>
                </a:gs>
                <a:gs pos="52000">
                  <a:schemeClr val="bg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4874318" y="5126636"/>
            <a:ext cx="7317682" cy="1731365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bg2"/>
                </a:gs>
                <a:gs pos="51000">
                  <a:schemeClr val="bg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D707F-36DE-4AAF-BD6E-37756C09CC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9B67-534D-4770-A6BF-F30E9E7C2A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7D504-8F52-4900-B3B1-A3596282B25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210A-0E12-43D3-98D3-E28DDFC5651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E6AC-BF47-453D-965D-30AD85E13D8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8346954" y="202901"/>
            <a:ext cx="3757123" cy="945363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/>
        </p:nvSpPr>
        <p:spPr>
          <a:xfrm flipH="1">
            <a:off x="-1" y="0"/>
            <a:ext cx="3100647" cy="6858000"/>
          </a:xfrm>
          <a:custGeom>
            <a:avLst/>
            <a:gdLst>
              <a:gd name="connsiteX0" fmla="*/ 0 w 3668486"/>
              <a:gd name="connsiteY0" fmla="*/ 0 h 6858000"/>
              <a:gd name="connsiteX1" fmla="*/ 3668486 w 3668486"/>
              <a:gd name="connsiteY1" fmla="*/ 0 h 6858000"/>
              <a:gd name="connsiteX2" fmla="*/ 3668486 w 3668486"/>
              <a:gd name="connsiteY2" fmla="*/ 6858000 h 6858000"/>
              <a:gd name="connsiteX3" fmla="*/ 2592838 w 3668486"/>
              <a:gd name="connsiteY3" fmla="*/ 6858000 h 6858000"/>
              <a:gd name="connsiteX4" fmla="*/ 2602803 w 3668486"/>
              <a:gd name="connsiteY4" fmla="*/ 6814919 h 6858000"/>
              <a:gd name="connsiteX5" fmla="*/ 2753901 w 3668486"/>
              <a:gd name="connsiteY5" fmla="*/ 5342469 h 6858000"/>
              <a:gd name="connsiteX6" fmla="*/ 35244 w 3668486"/>
              <a:gd name="connsiteY6" fmla="*/ 31673 h 6858000"/>
              <a:gd name="connsiteX7" fmla="*/ 0 w 3668486"/>
              <a:gd name="connsiteY7" fmla="*/ 12113 h 6858000"/>
              <a:gd name="connsiteX8" fmla="*/ 0 w 3668486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8486" h="6858000">
                <a:moveTo>
                  <a:pt x="0" y="0"/>
                </a:moveTo>
                <a:lnTo>
                  <a:pt x="3668486" y="0"/>
                </a:lnTo>
                <a:lnTo>
                  <a:pt x="3668486" y="6858000"/>
                </a:lnTo>
                <a:lnTo>
                  <a:pt x="2592838" y="6858000"/>
                </a:lnTo>
                <a:lnTo>
                  <a:pt x="2602803" y="6814919"/>
                </a:lnTo>
                <a:cubicBezTo>
                  <a:pt x="2701441" y="6344286"/>
                  <a:pt x="2753901" y="5850898"/>
                  <a:pt x="2753901" y="5342469"/>
                </a:cubicBezTo>
                <a:cubicBezTo>
                  <a:pt x="2753901" y="3003695"/>
                  <a:pt x="1643848" y="983200"/>
                  <a:pt x="35244" y="31673"/>
                </a:cubicBezTo>
                <a:lnTo>
                  <a:pt x="0" y="121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 userDrawn="1"/>
        </p:nvSpPr>
        <p:spPr>
          <a:xfrm rot="1009026" flipH="1" flipV="1">
            <a:off x="360905" y="663589"/>
            <a:ext cx="2621021" cy="6426530"/>
          </a:xfrm>
          <a:custGeom>
            <a:avLst/>
            <a:gdLst>
              <a:gd name="connsiteX0" fmla="*/ 2621021 w 2621021"/>
              <a:gd name="connsiteY0" fmla="*/ 6426530 h 6426530"/>
              <a:gd name="connsiteX1" fmla="*/ 1759321 w 2621021"/>
              <a:gd name="connsiteY1" fmla="*/ 6426530 h 6426530"/>
              <a:gd name="connsiteX2" fmla="*/ 1700983 w 2621021"/>
              <a:gd name="connsiteY2" fmla="*/ 6233513 h 6426530"/>
              <a:gd name="connsiteX3" fmla="*/ 1732487 w 2621021"/>
              <a:gd name="connsiteY3" fmla="*/ 6051507 h 6426530"/>
              <a:gd name="connsiteX4" fmla="*/ 1808755 w 2621021"/>
              <a:gd name="connsiteY4" fmla="*/ 5006348 h 6426530"/>
              <a:gd name="connsiteX5" fmla="*/ 147581 w 2621021"/>
              <a:gd name="connsiteY5" fmla="*/ 632253 h 6426530"/>
              <a:gd name="connsiteX6" fmla="*/ 0 w 2621021"/>
              <a:gd name="connsiteY6" fmla="*/ 495022 h 6426530"/>
              <a:gd name="connsiteX7" fmla="*/ 1637824 w 2621021"/>
              <a:gd name="connsiteY7" fmla="*/ 0 h 6426530"/>
              <a:gd name="connsiteX8" fmla="*/ 2085413 w 2621021"/>
              <a:gd name="connsiteY8" fmla="*/ 0 h 6426530"/>
              <a:gd name="connsiteX9" fmla="*/ 2621021 w 2621021"/>
              <a:gd name="connsiteY9" fmla="*/ 1772109 h 642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21021" h="6426530">
                <a:moveTo>
                  <a:pt x="2621021" y="6426530"/>
                </a:moveTo>
                <a:lnTo>
                  <a:pt x="1759321" y="6426530"/>
                </a:lnTo>
                <a:lnTo>
                  <a:pt x="1700983" y="6233513"/>
                </a:lnTo>
                <a:lnTo>
                  <a:pt x="1732487" y="6051507"/>
                </a:lnTo>
                <a:cubicBezTo>
                  <a:pt x="1782548" y="5713082"/>
                  <a:pt x="1808755" y="5363679"/>
                  <a:pt x="1808755" y="5006348"/>
                </a:cubicBezTo>
                <a:cubicBezTo>
                  <a:pt x="1808755" y="3225649"/>
                  <a:pt x="1157930" y="1641844"/>
                  <a:pt x="147581" y="632253"/>
                </a:cubicBezTo>
                <a:lnTo>
                  <a:pt x="0" y="495022"/>
                </a:lnTo>
                <a:lnTo>
                  <a:pt x="1637824" y="0"/>
                </a:lnTo>
                <a:lnTo>
                  <a:pt x="2085413" y="0"/>
                </a:lnTo>
                <a:lnTo>
                  <a:pt x="2621021" y="1772109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 rot="369086" flipH="1" flipV="1">
            <a:off x="735472" y="665486"/>
            <a:ext cx="3170483" cy="6397720"/>
          </a:xfrm>
          <a:custGeom>
            <a:avLst/>
            <a:gdLst>
              <a:gd name="connsiteX0" fmla="*/ 3170483 w 3170483"/>
              <a:gd name="connsiteY0" fmla="*/ 6397720 h 6397720"/>
              <a:gd name="connsiteX1" fmla="*/ 2073778 w 3170483"/>
              <a:gd name="connsiteY1" fmla="*/ 6397720 h 6397720"/>
              <a:gd name="connsiteX2" fmla="*/ 2083938 w 3170483"/>
              <a:gd name="connsiteY2" fmla="*/ 6357349 h 6397720"/>
              <a:gd name="connsiteX3" fmla="*/ 2237994 w 3170483"/>
              <a:gd name="connsiteY3" fmla="*/ 4977538 h 6397720"/>
              <a:gd name="connsiteX4" fmla="*/ 56107 w 3170483"/>
              <a:gd name="connsiteY4" fmla="*/ 380825 h 6397720"/>
              <a:gd name="connsiteX5" fmla="*/ 0 w 3170483"/>
              <a:gd name="connsiteY5" fmla="*/ 341706 h 6397720"/>
              <a:gd name="connsiteX6" fmla="*/ 3170483 w 3170483"/>
              <a:gd name="connsiteY6" fmla="*/ 0 h 63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0483" h="6397720">
                <a:moveTo>
                  <a:pt x="3170483" y="6397720"/>
                </a:moveTo>
                <a:lnTo>
                  <a:pt x="2073778" y="6397720"/>
                </a:lnTo>
                <a:lnTo>
                  <a:pt x="2083938" y="6357349"/>
                </a:lnTo>
                <a:cubicBezTo>
                  <a:pt x="2184507" y="5916326"/>
                  <a:pt x="2237994" y="5453979"/>
                  <a:pt x="2237994" y="4977538"/>
                </a:cubicBezTo>
                <a:cubicBezTo>
                  <a:pt x="2237994" y="3059862"/>
                  <a:pt x="1371473" y="1370536"/>
                  <a:pt x="56107" y="380825"/>
                </a:cubicBezTo>
                <a:lnTo>
                  <a:pt x="0" y="341706"/>
                </a:lnTo>
                <a:lnTo>
                  <a:pt x="3170483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 rot="10800000">
            <a:off x="295584" y="206262"/>
            <a:ext cx="559953" cy="1039210"/>
            <a:chOff x="7704258" y="1300709"/>
            <a:chExt cx="725619" cy="1346667"/>
          </a:xfrm>
          <a:solidFill>
            <a:schemeClr val="bg1">
              <a:alpha val="50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 flipH="1">
              <a:off x="7704258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73" name="组合 72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83" name="椭圆 82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4" name="椭圆 83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椭圆 85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椭圆 86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8" name="椭圆 87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椭圆 88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75" name="椭圆 7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 flipH="1">
              <a:off x="8137279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185573" y="151879"/>
            <a:ext cx="3757123" cy="945363"/>
          </a:xfrm>
          <a:prstGeom prst="rect">
            <a:avLst/>
          </a:prstGeom>
        </p:spPr>
      </p:pic>
      <p:grpSp>
        <p:nvGrpSpPr>
          <p:cNvPr id="233" name="组合 232"/>
          <p:cNvGrpSpPr/>
          <p:nvPr userDrawn="1"/>
        </p:nvGrpSpPr>
        <p:grpSpPr>
          <a:xfrm flipH="1">
            <a:off x="8286044" y="0"/>
            <a:ext cx="3905956" cy="7090119"/>
            <a:chOff x="-1" y="0"/>
            <a:chExt cx="3905956" cy="7090119"/>
          </a:xfrm>
        </p:grpSpPr>
        <p:sp>
          <p:nvSpPr>
            <p:cNvPr id="191" name="任意多边形: 形状 190"/>
            <p:cNvSpPr/>
            <p:nvPr userDrawn="1"/>
          </p:nvSpPr>
          <p:spPr>
            <a:xfrm flipH="1">
              <a:off x="-1" y="0"/>
              <a:ext cx="3100647" cy="6858000"/>
            </a:xfrm>
            <a:custGeom>
              <a:avLst/>
              <a:gdLst>
                <a:gd name="connsiteX0" fmla="*/ 0 w 3668486"/>
                <a:gd name="connsiteY0" fmla="*/ 0 h 6858000"/>
                <a:gd name="connsiteX1" fmla="*/ 3668486 w 3668486"/>
                <a:gd name="connsiteY1" fmla="*/ 0 h 6858000"/>
                <a:gd name="connsiteX2" fmla="*/ 3668486 w 3668486"/>
                <a:gd name="connsiteY2" fmla="*/ 6858000 h 6858000"/>
                <a:gd name="connsiteX3" fmla="*/ 2592838 w 3668486"/>
                <a:gd name="connsiteY3" fmla="*/ 6858000 h 6858000"/>
                <a:gd name="connsiteX4" fmla="*/ 2602803 w 3668486"/>
                <a:gd name="connsiteY4" fmla="*/ 6814919 h 6858000"/>
                <a:gd name="connsiteX5" fmla="*/ 2753901 w 3668486"/>
                <a:gd name="connsiteY5" fmla="*/ 5342469 h 6858000"/>
                <a:gd name="connsiteX6" fmla="*/ 35244 w 3668486"/>
                <a:gd name="connsiteY6" fmla="*/ 31673 h 6858000"/>
                <a:gd name="connsiteX7" fmla="*/ 0 w 3668486"/>
                <a:gd name="connsiteY7" fmla="*/ 12113 h 6858000"/>
                <a:gd name="connsiteX8" fmla="*/ 0 w 3668486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8486" h="6858000">
                  <a:moveTo>
                    <a:pt x="0" y="0"/>
                  </a:moveTo>
                  <a:lnTo>
                    <a:pt x="3668486" y="0"/>
                  </a:lnTo>
                  <a:lnTo>
                    <a:pt x="3668486" y="6858000"/>
                  </a:lnTo>
                  <a:lnTo>
                    <a:pt x="2592838" y="6858000"/>
                  </a:lnTo>
                  <a:lnTo>
                    <a:pt x="2602803" y="6814919"/>
                  </a:lnTo>
                  <a:cubicBezTo>
                    <a:pt x="2701441" y="6344286"/>
                    <a:pt x="2753901" y="5850898"/>
                    <a:pt x="2753901" y="5342469"/>
                  </a:cubicBezTo>
                  <a:cubicBezTo>
                    <a:pt x="2753901" y="3003695"/>
                    <a:pt x="1643848" y="983200"/>
                    <a:pt x="35244" y="31673"/>
                  </a:cubicBezTo>
                  <a:lnTo>
                    <a:pt x="0" y="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: 形状 191"/>
            <p:cNvSpPr/>
            <p:nvPr userDrawn="1"/>
          </p:nvSpPr>
          <p:spPr>
            <a:xfrm rot="1009026" flipH="1" flipV="1">
              <a:off x="360905" y="663589"/>
              <a:ext cx="2621021" cy="6426530"/>
            </a:xfrm>
            <a:custGeom>
              <a:avLst/>
              <a:gdLst>
                <a:gd name="connsiteX0" fmla="*/ 2621021 w 2621021"/>
                <a:gd name="connsiteY0" fmla="*/ 6426530 h 6426530"/>
                <a:gd name="connsiteX1" fmla="*/ 1759321 w 2621021"/>
                <a:gd name="connsiteY1" fmla="*/ 6426530 h 6426530"/>
                <a:gd name="connsiteX2" fmla="*/ 1700983 w 2621021"/>
                <a:gd name="connsiteY2" fmla="*/ 6233513 h 6426530"/>
                <a:gd name="connsiteX3" fmla="*/ 1732487 w 2621021"/>
                <a:gd name="connsiteY3" fmla="*/ 6051507 h 6426530"/>
                <a:gd name="connsiteX4" fmla="*/ 1808755 w 2621021"/>
                <a:gd name="connsiteY4" fmla="*/ 5006348 h 6426530"/>
                <a:gd name="connsiteX5" fmla="*/ 147581 w 2621021"/>
                <a:gd name="connsiteY5" fmla="*/ 632253 h 6426530"/>
                <a:gd name="connsiteX6" fmla="*/ 0 w 2621021"/>
                <a:gd name="connsiteY6" fmla="*/ 495022 h 6426530"/>
                <a:gd name="connsiteX7" fmla="*/ 1637824 w 2621021"/>
                <a:gd name="connsiteY7" fmla="*/ 0 h 6426530"/>
                <a:gd name="connsiteX8" fmla="*/ 2085413 w 2621021"/>
                <a:gd name="connsiteY8" fmla="*/ 0 h 6426530"/>
                <a:gd name="connsiteX9" fmla="*/ 2621021 w 2621021"/>
                <a:gd name="connsiteY9" fmla="*/ 1772109 h 642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21021" h="6426530">
                  <a:moveTo>
                    <a:pt x="2621021" y="6426530"/>
                  </a:moveTo>
                  <a:lnTo>
                    <a:pt x="1759321" y="6426530"/>
                  </a:lnTo>
                  <a:lnTo>
                    <a:pt x="1700983" y="6233513"/>
                  </a:lnTo>
                  <a:lnTo>
                    <a:pt x="1732487" y="6051507"/>
                  </a:lnTo>
                  <a:cubicBezTo>
                    <a:pt x="1782548" y="5713082"/>
                    <a:pt x="1808755" y="5363679"/>
                    <a:pt x="1808755" y="5006348"/>
                  </a:cubicBezTo>
                  <a:cubicBezTo>
                    <a:pt x="1808755" y="3225649"/>
                    <a:pt x="1157930" y="1641844"/>
                    <a:pt x="147581" y="632253"/>
                  </a:cubicBezTo>
                  <a:lnTo>
                    <a:pt x="0" y="495022"/>
                  </a:lnTo>
                  <a:lnTo>
                    <a:pt x="1637824" y="0"/>
                  </a:lnTo>
                  <a:lnTo>
                    <a:pt x="2085413" y="0"/>
                  </a:lnTo>
                  <a:lnTo>
                    <a:pt x="2621021" y="1772109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: 形状 192"/>
            <p:cNvSpPr/>
            <p:nvPr userDrawn="1"/>
          </p:nvSpPr>
          <p:spPr>
            <a:xfrm rot="369086" flipH="1" flipV="1">
              <a:off x="735472" y="665486"/>
              <a:ext cx="3170483" cy="6397720"/>
            </a:xfrm>
            <a:custGeom>
              <a:avLst/>
              <a:gdLst>
                <a:gd name="connsiteX0" fmla="*/ 3170483 w 3170483"/>
                <a:gd name="connsiteY0" fmla="*/ 6397720 h 6397720"/>
                <a:gd name="connsiteX1" fmla="*/ 2073778 w 3170483"/>
                <a:gd name="connsiteY1" fmla="*/ 6397720 h 6397720"/>
                <a:gd name="connsiteX2" fmla="*/ 2083938 w 3170483"/>
                <a:gd name="connsiteY2" fmla="*/ 6357349 h 6397720"/>
                <a:gd name="connsiteX3" fmla="*/ 2237994 w 3170483"/>
                <a:gd name="connsiteY3" fmla="*/ 4977538 h 6397720"/>
                <a:gd name="connsiteX4" fmla="*/ 56107 w 3170483"/>
                <a:gd name="connsiteY4" fmla="*/ 380825 h 6397720"/>
                <a:gd name="connsiteX5" fmla="*/ 0 w 3170483"/>
                <a:gd name="connsiteY5" fmla="*/ 341706 h 6397720"/>
                <a:gd name="connsiteX6" fmla="*/ 3170483 w 3170483"/>
                <a:gd name="connsiteY6" fmla="*/ 0 h 639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0483" h="6397720">
                  <a:moveTo>
                    <a:pt x="3170483" y="6397720"/>
                  </a:moveTo>
                  <a:lnTo>
                    <a:pt x="2073778" y="6397720"/>
                  </a:lnTo>
                  <a:lnTo>
                    <a:pt x="2083938" y="6357349"/>
                  </a:lnTo>
                  <a:cubicBezTo>
                    <a:pt x="2184507" y="5916326"/>
                    <a:pt x="2237994" y="5453979"/>
                    <a:pt x="2237994" y="4977538"/>
                  </a:cubicBezTo>
                  <a:cubicBezTo>
                    <a:pt x="2237994" y="3059862"/>
                    <a:pt x="1371473" y="1370536"/>
                    <a:pt x="56107" y="380825"/>
                  </a:cubicBezTo>
                  <a:lnTo>
                    <a:pt x="0" y="341706"/>
                  </a:lnTo>
                  <a:lnTo>
                    <a:pt x="3170483" y="0"/>
                  </a:ln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94" name="组合 193"/>
            <p:cNvGrpSpPr/>
            <p:nvPr userDrawn="1"/>
          </p:nvGrpSpPr>
          <p:grpSpPr>
            <a:xfrm rot="10800000">
              <a:off x="295584" y="206262"/>
              <a:ext cx="559953" cy="1039210"/>
              <a:chOff x="7704258" y="1300709"/>
              <a:chExt cx="725619" cy="1346667"/>
            </a:xfrm>
            <a:solidFill>
              <a:schemeClr val="bg1">
                <a:alpha val="50000"/>
              </a:schemeClr>
            </a:solidFill>
          </p:grpSpPr>
          <p:grpSp>
            <p:nvGrpSpPr>
              <p:cNvPr id="195" name="组合 194"/>
              <p:cNvGrpSpPr/>
              <p:nvPr/>
            </p:nvGrpSpPr>
            <p:grpSpPr>
              <a:xfrm flipH="1">
                <a:off x="7704258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215" name="组合 214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25" name="椭圆 224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6" name="椭圆 225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7" name="椭圆 226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8" name="椭圆 227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椭圆 228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0" name="椭圆 229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椭圆 230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椭圆 231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6" name="组合 215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17" name="椭圆 21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椭圆 21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9" name="椭圆 21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0" name="椭圆 21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1" name="椭圆 22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2" name="椭圆 22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椭圆 22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4" name="椭圆 22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96" name="组合 195"/>
              <p:cNvGrpSpPr/>
              <p:nvPr/>
            </p:nvGrpSpPr>
            <p:grpSpPr>
              <a:xfrm flipH="1">
                <a:off x="8137279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197" name="组合 196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07" name="椭圆 20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8" name="椭圆 20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9" name="椭圆 20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椭圆 20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椭圆 21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2" name="椭圆 21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3" name="椭圆 21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椭圆 21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98" name="组合 197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199" name="椭圆 198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0" name="椭圆 199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1" name="椭圆 200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2" name="椭圆 201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椭圆 202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椭圆 203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椭圆 204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38" name="组合 237"/>
          <p:cNvGrpSpPr/>
          <p:nvPr userDrawn="1"/>
        </p:nvGrpSpPr>
        <p:grpSpPr>
          <a:xfrm>
            <a:off x="0" y="5632704"/>
            <a:ext cx="4240782" cy="1261873"/>
            <a:chOff x="0" y="4701178"/>
            <a:chExt cx="4240782" cy="2156823"/>
          </a:xfrm>
        </p:grpSpPr>
        <p:sp>
          <p:nvSpPr>
            <p:cNvPr id="236" name="任意多边形: 形状 235"/>
            <p:cNvSpPr/>
            <p:nvPr userDrawn="1"/>
          </p:nvSpPr>
          <p:spPr>
            <a:xfrm>
              <a:off x="0" y="4701178"/>
              <a:ext cx="4240782" cy="2156823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7" name="任意多边形: 形状 236"/>
            <p:cNvSpPr/>
            <p:nvPr userDrawn="1"/>
          </p:nvSpPr>
          <p:spPr>
            <a:xfrm>
              <a:off x="0" y="5481466"/>
              <a:ext cx="2706565" cy="1376534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solidFill>
              <a:schemeClr val="bg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99369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209862" y="314793"/>
            <a:ext cx="1573967" cy="1573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1928673" y="432337"/>
            <a:ext cx="263327" cy="263327"/>
            <a:chOff x="4895945" y="3693531"/>
            <a:chExt cx="428427" cy="428427"/>
          </a:xfrm>
        </p:grpSpPr>
        <p:pic>
          <p:nvPicPr>
            <p:cNvPr id="11" name="图形 10" descr="原子 纯色填充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95945" y="3693531"/>
              <a:ext cx="428427" cy="428427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4910414" y="3708000"/>
              <a:ext cx="399488" cy="39948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>
            <a:stCxn id="12" idx="2"/>
          </p:cNvCxnSpPr>
          <p:nvPr userDrawn="1"/>
        </p:nvCxnSpPr>
        <p:spPr>
          <a:xfrm flipH="1">
            <a:off x="1993692" y="564000"/>
            <a:ext cx="994387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11814628" y="6480628"/>
            <a:ext cx="377372" cy="377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72972" b="36065"/>
          <a:stretch>
            <a:fillRect/>
          </a:stretch>
        </p:blipFill>
        <p:spPr>
          <a:xfrm>
            <a:off x="115061" y="223741"/>
            <a:ext cx="1750120" cy="18098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57768" y="6484100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0235-FCB1-48AB-A9FC-1CCF94A11FE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E177-17A6-4AC7-9FC6-D2187A0A422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6DD2-2086-4C77-BF85-0EE5F9CD67A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任意多边形: 形状 64"/>
          <p:cNvSpPr/>
          <p:nvPr/>
        </p:nvSpPr>
        <p:spPr>
          <a:xfrm>
            <a:off x="0" y="5759792"/>
            <a:ext cx="12192000" cy="1098209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4" name="任意多边形: 形状 63"/>
          <p:cNvSpPr/>
          <p:nvPr/>
        </p:nvSpPr>
        <p:spPr>
          <a:xfrm>
            <a:off x="4874318" y="4912822"/>
            <a:ext cx="7317682" cy="1945179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4874320" y="5989800"/>
            <a:ext cx="7317680" cy="868200"/>
          </a:xfrm>
          <a:custGeom>
            <a:avLst/>
            <a:gdLst>
              <a:gd name="connsiteX0" fmla="*/ 5281377 w 7317680"/>
              <a:gd name="connsiteY0" fmla="*/ 0 h 3060960"/>
              <a:gd name="connsiteX1" fmla="*/ 5346651 w 7317680"/>
              <a:gd name="connsiteY1" fmla="*/ 20477 h 3060960"/>
              <a:gd name="connsiteX2" fmla="*/ 7175259 w 7317680"/>
              <a:gd name="connsiteY2" fmla="*/ 863971 h 3060960"/>
              <a:gd name="connsiteX3" fmla="*/ 7317680 w 7317680"/>
              <a:gd name="connsiteY3" fmla="*/ 964679 h 3060960"/>
              <a:gd name="connsiteX4" fmla="*/ 7317680 w 7317680"/>
              <a:gd name="connsiteY4" fmla="*/ 3060960 h 3060960"/>
              <a:gd name="connsiteX5" fmla="*/ 0 w 7317680"/>
              <a:gd name="connsiteY5" fmla="*/ 3060960 h 3060960"/>
              <a:gd name="connsiteX6" fmla="*/ 457116 w 7317680"/>
              <a:gd name="connsiteY6" fmla="*/ 2922614 h 3060960"/>
              <a:gd name="connsiteX7" fmla="*/ 5142086 w 7317680"/>
              <a:gd name="connsiteY7" fmla="*/ 145952 h 30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680" h="3060960">
                <a:moveTo>
                  <a:pt x="5281377" y="0"/>
                </a:moveTo>
                <a:lnTo>
                  <a:pt x="5346651" y="20477"/>
                </a:lnTo>
                <a:cubicBezTo>
                  <a:pt x="6079003" y="261542"/>
                  <a:pt x="6699119" y="546538"/>
                  <a:pt x="7175259" y="863971"/>
                </a:cubicBezTo>
                <a:lnTo>
                  <a:pt x="7317680" y="964679"/>
                </a:lnTo>
                <a:lnTo>
                  <a:pt x="7317680" y="3060960"/>
                </a:lnTo>
                <a:lnTo>
                  <a:pt x="0" y="3060960"/>
                </a:lnTo>
                <a:lnTo>
                  <a:pt x="457116" y="2922614"/>
                </a:lnTo>
                <a:cubicBezTo>
                  <a:pt x="2316040" y="2309423"/>
                  <a:pt x="3926266" y="1347247"/>
                  <a:pt x="5142086" y="145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0" y="5889812"/>
            <a:ext cx="12192000" cy="968188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bg2"/>
                </a:gs>
                <a:gs pos="52000">
                  <a:schemeClr val="bg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4874318" y="5126636"/>
            <a:ext cx="7317682" cy="1731365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bg2"/>
                </a:gs>
                <a:gs pos="51000">
                  <a:schemeClr val="bg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D707F-36DE-4AAF-BD6E-37756C09CC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9B67-534D-4770-A6BF-F30E9E7C2A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7D504-8F52-4900-B3B1-A3596282B25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210A-0E12-43D3-98D3-E28DDFC5651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E6AC-BF47-453D-965D-30AD85E13D8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8346954" y="202901"/>
            <a:ext cx="3757123" cy="945363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/>
        </p:nvSpPr>
        <p:spPr>
          <a:xfrm flipH="1">
            <a:off x="-1" y="0"/>
            <a:ext cx="3100647" cy="6858000"/>
          </a:xfrm>
          <a:custGeom>
            <a:avLst/>
            <a:gdLst>
              <a:gd name="connsiteX0" fmla="*/ 0 w 3668486"/>
              <a:gd name="connsiteY0" fmla="*/ 0 h 6858000"/>
              <a:gd name="connsiteX1" fmla="*/ 3668486 w 3668486"/>
              <a:gd name="connsiteY1" fmla="*/ 0 h 6858000"/>
              <a:gd name="connsiteX2" fmla="*/ 3668486 w 3668486"/>
              <a:gd name="connsiteY2" fmla="*/ 6858000 h 6858000"/>
              <a:gd name="connsiteX3" fmla="*/ 2592838 w 3668486"/>
              <a:gd name="connsiteY3" fmla="*/ 6858000 h 6858000"/>
              <a:gd name="connsiteX4" fmla="*/ 2602803 w 3668486"/>
              <a:gd name="connsiteY4" fmla="*/ 6814919 h 6858000"/>
              <a:gd name="connsiteX5" fmla="*/ 2753901 w 3668486"/>
              <a:gd name="connsiteY5" fmla="*/ 5342469 h 6858000"/>
              <a:gd name="connsiteX6" fmla="*/ 35244 w 3668486"/>
              <a:gd name="connsiteY6" fmla="*/ 31673 h 6858000"/>
              <a:gd name="connsiteX7" fmla="*/ 0 w 3668486"/>
              <a:gd name="connsiteY7" fmla="*/ 12113 h 6858000"/>
              <a:gd name="connsiteX8" fmla="*/ 0 w 3668486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8486" h="6858000">
                <a:moveTo>
                  <a:pt x="0" y="0"/>
                </a:moveTo>
                <a:lnTo>
                  <a:pt x="3668486" y="0"/>
                </a:lnTo>
                <a:lnTo>
                  <a:pt x="3668486" y="6858000"/>
                </a:lnTo>
                <a:lnTo>
                  <a:pt x="2592838" y="6858000"/>
                </a:lnTo>
                <a:lnTo>
                  <a:pt x="2602803" y="6814919"/>
                </a:lnTo>
                <a:cubicBezTo>
                  <a:pt x="2701441" y="6344286"/>
                  <a:pt x="2753901" y="5850898"/>
                  <a:pt x="2753901" y="5342469"/>
                </a:cubicBezTo>
                <a:cubicBezTo>
                  <a:pt x="2753901" y="3003695"/>
                  <a:pt x="1643848" y="983200"/>
                  <a:pt x="35244" y="31673"/>
                </a:cubicBezTo>
                <a:lnTo>
                  <a:pt x="0" y="121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 userDrawn="1"/>
        </p:nvSpPr>
        <p:spPr>
          <a:xfrm rot="1009026" flipH="1" flipV="1">
            <a:off x="360905" y="663589"/>
            <a:ext cx="2621021" cy="6426530"/>
          </a:xfrm>
          <a:custGeom>
            <a:avLst/>
            <a:gdLst>
              <a:gd name="connsiteX0" fmla="*/ 2621021 w 2621021"/>
              <a:gd name="connsiteY0" fmla="*/ 6426530 h 6426530"/>
              <a:gd name="connsiteX1" fmla="*/ 1759321 w 2621021"/>
              <a:gd name="connsiteY1" fmla="*/ 6426530 h 6426530"/>
              <a:gd name="connsiteX2" fmla="*/ 1700983 w 2621021"/>
              <a:gd name="connsiteY2" fmla="*/ 6233513 h 6426530"/>
              <a:gd name="connsiteX3" fmla="*/ 1732487 w 2621021"/>
              <a:gd name="connsiteY3" fmla="*/ 6051507 h 6426530"/>
              <a:gd name="connsiteX4" fmla="*/ 1808755 w 2621021"/>
              <a:gd name="connsiteY4" fmla="*/ 5006348 h 6426530"/>
              <a:gd name="connsiteX5" fmla="*/ 147581 w 2621021"/>
              <a:gd name="connsiteY5" fmla="*/ 632253 h 6426530"/>
              <a:gd name="connsiteX6" fmla="*/ 0 w 2621021"/>
              <a:gd name="connsiteY6" fmla="*/ 495022 h 6426530"/>
              <a:gd name="connsiteX7" fmla="*/ 1637824 w 2621021"/>
              <a:gd name="connsiteY7" fmla="*/ 0 h 6426530"/>
              <a:gd name="connsiteX8" fmla="*/ 2085413 w 2621021"/>
              <a:gd name="connsiteY8" fmla="*/ 0 h 6426530"/>
              <a:gd name="connsiteX9" fmla="*/ 2621021 w 2621021"/>
              <a:gd name="connsiteY9" fmla="*/ 1772109 h 642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21021" h="6426530">
                <a:moveTo>
                  <a:pt x="2621021" y="6426530"/>
                </a:moveTo>
                <a:lnTo>
                  <a:pt x="1759321" y="6426530"/>
                </a:lnTo>
                <a:lnTo>
                  <a:pt x="1700983" y="6233513"/>
                </a:lnTo>
                <a:lnTo>
                  <a:pt x="1732487" y="6051507"/>
                </a:lnTo>
                <a:cubicBezTo>
                  <a:pt x="1782548" y="5713082"/>
                  <a:pt x="1808755" y="5363679"/>
                  <a:pt x="1808755" y="5006348"/>
                </a:cubicBezTo>
                <a:cubicBezTo>
                  <a:pt x="1808755" y="3225649"/>
                  <a:pt x="1157930" y="1641844"/>
                  <a:pt x="147581" y="632253"/>
                </a:cubicBezTo>
                <a:lnTo>
                  <a:pt x="0" y="495022"/>
                </a:lnTo>
                <a:lnTo>
                  <a:pt x="1637824" y="0"/>
                </a:lnTo>
                <a:lnTo>
                  <a:pt x="2085413" y="0"/>
                </a:lnTo>
                <a:lnTo>
                  <a:pt x="2621021" y="1772109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 rot="369086" flipH="1" flipV="1">
            <a:off x="735472" y="665486"/>
            <a:ext cx="3170483" cy="6397720"/>
          </a:xfrm>
          <a:custGeom>
            <a:avLst/>
            <a:gdLst>
              <a:gd name="connsiteX0" fmla="*/ 3170483 w 3170483"/>
              <a:gd name="connsiteY0" fmla="*/ 6397720 h 6397720"/>
              <a:gd name="connsiteX1" fmla="*/ 2073778 w 3170483"/>
              <a:gd name="connsiteY1" fmla="*/ 6397720 h 6397720"/>
              <a:gd name="connsiteX2" fmla="*/ 2083938 w 3170483"/>
              <a:gd name="connsiteY2" fmla="*/ 6357349 h 6397720"/>
              <a:gd name="connsiteX3" fmla="*/ 2237994 w 3170483"/>
              <a:gd name="connsiteY3" fmla="*/ 4977538 h 6397720"/>
              <a:gd name="connsiteX4" fmla="*/ 56107 w 3170483"/>
              <a:gd name="connsiteY4" fmla="*/ 380825 h 6397720"/>
              <a:gd name="connsiteX5" fmla="*/ 0 w 3170483"/>
              <a:gd name="connsiteY5" fmla="*/ 341706 h 6397720"/>
              <a:gd name="connsiteX6" fmla="*/ 3170483 w 3170483"/>
              <a:gd name="connsiteY6" fmla="*/ 0 h 63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0483" h="6397720">
                <a:moveTo>
                  <a:pt x="3170483" y="6397720"/>
                </a:moveTo>
                <a:lnTo>
                  <a:pt x="2073778" y="6397720"/>
                </a:lnTo>
                <a:lnTo>
                  <a:pt x="2083938" y="6357349"/>
                </a:lnTo>
                <a:cubicBezTo>
                  <a:pt x="2184507" y="5916326"/>
                  <a:pt x="2237994" y="5453979"/>
                  <a:pt x="2237994" y="4977538"/>
                </a:cubicBezTo>
                <a:cubicBezTo>
                  <a:pt x="2237994" y="3059862"/>
                  <a:pt x="1371473" y="1370536"/>
                  <a:pt x="56107" y="380825"/>
                </a:cubicBezTo>
                <a:lnTo>
                  <a:pt x="0" y="341706"/>
                </a:lnTo>
                <a:lnTo>
                  <a:pt x="3170483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 rot="10800000">
            <a:off x="295584" y="206262"/>
            <a:ext cx="559953" cy="1039210"/>
            <a:chOff x="7704258" y="1300709"/>
            <a:chExt cx="725619" cy="1346667"/>
          </a:xfrm>
          <a:solidFill>
            <a:schemeClr val="bg1">
              <a:alpha val="50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 flipH="1">
              <a:off x="7704258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73" name="组合 72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83" name="椭圆 82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4" name="椭圆 83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椭圆 85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椭圆 86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8" name="椭圆 87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椭圆 88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75" name="椭圆 7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 flipH="1">
              <a:off x="8137279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185573" y="151879"/>
            <a:ext cx="3757123" cy="945363"/>
          </a:xfrm>
          <a:prstGeom prst="rect">
            <a:avLst/>
          </a:prstGeom>
        </p:spPr>
      </p:pic>
      <p:grpSp>
        <p:nvGrpSpPr>
          <p:cNvPr id="233" name="组合 232"/>
          <p:cNvGrpSpPr/>
          <p:nvPr userDrawn="1"/>
        </p:nvGrpSpPr>
        <p:grpSpPr>
          <a:xfrm flipH="1">
            <a:off x="8286044" y="0"/>
            <a:ext cx="3905956" cy="7090119"/>
            <a:chOff x="-1" y="0"/>
            <a:chExt cx="3905956" cy="7090119"/>
          </a:xfrm>
        </p:grpSpPr>
        <p:sp>
          <p:nvSpPr>
            <p:cNvPr id="191" name="任意多边形: 形状 190"/>
            <p:cNvSpPr/>
            <p:nvPr userDrawn="1"/>
          </p:nvSpPr>
          <p:spPr>
            <a:xfrm flipH="1">
              <a:off x="-1" y="0"/>
              <a:ext cx="3100647" cy="6858000"/>
            </a:xfrm>
            <a:custGeom>
              <a:avLst/>
              <a:gdLst>
                <a:gd name="connsiteX0" fmla="*/ 0 w 3668486"/>
                <a:gd name="connsiteY0" fmla="*/ 0 h 6858000"/>
                <a:gd name="connsiteX1" fmla="*/ 3668486 w 3668486"/>
                <a:gd name="connsiteY1" fmla="*/ 0 h 6858000"/>
                <a:gd name="connsiteX2" fmla="*/ 3668486 w 3668486"/>
                <a:gd name="connsiteY2" fmla="*/ 6858000 h 6858000"/>
                <a:gd name="connsiteX3" fmla="*/ 2592838 w 3668486"/>
                <a:gd name="connsiteY3" fmla="*/ 6858000 h 6858000"/>
                <a:gd name="connsiteX4" fmla="*/ 2602803 w 3668486"/>
                <a:gd name="connsiteY4" fmla="*/ 6814919 h 6858000"/>
                <a:gd name="connsiteX5" fmla="*/ 2753901 w 3668486"/>
                <a:gd name="connsiteY5" fmla="*/ 5342469 h 6858000"/>
                <a:gd name="connsiteX6" fmla="*/ 35244 w 3668486"/>
                <a:gd name="connsiteY6" fmla="*/ 31673 h 6858000"/>
                <a:gd name="connsiteX7" fmla="*/ 0 w 3668486"/>
                <a:gd name="connsiteY7" fmla="*/ 12113 h 6858000"/>
                <a:gd name="connsiteX8" fmla="*/ 0 w 3668486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8486" h="6858000">
                  <a:moveTo>
                    <a:pt x="0" y="0"/>
                  </a:moveTo>
                  <a:lnTo>
                    <a:pt x="3668486" y="0"/>
                  </a:lnTo>
                  <a:lnTo>
                    <a:pt x="3668486" y="6858000"/>
                  </a:lnTo>
                  <a:lnTo>
                    <a:pt x="2592838" y="6858000"/>
                  </a:lnTo>
                  <a:lnTo>
                    <a:pt x="2602803" y="6814919"/>
                  </a:lnTo>
                  <a:cubicBezTo>
                    <a:pt x="2701441" y="6344286"/>
                    <a:pt x="2753901" y="5850898"/>
                    <a:pt x="2753901" y="5342469"/>
                  </a:cubicBezTo>
                  <a:cubicBezTo>
                    <a:pt x="2753901" y="3003695"/>
                    <a:pt x="1643848" y="983200"/>
                    <a:pt x="35244" y="31673"/>
                  </a:cubicBezTo>
                  <a:lnTo>
                    <a:pt x="0" y="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: 形状 191"/>
            <p:cNvSpPr/>
            <p:nvPr userDrawn="1"/>
          </p:nvSpPr>
          <p:spPr>
            <a:xfrm rot="1009026" flipH="1" flipV="1">
              <a:off x="360905" y="663589"/>
              <a:ext cx="2621021" cy="6426530"/>
            </a:xfrm>
            <a:custGeom>
              <a:avLst/>
              <a:gdLst>
                <a:gd name="connsiteX0" fmla="*/ 2621021 w 2621021"/>
                <a:gd name="connsiteY0" fmla="*/ 6426530 h 6426530"/>
                <a:gd name="connsiteX1" fmla="*/ 1759321 w 2621021"/>
                <a:gd name="connsiteY1" fmla="*/ 6426530 h 6426530"/>
                <a:gd name="connsiteX2" fmla="*/ 1700983 w 2621021"/>
                <a:gd name="connsiteY2" fmla="*/ 6233513 h 6426530"/>
                <a:gd name="connsiteX3" fmla="*/ 1732487 w 2621021"/>
                <a:gd name="connsiteY3" fmla="*/ 6051507 h 6426530"/>
                <a:gd name="connsiteX4" fmla="*/ 1808755 w 2621021"/>
                <a:gd name="connsiteY4" fmla="*/ 5006348 h 6426530"/>
                <a:gd name="connsiteX5" fmla="*/ 147581 w 2621021"/>
                <a:gd name="connsiteY5" fmla="*/ 632253 h 6426530"/>
                <a:gd name="connsiteX6" fmla="*/ 0 w 2621021"/>
                <a:gd name="connsiteY6" fmla="*/ 495022 h 6426530"/>
                <a:gd name="connsiteX7" fmla="*/ 1637824 w 2621021"/>
                <a:gd name="connsiteY7" fmla="*/ 0 h 6426530"/>
                <a:gd name="connsiteX8" fmla="*/ 2085413 w 2621021"/>
                <a:gd name="connsiteY8" fmla="*/ 0 h 6426530"/>
                <a:gd name="connsiteX9" fmla="*/ 2621021 w 2621021"/>
                <a:gd name="connsiteY9" fmla="*/ 1772109 h 642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21021" h="6426530">
                  <a:moveTo>
                    <a:pt x="2621021" y="6426530"/>
                  </a:moveTo>
                  <a:lnTo>
                    <a:pt x="1759321" y="6426530"/>
                  </a:lnTo>
                  <a:lnTo>
                    <a:pt x="1700983" y="6233513"/>
                  </a:lnTo>
                  <a:lnTo>
                    <a:pt x="1732487" y="6051507"/>
                  </a:lnTo>
                  <a:cubicBezTo>
                    <a:pt x="1782548" y="5713082"/>
                    <a:pt x="1808755" y="5363679"/>
                    <a:pt x="1808755" y="5006348"/>
                  </a:cubicBezTo>
                  <a:cubicBezTo>
                    <a:pt x="1808755" y="3225649"/>
                    <a:pt x="1157930" y="1641844"/>
                    <a:pt x="147581" y="632253"/>
                  </a:cubicBezTo>
                  <a:lnTo>
                    <a:pt x="0" y="495022"/>
                  </a:lnTo>
                  <a:lnTo>
                    <a:pt x="1637824" y="0"/>
                  </a:lnTo>
                  <a:lnTo>
                    <a:pt x="2085413" y="0"/>
                  </a:lnTo>
                  <a:lnTo>
                    <a:pt x="2621021" y="1772109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: 形状 192"/>
            <p:cNvSpPr/>
            <p:nvPr userDrawn="1"/>
          </p:nvSpPr>
          <p:spPr>
            <a:xfrm rot="369086" flipH="1" flipV="1">
              <a:off x="735472" y="665486"/>
              <a:ext cx="3170483" cy="6397720"/>
            </a:xfrm>
            <a:custGeom>
              <a:avLst/>
              <a:gdLst>
                <a:gd name="connsiteX0" fmla="*/ 3170483 w 3170483"/>
                <a:gd name="connsiteY0" fmla="*/ 6397720 h 6397720"/>
                <a:gd name="connsiteX1" fmla="*/ 2073778 w 3170483"/>
                <a:gd name="connsiteY1" fmla="*/ 6397720 h 6397720"/>
                <a:gd name="connsiteX2" fmla="*/ 2083938 w 3170483"/>
                <a:gd name="connsiteY2" fmla="*/ 6357349 h 6397720"/>
                <a:gd name="connsiteX3" fmla="*/ 2237994 w 3170483"/>
                <a:gd name="connsiteY3" fmla="*/ 4977538 h 6397720"/>
                <a:gd name="connsiteX4" fmla="*/ 56107 w 3170483"/>
                <a:gd name="connsiteY4" fmla="*/ 380825 h 6397720"/>
                <a:gd name="connsiteX5" fmla="*/ 0 w 3170483"/>
                <a:gd name="connsiteY5" fmla="*/ 341706 h 6397720"/>
                <a:gd name="connsiteX6" fmla="*/ 3170483 w 3170483"/>
                <a:gd name="connsiteY6" fmla="*/ 0 h 639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0483" h="6397720">
                  <a:moveTo>
                    <a:pt x="3170483" y="6397720"/>
                  </a:moveTo>
                  <a:lnTo>
                    <a:pt x="2073778" y="6397720"/>
                  </a:lnTo>
                  <a:lnTo>
                    <a:pt x="2083938" y="6357349"/>
                  </a:lnTo>
                  <a:cubicBezTo>
                    <a:pt x="2184507" y="5916326"/>
                    <a:pt x="2237994" y="5453979"/>
                    <a:pt x="2237994" y="4977538"/>
                  </a:cubicBezTo>
                  <a:cubicBezTo>
                    <a:pt x="2237994" y="3059862"/>
                    <a:pt x="1371473" y="1370536"/>
                    <a:pt x="56107" y="380825"/>
                  </a:cubicBezTo>
                  <a:lnTo>
                    <a:pt x="0" y="341706"/>
                  </a:lnTo>
                  <a:lnTo>
                    <a:pt x="3170483" y="0"/>
                  </a:ln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94" name="组合 193"/>
            <p:cNvGrpSpPr/>
            <p:nvPr userDrawn="1"/>
          </p:nvGrpSpPr>
          <p:grpSpPr>
            <a:xfrm rot="10800000">
              <a:off x="295584" y="206262"/>
              <a:ext cx="559953" cy="1039210"/>
              <a:chOff x="7704258" y="1300709"/>
              <a:chExt cx="725619" cy="1346667"/>
            </a:xfrm>
            <a:solidFill>
              <a:schemeClr val="bg1">
                <a:alpha val="50000"/>
              </a:schemeClr>
            </a:solidFill>
          </p:grpSpPr>
          <p:grpSp>
            <p:nvGrpSpPr>
              <p:cNvPr id="195" name="组合 194"/>
              <p:cNvGrpSpPr/>
              <p:nvPr/>
            </p:nvGrpSpPr>
            <p:grpSpPr>
              <a:xfrm flipH="1">
                <a:off x="7704258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215" name="组合 214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25" name="椭圆 224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6" name="椭圆 225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7" name="椭圆 226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8" name="椭圆 227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椭圆 228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0" name="椭圆 229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椭圆 230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椭圆 231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6" name="组合 215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17" name="椭圆 21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椭圆 21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9" name="椭圆 21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0" name="椭圆 21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1" name="椭圆 22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2" name="椭圆 22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椭圆 22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4" name="椭圆 22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96" name="组合 195"/>
              <p:cNvGrpSpPr/>
              <p:nvPr/>
            </p:nvGrpSpPr>
            <p:grpSpPr>
              <a:xfrm flipH="1">
                <a:off x="8137279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197" name="组合 196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07" name="椭圆 20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8" name="椭圆 20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9" name="椭圆 20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椭圆 20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椭圆 21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2" name="椭圆 21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3" name="椭圆 21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椭圆 21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98" name="组合 197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199" name="椭圆 198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0" name="椭圆 199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1" name="椭圆 200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2" name="椭圆 201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椭圆 202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椭圆 203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椭圆 204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38" name="组合 237"/>
          <p:cNvGrpSpPr/>
          <p:nvPr userDrawn="1"/>
        </p:nvGrpSpPr>
        <p:grpSpPr>
          <a:xfrm>
            <a:off x="0" y="5632704"/>
            <a:ext cx="4240782" cy="1261873"/>
            <a:chOff x="0" y="4701178"/>
            <a:chExt cx="4240782" cy="2156823"/>
          </a:xfrm>
        </p:grpSpPr>
        <p:sp>
          <p:nvSpPr>
            <p:cNvPr id="236" name="任意多边形: 形状 235"/>
            <p:cNvSpPr/>
            <p:nvPr userDrawn="1"/>
          </p:nvSpPr>
          <p:spPr>
            <a:xfrm>
              <a:off x="0" y="4701178"/>
              <a:ext cx="4240782" cy="2156823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7" name="任意多边形: 形状 236"/>
            <p:cNvSpPr/>
            <p:nvPr userDrawn="1"/>
          </p:nvSpPr>
          <p:spPr>
            <a:xfrm>
              <a:off x="0" y="5481466"/>
              <a:ext cx="2706565" cy="1376534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solidFill>
              <a:schemeClr val="bg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99369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209862" y="314793"/>
            <a:ext cx="1573967" cy="1573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1928673" y="432337"/>
            <a:ext cx="263327" cy="263327"/>
            <a:chOff x="4895945" y="3693531"/>
            <a:chExt cx="428427" cy="428427"/>
          </a:xfrm>
        </p:grpSpPr>
        <p:pic>
          <p:nvPicPr>
            <p:cNvPr id="11" name="图形 10" descr="原子 纯色填充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95945" y="3693531"/>
              <a:ext cx="428427" cy="428427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4910414" y="3708000"/>
              <a:ext cx="399488" cy="39948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>
            <a:stCxn id="12" idx="2"/>
          </p:cNvCxnSpPr>
          <p:nvPr userDrawn="1"/>
        </p:nvCxnSpPr>
        <p:spPr>
          <a:xfrm flipH="1">
            <a:off x="1993692" y="564000"/>
            <a:ext cx="994387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11814628" y="6480628"/>
            <a:ext cx="377372" cy="377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72972" b="36065"/>
          <a:stretch>
            <a:fillRect/>
          </a:stretch>
        </p:blipFill>
        <p:spPr>
          <a:xfrm>
            <a:off x="115061" y="223741"/>
            <a:ext cx="1750120" cy="18098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57768" y="6484100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0235-FCB1-48AB-A9FC-1CCF94A11FE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E177-17A6-4AC7-9FC6-D2187A0A422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6DD2-2086-4C77-BF85-0EE5F9CD67A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任意多边形: 形状 64"/>
          <p:cNvSpPr/>
          <p:nvPr/>
        </p:nvSpPr>
        <p:spPr>
          <a:xfrm>
            <a:off x="0" y="5759792"/>
            <a:ext cx="12192000" cy="1098209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4" name="任意多边形: 形状 63"/>
          <p:cNvSpPr/>
          <p:nvPr/>
        </p:nvSpPr>
        <p:spPr>
          <a:xfrm>
            <a:off x="4874318" y="4912822"/>
            <a:ext cx="7317682" cy="1945179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4874320" y="5989800"/>
            <a:ext cx="7317680" cy="868200"/>
          </a:xfrm>
          <a:custGeom>
            <a:avLst/>
            <a:gdLst>
              <a:gd name="connsiteX0" fmla="*/ 5281377 w 7317680"/>
              <a:gd name="connsiteY0" fmla="*/ 0 h 3060960"/>
              <a:gd name="connsiteX1" fmla="*/ 5346651 w 7317680"/>
              <a:gd name="connsiteY1" fmla="*/ 20477 h 3060960"/>
              <a:gd name="connsiteX2" fmla="*/ 7175259 w 7317680"/>
              <a:gd name="connsiteY2" fmla="*/ 863971 h 3060960"/>
              <a:gd name="connsiteX3" fmla="*/ 7317680 w 7317680"/>
              <a:gd name="connsiteY3" fmla="*/ 964679 h 3060960"/>
              <a:gd name="connsiteX4" fmla="*/ 7317680 w 7317680"/>
              <a:gd name="connsiteY4" fmla="*/ 3060960 h 3060960"/>
              <a:gd name="connsiteX5" fmla="*/ 0 w 7317680"/>
              <a:gd name="connsiteY5" fmla="*/ 3060960 h 3060960"/>
              <a:gd name="connsiteX6" fmla="*/ 457116 w 7317680"/>
              <a:gd name="connsiteY6" fmla="*/ 2922614 h 3060960"/>
              <a:gd name="connsiteX7" fmla="*/ 5142086 w 7317680"/>
              <a:gd name="connsiteY7" fmla="*/ 145952 h 30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680" h="3060960">
                <a:moveTo>
                  <a:pt x="5281377" y="0"/>
                </a:moveTo>
                <a:lnTo>
                  <a:pt x="5346651" y="20477"/>
                </a:lnTo>
                <a:cubicBezTo>
                  <a:pt x="6079003" y="261542"/>
                  <a:pt x="6699119" y="546538"/>
                  <a:pt x="7175259" y="863971"/>
                </a:cubicBezTo>
                <a:lnTo>
                  <a:pt x="7317680" y="964679"/>
                </a:lnTo>
                <a:lnTo>
                  <a:pt x="7317680" y="3060960"/>
                </a:lnTo>
                <a:lnTo>
                  <a:pt x="0" y="3060960"/>
                </a:lnTo>
                <a:lnTo>
                  <a:pt x="457116" y="2922614"/>
                </a:lnTo>
                <a:cubicBezTo>
                  <a:pt x="2316040" y="2309423"/>
                  <a:pt x="3926266" y="1347247"/>
                  <a:pt x="5142086" y="145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0" y="5889812"/>
            <a:ext cx="12192000" cy="968188"/>
          </a:xfrm>
          <a:custGeom>
            <a:avLst/>
            <a:gdLst>
              <a:gd name="connsiteX0" fmla="*/ 4279220 w 12192000"/>
              <a:gd name="connsiteY0" fmla="*/ 0 h 3871889"/>
              <a:gd name="connsiteX1" fmla="*/ 12049577 w 12192000"/>
              <a:gd name="connsiteY1" fmla="*/ 1674900 h 3871889"/>
              <a:gd name="connsiteX2" fmla="*/ 12192000 w 12192000"/>
              <a:gd name="connsiteY2" fmla="*/ 1775609 h 3871889"/>
              <a:gd name="connsiteX3" fmla="*/ 12192000 w 12192000"/>
              <a:gd name="connsiteY3" fmla="*/ 3871889 h 3871889"/>
              <a:gd name="connsiteX4" fmla="*/ 0 w 12192000"/>
              <a:gd name="connsiteY4" fmla="*/ 3871889 h 3871889"/>
              <a:gd name="connsiteX5" fmla="*/ 0 w 12192000"/>
              <a:gd name="connsiteY5" fmla="*/ 401016 h 3871889"/>
              <a:gd name="connsiteX6" fmla="*/ 67017 w 12192000"/>
              <a:gd name="connsiteY6" fmla="*/ 386271 h 3871889"/>
              <a:gd name="connsiteX7" fmla="*/ 4279220 w 12192000"/>
              <a:gd name="connsiteY7" fmla="*/ 0 h 387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871889">
                <a:moveTo>
                  <a:pt x="4279220" y="0"/>
                </a:moveTo>
                <a:cubicBezTo>
                  <a:pt x="7634563" y="0"/>
                  <a:pt x="10553138" y="677254"/>
                  <a:pt x="12049577" y="1674900"/>
                </a:cubicBezTo>
                <a:lnTo>
                  <a:pt x="12192000" y="1775609"/>
                </a:lnTo>
                <a:lnTo>
                  <a:pt x="12192000" y="3871889"/>
                </a:lnTo>
                <a:lnTo>
                  <a:pt x="0" y="3871889"/>
                </a:lnTo>
                <a:lnTo>
                  <a:pt x="0" y="401016"/>
                </a:lnTo>
                <a:lnTo>
                  <a:pt x="67017" y="386271"/>
                </a:lnTo>
                <a:cubicBezTo>
                  <a:pt x="1319150" y="139929"/>
                  <a:pt x="2754064" y="0"/>
                  <a:pt x="4279220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bg2"/>
                </a:gs>
                <a:gs pos="52000">
                  <a:schemeClr val="bg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任意多边形: 形状 6"/>
          <p:cNvSpPr/>
          <p:nvPr userDrawn="1"/>
        </p:nvSpPr>
        <p:spPr>
          <a:xfrm>
            <a:off x="4874318" y="5126636"/>
            <a:ext cx="7317682" cy="1731365"/>
          </a:xfrm>
          <a:custGeom>
            <a:avLst/>
            <a:gdLst>
              <a:gd name="connsiteX0" fmla="*/ 7317680 w 7317682"/>
              <a:gd name="connsiteY0" fmla="*/ 355827 h 6858000"/>
              <a:gd name="connsiteX1" fmla="*/ 7317680 w 7317682"/>
              <a:gd name="connsiteY1" fmla="*/ 6858000 h 6858000"/>
              <a:gd name="connsiteX2" fmla="*/ 0 w 7317682"/>
              <a:gd name="connsiteY2" fmla="*/ 6858000 h 6858000"/>
              <a:gd name="connsiteX3" fmla="*/ 457116 w 7317682"/>
              <a:gd name="connsiteY3" fmla="*/ 6719654 h 6858000"/>
              <a:gd name="connsiteX4" fmla="*/ 7194668 w 7317682"/>
              <a:gd name="connsiteY4" fmla="*/ 757707 h 6858000"/>
              <a:gd name="connsiteX5" fmla="*/ 7317680 w 7317682"/>
              <a:gd name="connsiteY5" fmla="*/ 0 h 6858000"/>
              <a:gd name="connsiteX6" fmla="*/ 7317682 w 7317682"/>
              <a:gd name="connsiteY6" fmla="*/ 0 h 6858000"/>
              <a:gd name="connsiteX7" fmla="*/ 7317682 w 7317682"/>
              <a:gd name="connsiteY7" fmla="*/ 355820 h 6858000"/>
              <a:gd name="connsiteX8" fmla="*/ 7317680 w 7317682"/>
              <a:gd name="connsiteY8" fmla="*/ 3558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7682" h="6858000">
                <a:moveTo>
                  <a:pt x="7317680" y="355827"/>
                </a:moveTo>
                <a:lnTo>
                  <a:pt x="7317680" y="6858000"/>
                </a:lnTo>
                <a:lnTo>
                  <a:pt x="0" y="6858000"/>
                </a:lnTo>
                <a:lnTo>
                  <a:pt x="457116" y="6719654"/>
                </a:lnTo>
                <a:cubicBezTo>
                  <a:pt x="3761869" y="5629536"/>
                  <a:pt x="6280615" y="3436454"/>
                  <a:pt x="7194668" y="757707"/>
                </a:cubicBezTo>
                <a:close/>
                <a:moveTo>
                  <a:pt x="7317680" y="0"/>
                </a:moveTo>
                <a:lnTo>
                  <a:pt x="7317682" y="0"/>
                </a:lnTo>
                <a:lnTo>
                  <a:pt x="7317682" y="355820"/>
                </a:lnTo>
                <a:lnTo>
                  <a:pt x="7317680" y="355827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bg2"/>
                </a:gs>
                <a:gs pos="51000">
                  <a:schemeClr val="bg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D707F-36DE-4AAF-BD6E-37756C09CC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9B67-534D-4770-A6BF-F30E9E7C2A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7D504-8F52-4900-B3B1-A3596282B25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210A-0E12-43D3-98D3-E28DDFC5651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E6AC-BF47-453D-965D-30AD85E13D8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8346954" y="202901"/>
            <a:ext cx="3757123" cy="945363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/>
        </p:nvSpPr>
        <p:spPr>
          <a:xfrm flipH="1">
            <a:off x="-1" y="0"/>
            <a:ext cx="3100647" cy="6858000"/>
          </a:xfrm>
          <a:custGeom>
            <a:avLst/>
            <a:gdLst>
              <a:gd name="connsiteX0" fmla="*/ 0 w 3668486"/>
              <a:gd name="connsiteY0" fmla="*/ 0 h 6858000"/>
              <a:gd name="connsiteX1" fmla="*/ 3668486 w 3668486"/>
              <a:gd name="connsiteY1" fmla="*/ 0 h 6858000"/>
              <a:gd name="connsiteX2" fmla="*/ 3668486 w 3668486"/>
              <a:gd name="connsiteY2" fmla="*/ 6858000 h 6858000"/>
              <a:gd name="connsiteX3" fmla="*/ 2592838 w 3668486"/>
              <a:gd name="connsiteY3" fmla="*/ 6858000 h 6858000"/>
              <a:gd name="connsiteX4" fmla="*/ 2602803 w 3668486"/>
              <a:gd name="connsiteY4" fmla="*/ 6814919 h 6858000"/>
              <a:gd name="connsiteX5" fmla="*/ 2753901 w 3668486"/>
              <a:gd name="connsiteY5" fmla="*/ 5342469 h 6858000"/>
              <a:gd name="connsiteX6" fmla="*/ 35244 w 3668486"/>
              <a:gd name="connsiteY6" fmla="*/ 31673 h 6858000"/>
              <a:gd name="connsiteX7" fmla="*/ 0 w 3668486"/>
              <a:gd name="connsiteY7" fmla="*/ 12113 h 6858000"/>
              <a:gd name="connsiteX8" fmla="*/ 0 w 3668486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8486" h="6858000">
                <a:moveTo>
                  <a:pt x="0" y="0"/>
                </a:moveTo>
                <a:lnTo>
                  <a:pt x="3668486" y="0"/>
                </a:lnTo>
                <a:lnTo>
                  <a:pt x="3668486" y="6858000"/>
                </a:lnTo>
                <a:lnTo>
                  <a:pt x="2592838" y="6858000"/>
                </a:lnTo>
                <a:lnTo>
                  <a:pt x="2602803" y="6814919"/>
                </a:lnTo>
                <a:cubicBezTo>
                  <a:pt x="2701441" y="6344286"/>
                  <a:pt x="2753901" y="5850898"/>
                  <a:pt x="2753901" y="5342469"/>
                </a:cubicBezTo>
                <a:cubicBezTo>
                  <a:pt x="2753901" y="3003695"/>
                  <a:pt x="1643848" y="983200"/>
                  <a:pt x="35244" y="31673"/>
                </a:cubicBezTo>
                <a:lnTo>
                  <a:pt x="0" y="121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 userDrawn="1"/>
        </p:nvSpPr>
        <p:spPr>
          <a:xfrm rot="1009026" flipH="1" flipV="1">
            <a:off x="360905" y="663589"/>
            <a:ext cx="2621021" cy="6426530"/>
          </a:xfrm>
          <a:custGeom>
            <a:avLst/>
            <a:gdLst>
              <a:gd name="connsiteX0" fmla="*/ 2621021 w 2621021"/>
              <a:gd name="connsiteY0" fmla="*/ 6426530 h 6426530"/>
              <a:gd name="connsiteX1" fmla="*/ 1759321 w 2621021"/>
              <a:gd name="connsiteY1" fmla="*/ 6426530 h 6426530"/>
              <a:gd name="connsiteX2" fmla="*/ 1700983 w 2621021"/>
              <a:gd name="connsiteY2" fmla="*/ 6233513 h 6426530"/>
              <a:gd name="connsiteX3" fmla="*/ 1732487 w 2621021"/>
              <a:gd name="connsiteY3" fmla="*/ 6051507 h 6426530"/>
              <a:gd name="connsiteX4" fmla="*/ 1808755 w 2621021"/>
              <a:gd name="connsiteY4" fmla="*/ 5006348 h 6426530"/>
              <a:gd name="connsiteX5" fmla="*/ 147581 w 2621021"/>
              <a:gd name="connsiteY5" fmla="*/ 632253 h 6426530"/>
              <a:gd name="connsiteX6" fmla="*/ 0 w 2621021"/>
              <a:gd name="connsiteY6" fmla="*/ 495022 h 6426530"/>
              <a:gd name="connsiteX7" fmla="*/ 1637824 w 2621021"/>
              <a:gd name="connsiteY7" fmla="*/ 0 h 6426530"/>
              <a:gd name="connsiteX8" fmla="*/ 2085413 w 2621021"/>
              <a:gd name="connsiteY8" fmla="*/ 0 h 6426530"/>
              <a:gd name="connsiteX9" fmla="*/ 2621021 w 2621021"/>
              <a:gd name="connsiteY9" fmla="*/ 1772109 h 6426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21021" h="6426530">
                <a:moveTo>
                  <a:pt x="2621021" y="6426530"/>
                </a:moveTo>
                <a:lnTo>
                  <a:pt x="1759321" y="6426530"/>
                </a:lnTo>
                <a:lnTo>
                  <a:pt x="1700983" y="6233513"/>
                </a:lnTo>
                <a:lnTo>
                  <a:pt x="1732487" y="6051507"/>
                </a:lnTo>
                <a:cubicBezTo>
                  <a:pt x="1782548" y="5713082"/>
                  <a:pt x="1808755" y="5363679"/>
                  <a:pt x="1808755" y="5006348"/>
                </a:cubicBezTo>
                <a:cubicBezTo>
                  <a:pt x="1808755" y="3225649"/>
                  <a:pt x="1157930" y="1641844"/>
                  <a:pt x="147581" y="632253"/>
                </a:cubicBezTo>
                <a:lnTo>
                  <a:pt x="0" y="495022"/>
                </a:lnTo>
                <a:lnTo>
                  <a:pt x="1637824" y="0"/>
                </a:lnTo>
                <a:lnTo>
                  <a:pt x="2085413" y="0"/>
                </a:lnTo>
                <a:lnTo>
                  <a:pt x="2621021" y="1772109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 rot="369086" flipH="1" flipV="1">
            <a:off x="735472" y="665486"/>
            <a:ext cx="3170483" cy="6397720"/>
          </a:xfrm>
          <a:custGeom>
            <a:avLst/>
            <a:gdLst>
              <a:gd name="connsiteX0" fmla="*/ 3170483 w 3170483"/>
              <a:gd name="connsiteY0" fmla="*/ 6397720 h 6397720"/>
              <a:gd name="connsiteX1" fmla="*/ 2073778 w 3170483"/>
              <a:gd name="connsiteY1" fmla="*/ 6397720 h 6397720"/>
              <a:gd name="connsiteX2" fmla="*/ 2083938 w 3170483"/>
              <a:gd name="connsiteY2" fmla="*/ 6357349 h 6397720"/>
              <a:gd name="connsiteX3" fmla="*/ 2237994 w 3170483"/>
              <a:gd name="connsiteY3" fmla="*/ 4977538 h 6397720"/>
              <a:gd name="connsiteX4" fmla="*/ 56107 w 3170483"/>
              <a:gd name="connsiteY4" fmla="*/ 380825 h 6397720"/>
              <a:gd name="connsiteX5" fmla="*/ 0 w 3170483"/>
              <a:gd name="connsiteY5" fmla="*/ 341706 h 6397720"/>
              <a:gd name="connsiteX6" fmla="*/ 3170483 w 3170483"/>
              <a:gd name="connsiteY6" fmla="*/ 0 h 639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0483" h="6397720">
                <a:moveTo>
                  <a:pt x="3170483" y="6397720"/>
                </a:moveTo>
                <a:lnTo>
                  <a:pt x="2073778" y="6397720"/>
                </a:lnTo>
                <a:lnTo>
                  <a:pt x="2083938" y="6357349"/>
                </a:lnTo>
                <a:cubicBezTo>
                  <a:pt x="2184507" y="5916326"/>
                  <a:pt x="2237994" y="5453979"/>
                  <a:pt x="2237994" y="4977538"/>
                </a:cubicBezTo>
                <a:cubicBezTo>
                  <a:pt x="2237994" y="3059862"/>
                  <a:pt x="1371473" y="1370536"/>
                  <a:pt x="56107" y="380825"/>
                </a:cubicBezTo>
                <a:lnTo>
                  <a:pt x="0" y="341706"/>
                </a:lnTo>
                <a:lnTo>
                  <a:pt x="3170483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 rot="10800000">
            <a:off x="295584" y="206262"/>
            <a:ext cx="559953" cy="1039210"/>
            <a:chOff x="7704258" y="1300709"/>
            <a:chExt cx="725619" cy="1346667"/>
          </a:xfrm>
          <a:solidFill>
            <a:schemeClr val="bg1">
              <a:alpha val="50000"/>
            </a:schemeClr>
          </a:solidFill>
        </p:grpSpPr>
        <p:grpSp>
          <p:nvGrpSpPr>
            <p:cNvPr id="14" name="组合 13"/>
            <p:cNvGrpSpPr/>
            <p:nvPr/>
          </p:nvGrpSpPr>
          <p:grpSpPr>
            <a:xfrm flipH="1">
              <a:off x="7704258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73" name="组合 72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83" name="椭圆 82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4" name="椭圆 83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椭圆 85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椭圆 86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8" name="椭圆 87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椭圆 88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75" name="椭圆 7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 flipH="1">
              <a:off x="8137279" y="1300709"/>
              <a:ext cx="292598" cy="1346667"/>
              <a:chOff x="1724433" y="1612606"/>
              <a:chExt cx="241950" cy="1113561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1898681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0" name="椭圆 69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1724433" y="1612606"/>
                <a:ext cx="67702" cy="1113561"/>
                <a:chOff x="2041334" y="1597820"/>
                <a:chExt cx="67702" cy="1113561"/>
              </a:xfrm>
              <a:grpFill/>
            </p:grpSpPr>
            <p:sp>
              <p:nvSpPr>
                <p:cNvPr id="57" name="椭圆 56"/>
                <p:cNvSpPr/>
                <p:nvPr/>
              </p:nvSpPr>
              <p:spPr>
                <a:xfrm>
                  <a:off x="2041334" y="159782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2041334" y="174722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2041334" y="1896636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2041334" y="2046044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041334" y="2195452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2041334" y="2344860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2041334" y="2494268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2041334" y="2643679"/>
                  <a:ext cx="67702" cy="677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9766" b="36065"/>
          <a:stretch>
            <a:fillRect/>
          </a:stretch>
        </p:blipFill>
        <p:spPr>
          <a:xfrm>
            <a:off x="185573" y="151879"/>
            <a:ext cx="3757123" cy="945363"/>
          </a:xfrm>
          <a:prstGeom prst="rect">
            <a:avLst/>
          </a:prstGeom>
        </p:spPr>
      </p:pic>
      <p:grpSp>
        <p:nvGrpSpPr>
          <p:cNvPr id="233" name="组合 232"/>
          <p:cNvGrpSpPr/>
          <p:nvPr userDrawn="1"/>
        </p:nvGrpSpPr>
        <p:grpSpPr>
          <a:xfrm flipH="1">
            <a:off x="8286044" y="0"/>
            <a:ext cx="3905956" cy="7090119"/>
            <a:chOff x="-1" y="0"/>
            <a:chExt cx="3905956" cy="7090119"/>
          </a:xfrm>
        </p:grpSpPr>
        <p:sp>
          <p:nvSpPr>
            <p:cNvPr id="191" name="任意多边形: 形状 190"/>
            <p:cNvSpPr/>
            <p:nvPr userDrawn="1"/>
          </p:nvSpPr>
          <p:spPr>
            <a:xfrm flipH="1">
              <a:off x="-1" y="0"/>
              <a:ext cx="3100647" cy="6858000"/>
            </a:xfrm>
            <a:custGeom>
              <a:avLst/>
              <a:gdLst>
                <a:gd name="connsiteX0" fmla="*/ 0 w 3668486"/>
                <a:gd name="connsiteY0" fmla="*/ 0 h 6858000"/>
                <a:gd name="connsiteX1" fmla="*/ 3668486 w 3668486"/>
                <a:gd name="connsiteY1" fmla="*/ 0 h 6858000"/>
                <a:gd name="connsiteX2" fmla="*/ 3668486 w 3668486"/>
                <a:gd name="connsiteY2" fmla="*/ 6858000 h 6858000"/>
                <a:gd name="connsiteX3" fmla="*/ 2592838 w 3668486"/>
                <a:gd name="connsiteY3" fmla="*/ 6858000 h 6858000"/>
                <a:gd name="connsiteX4" fmla="*/ 2602803 w 3668486"/>
                <a:gd name="connsiteY4" fmla="*/ 6814919 h 6858000"/>
                <a:gd name="connsiteX5" fmla="*/ 2753901 w 3668486"/>
                <a:gd name="connsiteY5" fmla="*/ 5342469 h 6858000"/>
                <a:gd name="connsiteX6" fmla="*/ 35244 w 3668486"/>
                <a:gd name="connsiteY6" fmla="*/ 31673 h 6858000"/>
                <a:gd name="connsiteX7" fmla="*/ 0 w 3668486"/>
                <a:gd name="connsiteY7" fmla="*/ 12113 h 6858000"/>
                <a:gd name="connsiteX8" fmla="*/ 0 w 3668486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68486" h="6858000">
                  <a:moveTo>
                    <a:pt x="0" y="0"/>
                  </a:moveTo>
                  <a:lnTo>
                    <a:pt x="3668486" y="0"/>
                  </a:lnTo>
                  <a:lnTo>
                    <a:pt x="3668486" y="6858000"/>
                  </a:lnTo>
                  <a:lnTo>
                    <a:pt x="2592838" y="6858000"/>
                  </a:lnTo>
                  <a:lnTo>
                    <a:pt x="2602803" y="6814919"/>
                  </a:lnTo>
                  <a:cubicBezTo>
                    <a:pt x="2701441" y="6344286"/>
                    <a:pt x="2753901" y="5850898"/>
                    <a:pt x="2753901" y="5342469"/>
                  </a:cubicBezTo>
                  <a:cubicBezTo>
                    <a:pt x="2753901" y="3003695"/>
                    <a:pt x="1643848" y="983200"/>
                    <a:pt x="35244" y="31673"/>
                  </a:cubicBezTo>
                  <a:lnTo>
                    <a:pt x="0" y="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2" name="任意多边形: 形状 191"/>
            <p:cNvSpPr/>
            <p:nvPr userDrawn="1"/>
          </p:nvSpPr>
          <p:spPr>
            <a:xfrm rot="1009026" flipH="1" flipV="1">
              <a:off x="360905" y="663589"/>
              <a:ext cx="2621021" cy="6426530"/>
            </a:xfrm>
            <a:custGeom>
              <a:avLst/>
              <a:gdLst>
                <a:gd name="connsiteX0" fmla="*/ 2621021 w 2621021"/>
                <a:gd name="connsiteY0" fmla="*/ 6426530 h 6426530"/>
                <a:gd name="connsiteX1" fmla="*/ 1759321 w 2621021"/>
                <a:gd name="connsiteY1" fmla="*/ 6426530 h 6426530"/>
                <a:gd name="connsiteX2" fmla="*/ 1700983 w 2621021"/>
                <a:gd name="connsiteY2" fmla="*/ 6233513 h 6426530"/>
                <a:gd name="connsiteX3" fmla="*/ 1732487 w 2621021"/>
                <a:gd name="connsiteY3" fmla="*/ 6051507 h 6426530"/>
                <a:gd name="connsiteX4" fmla="*/ 1808755 w 2621021"/>
                <a:gd name="connsiteY4" fmla="*/ 5006348 h 6426530"/>
                <a:gd name="connsiteX5" fmla="*/ 147581 w 2621021"/>
                <a:gd name="connsiteY5" fmla="*/ 632253 h 6426530"/>
                <a:gd name="connsiteX6" fmla="*/ 0 w 2621021"/>
                <a:gd name="connsiteY6" fmla="*/ 495022 h 6426530"/>
                <a:gd name="connsiteX7" fmla="*/ 1637824 w 2621021"/>
                <a:gd name="connsiteY7" fmla="*/ 0 h 6426530"/>
                <a:gd name="connsiteX8" fmla="*/ 2085413 w 2621021"/>
                <a:gd name="connsiteY8" fmla="*/ 0 h 6426530"/>
                <a:gd name="connsiteX9" fmla="*/ 2621021 w 2621021"/>
                <a:gd name="connsiteY9" fmla="*/ 1772109 h 642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21021" h="6426530">
                  <a:moveTo>
                    <a:pt x="2621021" y="6426530"/>
                  </a:moveTo>
                  <a:lnTo>
                    <a:pt x="1759321" y="6426530"/>
                  </a:lnTo>
                  <a:lnTo>
                    <a:pt x="1700983" y="6233513"/>
                  </a:lnTo>
                  <a:lnTo>
                    <a:pt x="1732487" y="6051507"/>
                  </a:lnTo>
                  <a:cubicBezTo>
                    <a:pt x="1782548" y="5713082"/>
                    <a:pt x="1808755" y="5363679"/>
                    <a:pt x="1808755" y="5006348"/>
                  </a:cubicBezTo>
                  <a:cubicBezTo>
                    <a:pt x="1808755" y="3225649"/>
                    <a:pt x="1157930" y="1641844"/>
                    <a:pt x="147581" y="632253"/>
                  </a:cubicBezTo>
                  <a:lnTo>
                    <a:pt x="0" y="495022"/>
                  </a:lnTo>
                  <a:lnTo>
                    <a:pt x="1637824" y="0"/>
                  </a:lnTo>
                  <a:lnTo>
                    <a:pt x="2085413" y="0"/>
                  </a:lnTo>
                  <a:lnTo>
                    <a:pt x="2621021" y="1772109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3" name="任意多边形: 形状 192"/>
            <p:cNvSpPr/>
            <p:nvPr userDrawn="1"/>
          </p:nvSpPr>
          <p:spPr>
            <a:xfrm rot="369086" flipH="1" flipV="1">
              <a:off x="735472" y="665486"/>
              <a:ext cx="3170483" cy="6397720"/>
            </a:xfrm>
            <a:custGeom>
              <a:avLst/>
              <a:gdLst>
                <a:gd name="connsiteX0" fmla="*/ 3170483 w 3170483"/>
                <a:gd name="connsiteY0" fmla="*/ 6397720 h 6397720"/>
                <a:gd name="connsiteX1" fmla="*/ 2073778 w 3170483"/>
                <a:gd name="connsiteY1" fmla="*/ 6397720 h 6397720"/>
                <a:gd name="connsiteX2" fmla="*/ 2083938 w 3170483"/>
                <a:gd name="connsiteY2" fmla="*/ 6357349 h 6397720"/>
                <a:gd name="connsiteX3" fmla="*/ 2237994 w 3170483"/>
                <a:gd name="connsiteY3" fmla="*/ 4977538 h 6397720"/>
                <a:gd name="connsiteX4" fmla="*/ 56107 w 3170483"/>
                <a:gd name="connsiteY4" fmla="*/ 380825 h 6397720"/>
                <a:gd name="connsiteX5" fmla="*/ 0 w 3170483"/>
                <a:gd name="connsiteY5" fmla="*/ 341706 h 6397720"/>
                <a:gd name="connsiteX6" fmla="*/ 3170483 w 3170483"/>
                <a:gd name="connsiteY6" fmla="*/ 0 h 639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0483" h="6397720">
                  <a:moveTo>
                    <a:pt x="3170483" y="6397720"/>
                  </a:moveTo>
                  <a:lnTo>
                    <a:pt x="2073778" y="6397720"/>
                  </a:lnTo>
                  <a:lnTo>
                    <a:pt x="2083938" y="6357349"/>
                  </a:lnTo>
                  <a:cubicBezTo>
                    <a:pt x="2184507" y="5916326"/>
                    <a:pt x="2237994" y="5453979"/>
                    <a:pt x="2237994" y="4977538"/>
                  </a:cubicBezTo>
                  <a:cubicBezTo>
                    <a:pt x="2237994" y="3059862"/>
                    <a:pt x="1371473" y="1370536"/>
                    <a:pt x="56107" y="380825"/>
                  </a:cubicBezTo>
                  <a:lnTo>
                    <a:pt x="0" y="341706"/>
                  </a:lnTo>
                  <a:lnTo>
                    <a:pt x="3170483" y="0"/>
                  </a:ln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94" name="组合 193"/>
            <p:cNvGrpSpPr/>
            <p:nvPr userDrawn="1"/>
          </p:nvGrpSpPr>
          <p:grpSpPr>
            <a:xfrm rot="10800000">
              <a:off x="295584" y="206262"/>
              <a:ext cx="559953" cy="1039210"/>
              <a:chOff x="7704258" y="1300709"/>
              <a:chExt cx="725619" cy="1346667"/>
            </a:xfrm>
            <a:solidFill>
              <a:schemeClr val="bg1">
                <a:alpha val="50000"/>
              </a:schemeClr>
            </a:solidFill>
          </p:grpSpPr>
          <p:grpSp>
            <p:nvGrpSpPr>
              <p:cNvPr id="195" name="组合 194"/>
              <p:cNvGrpSpPr/>
              <p:nvPr/>
            </p:nvGrpSpPr>
            <p:grpSpPr>
              <a:xfrm flipH="1">
                <a:off x="7704258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215" name="组合 214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25" name="椭圆 224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6" name="椭圆 225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7" name="椭圆 226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8" name="椭圆 227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椭圆 228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0" name="椭圆 229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椭圆 230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椭圆 231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16" name="组合 215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17" name="椭圆 21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椭圆 21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9" name="椭圆 21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0" name="椭圆 21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1" name="椭圆 22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2" name="椭圆 22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椭圆 22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4" name="椭圆 22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96" name="组合 195"/>
              <p:cNvGrpSpPr/>
              <p:nvPr/>
            </p:nvGrpSpPr>
            <p:grpSpPr>
              <a:xfrm flipH="1">
                <a:off x="8137279" y="1300709"/>
                <a:ext cx="292598" cy="1346667"/>
                <a:chOff x="1724433" y="1612606"/>
                <a:chExt cx="241950" cy="1113561"/>
              </a:xfrm>
              <a:grpFill/>
            </p:grpSpPr>
            <p:grpSp>
              <p:nvGrpSpPr>
                <p:cNvPr id="197" name="组合 196"/>
                <p:cNvGrpSpPr/>
                <p:nvPr/>
              </p:nvGrpSpPr>
              <p:grpSpPr>
                <a:xfrm>
                  <a:off x="1898681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207" name="椭圆 206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8" name="椭圆 207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9" name="椭圆 208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椭圆 209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椭圆 210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2" name="椭圆 211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3" name="椭圆 212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椭圆 213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98" name="组合 197"/>
                <p:cNvGrpSpPr/>
                <p:nvPr/>
              </p:nvGrpSpPr>
              <p:grpSpPr>
                <a:xfrm>
                  <a:off x="1724433" y="1612606"/>
                  <a:ext cx="67702" cy="1113561"/>
                  <a:chOff x="2041334" y="1597820"/>
                  <a:chExt cx="67702" cy="1113561"/>
                </a:xfrm>
                <a:grpFill/>
              </p:grpSpPr>
              <p:sp>
                <p:nvSpPr>
                  <p:cNvPr id="199" name="椭圆 198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0" name="椭圆 199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1" name="椭圆 200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2" name="椭圆 201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椭圆 202"/>
                  <p:cNvSpPr/>
                  <p:nvPr/>
                </p:nvSpPr>
                <p:spPr>
                  <a:xfrm>
                    <a:off x="2041334" y="2195452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椭圆 203"/>
                  <p:cNvSpPr/>
                  <p:nvPr/>
                </p:nvSpPr>
                <p:spPr>
                  <a:xfrm>
                    <a:off x="2041334" y="234486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椭圆 204"/>
                  <p:cNvSpPr/>
                  <p:nvPr/>
                </p:nvSpPr>
                <p:spPr>
                  <a:xfrm>
                    <a:off x="2041334" y="249426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/>
                  <p:cNvSpPr/>
                  <p:nvPr/>
                </p:nvSpPr>
                <p:spPr>
                  <a:xfrm>
                    <a:off x="2041334" y="2643679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38" name="组合 237"/>
          <p:cNvGrpSpPr/>
          <p:nvPr userDrawn="1"/>
        </p:nvGrpSpPr>
        <p:grpSpPr>
          <a:xfrm>
            <a:off x="0" y="5632704"/>
            <a:ext cx="4240782" cy="1261873"/>
            <a:chOff x="0" y="4701178"/>
            <a:chExt cx="4240782" cy="2156823"/>
          </a:xfrm>
        </p:grpSpPr>
        <p:sp>
          <p:nvSpPr>
            <p:cNvPr id="236" name="任意多边形: 形状 235"/>
            <p:cNvSpPr/>
            <p:nvPr userDrawn="1"/>
          </p:nvSpPr>
          <p:spPr>
            <a:xfrm>
              <a:off x="0" y="4701178"/>
              <a:ext cx="4240782" cy="2156823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7" name="任意多边形: 形状 236"/>
            <p:cNvSpPr/>
            <p:nvPr userDrawn="1"/>
          </p:nvSpPr>
          <p:spPr>
            <a:xfrm>
              <a:off x="0" y="5481466"/>
              <a:ext cx="2706565" cy="1376534"/>
            </a:xfrm>
            <a:custGeom>
              <a:avLst/>
              <a:gdLst>
                <a:gd name="connsiteX0" fmla="*/ 0 w 4240782"/>
                <a:gd name="connsiteY0" fmla="*/ 0 h 2156823"/>
                <a:gd name="connsiteX1" fmla="*/ 68515 w 4240782"/>
                <a:gd name="connsiteY1" fmla="*/ 76905 h 2156823"/>
                <a:gd name="connsiteX2" fmla="*/ 4079714 w 4240782"/>
                <a:gd name="connsiteY2" fmla="*/ 2073820 h 2156823"/>
                <a:gd name="connsiteX3" fmla="*/ 4240782 w 4240782"/>
                <a:gd name="connsiteY3" fmla="*/ 2094421 h 2156823"/>
                <a:gd name="connsiteX4" fmla="*/ 4240782 w 4240782"/>
                <a:gd name="connsiteY4" fmla="*/ 2156823 h 2156823"/>
                <a:gd name="connsiteX5" fmla="*/ 0 w 4240782"/>
                <a:gd name="connsiteY5" fmla="*/ 2156823 h 21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0782" h="2156823">
                  <a:moveTo>
                    <a:pt x="0" y="0"/>
                  </a:moveTo>
                  <a:lnTo>
                    <a:pt x="68515" y="76905"/>
                  </a:lnTo>
                  <a:cubicBezTo>
                    <a:pt x="1033738" y="1093943"/>
                    <a:pt x="2450119" y="1822913"/>
                    <a:pt x="4079714" y="2073820"/>
                  </a:cubicBezTo>
                  <a:lnTo>
                    <a:pt x="4240782" y="2094421"/>
                  </a:lnTo>
                  <a:lnTo>
                    <a:pt x="4240782" y="2156823"/>
                  </a:lnTo>
                  <a:lnTo>
                    <a:pt x="0" y="2156823"/>
                  </a:lnTo>
                  <a:close/>
                </a:path>
              </a:pathLst>
            </a:custGeom>
            <a:solidFill>
              <a:schemeClr val="bg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99369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209862" y="314793"/>
            <a:ext cx="1573967" cy="157396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1928673" y="432337"/>
            <a:ext cx="263327" cy="263327"/>
            <a:chOff x="4895945" y="3693531"/>
            <a:chExt cx="428427" cy="428427"/>
          </a:xfrm>
        </p:grpSpPr>
        <p:pic>
          <p:nvPicPr>
            <p:cNvPr id="11" name="图形 10" descr="原子 纯色填充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95945" y="3693531"/>
              <a:ext cx="428427" cy="428427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4910414" y="3708000"/>
              <a:ext cx="399488" cy="39948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>
            <a:stCxn id="12" idx="2"/>
          </p:cNvCxnSpPr>
          <p:nvPr userDrawn="1"/>
        </p:nvCxnSpPr>
        <p:spPr>
          <a:xfrm flipH="1">
            <a:off x="1993692" y="564000"/>
            <a:ext cx="994387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11814628" y="6480628"/>
            <a:ext cx="377372" cy="377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34208" r="72972" b="36065"/>
          <a:stretch>
            <a:fillRect/>
          </a:stretch>
        </p:blipFill>
        <p:spPr>
          <a:xfrm>
            <a:off x="115061" y="223741"/>
            <a:ext cx="1750120" cy="18098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57768" y="6484100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0235-FCB1-48AB-A9FC-1CCF94A11FE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E177-17A6-4AC7-9FC6-D2187A0A422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6DD2-2086-4C77-BF85-0EE5F9CD67A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63AC1-123D-4106-8645-88340AFEA9D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63AC1-123D-4106-8645-88340AFEA9D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63AC1-123D-4106-8645-88340AFEA9D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63AC1-123D-4106-8645-88340AFEA9D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7E8CF-E03C-45D9-8389-7709B256DA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image" Target="../media/image12.png"/><Relationship Id="rId5" Type="http://schemas.openxmlformats.org/officeDocument/2006/relationships/tags" Target="../tags/tag14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tags" Target="../tags/tag13.xml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1.xml"/><Relationship Id="rId4" Type="http://schemas.openxmlformats.org/officeDocument/2006/relationships/tags" Target="../tags/tag23.xml"/><Relationship Id="rId3" Type="http://schemas.openxmlformats.org/officeDocument/2006/relationships/image" Target="../media/image12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5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24.xml"/><Relationship Id="rId4" Type="http://schemas.openxmlformats.org/officeDocument/2006/relationships/image" Target="../media/image20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1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25.xml"/><Relationship Id="rId4" Type="http://schemas.openxmlformats.org/officeDocument/2006/relationships/image" Target="../media/image22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26.xml"/><Relationship Id="rId4" Type="http://schemas.openxmlformats.org/officeDocument/2006/relationships/image" Target="../media/image23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3.xml"/><Relationship Id="rId5" Type="http://schemas.openxmlformats.org/officeDocument/2006/relationships/tags" Target="../tags/tag27.xml"/><Relationship Id="rId4" Type="http://schemas.openxmlformats.org/officeDocument/2006/relationships/image" Target="../media/image24.png"/><Relationship Id="rId3" Type="http://schemas.openxmlformats.org/officeDocument/2006/relationships/image" Target="../media/image12.png"/><Relationship Id="rId2" Type="http://schemas.openxmlformats.org/officeDocument/2006/relationships/image" Target="../media/image14.sv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5.xml"/><Relationship Id="rId4" Type="http://schemas.openxmlformats.org/officeDocument/2006/relationships/tags" Target="../tags/tag28.xml"/><Relationship Id="rId3" Type="http://schemas.openxmlformats.org/officeDocument/2006/relationships/image" Target="../media/image12.png"/><Relationship Id="rId2" Type="http://schemas.openxmlformats.org/officeDocument/2006/relationships/image" Target="../media/image25.sv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941061" y="2734428"/>
            <a:ext cx="309880" cy="732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endParaRPr lang="zh-CN" altLang="en-US" sz="5400" b="1" dirty="0">
              <a:latin typeface="华文楷体" panose="02010600040101010101" charset="-122"/>
              <a:ea typeface="华文楷体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77" name="Line 11"/>
          <p:cNvSpPr>
            <a:spLocks noChangeShapeType="1"/>
          </p:cNvSpPr>
          <p:nvPr userDrawn="1"/>
        </p:nvSpPr>
        <p:spPr bwMode="auto">
          <a:xfrm flipH="1">
            <a:off x="2050357" y="4539130"/>
            <a:ext cx="8614410" cy="635"/>
          </a:xfrm>
          <a:prstGeom prst="line">
            <a:avLst/>
          </a:prstGeom>
          <a:solidFill>
            <a:schemeClr val="accent1">
              <a:alpha val="80000"/>
            </a:schemeClr>
          </a:solidFill>
          <a:ln w="44450" cap="flat">
            <a:gradFill>
              <a:gsLst>
                <a:gs pos="7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Line 11"/>
          <p:cNvSpPr>
            <a:spLocks noChangeShapeType="1"/>
          </p:cNvSpPr>
          <p:nvPr userDrawn="1"/>
        </p:nvSpPr>
        <p:spPr bwMode="auto">
          <a:xfrm flipH="1" flipV="1">
            <a:off x="2050357" y="4694070"/>
            <a:ext cx="8614410" cy="29845"/>
          </a:xfrm>
          <a:prstGeom prst="line">
            <a:avLst/>
          </a:prstGeom>
          <a:solidFill>
            <a:schemeClr val="accent1">
              <a:alpha val="80000"/>
            </a:schemeClr>
          </a:solidFill>
          <a:ln w="22225" cap="flat">
            <a:gradFill>
              <a:gsLst>
                <a:gs pos="7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" name="图片 3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675" y="0"/>
            <a:ext cx="9698990" cy="24460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91870" y="2191385"/>
            <a:ext cx="1041590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SecureGov-Agent: A Governance-Centric Multi-Agent Framework for Privacy-Preserving and Attack-Resilient LLM Agents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621280" y="4968013"/>
            <a:ext cx="6949440" cy="5219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汇报人：王孟嘉</a:t>
            </a:r>
            <a:endParaRPr lang="zh-CN" altLang="en-US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4871" y="3817075"/>
            <a:ext cx="1142538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SecureGov-Agent：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面向隐私保护与抗攻击的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智能体治理中心化多智能体框架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14235" y="2656342"/>
            <a:ext cx="189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4396" y="3684520"/>
            <a:ext cx="1617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sz="1600" b="1" spc="3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307990" y="1440145"/>
            <a:ext cx="5883819" cy="1746284"/>
            <a:chOff x="8540841" y="1065690"/>
            <a:chExt cx="5883819" cy="1746284"/>
          </a:xfrm>
        </p:grpSpPr>
        <p:sp>
          <p:nvSpPr>
            <p:cNvPr id="7" name="文本框 6"/>
            <p:cNvSpPr txBox="1"/>
            <p:nvPr/>
          </p:nvSpPr>
          <p:spPr>
            <a:xfrm>
              <a:off x="8540841" y="1065690"/>
              <a:ext cx="309880" cy="903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20000"/>
                </a:lnSpc>
              </a:pPr>
              <a:endParaRPr kumimoji="1" lang="zh-CN" altLang="en-US" sz="24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59801" y="1741858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kumimoji="1" lang="en-GB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2461" y="2517969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10000"/>
                </a:lnSpc>
                <a:defRPr kumimoji="1" sz="1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en-US" altLang="zh-CN" b="0" dirty="0"/>
            </a:p>
          </p:txBody>
        </p:sp>
      </p:grp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5743767" y="1811204"/>
            <a:ext cx="445654" cy="2894563"/>
            <a:chOff x="5878447" y="1504156"/>
            <a:chExt cx="445654" cy="2894563"/>
          </a:xfrm>
        </p:grpSpPr>
        <p:sp>
          <p:nvSpPr>
            <p:cNvPr id="8" name="椭圆 7"/>
            <p:cNvSpPr/>
            <p:nvPr>
              <p:custDataLst>
                <p:tags r:id="rId2"/>
              </p:custDataLst>
            </p:nvPr>
          </p:nvSpPr>
          <p:spPr>
            <a:xfrm>
              <a:off x="5878447" y="1504156"/>
              <a:ext cx="445654" cy="4456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>
              <p:custDataLst>
                <p:tags r:id="rId3"/>
              </p:custDataLst>
            </p:nvPr>
          </p:nvSpPr>
          <p:spPr>
            <a:xfrm>
              <a:off x="5878447" y="2320459"/>
              <a:ext cx="445654" cy="4456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>
              <p:custDataLst>
                <p:tags r:id="rId4"/>
              </p:custDataLst>
            </p:nvPr>
          </p:nvSpPr>
          <p:spPr>
            <a:xfrm>
              <a:off x="5878447" y="3136762"/>
              <a:ext cx="445654" cy="4456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>
              <p:custDataLst>
                <p:tags r:id="rId5"/>
              </p:custDataLst>
            </p:nvPr>
          </p:nvSpPr>
          <p:spPr>
            <a:xfrm>
              <a:off x="5878447" y="3953065"/>
              <a:ext cx="445654" cy="4456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8183245" y="152400"/>
            <a:ext cx="3898265" cy="1072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形式延展一横式-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080" y="0"/>
            <a:ext cx="5091430" cy="128397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6462930" y="1740254"/>
            <a:ext cx="374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基本信息</a:t>
            </a:r>
            <a:endParaRPr lang="zh-CN" altLang="en-US" sz="2800" dirty="0"/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6462930" y="2549941"/>
            <a:ext cx="3746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研究背景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6462930" y="3403305"/>
            <a:ext cx="2571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方案设计</a:t>
            </a:r>
            <a:endParaRPr lang="zh-CN" altLang="en-US" sz="2800" dirty="0"/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462930" y="4226106"/>
            <a:ext cx="35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结果和性能分析</a:t>
            </a:r>
            <a:endParaRPr lang="zh-CN" altLang="en-US" sz="2800" dirty="0"/>
          </a:p>
        </p:txBody>
      </p:sp>
      <p:sp>
        <p:nvSpPr>
          <p:cNvPr id="6" name="椭圆 5"/>
          <p:cNvSpPr/>
          <p:nvPr>
            <p:custDataLst>
              <p:tags r:id="rId11"/>
            </p:custDataLst>
          </p:nvPr>
        </p:nvSpPr>
        <p:spPr>
          <a:xfrm>
            <a:off x="5743767" y="5076416"/>
            <a:ext cx="445654" cy="4456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6462930" y="5037633"/>
            <a:ext cx="351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总结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dissolve/>
      </p:transition>
    </mc:Choice>
    <mc:Fallback>
      <p:transition spd="slow" advTm="3000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912424" y="2088123"/>
            <a:ext cx="5883819" cy="1746284"/>
            <a:chOff x="8540841" y="1065690"/>
            <a:chExt cx="5883819" cy="1746284"/>
          </a:xfrm>
        </p:grpSpPr>
        <p:sp>
          <p:nvSpPr>
            <p:cNvPr id="7" name="文本框 6"/>
            <p:cNvSpPr txBox="1"/>
            <p:nvPr/>
          </p:nvSpPr>
          <p:spPr>
            <a:xfrm>
              <a:off x="8540841" y="1065690"/>
              <a:ext cx="309880" cy="903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20000"/>
                </a:lnSpc>
              </a:pPr>
              <a:endParaRPr kumimoji="1" lang="zh-CN" altLang="en-US" sz="24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59801" y="1741858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kumimoji="1" lang="en-GB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2461" y="2517969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10000"/>
                </a:lnSpc>
                <a:defRPr kumimoji="1" sz="1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en-US" altLang="zh-CN" b="0" dirty="0"/>
            </a:p>
          </p:txBody>
        </p:sp>
      </p:grpSp>
      <p:sp>
        <p:nvSpPr>
          <p:cNvPr id="8" name="椭圆 7"/>
          <p:cNvSpPr/>
          <p:nvPr/>
        </p:nvSpPr>
        <p:spPr>
          <a:xfrm>
            <a:off x="4841904" y="2823663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83245" y="152400"/>
            <a:ext cx="3898265" cy="1072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080" y="0"/>
            <a:ext cx="5091430" cy="1283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31384" y="2764291"/>
            <a:ext cx="374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基本信息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dissolve/>
      </p:transition>
    </mc:Choice>
    <mc:Fallback>
      <p:transition spd="slow" advTm="3000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3748882" y="5461628"/>
            <a:ext cx="7024564" cy="695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515995" y="1313180"/>
            <a:ext cx="1685290" cy="3790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IEEE TIFS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84298" y="2299310"/>
            <a:ext cx="1740320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4298" y="2998285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124584" y="2343437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184297" y="369726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184297" y="4396235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8" name="等腰三角形 47"/>
          <p:cNvSpPr/>
          <p:nvPr>
            <p:custDataLst>
              <p:tags r:id="rId8"/>
            </p:custDataLst>
          </p:nvPr>
        </p:nvSpPr>
        <p:spPr>
          <a:xfrm>
            <a:off x="2538844" y="5397773"/>
            <a:ext cx="261529" cy="209866"/>
          </a:xfrm>
          <a:prstGeom prst="triangl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9"/>
            </p:custDataLst>
          </p:nvPr>
        </p:nvSpPr>
        <p:spPr>
          <a:xfrm>
            <a:off x="2326252" y="1313233"/>
            <a:ext cx="1272981" cy="37937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期刊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3521710" y="2075815"/>
            <a:ext cx="1597660" cy="3790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Jinyu Chen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  <p:sp>
        <p:nvSpPr>
          <p:cNvPr id="16" name="矩形: 圆角 15"/>
          <p:cNvSpPr/>
          <p:nvPr>
            <p:custDataLst>
              <p:tags r:id="rId10"/>
            </p:custDataLst>
          </p:nvPr>
        </p:nvSpPr>
        <p:spPr>
          <a:xfrm>
            <a:off x="2326253" y="2075816"/>
            <a:ext cx="1272980" cy="37937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作者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3516107" y="2833087"/>
            <a:ext cx="1556425" cy="3793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2025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" name="矩形: 圆角 17"/>
          <p:cNvSpPr/>
          <p:nvPr>
            <p:custDataLst>
              <p:tags r:id="rId11"/>
            </p:custDataLst>
          </p:nvPr>
        </p:nvSpPr>
        <p:spPr>
          <a:xfrm>
            <a:off x="2326253" y="2833088"/>
            <a:ext cx="1272980" cy="37937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发表时间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3510801" y="3588569"/>
            <a:ext cx="1561731" cy="3793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区</a:t>
            </a:r>
            <a:r>
              <a:rPr lang="en-US" altLang="zh-CN" b="1" dirty="0">
                <a:solidFill>
                  <a:schemeClr val="tx1"/>
                </a:solidFill>
              </a:rPr>
              <a:t>-Top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23" name="矩形: 圆角 22"/>
          <p:cNvSpPr/>
          <p:nvPr>
            <p:custDataLst>
              <p:tags r:id="rId12"/>
            </p:custDataLst>
          </p:nvPr>
        </p:nvSpPr>
        <p:spPr>
          <a:xfrm>
            <a:off x="2320946" y="3588570"/>
            <a:ext cx="1272981" cy="37937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分区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521413" y="4344050"/>
            <a:ext cx="1561731" cy="37937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6.3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6" name="矩形: 圆角 25"/>
          <p:cNvSpPr/>
          <p:nvPr>
            <p:custDataLst>
              <p:tags r:id="rId13"/>
            </p:custDataLst>
          </p:nvPr>
        </p:nvSpPr>
        <p:spPr>
          <a:xfrm>
            <a:off x="2331558" y="4344051"/>
            <a:ext cx="1272981" cy="37937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影响因子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986530" y="5730240"/>
            <a:ext cx="70281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多智能体系统；大语言模型；安全治理；隐私保护；对抗鲁棒性</a:t>
            </a:r>
            <a:endParaRPr lang="zh-CN" altLang="en-US" dirty="0"/>
          </a:p>
        </p:txBody>
      </p:sp>
      <p:sp>
        <p:nvSpPr>
          <p:cNvPr id="30" name="矩形: 圆角 29"/>
          <p:cNvSpPr/>
          <p:nvPr/>
        </p:nvSpPr>
        <p:spPr>
          <a:xfrm>
            <a:off x="3748883" y="5165441"/>
            <a:ext cx="7024563" cy="50747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关键词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24500" y="1445895"/>
            <a:ext cx="6300470" cy="1202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b="1" dirty="0"/>
              <a:t>SecureGov-Agent: A Governance-Centric Multi-Agent Framework for Privacy-Preserving and Attack-Resilient LLM Agent</a:t>
            </a:r>
            <a:endParaRPr lang="en-US" altLang="zh-CN" b="1" dirty="0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67198" y="-25739"/>
            <a:ext cx="3039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基本信息</a:t>
            </a:r>
            <a:endParaRPr lang="zh-CN" altLang="en-US" sz="36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4880610" y="3431540"/>
            <a:ext cx="65392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b="1">
                <a:sym typeface="+mn-ea"/>
              </a:rPr>
              <a:t>领域：</a:t>
            </a:r>
            <a:r>
              <a:rPr lang="en-US" altLang="zh-CN" b="1">
                <a:sym typeface="+mn-ea"/>
              </a:rPr>
              <a:t>LLM</a:t>
            </a:r>
            <a:r>
              <a:rPr lang="zh-CN" altLang="en-US" b="1">
                <a:sym typeface="+mn-ea"/>
              </a:rPr>
              <a:t>多智能体系统、安全治理、隐私保护、对抗鲁棒性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24500" y="2507615"/>
            <a:ext cx="5654675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ym typeface="+mn-ea"/>
              </a:rPr>
              <a:t>SecureGov-Agent：</a:t>
            </a:r>
            <a:r>
              <a:rPr lang="en-US" altLang="zh-CN" b="1" dirty="0">
                <a:sym typeface="+mn-ea"/>
              </a:rPr>
              <a:t>面向隐私保护与抗攻击的 </a:t>
            </a:r>
            <a:r>
              <a:rPr lang="en-US" altLang="zh-CN" b="1" dirty="0">
                <a:sym typeface="+mn-ea"/>
              </a:rPr>
              <a:t>LLM </a:t>
            </a:r>
            <a:r>
              <a:rPr lang="en-US" altLang="zh-CN" b="1" dirty="0">
                <a:sym typeface="+mn-ea"/>
              </a:rPr>
              <a:t>智能体治理中心化多智能体框架</a:t>
            </a:r>
            <a:endParaRPr lang="en-US" altLang="zh-CN" b="1" dirty="0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80610" y="4244340"/>
            <a:ext cx="65392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zh-CN" b="1">
                <a:sym typeface="+mn-ea"/>
              </a:rPr>
              <a:t>创新点</a:t>
            </a:r>
            <a:r>
              <a:rPr b="1">
                <a:sym typeface="+mn-ea"/>
              </a:rPr>
              <a:t>：</a:t>
            </a:r>
            <a:r>
              <a:rPr lang="zh-CN" altLang="en-US" b="1">
                <a:sym typeface="+mn-ea"/>
              </a:rPr>
              <a:t>首次提出“治理中心化”架构，通过专用治理智能体统一监控通信、审计工具调用、执行安全策略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912424" y="2088123"/>
            <a:ext cx="5883819" cy="1746284"/>
            <a:chOff x="8540841" y="1065690"/>
            <a:chExt cx="5883819" cy="1746284"/>
          </a:xfrm>
        </p:grpSpPr>
        <p:sp>
          <p:nvSpPr>
            <p:cNvPr id="7" name="文本框 6"/>
            <p:cNvSpPr txBox="1"/>
            <p:nvPr/>
          </p:nvSpPr>
          <p:spPr>
            <a:xfrm>
              <a:off x="8540841" y="1065690"/>
              <a:ext cx="309880" cy="903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20000"/>
                </a:lnSpc>
              </a:pPr>
              <a:endParaRPr kumimoji="1" lang="zh-CN" altLang="en-US" sz="24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59801" y="1741858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kumimoji="1" lang="en-GB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2461" y="2517969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10000"/>
                </a:lnSpc>
                <a:defRPr kumimoji="1" sz="1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en-US" altLang="zh-CN" b="0" dirty="0"/>
            </a:p>
          </p:txBody>
        </p:sp>
      </p:grpSp>
      <p:sp>
        <p:nvSpPr>
          <p:cNvPr id="8" name="椭圆 7"/>
          <p:cNvSpPr/>
          <p:nvPr/>
        </p:nvSpPr>
        <p:spPr>
          <a:xfrm>
            <a:off x="4841904" y="2823663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83245" y="152400"/>
            <a:ext cx="3898265" cy="1072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080" y="0"/>
            <a:ext cx="5091430" cy="1283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31384" y="2764291"/>
            <a:ext cx="374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研究背景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dissolve/>
      </p:transition>
    </mc:Choice>
    <mc:Fallback>
      <p:transition spd="slow" advTm="3000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13792" y="3077233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84297" y="369726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84297" y="4396235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1501" y="1356908"/>
            <a:ext cx="77565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0171" y="3030220"/>
            <a:ext cx="1740320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01874" y="714075"/>
            <a:ext cx="9516174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数据/应用背景：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LLM</a:t>
            </a:r>
            <a:r>
              <a:rPr lang="zh-CN" altLang="en-US" sz="2400" dirty="0"/>
              <a:t>多智能体系统在医疗、金融、文档处理等领域展现强大能力，但面临三大类安全威胁：</a:t>
            </a:r>
            <a:endParaRPr lang="en-US" altLang="zh-CN" sz="2400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后门攻击：攻击者在微调阶段植入后门，特定输入触发恶意行为</a:t>
            </a:r>
            <a:endParaRPr lang="en-US" altLang="zh-CN" sz="2400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提示注入：恶意指令覆盖模型原本行为（如间接注入、跨智能体感染）</a:t>
            </a:r>
            <a:endParaRPr lang="en-US" altLang="zh-CN" sz="2400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隐私泄露：模型在执行任务时意外暴露敏感信息（医疗记录、财务数据）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67230" y="-26035"/>
            <a:ext cx="8083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研究背景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多智能体系统的安全威胁</a:t>
            </a:r>
            <a:endParaRPr lang="zh-CN" altLang="en-US" sz="3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1850" y="4707255"/>
            <a:ext cx="93859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核心痛点：</a:t>
            </a:r>
            <a:endParaRPr lang="zh-CN" altLang="en-US" sz="2400" b="1" dirty="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现有防御机制仅针对单一攻击向量（如输入过滤或后门微调），缺乏统一治理架构，无法应对复合型、跨智能体的协同攻击。</a:t>
            </a:r>
            <a:endParaRPr lang="zh-CN" altLang="en-US" sz="2400" dirty="0"/>
          </a:p>
        </p:txBody>
      </p:sp>
    </p:spTree>
  </p:cSld>
  <p:clrMapOvr>
    <a:masterClrMapping/>
  </p:clrMapOvr>
  <p:transition spd="slow">
    <p:wheel spokes="8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13792" y="3077233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84297" y="369726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84297" y="4396235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1501" y="1356908"/>
            <a:ext cx="77565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0171" y="3030220"/>
            <a:ext cx="1740320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67230" y="-26035"/>
            <a:ext cx="8083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研究背景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现有方案不足</a:t>
            </a:r>
            <a:endParaRPr lang="zh-CN" altLang="en-US" sz="3600" b="1" dirty="0"/>
          </a:p>
        </p:txBody>
      </p:sp>
      <p:graphicFrame>
        <p:nvGraphicFramePr>
          <p:cNvPr id="2" name="表格 1"/>
          <p:cNvGraphicFramePr/>
          <p:nvPr>
            <p:custDataLst>
              <p:tags r:id="rId4"/>
            </p:custDataLst>
          </p:nvPr>
        </p:nvGraphicFramePr>
        <p:xfrm>
          <a:off x="2461260" y="1029335"/>
          <a:ext cx="8978265" cy="3602355"/>
        </p:xfrm>
        <a:graphic>
          <a:graphicData uri="http://schemas.openxmlformats.org/drawingml/2006/table">
            <a:tbl>
              <a:tblPr/>
              <a:tblGrid>
                <a:gridCol w="2848610"/>
                <a:gridCol w="2453005"/>
                <a:gridCol w="3676650"/>
              </a:tblGrid>
              <a:tr h="49974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方法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代表性工作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主要缺陷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7747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模型级防御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对抗训练、输入过滤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仅处理单类攻击，忽略系统级交互风险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597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多智能体辩论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AutoDefense</a:t>
                      </a:r>
                      <a:endParaRPr lang="en-US" altLang="zh-CN" sz="1800" b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高延迟（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5-8</a:t>
                      </a: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轮对话），未报告隐私保护能力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597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分层数据管理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AgentSafe</a:t>
                      </a:r>
                      <a:endParaRPr lang="en-US" altLang="zh-CN" sz="1800" b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隐私泄漏率仍达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18.2%</a:t>
                      </a: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，攻击成功率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19.3%</a:t>
                      </a:r>
                      <a:endParaRPr lang="en-US" altLang="zh-CN" sz="1800" b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597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</a:rPr>
                        <a:t>无防护基线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原生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GPT-4</a:t>
                      </a: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智能体</a:t>
                      </a:r>
                      <a:endParaRPr lang="zh-CN" altLang="en-US" sz="1800" b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攻击成功率高达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65.3%</a:t>
                      </a:r>
                      <a:r>
                        <a:rPr lang="zh-CN" altLang="en-US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，隐私泄漏率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仿宋" panose="02010609060101010101" charset="-122"/>
                          <a:cs typeface="Times New Roman" panose="02020603050405020304" pitchFamily="18" charset="0"/>
                        </a:rPr>
                        <a:t>42.3%</a:t>
                      </a:r>
                      <a:endParaRPr lang="en-US" altLang="zh-CN" sz="1800" b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326005" y="4947285"/>
            <a:ext cx="911352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sz="2000" b="1" i="0">
                <a:solidFill>
                  <a:srgbClr val="0F1115"/>
                </a:solidFill>
                <a:latin typeface="quote-cjk-patch"/>
                <a:ea typeface="quote-cjk-patch"/>
              </a:rPr>
              <a:t>关键缺口</a:t>
            </a:r>
            <a:r>
              <a:rPr lang="zh-CN" altLang="en-US" sz="2000" b="0" i="0">
                <a:solidFill>
                  <a:srgbClr val="0F1115"/>
                </a:solidFill>
                <a:latin typeface="quote-cjk-patch"/>
                <a:ea typeface="quote-cjk-patch"/>
              </a:rPr>
              <a:t>：缺少一个同时抵御后门攻击、提示注入、隐私泄露，且保持低延迟、高任务成功率的统一治理框架。</a:t>
            </a:r>
            <a:endParaRPr lang="zh-CN" altLang="en-US" sz="20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912424" y="2088123"/>
            <a:ext cx="5883819" cy="1746284"/>
            <a:chOff x="8540841" y="1065690"/>
            <a:chExt cx="5883819" cy="1746284"/>
          </a:xfrm>
        </p:grpSpPr>
        <p:sp>
          <p:nvSpPr>
            <p:cNvPr id="7" name="文本框 6"/>
            <p:cNvSpPr txBox="1"/>
            <p:nvPr/>
          </p:nvSpPr>
          <p:spPr>
            <a:xfrm>
              <a:off x="8540841" y="1065690"/>
              <a:ext cx="309880" cy="903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20000"/>
                </a:lnSpc>
              </a:pPr>
              <a:endParaRPr kumimoji="1" lang="zh-CN" altLang="en-US" sz="24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59801" y="1741858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kumimoji="1" lang="en-GB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2461" y="2517969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10000"/>
                </a:lnSpc>
                <a:defRPr kumimoji="1" sz="1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en-US" altLang="zh-CN" b="0" dirty="0"/>
            </a:p>
          </p:txBody>
        </p:sp>
      </p:grpSp>
      <p:sp>
        <p:nvSpPr>
          <p:cNvPr id="8" name="椭圆 7"/>
          <p:cNvSpPr/>
          <p:nvPr/>
        </p:nvSpPr>
        <p:spPr>
          <a:xfrm>
            <a:off x="4841904" y="2823663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83245" y="152400"/>
            <a:ext cx="3898265" cy="1072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080" y="0"/>
            <a:ext cx="5091430" cy="1283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31384" y="2764291"/>
            <a:ext cx="374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方案设计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dissolve/>
      </p:transition>
    </mc:Choice>
    <mc:Fallback>
      <p:transition spd="slow" advTm="3000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18689" y="3769195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84297" y="4396235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9" y="3721517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方案设计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8852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方案设计</a:t>
            </a:r>
            <a:r>
              <a:rPr lang="en-US" altLang="zh-CN" sz="3600" b="1" dirty="0"/>
              <a:t>—SecureGov-Agent </a:t>
            </a:r>
            <a:r>
              <a:rPr lang="zh-CN" altLang="en-US" sz="3600" b="1" dirty="0"/>
              <a:t>框架总览</a:t>
            </a:r>
            <a:endParaRPr lang="zh-CN" altLang="en-US" sz="36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2082583" y="620592"/>
            <a:ext cx="9929247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ea typeface="Cambria Math" panose="02040503050406030204" pitchFamily="18" charset="0"/>
              </a:rPr>
              <a:t>核心灵感来源：</a:t>
            </a:r>
            <a:endParaRPr lang="zh-CN" altLang="en-US" sz="2400" b="1" dirty="0">
              <a:ea typeface="Cambria Math" panose="02040503050406030204" pitchFamily="18" charset="0"/>
            </a:endParaRPr>
          </a:p>
          <a:p>
            <a:r>
              <a:rPr lang="zh-CN" altLang="en-US" sz="2400" dirty="0">
                <a:ea typeface="Cambria Math" panose="02040503050406030204" pitchFamily="18" charset="0"/>
              </a:rPr>
              <a:t>“治理中心化” — 类比机场安检系统，所有通信必经一个“安全网关”统一监控与决策。</a:t>
            </a:r>
            <a:endParaRPr lang="zh-CN" altLang="en-US" sz="2400" dirty="0">
              <a:ea typeface="Cambria Math" panose="0204050305040603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82800" y="2259965"/>
            <a:ext cx="46304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ea typeface="Cambria Math" panose="02040503050406030204" pitchFamily="18" charset="0"/>
              </a:rPr>
              <a:t>四大创新模块：</a:t>
            </a:r>
            <a:endParaRPr lang="zh-CN" altLang="en-US" sz="2400" b="1" dirty="0">
              <a:ea typeface="Cambria Math" panose="02040503050406030204" pitchFamily="18" charset="0"/>
            </a:endParaRPr>
          </a:p>
          <a:p>
            <a:r>
              <a:rPr lang="zh-CN" altLang="en-US" sz="2400" b="1" dirty="0">
                <a:ea typeface="Cambria Math" panose="02040503050406030204" pitchFamily="18" charset="0"/>
              </a:rPr>
              <a:t>治理智能体（</a:t>
            </a:r>
            <a:r>
              <a:rPr lang="en-US" altLang="zh-CN" sz="2400" b="1" dirty="0">
                <a:ea typeface="Cambria Math" panose="02040503050406030204" pitchFamily="18" charset="0"/>
              </a:rPr>
              <a:t>Governance Agent）</a:t>
            </a:r>
            <a:r>
              <a:rPr lang="en-US" altLang="zh-CN" sz="2400" dirty="0">
                <a:ea typeface="Cambria Math" panose="02040503050406030204" pitchFamily="18" charset="0"/>
              </a:rPr>
              <a:t>：</a:t>
            </a:r>
            <a:r>
              <a:rPr lang="zh-CN" altLang="en-US" sz="2400" dirty="0">
                <a:ea typeface="Cambria Math" panose="02040503050406030204" pitchFamily="18" charset="0"/>
              </a:rPr>
              <a:t>负责监控所有通信、审计工具调用、执行策略</a:t>
            </a:r>
            <a:endParaRPr lang="en-US" altLang="zh-CN" sz="2400" dirty="0">
              <a:ea typeface="Cambria Math" panose="02040503050406030204" pitchFamily="18" charset="0"/>
            </a:endParaRPr>
          </a:p>
          <a:p>
            <a:r>
              <a:rPr lang="zh-CN" altLang="en-US" sz="2400" b="1" dirty="0">
                <a:ea typeface="Cambria Math" panose="02040503050406030204" pitchFamily="18" charset="0"/>
              </a:rPr>
              <a:t>多视角风险评分：</a:t>
            </a:r>
            <a:r>
              <a:rPr lang="zh-CN" altLang="en-US" sz="2400" dirty="0">
                <a:ea typeface="Cambria Math" panose="02040503050406030204" pitchFamily="18" charset="0"/>
              </a:rPr>
              <a:t>内容风险 + 隐私风险 + 行为风险 → 综合评分</a:t>
            </a:r>
            <a:endParaRPr lang="en-US" altLang="zh-CN" sz="2400" dirty="0">
              <a:ea typeface="Cambria Math" panose="02040503050406030204" pitchFamily="18" charset="0"/>
            </a:endParaRPr>
          </a:p>
          <a:p>
            <a:r>
              <a:rPr lang="zh-CN" altLang="en-US" sz="2400" b="1" dirty="0">
                <a:ea typeface="Cambria Math" panose="02040503050406030204" pitchFamily="18" charset="0"/>
              </a:rPr>
              <a:t>分级响应机制：</a:t>
            </a:r>
            <a:r>
              <a:rPr lang="zh-CN" altLang="en-US" sz="2400" dirty="0">
                <a:ea typeface="Cambria Math" panose="02040503050406030204" pitchFamily="18" charset="0"/>
              </a:rPr>
              <a:t>允许 → 二次确认 → 隔离 → 阻止</a:t>
            </a:r>
            <a:endParaRPr lang="en-US" altLang="zh-CN" sz="2400" dirty="0">
              <a:ea typeface="Cambria Math" panose="02040503050406030204" pitchFamily="18" charset="0"/>
            </a:endParaRPr>
          </a:p>
          <a:p>
            <a:r>
              <a:rPr lang="zh-CN" altLang="en-US" sz="2400" b="1" dirty="0">
                <a:ea typeface="Cambria Math" panose="02040503050406030204" pitchFamily="18" charset="0"/>
              </a:rPr>
              <a:t>对抗训练管道：</a:t>
            </a:r>
            <a:r>
              <a:rPr lang="zh-CN" altLang="en-US" sz="2400" dirty="0">
                <a:ea typeface="Cambria Math" panose="02040503050406030204" pitchFamily="18" charset="0"/>
              </a:rPr>
              <a:t>合成攻击场景，提升检测鲁棒性。</a:t>
            </a:r>
            <a:endParaRPr lang="zh-CN" altLang="en-US" sz="2400" dirty="0">
              <a:ea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890" y="2331720"/>
            <a:ext cx="5271770" cy="3824605"/>
          </a:xfrm>
          <a:prstGeom prst="rect">
            <a:avLst/>
          </a:prstGeom>
        </p:spPr>
      </p:pic>
    </p:spTree>
  </p:cSld>
  <p:clrMapOvr>
    <a:masterClrMapping/>
  </p:clrMapOvr>
  <p:transition spd="slow">
    <p:wheel spokes="8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0457" y="3769195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84297" y="4396235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9" y="3721517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方案设计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10595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方案设计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模块</a:t>
            </a:r>
            <a:r>
              <a:rPr lang="en-US" altLang="zh-CN" sz="3600" b="1" dirty="0"/>
              <a:t> 1</a:t>
            </a:r>
            <a:r>
              <a:rPr lang="zh-CN" altLang="en-US" sz="3600" b="1" dirty="0"/>
              <a:t>：治理智能体与多视角风险评分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081530" y="682625"/>
            <a:ext cx="49218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治理智能体职责：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拦截所有智能体间消息和工具调用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调用风险评分模块 → 根据阈值执行动作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无需修改现有任务智能体，即插即用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165" y="2867660"/>
            <a:ext cx="9715500" cy="34575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55435" y="707390"/>
            <a:ext cx="49218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多视角风险评分公式：</a:t>
            </a:r>
            <a:endParaRPr lang="zh-CN" altLang="en-US" sz="20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5915" y="682625"/>
            <a:ext cx="2571750" cy="4191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025" y="1101725"/>
            <a:ext cx="3990975" cy="4000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82435" y="1448435"/>
            <a:ext cx="49218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内容风险 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​：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LLM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嵌入+分类器检测恶意语义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隐私风险 ：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命名实体识别 + 敏感度加权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行为风险 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KL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散度比较观测行为与预期行为分布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11221" y="3769195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84297" y="4396235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9" y="3721517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方案设计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198" y="-25739"/>
            <a:ext cx="984611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方案设计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模块</a:t>
            </a:r>
            <a:r>
              <a:rPr lang="en-US" altLang="zh-CN" sz="3600" b="1" dirty="0"/>
              <a:t> 2</a:t>
            </a:r>
            <a:r>
              <a:rPr lang="zh-CN" altLang="en-US" sz="3600" b="1" dirty="0"/>
              <a:t>：分级响应与对抗训练</a:t>
            </a:r>
            <a:endParaRPr lang="zh-CN" altLang="en-US" sz="36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125" y="3923665"/>
            <a:ext cx="5600700" cy="1762125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5"/>
            </p:custDataLst>
          </p:nvPr>
        </p:nvGraphicFramePr>
        <p:xfrm>
          <a:off x="2405380" y="868045"/>
          <a:ext cx="7802880" cy="2766060"/>
        </p:xfrm>
        <a:graphic>
          <a:graphicData uri="http://schemas.openxmlformats.org/drawingml/2006/table">
            <a:tbl>
              <a:tblPr/>
              <a:tblGrid>
                <a:gridCol w="2600960"/>
                <a:gridCol w="2600960"/>
                <a:gridCol w="2600960"/>
              </a:tblGrid>
              <a:tr h="337185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风险区间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动作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说明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pPr marL="0" indent="0"/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R&lt;0.3</a:t>
                      </a:r>
                      <a:r>
                        <a:rPr lang="en-US" altLang="zh-CN" sz="2000" b="0" i="1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&lt;0.3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允许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直接放行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5810">
                <a:tc>
                  <a:txBody>
                    <a:bodyPr/>
                    <a:p>
                      <a:pPr marL="0" indent="0"/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0.3≤R&lt;0.60.3≤</a:t>
                      </a:r>
                      <a:r>
                        <a:rPr lang="en-US" altLang="zh-CN" sz="2000" b="0" i="1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&lt;0.6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二次确认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调用独立</a:t>
                      </a: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LLM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验证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5175">
                <a:tc>
                  <a:txBody>
                    <a:bodyPr/>
                    <a:p>
                      <a:pPr marL="0" indent="0"/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0.6≤R&lt;0.80.6≤</a:t>
                      </a:r>
                      <a:r>
                        <a:rPr lang="en-US" altLang="zh-CN" sz="2000" b="0" i="1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&lt;0.8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隔离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人工审核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pPr marL="0" indent="0"/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R≥0.8</a:t>
                      </a:r>
                      <a:r>
                        <a:rPr lang="en-US" altLang="zh-CN" sz="2000" b="0" i="1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≥0.8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阻止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拦截并记录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heel spokes="8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912424" y="2088123"/>
            <a:ext cx="5883819" cy="1746284"/>
            <a:chOff x="8540841" y="1065690"/>
            <a:chExt cx="5883819" cy="1746284"/>
          </a:xfrm>
        </p:grpSpPr>
        <p:sp>
          <p:nvSpPr>
            <p:cNvPr id="7" name="文本框 6"/>
            <p:cNvSpPr txBox="1"/>
            <p:nvPr/>
          </p:nvSpPr>
          <p:spPr>
            <a:xfrm>
              <a:off x="8540841" y="1065690"/>
              <a:ext cx="309880" cy="903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20000"/>
                </a:lnSpc>
              </a:pPr>
              <a:endParaRPr kumimoji="1" lang="zh-CN" altLang="en-US" sz="24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59801" y="1741858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kumimoji="1" lang="en-GB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2461" y="2517969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10000"/>
                </a:lnSpc>
                <a:defRPr kumimoji="1" sz="1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en-US" altLang="zh-CN" b="0" dirty="0"/>
            </a:p>
          </p:txBody>
        </p:sp>
      </p:grpSp>
      <p:sp>
        <p:nvSpPr>
          <p:cNvPr id="8" name="椭圆 7"/>
          <p:cNvSpPr/>
          <p:nvPr/>
        </p:nvSpPr>
        <p:spPr>
          <a:xfrm>
            <a:off x="4841904" y="2823663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83245" y="152400"/>
            <a:ext cx="3898265" cy="1072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080" y="0"/>
            <a:ext cx="5091430" cy="1283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31383" y="2764291"/>
            <a:ext cx="4496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结果与性能分析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dissolve/>
      </p:transition>
    </mc:Choice>
    <mc:Fallback>
      <p:transition spd="slow" advTm="3000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4428861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6" y="4381183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结果与性能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9947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结果与性能</a:t>
            </a:r>
            <a:r>
              <a:rPr lang="en-US" altLang="zh-CN" sz="3600" b="1" dirty="0"/>
              <a:t>—</a:t>
            </a:r>
            <a:r>
              <a:rPr lang="zh-CN" altLang="en-US" sz="3600" b="1" dirty="0"/>
              <a:t>实验设计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6150" y="918210"/>
            <a:ext cx="9450705" cy="43999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应用场景：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医疗咨询（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MedAgentBench，300</a:t>
            </a: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个患者任务，70万+数据项）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金融咨询（模拟组合分析、风险评估）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文档处理（敏感企业文档提取与生成）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sz="1600" b="1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攻击类别</a:t>
            </a: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（6类，衍生自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InjeAgent/PrivacyLens）：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后门提示、直接注入、间接注入、数据外泄、工具滥用、跨智能体攻击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对比基线：</a:t>
            </a:r>
            <a:endParaRPr lang="en-US" altLang="zh-CN" sz="1600" b="1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无防御、基于规则、单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LLM</a:t>
            </a: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评判、多智能体辩论（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AutoDefense）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评价指标：</a:t>
            </a:r>
            <a:endParaRPr lang="en-US" altLang="zh-CN" sz="1600" b="1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攻击成功率（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ASR）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隐私泄漏率（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PLR）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任务成功率（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TSR）</a:t>
            </a: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延迟开销（相对基线）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4428861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6" y="4381183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结果与性能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10707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结果—攻击抵抗性能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73300" y="970280"/>
            <a:ext cx="4946015" cy="530352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700" b="1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核心结果：</a:t>
            </a:r>
            <a:endParaRPr lang="en-US" altLang="zh-CN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平均攻击成功率降低 73.2%（从65.3% → 17.8%）</a:t>
            </a:r>
            <a:endParaRPr lang="en-US" altLang="zh-CN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跨智能体攻击降低最显著：65.3% → 14.1%（得益于集中监控）</a:t>
            </a:r>
            <a:endParaRPr lang="en-US" altLang="zh-CN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后门提示攻击残留最高（18.2%），因触发模式可能伪装为正常指令</a:t>
            </a:r>
            <a:endParaRPr lang="zh-CN" altLang="en-US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endParaRPr lang="en-US" altLang="zh-CN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700" b="1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对比说明：</a:t>
            </a:r>
            <a:endParaRPr lang="en-US" altLang="zh-CN" sz="1700" b="1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en-US" altLang="zh-CN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AutoDefense </a:t>
            </a:r>
            <a:r>
              <a:rPr lang="zh-CN" altLang="en-US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可达到更低的</a:t>
            </a:r>
            <a:r>
              <a:rPr lang="en-US" altLang="zh-CN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ASR（7.95%），</a:t>
            </a:r>
            <a:r>
              <a:rPr lang="zh-CN" altLang="en-US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但其依赖5-8轮对话，延迟高3-4倍，且未报告隐私保护能力</a:t>
            </a:r>
            <a:endParaRPr lang="en-US" altLang="zh-CN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1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en-US" altLang="zh-CN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SecureGov-Agent </a:t>
            </a:r>
            <a:r>
              <a:rPr lang="zh-CN" altLang="en-US" sz="17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在攻击阻断、隐私、效率三者之间取得最佳平衡</a:t>
            </a:r>
            <a:endParaRPr lang="zh-CN" altLang="en-US" sz="17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315" y="1136015"/>
            <a:ext cx="4803140" cy="3597910"/>
          </a:xfrm>
          <a:prstGeom prst="rect">
            <a:avLst/>
          </a:prstGeom>
        </p:spPr>
      </p:pic>
    </p:spTree>
  </p:cSld>
  <p:clrMapOvr>
    <a:masterClrMapping/>
  </p:clrMapOvr>
  <p:transition spd="slow">
    <p:wheel spokes="8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4428861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6" y="4381183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结果与性能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8695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结果—隐私保护性能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975" y="3278505"/>
            <a:ext cx="5328285" cy="3294380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5"/>
            </p:custDataLst>
          </p:nvPr>
        </p:nvGraphicFramePr>
        <p:xfrm>
          <a:off x="2764790" y="753745"/>
          <a:ext cx="8153400" cy="2639060"/>
        </p:xfrm>
        <a:graphic>
          <a:graphicData uri="http://schemas.openxmlformats.org/drawingml/2006/table">
            <a:tbl>
              <a:tblPr/>
              <a:tblGrid>
                <a:gridCol w="1630680"/>
                <a:gridCol w="1630680"/>
                <a:gridCol w="1630680"/>
                <a:gridCol w="1630680"/>
                <a:gridCol w="1630680"/>
              </a:tblGrid>
              <a:tr h="659765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场景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无防御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规则过滤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LLM-Judge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SecureGov-Agent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65976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医疗咨询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42.3%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28.7%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19.2%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8.4%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976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金融咨询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38.1%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25.4%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17.6%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7.2%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976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文档处理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31.2%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21.3%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13.5%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5.8%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762240" y="3716020"/>
            <a:ext cx="3496945" cy="16713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结论：</a:t>
            </a:r>
            <a:endParaRPr lang="zh-CN" altLang="en-US" sz="1600" b="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平均隐私泄漏率降低</a:t>
            </a:r>
            <a:r>
              <a:rPr lang="en-US" altLang="zh-CN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 81.4%</a:t>
            </a:r>
            <a:r>
              <a:rPr lang="zh-CN" altLang="en-US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（相比无防御）</a:t>
            </a:r>
            <a:endParaRPr lang="zh-CN" altLang="en-US" sz="1600" b="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最终整体</a:t>
            </a:r>
            <a:r>
              <a:rPr lang="en-US" altLang="zh-CN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PLR = 6.8%</a:t>
            </a:r>
            <a:r>
              <a:rPr lang="zh-CN" altLang="en-US" sz="1600" b="0" i="0">
                <a:solidFill>
                  <a:srgbClr val="0F111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（所有对比方法中最低）</a:t>
            </a:r>
            <a:endParaRPr lang="zh-CN" altLang="en-US" sz="1600" b="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0" i="0">
              <a:solidFill>
                <a:srgbClr val="0F1115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4428861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6" y="4381183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结果与性能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8554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结果—任务完成与开销权衡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93290" y="4128135"/>
            <a:ext cx="9600565" cy="1706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关键权衡：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仅损失4.5个百分点任务成功率，换取78.5%防御有效性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延迟开销（15.3%）远低于多智能体辩论（42.8%），适合实时应用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645" y="892810"/>
            <a:ext cx="4964430" cy="3276600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5"/>
            </p:custDataLst>
          </p:nvPr>
        </p:nvGraphicFramePr>
        <p:xfrm>
          <a:off x="2127885" y="1139190"/>
          <a:ext cx="5064760" cy="2437130"/>
        </p:xfrm>
        <a:graphic>
          <a:graphicData uri="http://schemas.openxmlformats.org/drawingml/2006/table">
            <a:tbl>
              <a:tblPr/>
              <a:tblGrid>
                <a:gridCol w="1266190"/>
                <a:gridCol w="1266190"/>
                <a:gridCol w="1266190"/>
                <a:gridCol w="1266190"/>
              </a:tblGrid>
              <a:tr h="49657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方法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任务成功率 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↑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延迟开销 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↓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防御有效性 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↑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无防御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94.2%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0%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规则过滤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91.5%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4.8%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34.2%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LLM-Judge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90.3%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11.2%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58.7%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多智能体辩论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85.6%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42.8%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72.3%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70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SecureGov-Agent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89.7%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15.3%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78.5%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heel spokes="8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4428861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6" y="4381183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结果与性能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8554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结果—消融研究与对抗训练效果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93290" y="4497070"/>
            <a:ext cx="9600565" cy="6457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endParaRPr lang="en-US" altLang="zh-CN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结论：隐私检测器和内容分析器是框架最关键组件；对抗训练带来约8.7个百分点的攻击阻断提升。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405" y="686435"/>
            <a:ext cx="5531485" cy="3742690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5"/>
            </p:custDataLst>
          </p:nvPr>
        </p:nvGraphicFramePr>
        <p:xfrm>
          <a:off x="7510780" y="1096645"/>
          <a:ext cx="4425315" cy="2479675"/>
        </p:xfrm>
        <a:graphic>
          <a:graphicData uri="http://schemas.openxmlformats.org/drawingml/2006/table">
            <a:tbl>
              <a:tblPr/>
              <a:tblGrid>
                <a:gridCol w="1475105"/>
                <a:gridCol w="1475105"/>
                <a:gridCol w="1475105"/>
              </a:tblGrid>
              <a:tr h="495935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移除模块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攻击成功率上升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隐私泄漏率上升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9593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隐私检测器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+8.7%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+19.2%</a:t>
                      </a: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（最严重）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93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内容分析器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+16.2%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+5.4%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93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对抗训练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+8.7%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+4.1%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93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策略数据库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+7.3%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+13.1%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heel spokes="8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4428861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826" y="4381183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结果与性能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170" y="5100982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230" y="-26035"/>
            <a:ext cx="8554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结果—与现有基准对比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93290" y="4709160"/>
            <a:ext cx="9600565" cy="11836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核心优势：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ts val="1800"/>
              </a:lnSpc>
              <a:spcBef>
                <a:spcPts val="90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SecureGov-Agent </a:t>
            </a: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的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ASR</a:t>
            </a: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不是最低，但隐私保护最优（6.8% </a:t>
            </a:r>
            <a:r>
              <a:rPr lang="en-US" altLang="zh-CN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PLR），</a:t>
            </a:r>
            <a:r>
              <a:rPr lang="zh-CN" altLang="en-US" sz="1600" b="0" i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且开销最小，适用于隐私敏感、需要实时响应的生产环境。</a:t>
            </a:r>
            <a:endParaRPr lang="zh-CN" altLang="en-US" sz="1600" b="0" i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2434590" y="910590"/>
          <a:ext cx="8903970" cy="3512185"/>
        </p:xfrm>
        <a:graphic>
          <a:graphicData uri="http://schemas.openxmlformats.org/drawingml/2006/table">
            <a:tbl>
              <a:tblPr/>
              <a:tblGrid>
                <a:gridCol w="1483995"/>
                <a:gridCol w="1483995"/>
                <a:gridCol w="1483995"/>
                <a:gridCol w="1483995"/>
                <a:gridCol w="1483995"/>
                <a:gridCol w="1483995"/>
              </a:tblGrid>
              <a:tr h="56261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方法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ASR ↓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PLR ↓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TSR ↑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延迟开销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备注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5626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InjeAgent (GPT-4)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24.0%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—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91.2%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低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仅对抗提示注入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26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PrivacyLens (GPT-4)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—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25.7%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87.5%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低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仅隐私保护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913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AutoDefense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7.95%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未报告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88.4%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极高（</a:t>
                      </a: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~3-4</a:t>
                      </a: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倍）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多轮辩论，攻击阻断最优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26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AgentSafe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19.3%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18.2%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86.7%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中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分层数据管理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261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SecureGov-Agent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17.8%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6.8%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89.7%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  <a:cs typeface="Times New Roman" panose="02020603050405020304" pitchFamily="18" charset="0"/>
                        </a:rPr>
                        <a:t>15.3%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  <a:cs typeface="Times New Roman" panose="02020603050405020304" pitchFamily="18" charset="0"/>
                      </a:endParaRPr>
                    </a:p>
                  </a:txBody>
                  <a:tcPr marL="101917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ea typeface="quote-cjk-patch"/>
                        </a:rPr>
                        <a:t>最平衡</a:t>
                      </a:r>
                      <a:endParaRPr lang="zh-CN" altLang="en-US" sz="1400" b="0" i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heel spokes="8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912424" y="2088123"/>
            <a:ext cx="5883819" cy="1746284"/>
            <a:chOff x="8540841" y="1065690"/>
            <a:chExt cx="5883819" cy="1746284"/>
          </a:xfrm>
        </p:grpSpPr>
        <p:sp>
          <p:nvSpPr>
            <p:cNvPr id="7" name="文本框 6"/>
            <p:cNvSpPr txBox="1"/>
            <p:nvPr/>
          </p:nvSpPr>
          <p:spPr>
            <a:xfrm>
              <a:off x="8540841" y="1065690"/>
              <a:ext cx="309880" cy="903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220000"/>
                </a:lnSpc>
              </a:pPr>
              <a:endParaRPr kumimoji="1" lang="zh-CN" altLang="en-US" sz="2400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59801" y="1741858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endParaRPr kumimoji="1" lang="en-GB" altLang="zh-CN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2461" y="2517969"/>
              <a:ext cx="3632199" cy="294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10000"/>
                </a:lnSpc>
                <a:defRPr kumimoji="1" sz="1200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endParaRPr lang="en-US" altLang="zh-CN" b="0" dirty="0"/>
            </a:p>
          </p:txBody>
        </p:sp>
      </p:grpSp>
      <p:sp>
        <p:nvSpPr>
          <p:cNvPr id="8" name="椭圆 7"/>
          <p:cNvSpPr/>
          <p:nvPr/>
        </p:nvSpPr>
        <p:spPr>
          <a:xfrm>
            <a:off x="4841904" y="2823663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83245" y="152400"/>
            <a:ext cx="3898265" cy="1072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080" y="0"/>
            <a:ext cx="5091430" cy="1283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31383" y="2764291"/>
            <a:ext cx="4496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总结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000">
        <p:dissolve/>
      </p:transition>
    </mc:Choice>
    <mc:Fallback>
      <p:transition spd="slow" advTm="3000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功能区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127928" y="5141889"/>
            <a:ext cx="304754" cy="30475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76829" y="3026100"/>
            <a:ext cx="1740322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</a:t>
            </a:r>
            <a:endParaRPr lang="zh-CN" altLang="en-US" sz="20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7E8CF-E03C-45D9-8389-7709B256DA5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21302" t="-281" r="22381" b="24018"/>
          <a:stretch>
            <a:fillRect/>
          </a:stretch>
        </p:blipFill>
        <p:spPr>
          <a:xfrm>
            <a:off x="246380" y="394335"/>
            <a:ext cx="1471295" cy="1409700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16373" y="109416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170" y="2332014"/>
            <a:ext cx="1740321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67198" y="-25739"/>
            <a:ext cx="722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总结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76827" y="3715833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方案设计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176826" y="5094211"/>
            <a:ext cx="17403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76823" y="4405566"/>
            <a:ext cx="174032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结果与性能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0170" y="887095"/>
            <a:ext cx="7044690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1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本文贡献：</a:t>
            </a:r>
            <a:endParaRPr lang="en-US" altLang="zh-CN" sz="1600" b="1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提出 </a:t>
            </a:r>
            <a:r>
              <a:rPr lang="en-US" altLang="zh-CN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SecureGov-Agent，</a:t>
            </a: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首个治理中心化的多智能体安全框架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设计多视角风险评分（内容+隐私+行为）与分级响应机制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引入对抗训练提升对未知攻击的鲁棒性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提供可复现基准和部署指南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性能总结：</a:t>
            </a:r>
            <a:endParaRPr lang="en-US" altLang="zh-CN" sz="1600" b="1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攻击成功率降低 73.2%（绝对</a:t>
            </a:r>
            <a:r>
              <a:rPr lang="en-US" altLang="zh-CN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ASR=17.8%）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隐私泄漏率降低 81.4%（绝对</a:t>
            </a:r>
            <a:r>
              <a:rPr lang="en-US" altLang="zh-CN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PLR=6.8%，</a:t>
            </a: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最低）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任务成功率保持 89.7%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延迟开销仅 15.3%（远低于多轮辩论方法）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未来方向：</a:t>
            </a:r>
            <a:endParaRPr lang="en-US" altLang="zh-CN" sz="1600" b="1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分布式治理架构（避免单点瓶颈）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开放模型替代</a:t>
            </a:r>
            <a:r>
              <a:rPr lang="en-US" altLang="zh-CN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GPT-4</a:t>
            </a:r>
            <a:endParaRPr lang="en-US" altLang="zh-CN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结合混合式辩论用于极高风险场景</a:t>
            </a:r>
            <a:endParaRPr lang="zh-CN" altLang="en-US" sz="1600" b="0" i="0"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-635" y="2736215"/>
            <a:ext cx="121932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THANKS!</a:t>
            </a:r>
            <a:endParaRPr lang="zh-CN" altLang="en-US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7" name="Line 11"/>
          <p:cNvSpPr>
            <a:spLocks noChangeShapeType="1"/>
          </p:cNvSpPr>
          <p:nvPr userDrawn="1"/>
        </p:nvSpPr>
        <p:spPr bwMode="auto">
          <a:xfrm flipH="1">
            <a:off x="2068830" y="4241165"/>
            <a:ext cx="8614410" cy="635"/>
          </a:xfrm>
          <a:prstGeom prst="line">
            <a:avLst/>
          </a:prstGeom>
          <a:solidFill>
            <a:schemeClr val="accent1">
              <a:alpha val="80000"/>
            </a:schemeClr>
          </a:solidFill>
          <a:ln w="44450" cap="flat">
            <a:gradFill>
              <a:gsLst>
                <a:gs pos="7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Line 11"/>
          <p:cNvSpPr>
            <a:spLocks noChangeShapeType="1"/>
          </p:cNvSpPr>
          <p:nvPr userDrawn="1"/>
        </p:nvSpPr>
        <p:spPr bwMode="auto">
          <a:xfrm flipH="1" flipV="1">
            <a:off x="2068830" y="4396105"/>
            <a:ext cx="8614410" cy="29845"/>
          </a:xfrm>
          <a:prstGeom prst="line">
            <a:avLst/>
          </a:prstGeom>
          <a:solidFill>
            <a:schemeClr val="accent1">
              <a:alpha val="80000"/>
            </a:schemeClr>
          </a:solidFill>
          <a:ln w="22225" cap="flat">
            <a:gradFill>
              <a:gsLst>
                <a:gs pos="7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4" name="图片 3" descr="形式延展一横式-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065" y="0"/>
            <a:ext cx="9881235" cy="24917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02735" y="4498340"/>
            <a:ext cx="44202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1280" y="4454525"/>
            <a:ext cx="694944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汇报人：王孟嘉</a:t>
            </a:r>
            <a:endParaRPr lang="zh-CN" altLang="en-US" sz="28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ransition spd="slow" advTm="3000">
    <p:cover dir="d"/>
  </p:transition>
</p:sld>
</file>

<file path=ppt/tags/tag1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2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3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4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5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6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7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8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9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10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11.xml><?xml version="1.0" encoding="utf-8"?>
<p:tagLst xmlns:p="http://schemas.openxmlformats.org/presentationml/2006/main">
  <p:tag name="KSO_WM_DIAGRAM_VIRTUALLY_FRAME" val="{&quot;height&quot;:300.83456692913387,&quot;left&quot;:452.2651181102362,&quot;top&quot;:137.02787401574804,&quot;width&quot;:351.61724409448817}"/>
</p:tagLst>
</file>

<file path=ppt/tags/tag12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13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14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15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338.1422047244094,&quot;left&quot;:14.186614173228346,&quot;top&quot;:103.40417322834647,&quot;width&quot;:269.6353543307087}"/>
</p:tagLst>
</file>

<file path=ppt/tags/tag17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18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19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20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21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22.xml><?xml version="1.0" encoding="utf-8"?>
<p:tagLst xmlns:p="http://schemas.openxmlformats.org/presentationml/2006/main">
  <p:tag name="KSO_WM_DIAGRAM_VIRTUALLY_FRAME" val="{&quot;height&quot;:338.1422047244094,&quot;left&quot;:14.186614173228346,&quot;top&quot;:103.40417322834647,&quot;width&quot;:269.6353543307087}"/>
</p:tagLst>
</file>

<file path=ppt/tags/tag23.xml><?xml version="1.0" encoding="utf-8"?>
<p:tagLst xmlns:p="http://schemas.openxmlformats.org/presentationml/2006/main">
  <p:tag name="TABLE_ENDDRAG_ORIGIN_RECT" val="706*283"/>
  <p:tag name="TABLE_ENDDRAG_RECT" val="193*81*706*283"/>
</p:tagLst>
</file>

<file path=ppt/tags/tag24.xml><?xml version="1.0" encoding="utf-8"?>
<p:tagLst xmlns:p="http://schemas.openxmlformats.org/presentationml/2006/main">
  <p:tag name="TABLE_ENDDRAG_ORIGIN_RECT" val="502*141"/>
  <p:tag name="TABLE_ENDDRAG_RECT" val="390*190*502*141"/>
</p:tagLst>
</file>

<file path=ppt/tags/tag25.xml><?xml version="1.0" encoding="utf-8"?>
<p:tagLst xmlns:p="http://schemas.openxmlformats.org/presentationml/2006/main">
  <p:tag name="TABLE_ENDDRAG_ORIGIN_RECT" val="642*207"/>
  <p:tag name="TABLE_ENDDRAG_RECT" val="232*75*642*207"/>
</p:tagLst>
</file>

<file path=ppt/tags/tag26.xml><?xml version="1.0" encoding="utf-8"?>
<p:tagLst xmlns:p="http://schemas.openxmlformats.org/presentationml/2006/main">
  <p:tag name="TABLE_ENDDRAG_ORIGIN_RECT" val="398*191"/>
  <p:tag name="TABLE_ENDDRAG_RECT" val="167*89*398*191"/>
</p:tagLst>
</file>

<file path=ppt/tags/tag27.xml><?xml version="1.0" encoding="utf-8"?>
<p:tagLst xmlns:p="http://schemas.openxmlformats.org/presentationml/2006/main">
  <p:tag name="TABLE_ENDDRAG_ORIGIN_RECT" val="348*195"/>
  <p:tag name="TABLE_ENDDRAG_RECT" val="480*89*348*195"/>
</p:tagLst>
</file>

<file path=ppt/tags/tag28.xml><?xml version="1.0" encoding="utf-8"?>
<p:tagLst xmlns:p="http://schemas.openxmlformats.org/presentationml/2006/main">
  <p:tag name="TABLE_ENDDRAG_ORIGIN_RECT" val="700*265"/>
  <p:tag name="TABLE_ENDDRAG_RECT" val="191*71*701*265"/>
</p:tagLst>
</file>

<file path=ppt/theme/theme1.xml><?xml version="1.0" encoding="utf-8"?>
<a:theme xmlns:a="http://schemas.openxmlformats.org/drawingml/2006/main" name="Office 主题​​">
  <a:themeElements>
    <a:clrScheme name="自定义 3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206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206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3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206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自定义 3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206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3228</Words>
  <Application>WPS 演示</Application>
  <PresentationFormat>宽屏</PresentationFormat>
  <Paragraphs>638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华文楷体</vt:lpstr>
      <vt:lpstr>Times New Roman</vt:lpstr>
      <vt:lpstr>Cambria Math</vt:lpstr>
      <vt:lpstr>等线</vt:lpstr>
      <vt:lpstr>Arial Unicode MS</vt:lpstr>
      <vt:lpstr>黑体</vt:lpstr>
      <vt:lpstr>Arial</vt:lpstr>
      <vt:lpstr>Inter</vt:lpstr>
      <vt:lpstr>Segoe Print</vt:lpstr>
      <vt:lpstr>Menlo</vt:lpstr>
      <vt:lpstr>MS PGothic</vt:lpstr>
      <vt:lpstr>Calibri</vt:lpstr>
      <vt:lpstr>Inter</vt:lpstr>
      <vt:lpstr>Menlo</vt:lpstr>
      <vt:lpstr>quote-cjk-patch</vt:lpstr>
      <vt:lpstr>quote-cjk-patch</vt:lpstr>
      <vt:lpstr>仿宋</vt:lpstr>
      <vt:lpstr>katex_main</vt:lpstr>
      <vt:lpstr>KaTeX_Math</vt:lpstr>
      <vt:lpstr>KaTeX_Math</vt:lpstr>
      <vt:lpstr>katex_main</vt:lpstr>
      <vt:lpstr>Office 主题​​</vt:lpstr>
      <vt:lpstr>1_Office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GYS</dc:creator>
  <cp:lastModifiedBy>王孟嘉</cp:lastModifiedBy>
  <cp:revision>114</cp:revision>
  <dcterms:created xsi:type="dcterms:W3CDTF">2024-09-16T09:20:00Z</dcterms:created>
  <dcterms:modified xsi:type="dcterms:W3CDTF">2026-05-25T12:40:43Z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B2FF65C35E094C74BCAC84FDF218132E_13</vt:lpwstr>
  </property>
  <property fmtid="{D5CDD505-2E9C-101B-9397-08002B2CF9AE}" pid="3" name="KSOProductBuildVer">
    <vt:lpwstr>2052-12.1.0.26375</vt:lpwstr>
  </property>
</Properties>
</file>