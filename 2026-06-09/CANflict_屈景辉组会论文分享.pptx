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7" r:id="rId15"/>
    <p:sldId id="278" r:id="rId16"/>
    <p:sldId id="279" r:id="rId17"/>
    <p:sldId id="270" r:id="rId18"/>
    <p:sldId id="271" r:id="rId19"/>
    <p:sldId id="272" r:id="rId2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开场建议：用“传统攻击是伪造报文，CANflict 是直接动总线上的比特”引入。强调这是一篇 CCS 2022 车载 CAN 安全论文，适合做科普汇报。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这一页用来告诉听众后续结构。不要先讲太多细节，重点是保证听众知道后面会从背景、原理、实验、思考四个层面展开。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背景部分讲通俗些：CAN 像车内微信群，大家都能听见消息，但缺少“谁发的、有没有被改”的安全验证。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这一页需要解释 Bus-Off：不是把车物理损坏，而是让某个 ECU 因为错误太多被 CAN 协议隔离。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这里要让听众理解为什么链路层攻击更危险：它不一定留下完整的恶意 CAN 帧，很多 IDS 看不到。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此页解释 “为什么这篇论文有价值”。1 微秒窗口对嵌入式 MCU 来说很严苛，CANflict 的贡献是把工作交给硬件外设处理。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讲解时可以类比：CAN 控制器是门卫，平时禁止你直接控制每一个 bit；但是同一根线还有侧门连着其他外设。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这一页强调：漏洞并非某一个型号的 bug，而是 MCU 引脚复用机制带来的攻击面。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这里要澄清：作者不是说攻击者凭空控制车，而是说如果某个 ECU 被远程攻陷，攻击者还能利用 CANflict 升级攻击能力。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这页是科普重点。建议用“同一个字节序列既是图片又是 PDF”的例子，再过渡到 CAN 与 UART/SPI/I2C 对同一电平序列的不同解释。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这一页不要展开所有时序细节，讲不同外设的角色：SPI 最自由，UART 可构造，I2C 可注入短片段，ADC 可读取。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这是方法落地页。按 5 个步骤讲：监听、识别 ID、payload 阶段写入、受害者报错、重复进入 Bus-Off。</a:t>
            </a:r>
          </a:p>
          <a:p>
            <a:r>
              <a:t>论文实验里目标 ID 是 0x1A2，攻击者用 SPI 找到目标帧，用 I2C 写 6 个 dominant bits，重复 32 次。</a:t>
            </a:r>
          </a:p>
          <a:p>
            <a:r>
              <a:t>强调攻击效果来自 CAN 自己的故障隔离机制。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实验设计页突出“低端也能做”。三个平台覆盖 Cortex-M0、Cortex-M33 和车规高端 AURIX。</a:t>
            </a:r>
          </a:p>
          <a:p>
            <a:r>
              <a:t>可以说明作者测试完整 CAN 帧读写，是为了证明真实 CAN 控制器会接受这些外设生成的 polyglot frame。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 Table 6 时抓住对比：LPC11C24 上 bitbanging 写 200 kb/s、读 120 kb/s，而 SPI/UART 都能到 1 Mb/s。</a:t>
            </a:r>
          </a:p>
          <a:p>
            <a:r>
              <a:t>论文测试标准是连续 100 个 CAN 帧无错误，这比单次成功更能说明稳定性。</a:t>
            </a:r>
          </a:p>
          <a:p>
            <a:r>
              <a:t>结论：CANflict 降低了对 CPU 性能和手工时序校准的依赖。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讲图 7 时强调 A/B/C：A 是攻击动作，B 是受害者反应，C 是全网错误传播。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解释图 8 时不要陷入坐标细节，只讲现象：UART 兼容性足够做很多读操作，I2C 读能力较弱但仍可用于写攻击。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这一页强调论文不仅提出攻击，还提供了研究框架，方便后续做防御和新平台扩展。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56248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CANflict · ACM CCS 2022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502920"/>
            <a:ext cx="1828800" cy="1828800"/>
          </a:xfrm>
          <a:prstGeom prst="arc">
            <a:avLst/>
          </a:prstGeom>
          <a:noFill/>
          <a:ln w="38100">
            <a:solidFill>
              <a:srgbClr val="14B8A6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4297680"/>
            <a:ext cx="1234440" cy="1234440"/>
          </a:xfrm>
          <a:prstGeom prst="arc">
            <a:avLst/>
          </a:prstGeom>
          <a:noFill/>
          <a:ln w="38100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97815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CANflict: Exploiting Peripheral Conflicts for Data-Link Layer Attacks on Automotive Networks</a:t>
            </a:r>
            <a:endParaRPr lang="en-US" sz="39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935" y="2634996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F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利用外设引脚冲突，实现汽车 CAN 总线数据链路层攻击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3152775"/>
            <a:ext cx="63093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481705"/>
            <a:ext cx="6766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Alvise de Faveri Tron 等 · </a:t>
            </a:r>
            <a:r>
              <a:rPr lang="en-US" sz="1260" b="1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ACM CCS 2022</a:t>
            </a:r>
            <a:endParaRPr lang="en-US" sz="1260" b="1" dirty="0"/>
          </a:p>
          <a:p>
            <a:pPr marL="0" indent="0">
              <a:buNone/>
            </a:pPr>
            <a:r>
              <a:rPr lang="en-US" sz="1260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CANflict: Exploiting Peripheral Conflicts for Data-Link Layer Attacks on Automotive Networks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749935" y="4469765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3087" y="4538345"/>
            <a:ext cx="10424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车联网安全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84959" y="4469765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8111" y="4538345"/>
            <a:ext cx="95097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总线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28543" y="4469765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695" y="4538345"/>
            <a:ext cx="117957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链路层攻击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00727" y="4469765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879" y="4538345"/>
            <a:ext cx="10881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硬件外设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" y="5074920"/>
            <a:ext cx="6766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汇报目标：讲清楚背景 → 方法 → 实验 → 防御 → 评价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汇报路线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一篇完整论文分享可以围绕“为什么难 → 怎么做到 → 证明有效 → 如何防御”展开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749808" y="1435608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64208"/>
            <a:ext cx="0" cy="45720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38074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01 研究背景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434840" y="1399032"/>
            <a:ext cx="65379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现代车辆高度电子化，CAN 协议缺安全机制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2167128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395728"/>
            <a:ext cx="0" cy="45720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11226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 CAN 协议与攻击面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434840" y="2130552"/>
            <a:ext cx="65379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应用层攻击易被 IDS 发现，链路层攻击更隐蔽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" y="2898648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" y="3127248"/>
            <a:ext cx="0" cy="45720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84378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 CANflict 核心思想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434840" y="2862072"/>
            <a:ext cx="65379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利用 MCU 引脚复用，绕过 CAN 控制器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" y="363016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3858768"/>
            <a:ext cx="0" cy="45720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57530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 技术实现与外设分析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434840" y="3593592"/>
            <a:ext cx="65379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SPI / UART / I2C / ADC 与 Polyglot Frames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" y="436168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" y="4590288"/>
            <a:ext cx="0" cy="45720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30682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 实验验证与结果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434840" y="4325112"/>
            <a:ext cx="65379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三类 MCU、完整帧实验、目标 DoS、兼容性分析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9808" y="5093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" y="5321808"/>
            <a:ext cx="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503834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06 防御、局限与总结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434840" y="5056632"/>
            <a:ext cx="65379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现有 IDS 盲区、硬件设计防御、未来研究方向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9808" y="5806440"/>
            <a:ext cx="59436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研究背景：车里的“网络”越来越复杂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现代车辆由大量 ECU 协同控制，CAN 仍是最常见的车内通信协议之一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9436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280160"/>
            <a:ext cx="4645152" cy="6766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现代车辆通常包含上百个 ECU，车内信号数量可达数千级。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22830"/>
            <a:ext cx="5227955" cy="36398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 lnSpcReduction="10000"/>
          </a:bodyPr>
          <a:lstStyle/>
          <a:p>
            <a:r>
              <a:rPr lang="zh-CN" altLang="en-US" sz="15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电子单元数量庞大</a:t>
            </a:r>
            <a:r>
              <a:rPr lang="zh-CN" altLang="en-US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：车辆搭载 </a:t>
            </a:r>
            <a:r>
              <a:rPr lang="en-US" altLang="zh-CN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WiFi、</a:t>
            </a:r>
            <a:r>
              <a:rPr lang="zh-CN" altLang="en-US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蓝牙、蜂窝通信、网关、远程遥测等各类外部模块，同时部署上百个电子控制单元（</a:t>
            </a:r>
            <a:r>
              <a:rPr lang="en-US" altLang="zh-CN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ECU），</a:t>
            </a:r>
            <a:r>
              <a:rPr lang="zh-CN" altLang="en-US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即便是普通家用车，</a:t>
            </a:r>
            <a:r>
              <a:rPr lang="en-US" altLang="zh-CN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ECU </a:t>
            </a:r>
            <a:r>
              <a:rPr lang="zh-CN" altLang="en-US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数量也超过 100 个。</a:t>
            </a:r>
            <a:endParaRPr lang="zh-CN" altLang="en-US" sz="15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  <a:p>
            <a:endParaRPr lang="en-US" sz="15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r>
              <a:rPr lang="en-US" sz="15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历史遗留</a:t>
            </a:r>
            <a:r>
              <a:rPr lang="en-US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：CAN 设计于 1980 年代，最初并未优先考虑安全</a:t>
            </a:r>
            <a:endParaRPr lang="en-US" sz="15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endParaRPr lang="en-US" sz="1520" dirty="0"/>
          </a:p>
          <a:p>
            <a:r>
              <a:rPr lang="en-US" sz="15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安全缺口</a:t>
            </a:r>
            <a:r>
              <a:rPr lang="en-US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：缺少加密、认证和完整性校验</a:t>
            </a:r>
            <a:endParaRPr lang="en-US" sz="15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endParaRPr lang="zh-CN" altLang="en-US" sz="15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r>
              <a:rPr lang="zh-CN" altLang="en-US" sz="15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总线节点密集</a:t>
            </a:r>
            <a:r>
              <a:rPr lang="zh-CN" altLang="en-US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</a:t>
            </a:r>
            <a:r>
              <a:rPr lang="en-US" altLang="zh-CN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</a:t>
            </a:r>
            <a:r>
              <a:rPr lang="zh-CN" altLang="en-US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作为车载主流总线标准，成为所有 </a:t>
            </a:r>
            <a:r>
              <a:rPr lang="en-US" altLang="zh-CN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ECU </a:t>
            </a:r>
            <a:r>
              <a:rPr lang="zh-CN" altLang="en-US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的通信骨干，大量功能节点并联在同一 </a:t>
            </a:r>
            <a:r>
              <a:rPr lang="en-US" altLang="zh-CN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</a:t>
            </a:r>
            <a:r>
              <a:rPr lang="zh-CN" altLang="en-US" sz="15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总线上，网络拓扑从简单点对点演变为高密度广播型网络。</a:t>
            </a:r>
            <a:endParaRPr lang="zh-CN" altLang="en-US" sz="15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9221470" y="1540510"/>
            <a:ext cx="10160" cy="3409315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8636635" y="5086985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09787" y="5141849"/>
            <a:ext cx="104241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总线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96455" y="148590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607" y="1540764"/>
            <a:ext cx="1271016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Engine ECU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848215" y="148590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21367" y="1540764"/>
            <a:ext cx="1271016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Brake ECU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96455" y="285750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607" y="2912364"/>
            <a:ext cx="1271016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Gateway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48215" y="285750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367" y="2912364"/>
            <a:ext cx="1271016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18220" y="4504055"/>
            <a:ext cx="579120" cy="6985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7196455" y="422910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607" y="4283964"/>
            <a:ext cx="1271016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Telematics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848215" y="422910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1367" y="4283964"/>
            <a:ext cx="1271016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ADAS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0" name="Shape 20"/>
          <p:cNvSpPr/>
          <p:nvPr/>
        </p:nvSpPr>
        <p:spPr>
          <a:xfrm>
            <a:off x="9250045" y="4511040"/>
            <a:ext cx="579120" cy="6985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31" name="Shape 20"/>
          <p:cNvSpPr/>
          <p:nvPr/>
        </p:nvSpPr>
        <p:spPr>
          <a:xfrm>
            <a:off x="9250045" y="3108960"/>
            <a:ext cx="591820" cy="635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32" name="Shape 20"/>
          <p:cNvSpPr/>
          <p:nvPr/>
        </p:nvSpPr>
        <p:spPr>
          <a:xfrm>
            <a:off x="8615045" y="1798955"/>
            <a:ext cx="579120" cy="6985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33" name="Shape 20"/>
          <p:cNvSpPr/>
          <p:nvPr/>
        </p:nvSpPr>
        <p:spPr>
          <a:xfrm>
            <a:off x="9250045" y="1798955"/>
            <a:ext cx="585470" cy="1397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34" name="Shape 20"/>
          <p:cNvSpPr/>
          <p:nvPr/>
        </p:nvSpPr>
        <p:spPr>
          <a:xfrm>
            <a:off x="8623935" y="3107690"/>
            <a:ext cx="579120" cy="6985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sz="28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CAN 基础：显性位把“少量 bit 干扰”放大成协议故障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的 dominant / recessive 机制使“比特级干扰”成为可能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718185" y="3361690"/>
            <a:ext cx="10327005" cy="296037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 fontScale="90000"/>
          </a:bodyPr>
          <a:lstStyle/>
          <a:p>
            <a:r>
              <a:rPr 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有两类比特：dominant</a:t>
            </a:r>
            <a:r>
              <a:rPr lang="zh-CN" alt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（显性位）</a:t>
            </a:r>
            <a:r>
              <a:rPr 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=0，recessive</a:t>
            </a:r>
            <a:r>
              <a:rPr lang="zh-CN" alt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（隐性位）</a:t>
            </a:r>
            <a:r>
              <a:rPr 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=1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显性位会覆盖隐性位：</a:t>
            </a:r>
            <a:r>
              <a:rPr lang="en-US" sz="150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任何节点写 0 都能压过 1</a:t>
            </a:r>
            <a:endParaRPr lang="en-US" sz="1500" b="1" dirty="0"/>
          </a:p>
          <a:p>
            <a:r>
              <a:rPr 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控制器会自动处理仲裁、错误检测、重传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错误计数器过高后，节点会进入 Bus-Off，无法继续影响总线</a:t>
            </a:r>
            <a:endParaRPr lang="en-US" sz="150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r>
              <a:rPr lang="en-US" altLang="zh-CN" sz="150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1. Error Active ↔ Error Passive</a:t>
            </a:r>
            <a:endParaRPr lang="en-US" altLang="zh-CN" sz="1500" b="1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r>
              <a:rPr lang="zh-CN" alt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主动态 → 被动态（升级）：当节点的 </a:t>
            </a:r>
            <a:r>
              <a:rPr lang="en-US" altLang="zh-CN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REC（</a:t>
            </a:r>
            <a:r>
              <a:rPr lang="zh-CN" alt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接收错误计数器）&gt; 127 或 </a:t>
            </a:r>
            <a:r>
              <a:rPr lang="en-US" altLang="zh-CN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TEC（</a:t>
            </a:r>
            <a:r>
              <a:rPr lang="zh-CN" alt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发送错误计数器）&gt; 127 时，进入错误被动态。</a:t>
            </a:r>
            <a:endParaRPr lang="zh-CN" altLang="en-US" sz="150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r>
              <a:rPr lang="zh-CN" alt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被动态 → 主动态（降级）：当 </a:t>
            </a:r>
            <a:r>
              <a:rPr lang="en-US" altLang="zh-CN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REC &lt; 128 </a:t>
            </a:r>
            <a:r>
              <a:rPr lang="zh-CN" alt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且 </a:t>
            </a:r>
            <a:r>
              <a:rPr lang="en-US" altLang="zh-CN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TEC &lt; 128 </a:t>
            </a:r>
            <a:r>
              <a:rPr lang="zh-CN" alt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时，恢复为正常的错误激活态。</a:t>
            </a:r>
            <a:endParaRPr lang="zh-CN" altLang="en-US" sz="150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r>
              <a:rPr lang="en-US" altLang="zh-CN" sz="150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2. Error Passive → Bus Off</a:t>
            </a:r>
            <a:endParaRPr lang="en-US" altLang="zh-CN" sz="1500" b="1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r>
              <a:rPr lang="zh-CN" alt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当节点的 </a:t>
            </a:r>
            <a:r>
              <a:rPr lang="en-US" altLang="zh-CN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TEC（</a:t>
            </a:r>
            <a:r>
              <a:rPr lang="zh-CN" altLang="en-US" sz="15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发送错误计数器）持续增长，超过 255 时，直接进入总线关闭状态，彻底断连。</a:t>
            </a:r>
            <a:endParaRPr lang="zh-CN" altLang="en-US" sz="150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r>
              <a:rPr lang="en-US" altLang="zh-CN" sz="150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3. Bus Off → Error Active</a:t>
            </a:r>
            <a:endParaRPr lang="zh-CN" altLang="en-US" sz="1500" b="1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r>
              <a:rPr lang="zh-CN" altLang="en-US" sz="1500" dirty="0"/>
              <a:t>节点进入总线关闭后，有两种方式恢复正常状态：</a:t>
            </a:r>
            <a:endParaRPr lang="zh-CN" altLang="en-US" sz="1500" dirty="0"/>
          </a:p>
          <a:p>
            <a:r>
              <a:rPr lang="zh-CN" altLang="en-US" sz="1500" dirty="0"/>
              <a:t>软件复位（</a:t>
            </a:r>
            <a:r>
              <a:rPr lang="en-US" altLang="zh-CN" sz="1500" dirty="0"/>
              <a:t>SW Reset）：</a:t>
            </a:r>
            <a:r>
              <a:rPr lang="zh-CN" altLang="en-US" sz="1500" dirty="0"/>
              <a:t>由 </a:t>
            </a:r>
            <a:r>
              <a:rPr lang="en-US" altLang="zh-CN" sz="1500" dirty="0"/>
              <a:t>MCU </a:t>
            </a:r>
            <a:r>
              <a:rPr lang="zh-CN" altLang="en-US" sz="1500" dirty="0"/>
              <a:t>主动复位 </a:t>
            </a:r>
            <a:r>
              <a:rPr lang="en-US" altLang="zh-CN" sz="1500" dirty="0"/>
              <a:t>CAN </a:t>
            </a:r>
            <a:r>
              <a:rPr lang="zh-CN" altLang="en-US" sz="1500" dirty="0"/>
              <a:t>控制器，重置错误计数器和状态。</a:t>
            </a:r>
            <a:endParaRPr lang="zh-CN" altLang="en-US" sz="1500" dirty="0"/>
          </a:p>
          <a:p>
            <a:r>
              <a:rPr lang="zh-CN" altLang="en-US" sz="1500" dirty="0"/>
              <a:t>总线空闲恢复：节点需连续接收 128 组 ×11 个连续隐性位（即总线持续空闲一段时间），自动恢复为错误激活态。</a:t>
            </a:r>
            <a:endParaRPr lang="zh-CN" altLang="en-US" sz="1500" dirty="0"/>
          </a:p>
          <a:p>
            <a:endParaRPr lang="zh-CN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85" y="1214120"/>
            <a:ext cx="6105525" cy="18230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sz="28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论文切入点：IDS 看得到报文，却常看不到比特级扰动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论文的切入点在于：绕过只看报文的检测逻辑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89304"/>
            <a:ext cx="177393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应用层攻击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49755"/>
            <a:ext cx="4297680" cy="2734945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algn="l">
              <a:buClrTx/>
              <a:buSzTx/>
              <a:buNone/>
            </a:pPr>
            <a:r>
              <a:rPr 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报文伪造 / 指令注入</a:t>
            </a:r>
            <a:r>
              <a:rPr 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：伪造含合法 ID 与载荷的 CAN 帧，欺骗目标 ECU 执行错误操作（如伪造刹车、加速指令）。</a:t>
            </a:r>
            <a:endParaRPr 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None/>
            </a:pPr>
            <a:r>
              <a:rPr 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报文重放攻击</a:t>
            </a:r>
            <a:r>
              <a:rPr 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：捕获正常通信的 CAN 帧，后续重放以欺骗 ECU。</a:t>
            </a:r>
            <a:endParaRPr 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None/>
            </a:pPr>
            <a:r>
              <a:rPr 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广播 DoS 攻击</a:t>
            </a:r>
            <a:r>
              <a:rPr 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：持续发送高优先级（低 ID）的合法报文，占用总线带宽，导致其他节点无法通信。</a:t>
            </a:r>
            <a:endParaRPr 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None/>
            </a:pPr>
            <a:r>
              <a:rPr 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中间人欺骗</a:t>
            </a:r>
            <a:r>
              <a:rPr 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：在总线中插入恶意节点，篡改或转发报文，破坏通信完整性。</a:t>
            </a:r>
            <a:endParaRPr 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None/>
            </a:pPr>
            <a:r>
              <a:rPr lang="zh-CN" alt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优点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：门槛低，开发难度低</a:t>
            </a:r>
            <a:endParaRPr lang="zh-CN" alt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None/>
            </a:pPr>
            <a:r>
              <a:rPr lang="zh-CN" alt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缺点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：隐蔽性较差，攻击效果依赖于业务逻辑</a:t>
            </a:r>
            <a:endParaRPr 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None/>
            </a:pPr>
            <a:endParaRPr 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46520" y="123444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289304"/>
            <a:ext cx="21396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数据链路层攻击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1874520"/>
            <a:ext cx="4480560" cy="20116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algn="l">
              <a:buClrTx/>
              <a:buSzTx/>
              <a:buFontTx/>
            </a:pPr>
            <a:r>
              <a:rPr 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Bitbanging（位敲击</a:t>
            </a:r>
            <a:r>
              <a:rPr 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）：通过 GPIO 逐比特模拟 CAN 信号，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直接操控 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GPIO 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通用引脚，逐比特生成 / 采样 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总线电平信号</a:t>
            </a:r>
            <a:endParaRPr lang="zh-CN" alt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CANnon</a:t>
            </a:r>
            <a:r>
              <a:rPr 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软件操控 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MCU 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时钟寄存器，延迟 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控制器的比特发送，从而注入错误比特，实现远程静默攻击。</a:t>
            </a:r>
            <a:endParaRPr lang="zh-CN" alt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FontTx/>
            </a:pPr>
            <a:r>
              <a:rPr lang="zh-CN" alt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优点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：隐蔽性高，危害性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更大</a:t>
            </a:r>
            <a:endParaRPr lang="zh-CN" alt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FontTx/>
            </a:pPr>
            <a:r>
              <a:rPr lang="zh-CN" alt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缺点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门槛高</a:t>
            </a:r>
            <a:endParaRPr lang="zh-CN" alt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40680" y="1143000"/>
            <a:ext cx="635" cy="300482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828800" y="4800600"/>
            <a:ext cx="59436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1017" y="4847590"/>
            <a:ext cx="8302752" cy="5852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CANflict 关注的不是“多发一条假消息”，而是“在合法消息传输中改写关键比特”。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353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sz="28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已有链路层攻击难落地：1 μs 时间窗 + 缺少实时低层读</a:t>
            </a:r>
            <a:endParaRPr sz="28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08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CANflict 的价值在于把严格时序交给硬件外设，而不是交给 CPU 忙等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80744"/>
            <a:ext cx="149961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 Mb/s CAN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335024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每个 bit ≈ 1 μs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5669280" cy="31546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Bitbanging</a:t>
            </a:r>
            <a:r>
              <a:rPr 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</a:t>
            </a:r>
            <a:r>
              <a:rPr lang="en-US" altLang="zh-CN" sz="1420" dirty="0"/>
              <a:t>CAN </a:t>
            </a:r>
            <a:r>
              <a:rPr lang="zh-CN" altLang="en-US" sz="1420" dirty="0"/>
              <a:t>总线 1</a:t>
            </a:r>
            <a:r>
              <a:rPr lang="en-US" altLang="zh-CN" sz="1420" dirty="0"/>
              <a:t>Mbps </a:t>
            </a:r>
            <a:r>
              <a:rPr lang="zh-CN" altLang="en-US" sz="1420" dirty="0"/>
              <a:t>速率下，单比特窗口仅 1</a:t>
            </a:r>
            <a:r>
              <a:rPr lang="en-US" altLang="zh-CN" sz="1420" dirty="0"/>
              <a:t>μs，Bitbanging </a:t>
            </a:r>
            <a:r>
              <a:rPr lang="zh-CN" altLang="en-US" sz="1420" dirty="0"/>
              <a:t>需要软件精确控制每一个电平的持续时间，对 </a:t>
            </a:r>
            <a:r>
              <a:rPr lang="en-US" altLang="zh-CN" sz="1420" dirty="0"/>
              <a:t>MCU </a:t>
            </a:r>
            <a:r>
              <a:rPr lang="zh-CN" altLang="en-US" sz="1420" dirty="0"/>
              <a:t>主频、指令周期、中断响应速度要求极高。实车中大量低端 </a:t>
            </a:r>
            <a:r>
              <a:rPr lang="en-US" altLang="zh-CN" sz="1420" dirty="0"/>
              <a:t>ECU（</a:t>
            </a:r>
            <a:r>
              <a:rPr lang="zh-CN" altLang="en-US" sz="1420" dirty="0"/>
              <a:t>如 </a:t>
            </a:r>
            <a:r>
              <a:rPr lang="en-US" altLang="zh-CN" sz="1420" dirty="0"/>
              <a:t>Cortex-M0 </a:t>
            </a:r>
            <a:r>
              <a:rPr lang="zh-CN" altLang="en-US" sz="1420" dirty="0"/>
              <a:t>架构，主频仅几十 </a:t>
            </a:r>
            <a:r>
              <a:rPr lang="en-US" altLang="zh-CN" sz="1420" dirty="0"/>
              <a:t>MHz）</a:t>
            </a:r>
            <a:r>
              <a:rPr lang="zh-CN" altLang="en-US" sz="1420" dirty="0"/>
              <a:t>根本无法稳定满足时序，一旦被中断打断，比特流就会错乱，攻击直接失败。</a:t>
            </a:r>
            <a:endParaRPr lang="zh-CN" altLang="en-US" sz="1420" dirty="0"/>
          </a:p>
          <a:p>
            <a:endParaRPr lang="zh-CN" altLang="en-US" sz="1420" dirty="0"/>
          </a:p>
          <a:p>
            <a:r>
              <a:rPr 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CANnon</a:t>
            </a:r>
            <a:r>
              <a:rPr 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</a:t>
            </a:r>
            <a:r>
              <a:rPr lang="zh-CN" altLang="en-US" sz="1420" dirty="0"/>
              <a:t>依赖 “预判目标报文的固定周期”，但实车中大量报文并非严格固定周期，或存在抖动，无法精准预判注入时机，导致攻击失效。</a:t>
            </a:r>
            <a:endParaRPr lang="zh-CN" altLang="en-US" sz="1420" dirty="0"/>
          </a:p>
          <a:p>
            <a:endParaRPr lang="zh-CN" altLang="en-US" sz="1420" dirty="0"/>
          </a:p>
          <a:p>
            <a:r>
              <a:rPr sz="142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现实问题：</a:t>
            </a:r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实车流量有抖动，很多报文并非严格周期；没有实时读就很难“只打目标帧”</a:t>
            </a:r>
            <a:r>
              <a:rPr sz="142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sz="142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2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CANflict 思路：把读写拆给 SPI/UART/I2C/ADC 等外设，让硬件承担波特率与采样节奏。</a:t>
            </a:r>
            <a:endParaRPr sz="142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42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995160" y="2743200"/>
            <a:ext cx="4114800" cy="0"/>
          </a:xfrm>
          <a:prstGeom prst="line">
            <a:avLst/>
          </a:prstGeom>
          <a:noFill/>
          <a:ln w="25400">
            <a:solidFill>
              <a:srgbClr val="0B12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2615184"/>
            <a:ext cx="0" cy="256032"/>
          </a:xfrm>
          <a:prstGeom prst="line">
            <a:avLst/>
          </a:prstGeom>
          <a:noFill/>
          <a:ln w="12700">
            <a:solidFill>
              <a:srgbClr val="0B12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07224" y="2615184"/>
            <a:ext cx="0" cy="256032"/>
          </a:xfrm>
          <a:prstGeom prst="line">
            <a:avLst/>
          </a:prstGeom>
          <a:noFill/>
          <a:ln w="12700">
            <a:solidFill>
              <a:srgbClr val="0B12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19288" y="2615184"/>
            <a:ext cx="0" cy="256032"/>
          </a:xfrm>
          <a:prstGeom prst="line">
            <a:avLst/>
          </a:prstGeom>
          <a:noFill/>
          <a:ln w="12700">
            <a:solidFill>
              <a:srgbClr val="0B12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31352" y="2615184"/>
            <a:ext cx="0" cy="256032"/>
          </a:xfrm>
          <a:prstGeom prst="line">
            <a:avLst/>
          </a:prstGeom>
          <a:noFill/>
          <a:ln w="12700">
            <a:solidFill>
              <a:srgbClr val="0B12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43416" y="2615184"/>
            <a:ext cx="0" cy="256032"/>
          </a:xfrm>
          <a:prstGeom prst="line">
            <a:avLst/>
          </a:prstGeom>
          <a:noFill/>
          <a:ln w="12700">
            <a:solidFill>
              <a:srgbClr val="0B12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2615184"/>
            <a:ext cx="0" cy="256032"/>
          </a:xfrm>
          <a:prstGeom prst="line">
            <a:avLst/>
          </a:prstGeom>
          <a:noFill/>
          <a:ln w="12700">
            <a:solidFill>
              <a:srgbClr val="0B12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67544" y="2615184"/>
            <a:ext cx="0" cy="256032"/>
          </a:xfrm>
          <a:prstGeom prst="line">
            <a:avLst/>
          </a:prstGeom>
          <a:noFill/>
          <a:ln w="12700">
            <a:solidFill>
              <a:srgbClr val="0B12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79608" y="2615184"/>
            <a:ext cx="0" cy="256032"/>
          </a:xfrm>
          <a:prstGeom prst="line">
            <a:avLst/>
          </a:prstGeom>
          <a:noFill/>
          <a:ln w="12700">
            <a:solidFill>
              <a:srgbClr val="0B12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91672" y="2615184"/>
            <a:ext cx="0" cy="256032"/>
          </a:xfrm>
          <a:prstGeom prst="line">
            <a:avLst/>
          </a:prstGeom>
          <a:noFill/>
          <a:ln w="12700">
            <a:solidFill>
              <a:srgbClr val="0B12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6995160" y="2176272"/>
            <a:ext cx="512064" cy="320040"/>
          </a:xfrm>
          <a:prstGeom prst="bracePair">
            <a:avLst/>
          </a:prstGeom>
          <a:noFill/>
          <a:ln w="1524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85623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≈ 1 μs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CANflict 核心洞察：CAN 引脚并不一定只属于 CAN 控制器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MCU 内部多个外设可能复用同一个物理引脚，软件可通过寄存器切换连接</a:t>
            </a:r>
            <a:endParaRPr lang="en-US" sz="1080" dirty="0"/>
          </a:p>
        </p:txBody>
      </p:sp>
      <p:sp>
        <p:nvSpPr>
          <p:cNvPr id="5" name="Text 2"/>
          <p:cNvSpPr/>
          <p:nvPr/>
        </p:nvSpPr>
        <p:spPr>
          <a:xfrm>
            <a:off x="685800" y="501091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i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Figure 2：利用冲突外设绕过 CAN 控制器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5434965" y="1280160"/>
            <a:ext cx="6040755" cy="3950335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r>
              <a:rPr lang="zh-CN" alt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正</a:t>
            </a:r>
            <a:r>
              <a:rPr 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常工作流程（无攻击状态）</a:t>
            </a:r>
            <a:endParaRPr lang="en-US" sz="1420" b="1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None/>
            </a:pPr>
            <a:r>
              <a:rPr 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在未被攻击时，CPU 通过select信号，让 MUX 将CAN_TX/CAN_RX引脚连接到CAN Controller：</a:t>
            </a:r>
            <a:endParaRPr 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342900" indent="-342900" algn="l">
              <a:buClrTx/>
              <a:buSzTx/>
              <a:buFont typeface="+mj-lt"/>
              <a:buAutoNum type="arabicPeriod"/>
            </a:pPr>
            <a:r>
              <a:rPr 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控制器自动处理 CAN 帧的发送、接收、仲裁与错误校验；</a:t>
            </a:r>
            <a:endParaRPr 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342900" indent="-342900" algn="l">
              <a:buClrTx/>
              <a:buSzTx/>
              <a:buFont typeface="+mj-lt"/>
              <a:buAutoNum type="arabicPeriod"/>
            </a:pPr>
            <a:r>
              <a:rPr 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数据通过 CAN 收发器传输到 CAN 总线，其他节点按协议规则正常通信。</a:t>
            </a:r>
            <a:endParaRPr 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None/>
            </a:pPr>
            <a:endParaRPr 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None/>
            </a:pPr>
            <a:r>
              <a:rPr lang="zh-CN" alt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攻击状态下的流程（</a:t>
            </a:r>
            <a:r>
              <a:rPr lang="en-US" altLang="zh-CN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CANflict </a:t>
            </a:r>
            <a:r>
              <a:rPr lang="zh-CN" altLang="en-US" sz="142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核心原理）</a:t>
            </a:r>
            <a:endParaRPr lang="zh-CN" altLang="en-US" sz="1420" b="1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None/>
            </a:pP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图中的红色叉号，代表 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控制器与 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MUX 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的连接被切断，此时：</a:t>
            </a:r>
            <a:endParaRPr lang="zh-CN" alt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342900" indent="-342900" algn="l">
              <a:buClrTx/>
              <a:buSzTx/>
              <a:buFont typeface="+mj-lt"/>
              <a:buAutoNum type="arabicPeriod"/>
            </a:pP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引脚控制权被切换：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CPU 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修改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select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信号，让 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MUX 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将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CAN_TX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引脚连接到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Peripheral A（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如 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SPI）、CAN_RX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引脚连接到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Peripheral B（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如 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UART）；</a:t>
            </a:r>
            <a:endParaRPr lang="en-US" altLang="zh-CN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342900" indent="-342900" algn="l">
              <a:buClrTx/>
              <a:buSzTx/>
              <a:buFont typeface="+mj-lt"/>
              <a:buAutoNum type="arabicPeriod"/>
            </a:pP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绕过 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控制器：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控制器被旁路，不再参与总线比特流的控制；</a:t>
            </a:r>
            <a:endParaRPr lang="zh-CN" alt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342900" indent="-342900" algn="l">
              <a:buClrTx/>
              <a:buSzTx/>
              <a:buFont typeface="+mj-lt"/>
              <a:buAutoNum type="arabicPeriod"/>
            </a:pP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外设直接操控总线：通过配置 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SPI/UART 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等外设的波特率与数据格式，生成符合 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协议时序的比特流，直接控制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CAN_TX/CAN_RX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引脚电平；</a:t>
            </a:r>
            <a:endParaRPr lang="zh-CN" alt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342900" indent="-342900" algn="l">
              <a:buClrTx/>
              <a:buSzTx/>
              <a:buFont typeface="+mj-lt"/>
              <a:buAutoNum type="arabicPeriod"/>
            </a:pP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发起链路层攻击：通过注入特定比特流，干扰目标 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ECU 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的通信，触发其错误计数器溢出，最终实现定向</a:t>
            </a:r>
            <a:r>
              <a:rPr lang="en-US" altLang="zh-CN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Bus-Off</a:t>
            </a:r>
            <a:r>
              <a:rPr lang="zh-CN" altLang="en-US" sz="142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断连攻击。</a:t>
            </a:r>
            <a:endParaRPr lang="zh-CN" alt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682240" y="5669280"/>
            <a:ext cx="59436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96362" y="5669280"/>
            <a:ext cx="4873752" cy="658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绕过 CAN 控制器 ≠ 绕过 CAN 收发器：攻击者仍通过真实总线电平影响其他节点。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040" y="1280160"/>
            <a:ext cx="4910455" cy="3559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引脚冲突不是偶然：车规 MCU 中普遍存在外设复用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芯片引脚有限，外设很多；为了灵活布线，多个外设常共享同一引脚</a:t>
            </a:r>
            <a:endParaRPr lang="en-US" sz="1080" dirty="0"/>
          </a:p>
        </p:txBody>
      </p:sp>
      <p:sp>
        <p:nvSpPr>
          <p:cNvPr id="5" name="Text 2"/>
          <p:cNvSpPr/>
          <p:nvPr/>
        </p:nvSpPr>
        <p:spPr>
          <a:xfrm>
            <a:off x="3691255" y="3795395"/>
            <a:ext cx="51663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Table 1：多款车规 MCU 存在 CAN 与其他外设冲突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2880995" y="4312920"/>
            <a:ext cx="6581775" cy="2011045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 lnSpcReduction="10000"/>
          </a:bodyPr>
          <a:lstStyle/>
          <a:p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Table 1 覆盖 Renesas、NXP、Atmel、ST、Silicon Labs、Infineon 等车规/嵌入式 MCU。</a:t>
            </a:r>
            <a:endParaRPr sz="142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示例：AURIX TC399XP 的 CAN 引脚可与 SPI、UART、I2C、ADC、GPIO 冲突；STM32L562 可与 SPI、UART、I2C、GPIO 冲突。</a:t>
            </a:r>
            <a:endParaRPr sz="142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</a:pPr>
            <a:r>
              <a:rPr sz="142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含义：这不是单一型号 bug，而是 MCU 引脚复用设计带来的通用风险。</a:t>
            </a:r>
            <a:endParaRPr sz="142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</a:pPr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对攻击者：只要控制代码并能切换 MUX，就可能获得 CANRX/CANTX 的低层读写原语。</a:t>
            </a:r>
            <a:endParaRPr lang="en-US" sz="142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995" y="928370"/>
            <a:ext cx="6581775" cy="2867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sz="28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威胁模型：前置入侵后，攻击者从消息层下钻到链路层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论文不是研究如何远程入侵车辆，而是研究入侵后能否发动链路层攻击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1783080" y="2743200"/>
            <a:ext cx="10972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251960" y="2743200"/>
            <a:ext cx="10972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766560" y="2743200"/>
            <a:ext cx="10972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235440" y="2743200"/>
            <a:ext cx="10972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86584"/>
            <a:ext cx="1408176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远程入口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车机/蓝牙/蜂窝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34640" y="23317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386584"/>
            <a:ext cx="1408176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控制某个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合法 ECU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74920" y="23317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8072" y="2386584"/>
            <a:ext cx="1773936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切换外设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访问 CAN 引脚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35240" y="23317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8392" y="2386584"/>
            <a:ext cx="1682496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读写总线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比特级操作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104120" y="233172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77272" y="2386584"/>
            <a:ext cx="1453896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攻击目标 ECU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Bus-Off / 干扰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9921240" cy="14630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r>
              <a:rPr sz="14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前提：攻击者已经能在某个合法 ECU 上运行代码，这是车联网后渗透研究中的常见假设。</a:t>
            </a:r>
            <a:endParaRPr sz="144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目标：同一 CAN 网络上的另一个 ECU；不需要额外接入 OBD，也不需要改装总线硬件。</a:t>
            </a:r>
            <a:endParaRPr sz="144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新增能力：通过冲突外设获得 low-level read/write primitive，绕过 CAN 控制器的帧级限制。</a:t>
            </a:r>
            <a:endParaRPr sz="144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关键差异：CANflict 不依赖受害报文严格周期性，因为它可以边读总线边决定何时写入。</a:t>
            </a:r>
            <a:endParaRPr lang="zh-CN" altLang="en-US" sz="144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关键技术：Polyglot Frames（多义帧）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同一段电平序列，可以被不同协议解释为不同但都合法的“消息”</a:t>
            </a:r>
            <a:endParaRPr lang="en-US" sz="1080" dirty="0"/>
          </a:p>
        </p:txBody>
      </p:sp>
      <p:sp>
        <p:nvSpPr>
          <p:cNvPr id="5" name="Text 2"/>
          <p:cNvSpPr/>
          <p:nvPr/>
        </p:nvSpPr>
        <p:spPr>
          <a:xfrm>
            <a:off x="594360" y="5961888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i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Figure 6：SPI、UART、I2C 如何构造可被 CAN 接受的帧</a:t>
            </a:r>
            <a:endParaRPr lang="en-US" sz="820" dirty="0"/>
          </a:p>
        </p:txBody>
      </p:sp>
      <p:sp>
        <p:nvSpPr>
          <p:cNvPr id="6" name="Shape 3"/>
          <p:cNvSpPr/>
          <p:nvPr/>
        </p:nvSpPr>
        <p:spPr>
          <a:xfrm>
            <a:off x="4663440" y="1234440"/>
            <a:ext cx="59436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56360" y="3879215"/>
            <a:ext cx="9662160" cy="12547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 fontScale="80000"/>
          </a:bodyPr>
          <a:lstStyle/>
          <a:p>
            <a:r>
              <a:rPr sz="143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普通 polyglot：同一个文件可被不同解析器解释为不同格式。</a:t>
            </a:r>
            <a:r>
              <a:rPr lang="zh-CN" sz="143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altLang="en-US" sz="143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把 </a:t>
            </a:r>
            <a:r>
              <a:rPr lang="en-US" altLang="zh-CN" sz="143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CAN </a:t>
            </a:r>
            <a:r>
              <a:rPr lang="zh-CN" altLang="en-US" sz="143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帧规则和外设协议规则同时当作约束，找一串同时满足两边的 </a:t>
            </a:r>
            <a:r>
              <a:rPr lang="en-US" altLang="zh-CN" sz="143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bit </a:t>
            </a:r>
            <a:r>
              <a:rPr lang="zh-CN" altLang="en-US" sz="143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序列</a:t>
            </a:r>
            <a:r>
              <a:rPr lang="zh-CN" sz="143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sz="143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3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CANflict 的 polyglot frame：同一串 bit 既是外设能发送/接收的数据，也是 CAN 控制器能接受的帧或局部序列。</a:t>
            </a:r>
            <a:endParaRPr sz="143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3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为什么需要它：pin conflict 只给了“接线入口”，并不自动让 SPI/UART/I2C 输出合法 CAN 流量。</a:t>
            </a:r>
            <a:endParaRPr sz="143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3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使用方式：完整帧实验验证 CAN 控制器无法区分；攻击场景中更常用的是关键位置的短 bit 序列。</a:t>
            </a:r>
            <a:endParaRPr sz="143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43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换而言之</a:t>
            </a:r>
            <a:endParaRPr lang="zh-CN" altLang="en-US" sz="1430" b="1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r>
              <a:rPr lang="en-US" altLang="zh-CN" sz="143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MCU </a:t>
            </a:r>
            <a:r>
              <a:rPr lang="zh-CN" altLang="en-US" sz="143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引脚冲突（</a:t>
            </a:r>
            <a:r>
              <a:rPr lang="en-US" altLang="zh-CN" sz="143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CANTX/CANRX </a:t>
            </a:r>
            <a:r>
              <a:rPr lang="zh-CN" altLang="en-US" sz="143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引脚与 </a:t>
            </a:r>
            <a:r>
              <a:rPr lang="en-US" altLang="zh-CN" sz="143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SPI/UART/I2C/ADC </a:t>
            </a:r>
            <a:r>
              <a:rPr lang="zh-CN" altLang="en-US" sz="143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等外设复用），但仅切换引脚还无法发起攻击：不同外设拥有独立的协议规范，直接输出信号会被 </a:t>
            </a:r>
            <a:r>
              <a:rPr lang="en-US" altLang="zh-CN" sz="143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</a:t>
            </a:r>
            <a:r>
              <a:rPr lang="zh-CN" altLang="en-US" sz="143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总线判定为非法信号。而 </a:t>
            </a:r>
            <a:r>
              <a:rPr lang="en-US" altLang="zh-CN" sz="143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Polyglot Frames </a:t>
            </a:r>
            <a:r>
              <a:rPr lang="zh-CN" altLang="en-US" sz="143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解决了跨外设通信的协议兼容问题，让复用外设生成的信号能被 </a:t>
            </a:r>
            <a:r>
              <a:rPr lang="en-US" altLang="zh-CN" sz="143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</a:t>
            </a:r>
            <a:r>
              <a:rPr lang="zh-CN" altLang="en-US" sz="143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网络正常识别。</a:t>
            </a:r>
            <a:endParaRPr lang="zh-CN" altLang="en-US" sz="143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995805" y="5239385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50669" y="5285105"/>
            <a:ext cx="23591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 看到：合法 CAN 帧/局部比特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63285" y="5212080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18149" y="5257800"/>
            <a:ext cx="28163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SPI/UART/I2C 看到：自己的协议数据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4645025" y="-1901825"/>
            <a:ext cx="2322830" cy="899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SPI / UART / I2C / ADC 能力对比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CANflict 并不依赖单一外设，而是利用不同外设的读写特性组合攻击</a:t>
            </a:r>
            <a:endParaRPr lang="en-US" sz="1080" dirty="0"/>
          </a:p>
        </p:txBody>
      </p:sp>
      <p:pic>
        <p:nvPicPr>
          <p:cNvPr id="4" name="Image 0" descr="/mnt/data/canflict_assets/crops2/fig3_spi_tim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92523"/>
            <a:ext cx="3246120" cy="10268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377440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i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Figure 3：SPI 时序</a:t>
            </a:r>
            <a:endParaRPr lang="en-US" sz="820" dirty="0"/>
          </a:p>
        </p:txBody>
      </p:sp>
      <p:pic>
        <p:nvPicPr>
          <p:cNvPr id="6" name="Image 1" descr="/mnt/data/canflict_assets/crops2/fig4_uart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287230"/>
            <a:ext cx="3246120" cy="10374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2377440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i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Figure 4：UART 时序</a:t>
            </a:r>
            <a:endParaRPr lang="en-US" sz="820" dirty="0"/>
          </a:p>
        </p:txBody>
      </p:sp>
      <p:pic>
        <p:nvPicPr>
          <p:cNvPr id="8" name="Image 2" descr="/mnt/data/canflict_assets/crops2/fig5_i2c_ti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287230"/>
            <a:ext cx="3246120" cy="10374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83880" y="2377440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i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Figure 5：I2C 时序</a:t>
            </a:r>
            <a:endParaRPr lang="en-US" sz="820" dirty="0"/>
          </a:p>
        </p:txBody>
      </p:sp>
      <p:sp>
        <p:nvSpPr>
          <p:cNvPr id="10" name="Text 5"/>
          <p:cNvSpPr/>
          <p:nvPr/>
        </p:nvSpPr>
        <p:spPr>
          <a:xfrm>
            <a:off x="914400" y="3246120"/>
            <a:ext cx="9966960" cy="2148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7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SPI：限制最少，可高速读写任意 bit，是最理想的 CANflict 外设之一</a:t>
            </a:r>
            <a:endParaRPr lang="en-US" sz="1470" dirty="0"/>
          </a:p>
          <a:p>
            <a:r>
              <a:rPr lang="en-US" sz="147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UART：有固定 start/stop bit，但可通过组合多个 UART 包构造 polyglot frame</a:t>
            </a:r>
            <a:endParaRPr lang="en-US" sz="1470" dirty="0"/>
          </a:p>
          <a:p>
            <a:r>
              <a:rPr lang="en-US" sz="147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I2C：限制最多，读能力弱，但可用于写入短比特序列，适合制造错误</a:t>
            </a:r>
            <a:endParaRPr lang="en-US" sz="1470" dirty="0"/>
          </a:p>
          <a:p>
            <a:r>
              <a:rPr lang="en-US" sz="147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ADC：只能读，适合高频采样 CANRX，但不能主动写入总线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Targeted DoS：SPI 找帧，I2C 制造 6 bit 错误</a:t>
            </a:r>
            <a:endParaRPr sz="28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8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攻击不必伪造完整报文，只要在受害者发送时制造可归因于它的错误</a:t>
            </a:r>
            <a:endParaRPr sz="108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828800" y="2194560"/>
            <a:ext cx="13258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4800600" y="2194560"/>
            <a:ext cx="12801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7863840" y="2194560"/>
            <a:ext cx="118872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10013315" y="2637790"/>
            <a:ext cx="18415" cy="1934845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>
            <a:spLocks noGrp="1"/>
          </p:cNvSpPr>
          <p:nvPr/>
        </p:nvSpPr>
        <p:spPr>
          <a:xfrm>
            <a:off x="685800" y="1719072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58952" y="1773936"/>
            <a:ext cx="1591056" cy="8046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监听总线</a:t>
            </a:r>
            <a:endParaRPr sz="12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sz="12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读取目标 ID</a:t>
            </a:r>
            <a:endParaRPr sz="12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2971800" y="1719072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3044952" y="1773936"/>
            <a:ext cx="1819656" cy="8046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识别受害帧</a:t>
            </a:r>
            <a:endParaRPr sz="12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sz="12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 ID=0x1A2</a:t>
            </a:r>
            <a:endParaRPr sz="12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897880" y="1719072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5971032" y="1773936"/>
            <a:ext cx="2093976" cy="8046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在 payload 阶段</a:t>
            </a:r>
            <a:endParaRPr sz="12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sz="12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 6 个 dominant bits</a:t>
            </a:r>
            <a:endParaRPr sz="12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8869680" y="1719072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8942832" y="1773936"/>
            <a:ext cx="1728216" cy="8046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受害 ECU 报错</a:t>
            </a:r>
            <a:endParaRPr sz="12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sz="12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TEC 计数上升</a:t>
            </a:r>
            <a:endParaRPr sz="12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8979535" y="4526915"/>
            <a:ext cx="2057400" cy="749808"/>
          </a:xfrm>
          <a:prstGeom prst="roundRect">
            <a:avLst>
              <a:gd name="adj" fmla="val 975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9052687" y="4581779"/>
            <a:ext cx="1911096" cy="6400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重复多次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 Bus-Off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005840" y="3246120"/>
            <a:ext cx="3886200" cy="182880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38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读：SPI 连接 CANRX，定位目标 ID 0x1A2。</a:t>
            </a:r>
            <a:endParaRPr sz="138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38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写：I2C 连接 CANTX，在 payload 阶段压入 6 个 dominant bits。</a:t>
            </a:r>
            <a:endParaRPr sz="138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38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效果：受害 ECU 认为自己发送出错，TEC 上升。</a:t>
            </a:r>
            <a:endParaRPr sz="138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38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论文实验：32 次后进入 Bus-Off；未误伤其他 ID。</a:t>
            </a:r>
            <a:endParaRPr sz="138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5807075" y="3145790"/>
            <a:ext cx="3383280" cy="86868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/>
          </a:bodyPr>
          <a:lstStyle/>
          <a:p>
            <a:pPr marL="0" indent="0">
              <a:buNone/>
            </a:pPr>
            <a:r>
              <a:rPr sz="138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关键点：它不是“塞一条恶意 CAN 帧”，而是在受害者合法帧中制造少量错误比特。</a:t>
            </a:r>
            <a:endParaRPr sz="138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实验设计：低端 MCU 能否稳定完成 1 Mb/s 读写？</a:t>
            </a:r>
            <a:endParaRPr sz="28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8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作者用低端、中端、高端平台证明方法不是只靠高性能硬件成立</a:t>
            </a:r>
            <a:endParaRPr sz="108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8791"/>
            <a:ext cx="4983480" cy="3000258"/>
          </a:xfrm>
          <a:prstGeom prst="rect">
            <a:avLst/>
          </a:prstGeom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685800" y="4434840"/>
            <a:ext cx="49834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 Table 5：三类实验平台对比</a:t>
            </a:r>
            <a:endParaRPr sz="82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0760" y="1371600"/>
            <a:ext cx="5166360" cy="242316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43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低端：NXP LPC11C24，Cortex-M0，50 MHz，8 kB SRAM，32 kB Flash。</a:t>
            </a:r>
            <a:endParaRPr sz="143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3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中端：STM32L562，Cortex-M33，110 MHz，256 kB SRAM，512 kB Flash。</a:t>
            </a:r>
            <a:endParaRPr sz="143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3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高端车规：Infineon AURIX TC399XP，6 核 TriCore，300 MHz，2.9 MB SRAM，16 MB Flash。</a:t>
            </a:r>
            <a:endParaRPr sz="143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3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评估目标：同一思想能否跨平台、跨外设、跨性能级别稳定读写 CAN。</a:t>
            </a:r>
            <a:endParaRPr sz="143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17920" y="4343400"/>
            <a:ext cx="4480560" cy="384048"/>
          </a:xfrm>
          <a:prstGeom prst="roundRect">
            <a:avLst>
              <a:gd name="adj" fmla="val 11905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6272784" y="4389120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实验关注点 1：完整 CAN 帧能否被真实 CAN 控制器接受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217920" y="4892040"/>
            <a:ext cx="4480560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272784" y="4937760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实验关注点 2：能否在 1 Mb/s 高速 CAN 上稳定工作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6217920" y="5440680"/>
            <a:ext cx="4480560" cy="384048"/>
          </a:xfrm>
          <a:prstGeom prst="roundRect">
            <a:avLst>
              <a:gd name="adj" fmla="val 11905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272784" y="5486400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实验关注点 3：能否实现真实目标 DoS 场景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实验结果一：SPI/UART 把 1 Mb/s 时序交给硬件外设</a:t>
            </a:r>
            <a:endParaRPr sz="28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8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个连续 CAN 帧无错误的测试中，外设方法明显优于低端 bitbanging</a:t>
            </a:r>
            <a:endParaRPr sz="108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38349"/>
            <a:ext cx="5212080" cy="1895302"/>
          </a:xfrm>
          <a:prstGeom prst="rect">
            <a:avLst/>
          </a:prstGeom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777240" y="3337560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 Table 6：不同技术在三类 MCU 上的读写性能</a:t>
            </a:r>
            <a:endParaRPr sz="82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400800" y="1325880"/>
            <a:ext cx="4983480" cy="242316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43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SPI / UART：三类平台写入与读取均达到 1 Mb/s。</a:t>
            </a:r>
            <a:endParaRPr sz="143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3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低端 LPC11C24：bitbanging 写 200 kb/s、读 120 kb/s；与 1 Mb/s 高速 CAN 差距明显。</a:t>
            </a:r>
            <a:endParaRPr sz="143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3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I2C：受协议固定字段限制，完整帧能力弱，但可用于特定速率或短序列注入。</a:t>
            </a:r>
            <a:endParaRPr sz="143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3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结论：CANflict 把原本需要高精度软件时序的任务，转移给已有硬件外设。</a:t>
            </a:r>
            <a:endParaRPr sz="143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1143000" y="4892040"/>
            <a:ext cx="59436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1307592" y="4937760"/>
            <a:ext cx="9400032" cy="585216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 fontScale="95917"/>
          </a:bodyPr>
          <a:lstStyle/>
          <a:p>
            <a:pPr marL="0" indent="0">
              <a:buNone/>
            </a:pPr>
            <a:r>
              <a:rPr sz="20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关键结论：CANflict 让“低端 MCU 上的远程链路层比特操控”从不现实变成可实验验证。</a:t>
            </a:r>
            <a:endParaRPr sz="20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实验结果二：</a:t>
            </a:r>
            <a:r>
              <a:rPr sz="28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真实流量中完成定向 Bus-Off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攻击者在 1 Mb/s CAN 网络中准确定位目标帧并制造错误</a:t>
            </a:r>
            <a:endParaRPr lang="en-US" sz="1080" dirty="0"/>
          </a:p>
        </p:txBody>
      </p:sp>
      <p:pic>
        <p:nvPicPr>
          <p:cNvPr id="4" name="Image 0" descr="/mnt/data/canflict_assets/crops2/fig7_fu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48" y="1234440"/>
            <a:ext cx="5505743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4096512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i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Figure 7：攻击者触发受害帧错误的总线轨迹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6537960" y="1325880"/>
            <a:ext cx="4709160" cy="28346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r>
              <a:rPr sz="138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实验配置：STM32L562 作为攻击者；AURIX TC399 的一路 CAN 作为受害者，另一路作为流量生成器。</a:t>
            </a:r>
            <a:endParaRPr sz="138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38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真实流量：使用 ReCAN 数据集模拟车内 CAN 报文；目标 ID 选择 0x1A2。</a:t>
            </a:r>
            <a:endParaRPr sz="138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38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攻击方式：SPI 读取目标 ID，I2C 写入 6 个 dominant bits。</a:t>
            </a:r>
            <a:endParaRPr sz="138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38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结果：重复 32 次触发故障隔离，使受害 ECU 无法继续通信；实验未错误攻击其他 ID。</a:t>
            </a:r>
            <a:endParaRPr sz="138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sz="1380" dirty="0"/>
          </a:p>
        </p:txBody>
      </p:sp>
      <p:sp>
        <p:nvSpPr>
          <p:cNvPr id="7" name="Shape 4"/>
          <p:cNvSpPr/>
          <p:nvPr/>
        </p:nvSpPr>
        <p:spPr>
          <a:xfrm>
            <a:off x="914400" y="50749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5129784"/>
            <a:ext cx="195681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A：攻击者拉低总线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507492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10712" y="5129784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B：受害者产生错误帧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507492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E0F2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62472" y="5129784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C：其他节点也检测错误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实验结果三：Polyglot 与真实 CAN 流量的兼容性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读操作不能任意修改流量，因此需要分析真实报文和外设协议约束的匹配程度</a:t>
            </a:r>
            <a:endParaRPr lang="en-US" sz="1080" dirty="0"/>
          </a:p>
        </p:txBody>
      </p:sp>
      <p:sp>
        <p:nvSpPr>
          <p:cNvPr id="5" name="Text 2"/>
          <p:cNvSpPr/>
          <p:nvPr/>
        </p:nvSpPr>
        <p:spPr>
          <a:xfrm>
            <a:off x="822960" y="5897880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i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Figure 8：ReCAN 数据集中 CAN 报文与 UART/I2C 的兼容比特长度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5486400" y="1325880"/>
            <a:ext cx="5440680" cy="27889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数据集：约 260k 条 ReCAN 真实 CAN 报文。</a:t>
            </a:r>
            <a:endParaRPr sz="142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UART：即使有 start/stop 约束，也能读取完整 CAN ID，适合作为多种链路层攻击的读取技术。</a:t>
            </a:r>
            <a:endParaRPr sz="142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I2C：只能读取约 14.3% 的 CAN ID，读能力较弱。</a:t>
            </a:r>
            <a:endParaRPr sz="142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写操作更灵活：攻击者可选择发送内容，因此尤其在 UART 上，构造完整 polyglot frame 更容易。</a:t>
            </a:r>
            <a:endParaRPr lang="en-US" sz="1420" dirty="0"/>
          </a:p>
        </p:txBody>
      </p:sp>
      <p:sp>
        <p:nvSpPr>
          <p:cNvPr id="7" name="Shape 4"/>
          <p:cNvSpPr/>
          <p:nvPr/>
        </p:nvSpPr>
        <p:spPr>
          <a:xfrm>
            <a:off x="5486400" y="4892040"/>
            <a:ext cx="59436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50992" y="4937760"/>
            <a:ext cx="5102352" cy="4937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70000"/>
          </a:bodyPr>
          <a:lstStyle/>
          <a:p>
            <a:pPr marL="0" indent="0">
              <a:buNone/>
            </a:pPr>
            <a:r>
              <a:rPr sz="20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结论：SPI 最自由，UART 具备实用读写能力，I2C 更适合局部注入；组合外设是 CANflict 的关键。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745" y="1139825"/>
            <a:ext cx="3930015" cy="46615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CANflict Framework：</a:t>
            </a:r>
            <a:r>
              <a:rPr sz="28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把攻击与防御研究都抽象成接口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作者开源框架，支持在不同平台与外设上实现 CAN 比特读写</a:t>
            </a:r>
            <a:endParaRPr lang="en-US" sz="1080" dirty="0"/>
          </a:p>
        </p:txBody>
      </p:sp>
      <p:pic>
        <p:nvPicPr>
          <p:cNvPr id="4" name="Image 0" descr="/mnt/data/canflict_assets/crops2/table7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68462"/>
            <a:ext cx="5029200" cy="1972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3520440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i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Table 7：CANflict 与既有工具能力对比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6172200" y="1234440"/>
            <a:ext cx="4983480" cy="26517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Public Interface Layer：统一 Sender / Receiver 接口。</a:t>
            </a:r>
            <a:endParaRPr sz="142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Techniques Layer：把 SPI、UART、I2C、ADC 等实现为可复用读写模块。</a:t>
            </a:r>
            <a:endParaRPr sz="142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Platform Layer：封装不同 MCU 的寄存器、时钟与外设差异。</a:t>
            </a:r>
            <a:endParaRPr sz="142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对比优势：同时支持跨平台、读、写、低端 MCU、非周期消息；</a:t>
            </a:r>
            <a:endParaRPr sz="142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CANflict 是唯一满足</a:t>
            </a:r>
            <a:r>
              <a:rPr lang="zh-CN"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跨平台、读、写、支持低端</a:t>
            </a:r>
            <a:r>
              <a:rPr lang="en-US" altLang="zh-CN"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MCU</a:t>
            </a:r>
            <a:r>
              <a:rPr lang="zh-CN" altLang="en-US"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，支持非周期报文</a:t>
            </a:r>
            <a:r>
              <a:rPr sz="14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的方案。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6396</Words>
  <Application>WPS 演示</Application>
  <PresentationFormat>On-screen Show (16:9)</PresentationFormat>
  <Paragraphs>349</Paragraphs>
  <Slides>17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CANflict 完整论文汇报</dc:title>
  <dc:creator>OpenAI</dc:creator>
  <dc:subject>CANflict paper presentation</dc:subject>
  <cp:lastModifiedBy>i</cp:lastModifiedBy>
  <cp:revision>8</cp:revision>
  <dcterms:created xsi:type="dcterms:W3CDTF">2026-06-08T09:29:00Z</dcterms:created>
  <dcterms:modified xsi:type="dcterms:W3CDTF">2026-06-09T02:21:58Z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8C545162BADE44FCBB8A100E256AF561_13</vt:lpwstr>
  </property>
</Properties>
</file>