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9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9223A-3483-4EAD-A791-D0709AEE1790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148A5-BB9E-48E9-B9B3-463C6C261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11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148A5-BB9E-48E9-B9B3-463C6C26178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00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148A5-BB9E-48E9-B9B3-463C6C26178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830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832F0-4190-E5C2-7E94-CC6825C67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D14EB6-7A94-4846-5EB0-09248B578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016BD5-F102-B1B9-2704-39AA25C70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E4B-7A21-489A-B076-FF1FE5BA7FC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68E74F-D430-2188-9EF6-C204D27B9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284364-FE41-623F-9121-BB417AD9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AD1A3-0C64-4806-BBC1-C58B44602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417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55879-5EC3-E13B-43CF-455181D66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C3542-ED82-4665-10F4-254377EB6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6BCEB8-FEE4-7E67-CD16-A1605797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E4B-7A21-489A-B076-FF1FE5BA7FC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FF676E-A67A-8825-1E74-7DAB7D00B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91DBE-FCFF-BA83-1EC0-07EEB754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AD1A3-0C64-4806-BBC1-C58B44602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94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C41EF-25AF-009A-56D7-69D98F38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3FE56A-8B0D-1B4C-78FC-579F2C501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3FCBC0-A68C-9AD0-85D0-14486A00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E4B-7A21-489A-B076-FF1FE5BA7FC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B0D26D-E6AF-4515-D9BF-91C2538D8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DDDE59-C31F-5001-6365-427E068E4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AD1A3-0C64-4806-BBC1-C58B44602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08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C7D88-0218-BB76-AE31-495C2842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F05C2A-3A89-684E-A25C-37A16AFB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8FD820-20E4-77AA-C73C-E65BA81A3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2078AF-52E0-8636-E72D-AA505213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E4B-7A21-489A-B076-FF1FE5BA7FC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ED8DCE-6757-2942-A8E0-E48D8BFB2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ED3E63-C74D-477C-C231-73182082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AD1A3-0C64-4806-BBC1-C58B44602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963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E99530-7C83-BF0C-1DC5-B9C2AD09D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A8762A-FD33-00CE-5D84-535362E62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BB037D-3062-948B-B07F-447E351EB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1A583D-06F6-572F-E182-66250D22B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AADB28-0282-B146-9BD3-871054CD8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EDAEF5-7AB2-EEE0-7361-3493ACCE4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E4B-7A21-489A-B076-FF1FE5BA7FC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218B14-361F-58DA-FC96-212B49CE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0849D3-259E-EAA0-32E2-E3C1778C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AD1A3-0C64-4806-BBC1-C58B44602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96883-C082-AEE5-21A4-40F4C12D4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5F735B-6F8A-116D-5A04-B5421DDA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E4B-7A21-489A-B076-FF1FE5BA7FC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59003A-4249-06BC-98AA-6A2C944C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B8582F-3BAD-4775-A920-AAA1B4E85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AD1A3-0C64-4806-BBC1-C58B44602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33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AA72B4-C435-686A-A946-BE7EBE716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E4B-7A21-489A-B076-FF1FE5BA7FC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142D95-C60A-176A-6C89-F44D6CE1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A05A20-5AC9-D32E-2F0F-3C39D398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AD1A3-0C64-4806-BBC1-C58B44602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03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431851-1701-987B-25DE-1A23A3AD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D940CE-5133-AD2A-895C-B25B5B3DA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DBD871-8A56-2CE1-333B-693AEF2D6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DC9839-0C6C-1ECB-2385-D1FA0645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E4B-7A21-489A-B076-FF1FE5BA7FC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6B0085-DF9C-C47A-BE6E-7BB4D5D4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BDF188-2734-8106-94ED-1C08DDF3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AD1A3-0C64-4806-BBC1-C58B44602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067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4E58-9FD9-65C9-20BF-79916266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2B2B6F-7B52-40CF-3839-1F60EC905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CC435E-6A82-6903-1D2F-3505B1B92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43A556-1B5C-9656-A8FC-97E407244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E4B-7A21-489A-B076-FF1FE5BA7FC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2A41CE-7519-5702-4B99-379FA08C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682355-D2EB-4456-6036-9D881F14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AD1A3-0C64-4806-BBC1-C58B44602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447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A53E4E-204D-0C81-706D-B4AF2C1CA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A75F72-B8D0-3B1B-7E5E-A898161E8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EB407C-36AA-0AE6-6856-FDA84636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E4B-7A21-489A-B076-FF1FE5BA7FC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7C9CDB-663E-33F2-C2DF-3D3D2620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D9F9FD-CEB8-E674-7E2E-D0D9867B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AD1A3-0C64-4806-BBC1-C58B44602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49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28BBFF-70DB-61DC-D85B-54A327621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4B9E7D-0542-4135-D4B7-11EA34C7E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69DDCE-DE58-A830-133B-0101E239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E4B-7A21-489A-B076-FF1FE5BA7FC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2872F2-5722-19BF-3C1A-258E4DCE3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4FA486-1F47-5A39-D7E0-C97DA2B8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AD1A3-0C64-4806-BBC1-C58B44602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535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D02FF0-2730-E281-27B6-31A73AAB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401A31-5F56-6808-AE2A-224C8D205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C4A24-354C-2136-D8E7-CCBBD0ECC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13E4B-7A21-489A-B076-FF1FE5BA7FC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53D52-4F9E-D7DB-9425-C4677D63C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1FCBC2-43B2-DBCE-322E-E6634B01E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AD1A3-0C64-4806-BBC1-C58B44602B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034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C149955-E300-E460-5E95-253C40AB632A}"/>
              </a:ext>
            </a:extLst>
          </p:cNvPr>
          <p:cNvSpPr txBox="1"/>
          <p:nvPr/>
        </p:nvSpPr>
        <p:spPr>
          <a:xfrm>
            <a:off x="1286933" y="1221703"/>
            <a:ext cx="9618133" cy="445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50"/>
              </a:spcAft>
              <a:buNone/>
            </a:pPr>
            <a:r>
              <a:rPr lang="zh-CN" altLang="en-US" sz="2400" b="1" i="0" dirty="0">
                <a:effectLst/>
                <a:latin typeface="+mn-ea"/>
              </a:rPr>
              <a:t>基于控制字段驱动的工业协议逆向工程</a:t>
            </a:r>
          </a:p>
          <a:p>
            <a:pPr algn="ctr">
              <a:spcAft>
                <a:spcPts val="3000"/>
              </a:spcAft>
              <a:buNone/>
            </a:pPr>
            <a:r>
              <a:rPr lang="en-US" altLang="zh-CN" sz="2400" b="0" i="0" dirty="0">
                <a:effectLst/>
                <a:latin typeface="+mn-ea"/>
              </a:rPr>
              <a:t>Reverse Engineering Industrial Protocols Driven By Control Fields</a:t>
            </a:r>
          </a:p>
          <a:p>
            <a:pPr algn="ctr">
              <a:spcAft>
                <a:spcPts val="3000"/>
              </a:spcAft>
              <a:buNone/>
            </a:pPr>
            <a:r>
              <a:rPr lang="en-US" altLang="zh-CN" sz="2400" dirty="0"/>
              <a:t>IEEE INFOCOM 2024 - IEEE Conference on Computer Communications</a:t>
            </a:r>
            <a:endParaRPr lang="en-US" altLang="zh-CN" sz="2400" b="0" i="0" dirty="0">
              <a:effectLst/>
              <a:latin typeface="+mn-ea"/>
            </a:endParaRPr>
          </a:p>
          <a:p>
            <a:pPr algn="ctr">
              <a:spcAft>
                <a:spcPts val="1875"/>
              </a:spcAft>
              <a:buNone/>
            </a:pPr>
            <a:r>
              <a:rPr lang="en-US" altLang="zh-CN" sz="2400" b="0" i="0" dirty="0">
                <a:effectLst/>
                <a:latin typeface="+mn-ea"/>
              </a:rPr>
              <a:t>Zhen Qin, </a:t>
            </a:r>
            <a:r>
              <a:rPr lang="en-US" altLang="zh-CN" sz="2400" b="0" i="0" dirty="0" err="1">
                <a:effectLst/>
                <a:latin typeface="+mn-ea"/>
              </a:rPr>
              <a:t>Zeyu</a:t>
            </a:r>
            <a:r>
              <a:rPr lang="en-US" altLang="zh-CN" sz="2400" b="0" i="0" dirty="0">
                <a:effectLst/>
                <a:latin typeface="+mn-ea"/>
              </a:rPr>
              <a:t> Yang, Yangyang Geng, Xin Che, Tianyi Wang, </a:t>
            </a:r>
            <a:r>
              <a:rPr lang="en-US" altLang="zh-CN" sz="2400" b="0" i="0" dirty="0" err="1">
                <a:effectLst/>
                <a:latin typeface="+mn-ea"/>
              </a:rPr>
              <a:t>Hengye</a:t>
            </a:r>
            <a:r>
              <a:rPr lang="en-US" altLang="zh-CN" sz="2400" b="0" i="0" dirty="0">
                <a:effectLst/>
                <a:latin typeface="+mn-ea"/>
              </a:rPr>
              <a:t> Zhu, Peng Cheng, and </a:t>
            </a:r>
            <a:r>
              <a:rPr lang="en-US" altLang="zh-CN" sz="2400" b="0" i="0" dirty="0" err="1">
                <a:effectLst/>
                <a:latin typeface="+mn-ea"/>
              </a:rPr>
              <a:t>Jiming</a:t>
            </a:r>
            <a:r>
              <a:rPr lang="en-US" altLang="zh-CN" sz="2400" b="0" i="0" dirty="0">
                <a:effectLst/>
                <a:latin typeface="+mn-ea"/>
              </a:rPr>
              <a:t> Chen</a:t>
            </a:r>
          </a:p>
          <a:p>
            <a:pPr algn="ctr">
              <a:spcAft>
                <a:spcPts val="750"/>
              </a:spcAft>
              <a:buNone/>
            </a:pPr>
            <a:r>
              <a:rPr lang="en-US" altLang="zh-CN" sz="2400" b="0" i="1" dirty="0">
                <a:effectLst/>
                <a:latin typeface="+mn-ea"/>
              </a:rPr>
              <a:t>The College of Control Science and Engineering, Zhejiang University, Hangzhou, China</a:t>
            </a:r>
          </a:p>
          <a:p>
            <a:pPr algn="ctr">
              <a:spcAft>
                <a:spcPts val="750"/>
              </a:spcAft>
              <a:buNone/>
            </a:pPr>
            <a:r>
              <a:rPr lang="en-US" altLang="zh-CN" sz="2400" b="0" i="1" dirty="0">
                <a:effectLst/>
                <a:latin typeface="+mn-ea"/>
              </a:rPr>
              <a:t>Information Engineering University, China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D83F8F-9D25-1F99-4AB1-F1311A2EF201}"/>
              </a:ext>
            </a:extLst>
          </p:cNvPr>
          <p:cNvSpPr txBox="1"/>
          <p:nvPr/>
        </p:nvSpPr>
        <p:spPr>
          <a:xfrm>
            <a:off x="9104573" y="585331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汇报人：赵奕辉</a:t>
            </a:r>
          </a:p>
        </p:txBody>
      </p:sp>
    </p:spTree>
    <p:extLst>
      <p:ext uri="{BB962C8B-B14F-4D97-AF65-F5344CB8AC3E}">
        <p14:creationId xmlns:p14="http://schemas.microsoft.com/office/powerpoint/2010/main" val="572817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D112C95-82FA-7878-B0AB-312F58444C94}"/>
              </a:ext>
            </a:extLst>
          </p:cNvPr>
          <p:cNvSpPr txBox="1"/>
          <p:nvPr/>
        </p:nvSpPr>
        <p:spPr>
          <a:xfrm>
            <a:off x="1104053" y="1349359"/>
            <a:ext cx="9983893" cy="372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工业控制系统 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(ICS) 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安全至关重要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工业协议是网络物理设备的基础。</a:t>
            </a: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专有协议是主要障碍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大多数商业协议由供应商独占，阻碍安全措施（如入侵检测、设备测试）。</a:t>
            </a: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现有逆向方法的局限性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1 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程序分析法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需要获取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PLC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程序二进制文件，通常难以获得（例如加密固件）。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2 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流量分析法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lvl="1" algn="l">
              <a:lnSpc>
                <a:spcPct val="150000"/>
              </a:lnSpc>
              <a:spcAft>
                <a:spcPts val="900"/>
              </a:spcAft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序列比对法 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不同任务可能结构相似导致错误聚类。</a:t>
            </a:r>
          </a:p>
          <a:p>
            <a:pPr lvl="1" algn="l">
              <a:lnSpc>
                <a:spcPct val="150000"/>
              </a:lnSpc>
              <a:spcAft>
                <a:spcPts val="900"/>
              </a:spcAft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频繁项集法 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关键词统计特性多样，难以区分。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34C6AE-4835-CA3D-4877-32A60415B8B0}"/>
              </a:ext>
            </a:extLst>
          </p:cNvPr>
          <p:cNvSpPr txBox="1"/>
          <p:nvPr/>
        </p:nvSpPr>
        <p:spPr>
          <a:xfrm>
            <a:off x="609600" y="4418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研究背景与挑战</a:t>
            </a:r>
          </a:p>
        </p:txBody>
      </p:sp>
    </p:spTree>
    <p:extLst>
      <p:ext uri="{BB962C8B-B14F-4D97-AF65-F5344CB8AC3E}">
        <p14:creationId xmlns:p14="http://schemas.microsoft.com/office/powerpoint/2010/main" val="380816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4D1C1BA-0C12-DC04-F7A6-642C7094E169}"/>
              </a:ext>
            </a:extLst>
          </p:cNvPr>
          <p:cNvSpPr txBox="1"/>
          <p:nvPr/>
        </p:nvSpPr>
        <p:spPr>
          <a:xfrm>
            <a:off x="392852" y="544267"/>
            <a:ext cx="8954347" cy="889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en-US" altLang="zh-CN" b="1" i="0" dirty="0" err="1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REInPro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：核心思想</a:t>
            </a:r>
          </a:p>
          <a:p>
            <a:pPr algn="l"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核心洞察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 </a:t>
            </a:r>
            <a:r>
              <a:rPr lang="zh-CN" altLang="en-US" b="1" i="0" dirty="0">
                <a:effectLst/>
                <a:latin typeface="Segoe UI" panose="020B0502040204020203" pitchFamily="34" charset="0"/>
              </a:rPr>
              <a:t>工业协议的结构由特定字段</a:t>
            </a:r>
            <a:r>
              <a:rPr lang="en-US" altLang="zh-CN" b="1" i="0" dirty="0">
                <a:effectLst/>
                <a:latin typeface="Segoe UI" panose="020B0502040204020203" pitchFamily="34" charset="0"/>
              </a:rPr>
              <a:t>——</a:t>
            </a:r>
            <a:r>
              <a:rPr lang="zh-CN" altLang="en-US" b="1" i="0" dirty="0">
                <a:effectLst/>
                <a:latin typeface="Segoe UI" panose="020B0502040204020203" pitchFamily="34" charset="0"/>
              </a:rPr>
              <a:t>控制字段 </a:t>
            </a:r>
            <a:r>
              <a:rPr lang="en-US" altLang="zh-CN" b="1" i="0" dirty="0">
                <a:effectLst/>
                <a:latin typeface="Segoe UI" panose="020B0502040204020203" pitchFamily="34" charset="0"/>
              </a:rPr>
              <a:t>(Control Field) </a:t>
            </a:r>
            <a:r>
              <a:rPr lang="zh-CN" altLang="en-US" b="1" i="0" dirty="0">
                <a:effectLst/>
                <a:latin typeface="Segoe UI" panose="020B0502040204020203" pitchFamily="34" charset="0"/>
              </a:rPr>
              <a:t>决定。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23C0EA-8EDC-B40E-443C-62F0907C3022}"/>
              </a:ext>
            </a:extLst>
          </p:cNvPr>
          <p:cNvSpPr txBox="1"/>
          <p:nvPr/>
        </p:nvSpPr>
        <p:spPr>
          <a:xfrm>
            <a:off x="392852" y="1792349"/>
            <a:ext cx="10010988" cy="4582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灵感来源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US" altLang="zh-CN" b="1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NetPlier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 [28]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利用概率模型表征协议关键词行为。</a:t>
            </a: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en-US" altLang="zh-CN" b="1" i="0" dirty="0" err="1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REInPro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的改进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基于控制字段的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独特行为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识别它：</a:t>
            </a:r>
          </a:p>
          <a:p>
            <a:pPr lvl="1" algn="l">
              <a:lnSpc>
                <a:spcPct val="150000"/>
              </a:lnSpc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同一控制字段值的消息通常具有相似结构（字段排列）。</a:t>
            </a:r>
          </a:p>
          <a:p>
            <a:pPr lvl="1" algn="l">
              <a:lnSpc>
                <a:spcPct val="150000"/>
              </a:lnSpc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控制字段通常位于消息序列的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前端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</a:p>
          <a:p>
            <a:pPr marL="285750" indent="-285750" algn="l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改进相似度计算，考虑结构相似性。</a:t>
            </a:r>
          </a:p>
          <a:p>
            <a:pPr marL="285750" indent="-285750" algn="l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结合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偏移约束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加速识别。</a:t>
            </a: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后续步骤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识别控制字段后，聚类网络流量，推断关键字段语义（序号、地址、长度、功能码），生成协议规范。</a:t>
            </a:r>
          </a:p>
        </p:txBody>
      </p:sp>
    </p:spTree>
    <p:extLst>
      <p:ext uri="{BB962C8B-B14F-4D97-AF65-F5344CB8AC3E}">
        <p14:creationId xmlns:p14="http://schemas.microsoft.com/office/powerpoint/2010/main" val="397103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5112B80-0A9E-3FF1-CD20-F48C1BCB86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5" t="4262" r="2430"/>
          <a:stretch>
            <a:fillRect/>
          </a:stretch>
        </p:blipFill>
        <p:spPr>
          <a:xfrm>
            <a:off x="204797" y="351115"/>
            <a:ext cx="11782406" cy="32136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81D5234-9F00-C2D2-1B9F-2B836F627241}"/>
              </a:ext>
            </a:extLst>
          </p:cNvPr>
          <p:cNvSpPr txBox="1"/>
          <p:nvPr/>
        </p:nvSpPr>
        <p:spPr>
          <a:xfrm>
            <a:off x="468511" y="3520707"/>
            <a:ext cx="53393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标注 “・” 和 “∗” 的字段分别表示控制字段和对应的功能码。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27FD1DF-05C4-2E48-2E94-74C3A01A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049" y="4307681"/>
            <a:ext cx="5391902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26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133C96B-BC54-5483-6D7E-66A55449D222}"/>
              </a:ext>
            </a:extLst>
          </p:cNvPr>
          <p:cNvSpPr txBox="1"/>
          <p:nvPr/>
        </p:nvSpPr>
        <p:spPr>
          <a:xfrm>
            <a:off x="521546" y="4147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en-US" altLang="zh-CN" b="1" i="0" dirty="0" err="1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REInPro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设计流程概览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2247D3-07FB-0BDA-6695-C8D683949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308" y="1281859"/>
            <a:ext cx="9907383" cy="295316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6210ED9-D467-CE0F-4B94-3F8FCBA3C1BB}"/>
              </a:ext>
            </a:extLst>
          </p:cNvPr>
          <p:cNvSpPr txBox="1"/>
          <p:nvPr/>
        </p:nvSpPr>
        <p:spPr>
          <a:xfrm>
            <a:off x="1142308" y="4902553"/>
            <a:ext cx="6096000" cy="889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数据收集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手动操作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PLC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编程软件，使用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Wireshark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捕获流量</a:t>
            </a:r>
          </a:p>
          <a:p>
            <a:pPr algn="l">
              <a:spcBef>
                <a:spcPts val="750"/>
              </a:spcBef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语义推断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序号字段、地址字段、长度字段、功能码字段</a:t>
            </a:r>
          </a:p>
        </p:txBody>
      </p:sp>
    </p:spTree>
    <p:extLst>
      <p:ext uri="{BB962C8B-B14F-4D97-AF65-F5344CB8AC3E}">
        <p14:creationId xmlns:p14="http://schemas.microsoft.com/office/powerpoint/2010/main" val="1958471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9DA3029-247C-479C-45F7-EB0773F84536}"/>
              </a:ext>
            </a:extLst>
          </p:cNvPr>
          <p:cNvSpPr txBox="1"/>
          <p:nvPr/>
        </p:nvSpPr>
        <p:spPr>
          <a:xfrm>
            <a:off x="745067" y="4621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数据收集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5706CE-BBE9-DF9F-6534-209AB68790A2}"/>
              </a:ext>
            </a:extLst>
          </p:cNvPr>
          <p:cNvSpPr txBox="1"/>
          <p:nvPr/>
        </p:nvSpPr>
        <p:spPr>
          <a:xfrm>
            <a:off x="745066" y="1291563"/>
            <a:ext cx="9922933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挑战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1" i="0" dirty="0">
                <a:solidFill>
                  <a:srgbClr val="D9534F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i="0" dirty="0">
                <a:effectLst/>
                <a:latin typeface="Segoe UI" panose="020B0502040204020203" pitchFamily="34" charset="0"/>
              </a:rPr>
              <a:t>公开可用的工业协议数据集有限；真实环境下的通信在常规运行中变化不大。</a:t>
            </a:r>
          </a:p>
          <a:p>
            <a:pPr algn="l"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方法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90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手动点击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PLC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编程软件提供的所有功能，覆盖广泛的功能码。</a:t>
            </a:r>
          </a:p>
          <a:p>
            <a:pPr algn="l">
              <a:spcAft>
                <a:spcPts val="90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收集了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8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种常用工业协议的通信流量（见表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II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）。</a:t>
            </a:r>
          </a:p>
          <a:p>
            <a:pPr algn="l">
              <a:spcAft>
                <a:spcPts val="90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使用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Wireshark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过滤无关流量（如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TCP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握手）。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2E542C-A9DD-546E-0509-12D61B25D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266" y="2577811"/>
            <a:ext cx="5672668" cy="344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61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5CB97F8-5CBB-4633-FB8D-0778A9B296F6}"/>
              </a:ext>
            </a:extLst>
          </p:cNvPr>
          <p:cNvSpPr txBox="1"/>
          <p:nvPr/>
        </p:nvSpPr>
        <p:spPr>
          <a:xfrm>
            <a:off x="486383" y="4768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控制字段识别：消息相似度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E7DD58-A26B-3477-60DA-02BF3EFAD245}"/>
              </a:ext>
            </a:extLst>
          </p:cNvPr>
          <p:cNvSpPr txBox="1"/>
          <p:nvPr/>
        </p:nvSpPr>
        <p:spPr>
          <a:xfrm>
            <a:off x="959795" y="10150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目标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消除有效载荷影响，量化消息间相似度。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B11ECC-0CF5-E166-FF89-1C02F522AC29}"/>
              </a:ext>
            </a:extLst>
          </p:cNvPr>
          <p:cNvSpPr txBox="1"/>
          <p:nvPr/>
        </p:nvSpPr>
        <p:spPr>
          <a:xfrm>
            <a:off x="959795" y="15014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 err="1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NetPlier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的基础相似度 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377236-ADF8-CFF9-4AC2-2A59503F355C}"/>
                  </a:ext>
                </a:extLst>
              </p:cNvPr>
              <p:cNvSpPr txBox="1"/>
              <p:nvPr/>
            </p:nvSpPr>
            <p:spPr>
              <a:xfrm>
                <a:off x="959795" y="1987845"/>
                <a:ext cx="4980562" cy="667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m:rPr>
                              <m:nor/>
                            </m:rPr>
                            <a:rPr lang="zh-CN" alt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m:rPr>
                              <m:nor/>
                            </m:rPr>
                            <a:rPr lang="zh-CN" alt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𝑖𝑑𝑒𝑛𝑡𝑖𝑐𝑎𝑙</m:t>
                          </m:r>
                          <m:r>
                            <m:rPr>
                              <m:nor/>
                            </m:rPr>
                            <a:rPr lang="zh-CN" alt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𝑏𝑦𝑡𝑒𝑠</m:t>
                          </m:r>
                        </m:num>
                        <m:den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𝑆𝑢𝑚</m:t>
                          </m:r>
                          <m:r>
                            <m:rPr>
                              <m:nor/>
                            </m:rPr>
                            <a:rPr lang="zh-CN" alt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m:rPr>
                              <m:nor/>
                            </m:rPr>
                            <a:rPr lang="zh-CN" alt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m:rPr>
                              <m:nor/>
                            </m:rPr>
                            <a:rPr lang="zh-CN" alt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𝑏𝑦𝑡𝑒𝑠</m:t>
                          </m:r>
                          <m:r>
                            <m:rPr>
                              <m:nor/>
                            </m:rPr>
                            <a:rPr lang="zh-CN" alt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m:rPr>
                              <m:nor/>
                            </m:rPr>
                            <a:rPr lang="zh-CN" alt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nor/>
                            </m:rPr>
                            <a:rPr lang="zh-CN" alt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𝑡𝑤𝑜</m:t>
                          </m:r>
                          <m:r>
                            <m:rPr>
                              <m:nor/>
                            </m:rPr>
                            <a:rPr lang="zh-CN" alt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𝑚𝑒𝑠𝑠𝑎𝑔𝑒𝑠</m:t>
                          </m:r>
                        </m:den>
                      </m:f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377236-ADF8-CFF9-4AC2-2A59503F3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795" y="1987845"/>
                <a:ext cx="4980562" cy="6674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5A87F1A-BD07-5C80-FF35-018B0E728DD1}"/>
                  </a:ext>
                </a:extLst>
              </p:cNvPr>
              <p:cNvSpPr txBox="1"/>
              <p:nvPr/>
            </p:nvSpPr>
            <p:spPr>
              <a:xfrm>
                <a:off x="6582383" y="1987845"/>
                <a:ext cx="3599233" cy="686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相同字节数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两条消息的总字节数</m:t>
                          </m:r>
                        </m:den>
                      </m:f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5A87F1A-BD07-5C80-FF35-018B0E728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383" y="1987845"/>
                <a:ext cx="3599233" cy="686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43A46E4-B863-AE97-F759-D7B9EE880031}"/>
                  </a:ext>
                </a:extLst>
              </p:cNvPr>
              <p:cNvSpPr txBox="1"/>
              <p:nvPr/>
            </p:nvSpPr>
            <p:spPr>
              <a:xfrm>
                <a:off x="958604" y="2937037"/>
                <a:ext cx="8692601" cy="3444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125"/>
                  </a:spcAft>
                  <a:buNone/>
                </a:pP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REInPro </a:t>
                </a: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的改进：引入结构相似度 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(</a:t>
                </a: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基于汉明距离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)</a:t>
                </a:r>
                <a:endParaRPr lang="zh-CN" altLang="en-US" b="0" i="0" dirty="0">
                  <a:solidFill>
                    <a:srgbClr val="333333"/>
                  </a:solidFill>
                  <a:effectLst/>
                  <a:latin typeface="Segoe UI" panose="020B0502040204020203" pitchFamily="34" charset="0"/>
                </a:endParaRPr>
              </a:p>
              <a:p>
                <a:pPr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汉明距离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d>
                  </m:oMath>
                </a14:m>
                <a:r>
                  <a:rPr lang="ar-AE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衡量相邻字节间比特差异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  <m:r>
                        <a:rPr lang="ar-AE" altLang="zh-C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⊕</m:t>
                          </m:r>
                          <m:sSubSup>
                            <m:sSubSupPr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 altLang="zh-CN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altLang="zh-C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altLang="zh-CN" dirty="0"/>
              </a:p>
              <a:p>
                <a:pPr algn="l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新相似度评分 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结合字节值和汉明距离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lit/>
                                  </m:rP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ar-AE" altLang="zh-CN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or</m:t>
                                </m:r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ar-AE" altLang="zh-CN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ar-AE" b="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zh-CN" altLang="ar-AE" b="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zh-CN" altLang="ar-AE" b="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ar-AE" altLang="zh-CN" b="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ar-AE" b="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ar-AE" altLang="zh-CN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ar-AE" b="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zh-CN" altLang="ar-AE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zh-CN" altLang="ar-AE" b="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ar-AE" altLang="zh-CN" b="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altLang="zh-CN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b="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  <m:r>
                                  <a:rPr lang="en-US" altLang="zh-CN" b="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altLang="zh-CN" b="0" dirty="0"/>
              </a:p>
              <a:p>
                <a:pPr algn="l">
                  <a:spcAft>
                    <a:spcPts val="1125"/>
                  </a:spcAft>
                  <a:buFont typeface="Arial" panose="020B0604020202020204" pitchFamily="34" charset="0"/>
                  <a:buChar char="•"/>
                </a:pPr>
                <a:r>
                  <a:rPr lang="ar-AE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(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其中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代表字节值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,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ar-AE" altLang="zh-CN" i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ar-AE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分别是消息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x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和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y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的第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k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字节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43A46E4-B863-AE97-F759-D7B9EE880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04" y="2937037"/>
                <a:ext cx="8692601" cy="3444148"/>
              </a:xfrm>
              <a:prstGeom prst="rect">
                <a:avLst/>
              </a:prstGeom>
              <a:blipFill>
                <a:blip r:embed="rId4"/>
                <a:stretch>
                  <a:fillRect l="-561" t="-1239" b="-1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2817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DAA5B71-BBA4-3113-A136-E023150ECF5D}"/>
              </a:ext>
            </a:extLst>
          </p:cNvPr>
          <p:cNvSpPr txBox="1"/>
          <p:nvPr/>
        </p:nvSpPr>
        <p:spPr>
          <a:xfrm>
            <a:off x="469701" y="372546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控制字段识别：偏移约束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EC16E5-65D4-0B0D-DC65-A8D8825160EA}"/>
              </a:ext>
            </a:extLst>
          </p:cNvPr>
          <p:cNvSpPr txBox="1"/>
          <p:nvPr/>
        </p:nvSpPr>
        <p:spPr>
          <a:xfrm>
            <a:off x="934045" y="951190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观察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控制字段通常位于消息序列的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前端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807B54E-D24E-DEA6-A35A-31766FB63816}"/>
                  </a:ext>
                </a:extLst>
              </p:cNvPr>
              <p:cNvSpPr txBox="1"/>
              <p:nvPr/>
            </p:nvSpPr>
            <p:spPr>
              <a:xfrm>
                <a:off x="934044" y="1622640"/>
                <a:ext cx="9688711" cy="3716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  <a:spcAft>
                    <a:spcPts val="1125"/>
                  </a:spcAft>
                  <a:buNone/>
                </a:pP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引入偏移约束 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(Offset Constraint):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对越靠前的字段赋予更高的得分。</a:t>
                </a:r>
              </a:p>
              <a:p>
                <a:pPr algn="l">
                  <a:lnSpc>
                    <a:spcPct val="150000"/>
                  </a:lnSpc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评分公式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𝑜𝑓𝑓𝑠𝑒𝑡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  <a:p>
                <a:pPr algn="l">
                  <a:lnSpc>
                    <a:spcPct val="150000"/>
                  </a:lnSpc>
                  <a:spcAft>
                    <a:spcPts val="11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其中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𝑜𝑓𝑓𝑠𝑒𝑡</m:t>
                    </m:r>
                  </m:oMath>
                </a14:m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是候选控制字段的偏移量，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是消息序列的最小长度。</a:t>
                </a:r>
              </a:p>
              <a:p>
                <a:pPr algn="l">
                  <a:lnSpc>
                    <a:spcPct val="150000"/>
                  </a:lnSpc>
                  <a:spcAft>
                    <a:spcPts val="1125"/>
                  </a:spcAft>
                  <a:buNone/>
                </a:pP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结合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将相似度评分与偏移约束结合，确定最可能的控制字段。</a:t>
                </a:r>
              </a:p>
              <a:p>
                <a:pPr algn="l">
                  <a:lnSpc>
                    <a:spcPct val="150000"/>
                  </a:lnSpc>
                  <a:spcBef>
                    <a:spcPts val="1500"/>
                  </a:spcBef>
                  <a:spcAft>
                    <a:spcPts val="1125"/>
                  </a:spcAft>
                  <a:buNone/>
                </a:pPr>
                <a:r>
                  <a:rPr lang="zh-CN" altLang="en-US" b="1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特殊情况</a:t>
                </a:r>
                <a:r>
                  <a:rPr lang="en-US" altLang="zh-CN" b="1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dirty="0">
                    <a:solidFill>
                      <a:srgbClr val="D9534F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zh-CN" altLang="en-US" b="0" dirty="0">
                    <a:effectLst/>
                    <a:latin typeface="Segoe UI" panose="020B0502040204020203" pitchFamily="34" charset="0"/>
                  </a:rPr>
                  <a:t>若未识别出控制字段，则直接进行语义推断。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807B54E-D24E-DEA6-A35A-31766FB63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44" y="1622640"/>
                <a:ext cx="9688711" cy="3716723"/>
              </a:xfrm>
              <a:prstGeom prst="rect">
                <a:avLst/>
              </a:prstGeom>
              <a:blipFill>
                <a:blip r:embed="rId2"/>
                <a:stretch>
                  <a:fillRect l="-503"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147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2DB256F-06B8-6C1D-B5FD-BB33BACB8DCB}"/>
              </a:ext>
            </a:extLst>
          </p:cNvPr>
          <p:cNvSpPr txBox="1"/>
          <p:nvPr/>
        </p:nvSpPr>
        <p:spPr>
          <a:xfrm>
            <a:off x="512564" y="379690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语义推断：序号字段</a:t>
            </a:r>
            <a:endParaRPr lang="zh-CN" altLang="en-US" b="1" i="0" dirty="0">
              <a:solidFill>
                <a:srgbClr val="1A2980"/>
              </a:solidFill>
              <a:effectLst/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5BE3798-0762-B17A-D3E3-31A6F8D031A4}"/>
                  </a:ext>
                </a:extLst>
              </p:cNvPr>
              <p:cNvSpPr txBox="1"/>
              <p:nvPr/>
            </p:nvSpPr>
            <p:spPr>
              <a:xfrm>
                <a:off x="512564" y="1134343"/>
                <a:ext cx="5209580" cy="33804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125"/>
                  </a:spcAft>
                  <a:buNone/>
                </a:pP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方法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:</a:t>
                </a:r>
              </a:p>
              <a:p>
                <a:pPr algn="l">
                  <a:spcAft>
                    <a:spcPts val="900"/>
                  </a:spcAft>
                  <a:buFont typeface="+mj-lt"/>
                  <a:buAutoNum type="arabicPeriod"/>
                </a:pP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将原始消息转换为比特级数据。</a:t>
                </a:r>
              </a:p>
              <a:p>
                <a:pPr algn="l">
                  <a:spcAft>
                    <a:spcPts val="900"/>
                  </a:spcAft>
                  <a:buFont typeface="+mj-lt"/>
                  <a:buAutoNum type="arabicPeriod"/>
                </a:pP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计算每个比特位的平均汉明距离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endParaRPr lang="en-US" altLang="zh-CN" b="0" i="0" dirty="0">
                  <a:solidFill>
                    <a:srgbClr val="333333"/>
                  </a:solidFill>
                  <a:effectLst/>
                  <a:latin typeface="Segoe UI" panose="020B0502040204020203" pitchFamily="34" charset="0"/>
                </a:endParaRPr>
              </a:p>
              <a:p>
                <a:pPr algn="l">
                  <a:spcAft>
                    <a:spcPts val="900"/>
                  </a:spcAft>
                  <a:buFont typeface="+mj-lt"/>
                  <a:buAutoNum type="arabicPeriod"/>
                </a:pP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如果一个字节内，从左到右的比特平均汉明距离递增，则该字节被认为是序号字段。</a:t>
                </a:r>
              </a:p>
              <a:p>
                <a:pPr algn="l">
                  <a:spcAft>
                    <a:spcPts val="900"/>
                  </a:spcAft>
                  <a:buFont typeface="+mj-lt"/>
                  <a:buAutoNum type="arabicPeriod"/>
                </a:pP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若相邻两个字节都呈单调汉明距离，则合并为一个序号字段。</a:t>
                </a:r>
              </a:p>
              <a:p>
                <a:pPr algn="l">
                  <a:spcBef>
                    <a:spcPts val="1500"/>
                  </a:spcBef>
                  <a:spcAft>
                    <a:spcPts val="1125"/>
                  </a:spcAft>
                  <a:buNone/>
                </a:pPr>
                <a:r>
                  <a:rPr lang="zh-CN" altLang="en-US" b="1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示例</a:t>
                </a:r>
                <a:r>
                  <a:rPr lang="en-US" altLang="zh-CN" b="1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图 </a:t>
                </a:r>
                <a:r>
                  <a:rPr lang="en-US" altLang="zh-CN" b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5 </a:t>
                </a:r>
                <a:r>
                  <a:rPr lang="zh-CN" altLang="en-US" b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中偏移量 </a:t>
                </a:r>
                <a:r>
                  <a:rPr lang="en-US" altLang="zh-CN" b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11-12 </a:t>
                </a:r>
                <a:r>
                  <a:rPr lang="zh-CN" altLang="en-US" b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的字节被推断为序号字段。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5BE3798-0762-B17A-D3E3-31A6F8D03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64" y="1134343"/>
                <a:ext cx="5209580" cy="3380413"/>
              </a:xfrm>
              <a:prstGeom prst="rect">
                <a:avLst/>
              </a:prstGeom>
              <a:blipFill>
                <a:blip r:embed="rId2"/>
                <a:stretch>
                  <a:fillRect l="-1287" t="-1081" r="-234" b="-1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BA16751D-F360-7F73-C7A9-03E331D77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589" y="1381126"/>
            <a:ext cx="5822157" cy="465448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419E58F-0E8E-4571-60F6-26E0F250FF70}"/>
              </a:ext>
            </a:extLst>
          </p:cNvPr>
          <p:cNvSpPr txBox="1"/>
          <p:nvPr/>
        </p:nvSpPr>
        <p:spPr>
          <a:xfrm>
            <a:off x="501254" y="4900077"/>
            <a:ext cx="5270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zh-CN" altLang="en-US" dirty="0"/>
              <a:t>平均汉明距离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单调变化趋势</a:t>
            </a:r>
            <a:r>
              <a:rPr lang="zh-CN" altLang="en-US" i="0" dirty="0">
                <a:effectLst/>
                <a:latin typeface="Segoe UI" panose="020B0502040204020203" pitchFamily="34" charset="0"/>
              </a:rPr>
              <a:t>推</a:t>
            </a:r>
            <a:r>
              <a:rPr lang="zh-CN" altLang="en-US" dirty="0">
                <a:latin typeface="Segoe UI" panose="020B0502040204020203" pitchFamily="34" charset="0"/>
              </a:rPr>
              <a:t>断：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这些区域的字节被识别为</a:t>
            </a:r>
            <a:r>
              <a:rPr lang="zh-CN" altLang="en-US" b="1" i="0" dirty="0">
                <a:effectLst/>
                <a:latin typeface="Segoe UI" panose="020B0502040204020203" pitchFamily="34" charset="0"/>
              </a:rPr>
              <a:t>序号字段</a:t>
            </a:r>
            <a:r>
              <a:rPr lang="zh-CN" altLang="en-US" b="0" i="0" dirty="0">
                <a:effectLst/>
                <a:latin typeface="Segoe UI" panose="020B0502040204020203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05175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45E4014-4B23-FFDF-AAEE-1A6934BA9A6E}"/>
              </a:ext>
            </a:extLst>
          </p:cNvPr>
          <p:cNvSpPr txBox="1"/>
          <p:nvPr/>
        </p:nvSpPr>
        <p:spPr>
          <a:xfrm>
            <a:off x="419695" y="393978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语义推断：地址字段</a:t>
            </a:r>
            <a:endParaRPr lang="zh-CN" altLang="en-US" b="1" i="0" dirty="0">
              <a:solidFill>
                <a:srgbClr val="1A298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B4549A-A5DD-90F3-84F8-6C5B8AA56020}"/>
              </a:ext>
            </a:extLst>
          </p:cNvPr>
          <p:cNvSpPr txBox="1"/>
          <p:nvPr/>
        </p:nvSpPr>
        <p:spPr>
          <a:xfrm>
            <a:off x="419695" y="1531686"/>
            <a:ext cx="11681818" cy="1902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zh-CN" altLang="en-US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方法</a:t>
            </a:r>
            <a:r>
              <a:rPr lang="en-US" altLang="zh-CN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en-US" altLang="zh-CN" sz="16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1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初步筛选</a:t>
            </a:r>
            <a:r>
              <a:rPr lang="en-US" altLang="zh-CN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将消息字段分为动态和静态。若某动态字段的不同取值数量等于交互设备数量，则作为候选地址字段。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en-US" altLang="zh-CN" sz="16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2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聚类验证</a:t>
            </a:r>
            <a:r>
              <a:rPr lang="en-US" altLang="zh-CN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根据 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IP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地址或端口号对消息进行聚类。</a:t>
            </a:r>
          </a:p>
          <a:p>
            <a:pPr algn="l">
              <a:lnSpc>
                <a:spcPct val="15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en-US" altLang="zh-CN" sz="16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3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最终确认</a:t>
            </a:r>
            <a:r>
              <a:rPr lang="en-US" altLang="zh-CN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在聚类结果中，若候选字段变为静态（即在同类消息中值不变），则确认为地址字段。</a:t>
            </a:r>
          </a:p>
        </p:txBody>
      </p:sp>
    </p:spTree>
    <p:extLst>
      <p:ext uri="{BB962C8B-B14F-4D97-AF65-F5344CB8AC3E}">
        <p14:creationId xmlns:p14="http://schemas.microsoft.com/office/powerpoint/2010/main" val="3952527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0253AC4-D2B6-BBCC-7D66-3C89D6ED422D}"/>
              </a:ext>
            </a:extLst>
          </p:cNvPr>
          <p:cNvSpPr txBox="1"/>
          <p:nvPr/>
        </p:nvSpPr>
        <p:spPr>
          <a:xfrm>
            <a:off x="655439" y="465415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语义推断：长度字段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0C1429-6CE2-00CB-5B17-B4B800ECD699}"/>
              </a:ext>
            </a:extLst>
          </p:cNvPr>
          <p:cNvSpPr txBox="1"/>
          <p:nvPr/>
        </p:nvSpPr>
        <p:spPr>
          <a:xfrm>
            <a:off x="734020" y="1364156"/>
            <a:ext cx="6097190" cy="157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挑战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长度字段数量和位置可能变化（见图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）。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编码方式多样（单字节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vs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双字节）。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长度字段可能不直接紧邻其描述的数据。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FFE184-2A37-8C15-E316-9D83741F5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20" y="3616991"/>
            <a:ext cx="5315692" cy="181000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296658B-56A2-D2C1-F956-922F1ABB8B60}"/>
              </a:ext>
            </a:extLst>
          </p:cNvPr>
          <p:cNvSpPr txBox="1"/>
          <p:nvPr/>
        </p:nvSpPr>
        <p:spPr>
          <a:xfrm>
            <a:off x="655439" y="5663298"/>
            <a:ext cx="6097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Inter"/>
              </a:rPr>
              <a:t>1st </a:t>
            </a:r>
            <a:r>
              <a:rPr lang="en-US" altLang="zh-CN" b="0" i="0" dirty="0" err="1">
                <a:effectLst/>
                <a:latin typeface="Inter"/>
              </a:rPr>
              <a:t>len</a:t>
            </a:r>
            <a:r>
              <a:rPr lang="en-US" altLang="zh-CN" b="0" i="0" dirty="0">
                <a:effectLst/>
                <a:latin typeface="Inter"/>
              </a:rPr>
              <a:t>.</a:t>
            </a:r>
            <a:r>
              <a:rPr lang="zh-CN" altLang="en-US" b="0" i="0" dirty="0">
                <a:effectLst/>
                <a:latin typeface="Inter"/>
              </a:rPr>
              <a:t>表示该块的长度，</a:t>
            </a:r>
            <a:r>
              <a:rPr lang="en-US" altLang="zh-CN" b="0" i="0" dirty="0">
                <a:effectLst/>
                <a:latin typeface="Inter"/>
              </a:rPr>
              <a:t>2nd </a:t>
            </a:r>
            <a:r>
              <a:rPr lang="en-US" altLang="zh-CN" b="0" i="0" dirty="0" err="1">
                <a:effectLst/>
                <a:latin typeface="Inter"/>
              </a:rPr>
              <a:t>len</a:t>
            </a:r>
            <a:r>
              <a:rPr lang="en-US" altLang="zh-CN" b="0" i="0" dirty="0">
                <a:effectLst/>
                <a:latin typeface="Inter"/>
              </a:rPr>
              <a:t>.</a:t>
            </a:r>
            <a:r>
              <a:rPr lang="zh-CN" altLang="en-US" b="0" i="0" dirty="0">
                <a:effectLst/>
                <a:latin typeface="Inter"/>
              </a:rPr>
              <a:t>表示整个消息序列的长度，</a:t>
            </a:r>
            <a:r>
              <a:rPr lang="en-US" altLang="zh-CN" b="0" i="0" dirty="0">
                <a:effectLst/>
                <a:latin typeface="Inter"/>
              </a:rPr>
              <a:t>3rd &amp; 4th </a:t>
            </a:r>
            <a:r>
              <a:rPr lang="en-US" altLang="zh-CN" b="0" i="0" dirty="0" err="1">
                <a:effectLst/>
                <a:latin typeface="Inter"/>
              </a:rPr>
              <a:t>len</a:t>
            </a:r>
            <a:r>
              <a:rPr lang="en-US" altLang="zh-CN" b="0" i="0" dirty="0">
                <a:effectLst/>
                <a:latin typeface="Inter"/>
              </a:rPr>
              <a:t>. </a:t>
            </a:r>
            <a:r>
              <a:rPr lang="zh-CN" altLang="en-US" b="0" i="0" dirty="0">
                <a:effectLst/>
                <a:latin typeface="Inter"/>
              </a:rPr>
              <a:t>分别表示参数和数据的长度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0100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72F65EA-6423-A0F8-594E-812A1F40AC5C}"/>
                  </a:ext>
                </a:extLst>
              </p:cNvPr>
              <p:cNvSpPr txBox="1"/>
              <p:nvPr/>
            </p:nvSpPr>
            <p:spPr>
              <a:xfrm>
                <a:off x="55364" y="287435"/>
                <a:ext cx="5859662" cy="62831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  <a:spcAft>
                    <a:spcPts val="1125"/>
                  </a:spcAft>
                  <a:buNone/>
                </a:pP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方法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: </a:t>
                </a: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基于随机森林分类器的多步流程（见图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7</a:t>
                </a: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）</a:t>
                </a:r>
              </a:p>
              <a:p>
                <a:pPr lvl="1">
                  <a:lnSpc>
                    <a:spcPct val="150000"/>
                  </a:lnSpc>
                  <a:spcAft>
                    <a:spcPts val="900"/>
                  </a:spcAft>
                </a:pPr>
                <a:r>
                  <a:rPr lang="en-US" altLang="zh-CN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1.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按物理长度聚类</a:t>
                </a:r>
                <a:r>
                  <a:rPr lang="en-US" altLang="zh-CN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 将消息按实际长度分组并标记。</a:t>
                </a:r>
              </a:p>
              <a:p>
                <a:pPr lvl="1">
                  <a:lnSpc>
                    <a:spcPct val="150000"/>
                  </a:lnSpc>
                  <a:spcAft>
                    <a:spcPts val="900"/>
                  </a:spcAft>
                </a:pPr>
                <a:r>
                  <a:rPr lang="en-US" altLang="zh-CN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2.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处理类别不平衡</a:t>
                </a:r>
                <a:r>
                  <a:rPr lang="en-US" altLang="zh-CN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 对少数类样本进行过采样。</a:t>
                </a:r>
              </a:p>
              <a:p>
                <a:pPr lvl="1">
                  <a:lnSpc>
                    <a:spcPct val="150000"/>
                  </a:lnSpc>
                  <a:spcAft>
                    <a:spcPts val="900"/>
                  </a:spcAft>
                </a:pPr>
                <a:r>
                  <a:rPr lang="en-US" altLang="zh-CN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3.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数据预处理</a:t>
                </a:r>
                <a:r>
                  <a:rPr lang="en-US" altLang="zh-CN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 截断至最小长度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，将字节级数据转换为比特级。</a:t>
                </a:r>
              </a:p>
              <a:p>
                <a:pPr lvl="1">
                  <a:lnSpc>
                    <a:spcPct val="150000"/>
                  </a:lnSpc>
                  <a:spcAft>
                    <a:spcPts val="900"/>
                  </a:spcAft>
                </a:pPr>
                <a:r>
                  <a:rPr lang="en-US" altLang="zh-CN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4.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训练分类器 </a:t>
                </a:r>
                <a:r>
                  <a:rPr lang="en-US" altLang="zh-CN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(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随机森林</a:t>
                </a:r>
                <a:r>
                  <a:rPr lang="en-US" altLang="zh-CN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):</a:t>
                </a:r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 使用 </a:t>
                </a:r>
                <a:r>
                  <a:rPr lang="en-US" altLang="zh-CN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80% </a:t>
                </a:r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数据训练，评估测试集准确率 </a:t>
                </a:r>
                <a:r>
                  <a:rPr lang="en-US" altLang="zh-CN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(&gt;90%)</a:t>
                </a:r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。</a:t>
                </a:r>
              </a:p>
              <a:p>
                <a:pPr lvl="1">
                  <a:lnSpc>
                    <a:spcPct val="150000"/>
                  </a:lnSpc>
                  <a:spcAft>
                    <a:spcPts val="900"/>
                  </a:spcAft>
                </a:pPr>
                <a:r>
                  <a:rPr lang="en-US" altLang="zh-CN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5.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提取重要特征</a:t>
                </a:r>
                <a:r>
                  <a:rPr lang="en-US" altLang="zh-CN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 若准确率达标，提取权重 </a:t>
                </a:r>
                <a:r>
                  <a:rPr lang="en-US" altLang="zh-CN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&gt; 0.02 </a:t>
                </a:r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的比特特征，转换回字节级得到候选长度字段。</a:t>
                </a:r>
              </a:p>
              <a:p>
                <a:pPr lvl="1">
                  <a:lnSpc>
                    <a:spcPct val="150000"/>
                  </a:lnSpc>
                  <a:spcAft>
                    <a:spcPts val="900"/>
                  </a:spcAft>
                </a:pPr>
                <a:r>
                  <a:rPr lang="en-US" altLang="zh-CN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6.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过滤规则</a:t>
                </a:r>
                <a:r>
                  <a:rPr lang="en-US" altLang="zh-CN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 应用</a:t>
                </a:r>
                <a:r>
                  <a:rPr lang="en-US" altLang="zh-CN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"</a:t>
                </a:r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字段值应小于等于其后字节总和</a:t>
                </a:r>
                <a:r>
                  <a:rPr lang="en-US" altLang="zh-CN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"</a:t>
                </a:r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的规则进一步筛选。</a:t>
                </a:r>
              </a:p>
              <a:p>
                <a:pPr lvl="1">
                  <a:lnSpc>
                    <a:spcPct val="150000"/>
                  </a:lnSpc>
                  <a:spcAft>
                    <a:spcPts val="900"/>
                  </a:spcAft>
                </a:pPr>
                <a:r>
                  <a:rPr lang="en-US" altLang="zh-CN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7.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线性回归验证</a:t>
                </a:r>
                <a:r>
                  <a:rPr lang="en-US" altLang="zh-CN" b="1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i="0" dirty="0">
                    <a:solidFill>
                      <a:schemeClr val="tx1"/>
                    </a:solidFill>
                    <a:effectLst/>
                    <a:latin typeface="Segoe UI" panose="020B0502040204020203" pitchFamily="34" charset="0"/>
                  </a:rPr>
                  <a:t> 验证候选字段值与其后字节总和是否与消息长度高度相关。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72F65EA-6423-A0F8-594E-812A1F40A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4" y="287435"/>
                <a:ext cx="5859662" cy="6283130"/>
              </a:xfrm>
              <a:prstGeom prst="rect">
                <a:avLst/>
              </a:prstGeom>
              <a:blipFill>
                <a:blip r:embed="rId2"/>
                <a:stretch>
                  <a:fillRect l="-832" r="-937" b="-5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B65F97F-81A0-D5CF-8A6D-3BEE95071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589" y="1578769"/>
            <a:ext cx="5763879" cy="341254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81864FA-4FE5-C84A-E02E-A8CAB521F332}"/>
              </a:ext>
            </a:extLst>
          </p:cNvPr>
          <p:cNvSpPr txBox="1"/>
          <p:nvPr/>
        </p:nvSpPr>
        <p:spPr>
          <a:xfrm>
            <a:off x="6927803" y="5279231"/>
            <a:ext cx="4079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000000"/>
                </a:solidFill>
                <a:effectLst/>
                <a:latin typeface="Menlo"/>
              </a:rPr>
              <a:t>n_estimators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=1000</a:t>
            </a:r>
            <a:r>
              <a:rPr lang="zh-CN" altLang="en-US" b="0" i="0" dirty="0">
                <a:effectLst/>
                <a:latin typeface="Inter"/>
              </a:rPr>
              <a:t>（</a:t>
            </a:r>
            <a:r>
              <a:rPr lang="en-US" altLang="zh-CN" b="0" i="0" dirty="0">
                <a:effectLst/>
                <a:latin typeface="Inter"/>
              </a:rPr>
              <a:t>1000 </a:t>
            </a:r>
            <a:r>
              <a:rPr lang="zh-CN" altLang="en-US" b="0" i="0" dirty="0">
                <a:effectLst/>
                <a:latin typeface="Inter"/>
              </a:rPr>
              <a:t>棵决策树）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Menlo"/>
              </a:rPr>
              <a:t>max_depth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Menlo"/>
              </a:rPr>
              <a:t>=None</a:t>
            </a:r>
            <a:r>
              <a:rPr lang="zh-CN" altLang="en-US" b="0" i="0" dirty="0">
                <a:effectLst/>
                <a:latin typeface="Inter"/>
              </a:rPr>
              <a:t>（决策树无限制生长）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3063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B4FA77B-6176-1F66-6F08-61B3263EC87C}"/>
              </a:ext>
            </a:extLst>
          </p:cNvPr>
          <p:cNvSpPr txBox="1"/>
          <p:nvPr/>
        </p:nvSpPr>
        <p:spPr>
          <a:xfrm>
            <a:off x="605431" y="257005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语义推断：功能码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078BB6-DBFD-5ABD-7170-3425D7F06CE4}"/>
              </a:ext>
            </a:extLst>
          </p:cNvPr>
          <p:cNvSpPr txBox="1"/>
          <p:nvPr/>
        </p:nvSpPr>
        <p:spPr>
          <a:xfrm>
            <a:off x="605431" y="811319"/>
            <a:ext cx="8317112" cy="157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挑战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</a:p>
          <a:p>
            <a:pPr marL="285750" indent="-28575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现有方法（基于值分布、偏移）对阈值敏感，难以确定。</a:t>
            </a:r>
          </a:p>
          <a:p>
            <a:pPr marL="285750" indent="-28575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复杂协议可能包含多个功能码（如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S7Comm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的功能组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+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功能码）。</a:t>
            </a:r>
          </a:p>
          <a:p>
            <a:pPr marL="285750" indent="-28575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类似熵值和值范围的字段可能导致误判。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8CA1256-A1DA-FA25-4D60-314A51D1A0B4}"/>
                  </a:ext>
                </a:extLst>
              </p:cNvPr>
              <p:cNvSpPr txBox="1"/>
              <p:nvPr/>
            </p:nvSpPr>
            <p:spPr>
              <a:xfrm>
                <a:off x="605431" y="2568526"/>
                <a:ext cx="10445949" cy="3887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1125"/>
                  </a:spcAft>
                </a:pP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 </a:t>
                </a:r>
                <a:r>
                  <a:rPr lang="en-US" altLang="zh-CN" b="1" i="0" dirty="0" err="1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REInPro</a:t>
                </a: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的新方法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:</a:t>
                </a:r>
              </a:p>
              <a:p>
                <a:r>
                  <a:rPr lang="en-US" altLang="zh-CN" b="0" i="0" dirty="0"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1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利用长度字段推断结果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endParaRPr lang="en-US" altLang="zh-CN" b="0" i="0" dirty="0">
                  <a:solidFill>
                    <a:srgbClr val="333333"/>
                  </a:solidFill>
                  <a:effectLst/>
                  <a:latin typeface="Segoe UI" panose="020B0502040204020203" pitchFamily="34" charset="0"/>
                </a:endParaRPr>
              </a:p>
              <a:p>
                <a:pPr lvl="1"/>
                <a:r>
                  <a:rPr lang="en-US" altLang="zh-CN" dirty="0">
                    <a:solidFill>
                      <a:srgbClr val="333333"/>
                    </a:solidFill>
                    <a:latin typeface="Segoe UI" panose="020B0502040204020203" pitchFamily="34" charset="0"/>
                  </a:rPr>
                  <a:t>1.</a:t>
                </a:r>
                <a:r>
                  <a:rPr lang="zh-CN" altLang="en-US" dirty="0"/>
                  <a:t>先通过 “长度字段识别” 过滤掉与消息长度强相关的字段</a:t>
                </a:r>
              </a:p>
              <a:p>
                <a:pPr lvl="1"/>
                <a:r>
                  <a:rPr lang="en-US" altLang="zh-CN" dirty="0"/>
                  <a:t>2.</a:t>
                </a:r>
                <a:r>
                  <a:rPr lang="zh-CN" altLang="en-US" dirty="0"/>
                  <a:t>再用 “归一化熵” 筛选中等离散程度的字段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3.</a:t>
                </a:r>
                <a:r>
                  <a:rPr lang="zh-CN" altLang="en-US" dirty="0"/>
                  <a:t>最后结合 “功能与消息长度的相关性” 验证（线性回归）</a:t>
                </a:r>
              </a:p>
              <a:p>
                <a:pPr algn="l">
                  <a:lnSpc>
                    <a:spcPct val="150000"/>
                  </a:lnSpc>
                  <a:spcAft>
                    <a:spcPts val="900"/>
                  </a:spcAft>
                  <a:buFont typeface="+mj-lt"/>
                  <a:buAutoNum type="arabicPeriod"/>
                </a:pPr>
                <a:r>
                  <a:rPr lang="en-US" altLang="zh-CN" b="0" i="0" dirty="0"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2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基于归一化熵 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(Normalized Entropy)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进行最终判断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:</a:t>
                </a:r>
              </a:p>
              <a:p>
                <a:pPr algn="l">
                  <a:lnSpc>
                    <a:spcPct val="150000"/>
                  </a:lnSpc>
                  <a:spcAft>
                    <a:spcPts val="900"/>
                  </a:spcAft>
                </a:pPr>
                <a:endParaRPr lang="en-US" altLang="zh-CN" b="0" i="0" dirty="0">
                  <a:solidFill>
                    <a:srgbClr val="333333"/>
                  </a:solidFill>
                  <a:effectLst/>
                  <a:latin typeface="Segoe UI" panose="020B0502040204020203" pitchFamily="34" charset="0"/>
                </a:endParaRPr>
              </a:p>
              <a:p>
                <a:pPr algn="l">
                  <a:lnSpc>
                    <a:spcPct val="150000"/>
                  </a:lnSpc>
                  <a:spcAft>
                    <a:spcPts val="1125"/>
                  </a:spcAft>
                </a:pP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其中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是候选字段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的值，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是对应概率。</a:t>
                </a:r>
              </a:p>
              <a:p>
                <a:pPr algn="l">
                  <a:lnSpc>
                    <a:spcPct val="150000"/>
                  </a:lnSpc>
                  <a:spcBef>
                    <a:spcPts val="1125"/>
                  </a:spcBef>
                  <a:spcAft>
                    <a:spcPts val="1125"/>
                  </a:spcAft>
                  <a:buNone/>
                </a:pPr>
                <a:r>
                  <a:rPr lang="zh-CN" altLang="en-US" b="1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优势</a:t>
                </a:r>
                <a:r>
                  <a:rPr lang="en-US" altLang="zh-CN" b="1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zh-CN" altLang="en-US" b="0" dirty="0">
                    <a:effectLst/>
                    <a:latin typeface="Segoe UI" panose="020B0502040204020203" pitchFamily="34" charset="0"/>
                  </a:rPr>
                  <a:t>通过过滤长度字段推断的结果，减少了功能码推断的候选字段数量。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8CA1256-A1DA-FA25-4D60-314A51D1A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31" y="2568526"/>
                <a:ext cx="10445949" cy="3887603"/>
              </a:xfrm>
              <a:prstGeom prst="rect">
                <a:avLst/>
              </a:prstGeom>
              <a:blipFill>
                <a:blip r:embed="rId2"/>
                <a:stretch>
                  <a:fillRect l="-642" b="-15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06827254-089F-8568-E7CA-256F7114C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329" y="4679723"/>
            <a:ext cx="4734586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28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0A76E5-C3B1-71B9-5460-1527DC1DFAFB}"/>
              </a:ext>
            </a:extLst>
          </p:cNvPr>
          <p:cNvSpPr txBox="1"/>
          <p:nvPr/>
        </p:nvSpPr>
        <p:spPr>
          <a:xfrm>
            <a:off x="276820" y="279678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协议规范生成</a:t>
            </a:r>
            <a:endParaRPr lang="zh-CN" altLang="en-US" b="1" i="0" dirty="0">
              <a:solidFill>
                <a:srgbClr val="1A298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A57FAA-6CD8-1DE6-D90F-1D639BE3E463}"/>
              </a:ext>
            </a:extLst>
          </p:cNvPr>
          <p:cNvSpPr txBox="1"/>
          <p:nvPr/>
        </p:nvSpPr>
        <p:spPr>
          <a:xfrm>
            <a:off x="819744" y="1240451"/>
            <a:ext cx="7338520" cy="215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整合结果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将推断出的各个字段及其语义信息整合起来。</a:t>
            </a:r>
          </a:p>
          <a:p>
            <a:pPr algn="l"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合并规则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750"/>
              </a:spcAft>
              <a:buNone/>
            </a:pPr>
            <a:r>
              <a:rPr lang="zh-CN" altLang="en-US" dirty="0">
                <a:solidFill>
                  <a:srgbClr val="333333"/>
                </a:solidFill>
                <a:latin typeface="Segoe UI" panose="020B0502040204020203" pitchFamily="34" charset="0"/>
              </a:rPr>
              <a:t>把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具有相同语义的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相邻字段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合并为一个协议字段。</a:t>
            </a:r>
          </a:p>
          <a:p>
            <a:pPr algn="l">
              <a:spcAft>
                <a:spcPts val="750"/>
              </a:spcAft>
              <a:buNone/>
            </a:pPr>
            <a:r>
              <a:rPr lang="zh-CN" altLang="en-US" dirty="0">
                <a:solidFill>
                  <a:srgbClr val="333333"/>
                </a:solidFill>
                <a:latin typeface="Segoe UI" panose="020B0502040204020203" pitchFamily="34" charset="0"/>
              </a:rPr>
              <a:t>把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由相同控制字段值定义的、具有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相同格式和语义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的结构进一步合并。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zh-CN" altLang="en-US" b="1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输出</a:t>
            </a:r>
            <a:r>
              <a:rPr lang="en-US" altLang="zh-CN" b="1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生成最终的逆向工程协议规范，包括格式和语义。</a:t>
            </a:r>
          </a:p>
        </p:txBody>
      </p:sp>
    </p:spTree>
    <p:extLst>
      <p:ext uri="{BB962C8B-B14F-4D97-AF65-F5344CB8AC3E}">
        <p14:creationId xmlns:p14="http://schemas.microsoft.com/office/powerpoint/2010/main" val="3717256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C5554BB-02C6-445F-DB2C-BC1D633D78A1}"/>
              </a:ext>
            </a:extLst>
          </p:cNvPr>
          <p:cNvSpPr txBox="1"/>
          <p:nvPr/>
        </p:nvSpPr>
        <p:spPr>
          <a:xfrm>
            <a:off x="441126" y="279678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实验评估：设置与指标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EE238EB-253F-831E-298D-2A608F9A1920}"/>
                  </a:ext>
                </a:extLst>
              </p:cNvPr>
              <p:cNvSpPr txBox="1"/>
              <p:nvPr/>
            </p:nvSpPr>
            <p:spPr>
              <a:xfrm>
                <a:off x="441126" y="1171651"/>
                <a:ext cx="10267355" cy="4791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125"/>
                  </a:spcAft>
                  <a:buNone/>
                </a:pP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评估对象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8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种工业协议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(Modbus, Dnp3, S7Comm, S7Comm_Plus, PCCC, </a:t>
                </a:r>
                <a:r>
                  <a:rPr lang="en-US" altLang="zh-CN" b="0" i="0" dirty="0" err="1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Omron_Fins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, </a:t>
                </a:r>
                <a:r>
                  <a:rPr lang="en-US" altLang="zh-CN" b="0" i="0" dirty="0" err="1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Delta_P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, </a:t>
                </a:r>
                <a:r>
                  <a:rPr lang="en-US" altLang="zh-CN" b="0" i="0" dirty="0" err="1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Hollysys_P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)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。</a:t>
                </a:r>
              </a:p>
              <a:p>
                <a:pPr algn="l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Modbus/Dnp3: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公开规范。</a:t>
                </a:r>
              </a:p>
              <a:p>
                <a:pPr algn="l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S7Comm/S7Comm_Plus/PCCC/</a:t>
                </a:r>
                <a:r>
                  <a:rPr lang="en-US" altLang="zh-CN" b="0" i="0" dirty="0" err="1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Omron_Fins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: Wireshark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获取规范。</a:t>
                </a:r>
              </a:p>
              <a:p>
                <a:pPr algn="l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Delta/</a:t>
                </a:r>
                <a:r>
                  <a:rPr lang="en-US" altLang="zh-CN" b="0" i="0" dirty="0" err="1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Hollysys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: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手动逆向工程获取规范。</a:t>
                </a:r>
              </a:p>
              <a:p>
                <a:pPr>
                  <a:spcAft>
                    <a:spcPts val="1125"/>
                  </a:spcAft>
                </a:pP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对比工具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zh-CN" altLang="en-US" dirty="0"/>
                  <a:t>在搭载 </a:t>
                </a:r>
                <a:r>
                  <a:rPr lang="en-US" altLang="zh-CN" dirty="0"/>
                  <a:t>Intel Core i5 1135G7 2.4GHz CPU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4GB </a:t>
                </a:r>
                <a:r>
                  <a:rPr lang="zh-CN" altLang="en-US" dirty="0"/>
                  <a:t>内存的笔记本电脑上实现，同时实现了经典逆向工程方案 </a:t>
                </a:r>
                <a:r>
                  <a:rPr lang="en-US" altLang="zh-CN" dirty="0" err="1"/>
                  <a:t>Netzob</a:t>
                </a:r>
                <a:r>
                  <a:rPr lang="en-US" altLang="zh-CN" dirty="0"/>
                  <a:t> [17]</a:t>
                </a:r>
                <a:r>
                  <a:rPr lang="zh-CN" altLang="en-US" dirty="0"/>
                  <a:t>、</a:t>
                </a:r>
                <a:r>
                  <a:rPr lang="en-US" altLang="zh-CN" dirty="0" err="1"/>
                  <a:t>NetPlier</a:t>
                </a:r>
                <a:r>
                  <a:rPr lang="en-US" altLang="zh-CN" dirty="0"/>
                  <a:t> [28]</a:t>
                </a:r>
                <a:r>
                  <a:rPr lang="zh-CN" altLang="en-US" dirty="0"/>
                  <a:t>、</a:t>
                </a:r>
                <a:r>
                  <a:rPr lang="en-US" altLang="zh-CN" dirty="0" err="1"/>
                  <a:t>FieldHunter</a:t>
                </a:r>
                <a:r>
                  <a:rPr lang="en-US" altLang="zh-CN" dirty="0"/>
                  <a:t> [25]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IPART [27] </a:t>
                </a:r>
                <a:r>
                  <a:rPr lang="zh-CN" altLang="en-US" dirty="0"/>
                  <a:t>作为对比。</a:t>
                </a:r>
                <a:endParaRPr lang="en-US" altLang="zh-CN" dirty="0"/>
              </a:p>
              <a:p>
                <a:pPr>
                  <a:spcAft>
                    <a:spcPts val="1125"/>
                  </a:spcAft>
                </a:pP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评估指标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:</a:t>
                </a:r>
                <a:endParaRPr lang="zh-CN" altLang="en-US" b="0" i="0" dirty="0">
                  <a:solidFill>
                    <a:srgbClr val="333333"/>
                  </a:solidFill>
                  <a:effectLst/>
                  <a:latin typeface="Segoe UI" panose="020B0502040204020203" pitchFamily="34" charset="0"/>
                </a:endParaRPr>
              </a:p>
              <a:p>
                <a:pPr algn="l">
                  <a:spcAft>
                    <a:spcPts val="750"/>
                  </a:spcAft>
                  <a:buNone/>
                </a:pP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正确性 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(Correctness):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正确分割的字段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/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所有推断字段；或 正确语义的字节数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/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推断字段总字节数。</a:t>
                </a:r>
              </a:p>
              <a:p>
                <a:pPr algn="l">
                  <a:spcAft>
                    <a:spcPts val="750"/>
                  </a:spcAft>
                  <a:buNone/>
                </a:pP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完备性 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(Perfection):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准确推断字段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/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协议规范总字段；或 准确语义的字节数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/ 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协议规范总字节数。</a:t>
                </a:r>
              </a:p>
              <a:p>
                <a:pPr algn="l">
                  <a:spcAft>
                    <a:spcPts val="750"/>
                  </a:spcAft>
                  <a:buNone/>
                </a:pP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F1 </a:t>
                </a:r>
                <a:r>
                  <a:rPr lang="zh-CN" altLang="en-US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分数 </a:t>
                </a:r>
                <a:r>
                  <a:rPr lang="en-US" altLang="zh-CN" b="1" i="0" dirty="0">
                    <a:solidFill>
                      <a:srgbClr val="1A2980"/>
                    </a:solidFill>
                    <a:effectLst/>
                    <a:latin typeface="Segoe UI" panose="020B0502040204020203" pitchFamily="34" charset="0"/>
                  </a:rPr>
                  <a:t>(F1-Score):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 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平衡正确性和完备性的指标 </a:t>
                </a:r>
                <a:r>
                  <a:rPr lang="en-US" altLang="zh-CN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(Eq. 7)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Segoe UI" panose="020B0502040204020203" pitchFamily="34" charset="0"/>
                  </a:rPr>
                  <a:t>。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zh-CN" altLang="ar-AE" i="1">
                          <a:latin typeface="Cambria Math" panose="02040503050406030204" pitchFamily="18" charset="0"/>
                        </a:rPr>
                        <m:t>𝑐𝑜𝑟𝑒</m:t>
                      </m:r>
                      <m:r>
                        <a:rPr lang="ar-AE" altLang="zh-C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altLang="zh-CN" i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𝑐𝑜𝑟𝑟𝑒𝑐𝑡𝑛𝑒𝑠𝑠</m:t>
                          </m:r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𝑝𝑒𝑟𝑓𝑒𝑐𝑡𝑖𝑜𝑛</m:t>
                          </m:r>
                        </m:num>
                        <m:den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𝑐𝑜𝑟𝑟𝑒𝑐𝑡𝑛𝑒𝑠𝑠</m:t>
                          </m:r>
                          <m:r>
                            <a:rPr lang="ar-AE" altLang="zh-CN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𝑝𝑒𝑟𝑓𝑒𝑐𝑡𝑖𝑜𝑛</m:t>
                          </m:r>
                        </m:den>
                      </m:f>
                    </m:oMath>
                  </m:oMathPara>
                </a14:m>
                <a:endParaRPr lang="ar-AE" altLang="zh-CN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EE238EB-253F-831E-298D-2A608F9A1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26" y="1171651"/>
                <a:ext cx="10267355" cy="4791696"/>
              </a:xfrm>
              <a:prstGeom prst="rect">
                <a:avLst/>
              </a:prstGeom>
              <a:blipFill>
                <a:blip r:embed="rId2"/>
                <a:stretch>
                  <a:fillRect l="-475" t="-763" r="-5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3871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D399114-C822-8B5D-B956-882AC6235D40}"/>
              </a:ext>
            </a:extLst>
          </p:cNvPr>
          <p:cNvSpPr txBox="1"/>
          <p:nvPr/>
        </p:nvSpPr>
        <p:spPr>
          <a:xfrm>
            <a:off x="548282" y="386834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评估结果：消息格式推断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775157-3B32-BA3F-FC07-653A7C7FD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82" y="1040368"/>
            <a:ext cx="10698068" cy="341995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FB3C74D-A14A-9CD8-5304-B3CA87D26EFA}"/>
              </a:ext>
            </a:extLst>
          </p:cNvPr>
          <p:cNvSpPr txBox="1"/>
          <p:nvPr/>
        </p:nvSpPr>
        <p:spPr>
          <a:xfrm>
            <a:off x="593526" y="4894008"/>
            <a:ext cx="609719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主要误差来源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静态字段和加密字段。</a:t>
            </a:r>
          </a:p>
          <a:p>
            <a:pPr algn="l">
              <a:spcBef>
                <a:spcPts val="1125"/>
              </a:spcBef>
              <a:spcAft>
                <a:spcPts val="900"/>
              </a:spcAft>
            </a:pPr>
            <a:r>
              <a:rPr lang="zh-CN" altLang="en-US" b="1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优势</a:t>
            </a:r>
            <a:r>
              <a:rPr lang="en-US" altLang="zh-CN" b="1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dirty="0">
                <a:effectLst/>
                <a:latin typeface="Segoe UI" panose="020B0502040204020203" pitchFamily="34" charset="0"/>
              </a:rPr>
              <a:t>在大多数协议上优于其他工具。</a:t>
            </a:r>
          </a:p>
          <a:p>
            <a:pPr algn="l">
              <a:spcBef>
                <a:spcPts val="1125"/>
              </a:spcBef>
              <a:spcAft>
                <a:spcPts val="900"/>
              </a:spcAft>
            </a:pPr>
            <a:r>
              <a:rPr lang="zh-CN" altLang="en-US" b="0" dirty="0">
                <a:effectLst/>
                <a:latin typeface="Segoe UI" panose="020B0502040204020203" pitchFamily="34" charset="0"/>
              </a:rPr>
              <a:t>在复杂协议（如 </a:t>
            </a:r>
            <a:r>
              <a:rPr lang="en-US" altLang="zh-CN" b="0" dirty="0">
                <a:effectLst/>
                <a:latin typeface="Segoe UI" panose="020B0502040204020203" pitchFamily="34" charset="0"/>
              </a:rPr>
              <a:t>S7Comm, PCCC</a:t>
            </a:r>
            <a:r>
              <a:rPr lang="zh-CN" altLang="en-US" b="0" dirty="0">
                <a:effectLst/>
                <a:latin typeface="Segoe UI" panose="020B0502040204020203" pitchFamily="34" charset="0"/>
              </a:rPr>
              <a:t>）上显著提升精度。</a:t>
            </a:r>
          </a:p>
        </p:txBody>
      </p:sp>
    </p:spTree>
    <p:extLst>
      <p:ext uri="{BB962C8B-B14F-4D97-AF65-F5344CB8AC3E}">
        <p14:creationId xmlns:p14="http://schemas.microsoft.com/office/powerpoint/2010/main" val="3634853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AB01B15-B3A8-77D1-C503-4690C1A0B8C8}"/>
              </a:ext>
            </a:extLst>
          </p:cNvPr>
          <p:cNvSpPr txBox="1"/>
          <p:nvPr/>
        </p:nvSpPr>
        <p:spPr>
          <a:xfrm>
            <a:off x="362545" y="386834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评估结果：字段语义推断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792E87-F5DC-2F42-E441-7E92B70B3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968943"/>
            <a:ext cx="10679015" cy="321989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3FD72CF-C442-B925-A870-0F7B8E09FFB8}"/>
              </a:ext>
            </a:extLst>
          </p:cNvPr>
          <p:cNvSpPr txBox="1"/>
          <p:nvPr/>
        </p:nvSpPr>
        <p:spPr>
          <a:xfrm>
            <a:off x="756492" y="4538575"/>
            <a:ext cx="6195542" cy="889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altLang="zh-CN" b="1" i="0" dirty="0" err="1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Netzob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正确性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1.00 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仅推断整体长度字段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，但完备性低 。</a:t>
            </a:r>
          </a:p>
          <a:p>
            <a:pPr algn="l">
              <a:spcBef>
                <a:spcPts val="1125"/>
              </a:spcBef>
              <a:spcAft>
                <a:spcPts val="900"/>
              </a:spcAft>
            </a:pPr>
            <a:r>
              <a:rPr lang="en-US" altLang="zh-CN" b="1" dirty="0" err="1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REInPro</a:t>
            </a:r>
            <a:r>
              <a:rPr lang="en-US" altLang="zh-CN" b="1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zh-CN" altLang="en-US" b="1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优势</a:t>
            </a:r>
            <a:r>
              <a:rPr lang="en-US" altLang="zh-CN" b="1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dirty="0">
                <a:effectLst/>
                <a:latin typeface="Segoe UI" panose="020B0502040204020203" pitchFamily="34" charset="0"/>
              </a:rPr>
              <a:t>在所有协议上获得更丰富的语义信息。</a:t>
            </a:r>
          </a:p>
        </p:txBody>
      </p:sp>
    </p:spTree>
    <p:extLst>
      <p:ext uri="{BB962C8B-B14F-4D97-AF65-F5344CB8AC3E}">
        <p14:creationId xmlns:p14="http://schemas.microsoft.com/office/powerpoint/2010/main" val="227611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35F9FFA-5CC9-F75E-9311-E4DD33950DAE}"/>
              </a:ext>
            </a:extLst>
          </p:cNvPr>
          <p:cNvSpPr txBox="1"/>
          <p:nvPr/>
        </p:nvSpPr>
        <p:spPr>
          <a:xfrm>
            <a:off x="319683" y="358259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dirty="0">
                <a:solidFill>
                  <a:srgbClr val="1A2980"/>
                </a:solidFill>
                <a:latin typeface="Segoe UI" panose="020B0502040204020203" pitchFamily="34" charset="0"/>
              </a:rPr>
              <a:t>长度字段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推断性能对比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88BFFD-3401-D58B-7324-50AD3221D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91" y="1745236"/>
            <a:ext cx="11155332" cy="31532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21BA7B6-48ED-8A08-2A9B-A17851957ED6}"/>
              </a:ext>
            </a:extLst>
          </p:cNvPr>
          <p:cNvSpPr txBox="1"/>
          <p:nvPr/>
        </p:nvSpPr>
        <p:spPr>
          <a:xfrm>
            <a:off x="644724" y="4898451"/>
            <a:ext cx="2723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(a) </a:t>
            </a:r>
            <a:r>
              <a:rPr lang="zh-CN" altLang="en-US" dirty="0"/>
              <a:t>长度字段推断精确率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CEDCBE-2D4D-04AE-89C8-69D7FA513152}"/>
              </a:ext>
            </a:extLst>
          </p:cNvPr>
          <p:cNvSpPr txBox="1"/>
          <p:nvPr/>
        </p:nvSpPr>
        <p:spPr>
          <a:xfrm>
            <a:off x="4555926" y="4951690"/>
            <a:ext cx="2580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(b) </a:t>
            </a:r>
            <a:r>
              <a:rPr lang="zh-CN" altLang="en-US" dirty="0"/>
              <a:t>长度字段推断召回率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E8A510-70A5-F1D1-6459-B620E5DBCE02}"/>
              </a:ext>
            </a:extLst>
          </p:cNvPr>
          <p:cNvSpPr txBox="1"/>
          <p:nvPr/>
        </p:nvSpPr>
        <p:spPr>
          <a:xfrm>
            <a:off x="8324254" y="4938080"/>
            <a:ext cx="2859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(c) </a:t>
            </a:r>
            <a:r>
              <a:rPr lang="zh-CN" altLang="en-US" dirty="0"/>
              <a:t>长度字段推断 </a:t>
            </a:r>
            <a:r>
              <a:rPr lang="en-US" altLang="zh-CN" dirty="0"/>
              <a:t>F1-Score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7726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3B9096-9C60-B569-A48F-7E510558F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1876208"/>
            <a:ext cx="11041016" cy="310558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D87B588-76BB-B70D-9498-23A8CD63E628}"/>
              </a:ext>
            </a:extLst>
          </p:cNvPr>
          <p:cNvSpPr txBox="1"/>
          <p:nvPr/>
        </p:nvSpPr>
        <p:spPr>
          <a:xfrm>
            <a:off x="759024" y="5021420"/>
            <a:ext cx="2859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(d) </a:t>
            </a:r>
            <a:r>
              <a:rPr lang="zh-CN" altLang="en-US" dirty="0"/>
              <a:t>功能码字段推断精确率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9F4030-246E-FE64-CA11-4D02AA56B152}"/>
              </a:ext>
            </a:extLst>
          </p:cNvPr>
          <p:cNvSpPr txBox="1"/>
          <p:nvPr/>
        </p:nvSpPr>
        <p:spPr>
          <a:xfrm>
            <a:off x="4555926" y="5035030"/>
            <a:ext cx="2752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(e)</a:t>
            </a:r>
            <a:r>
              <a:rPr lang="zh-CN" altLang="en-US" dirty="0"/>
              <a:t>功能码字段推断召回率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9D047D-2F04-3237-75A5-03D9FC5F4A29}"/>
              </a:ext>
            </a:extLst>
          </p:cNvPr>
          <p:cNvSpPr txBox="1"/>
          <p:nvPr/>
        </p:nvSpPr>
        <p:spPr>
          <a:xfrm>
            <a:off x="8324254" y="5021420"/>
            <a:ext cx="3108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(f)</a:t>
            </a:r>
            <a:r>
              <a:rPr lang="zh-CN" altLang="en-US" dirty="0"/>
              <a:t>功能码字段推断 </a:t>
            </a:r>
            <a:r>
              <a:rPr lang="en-US" altLang="zh-CN" dirty="0"/>
              <a:t>F1-Score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E957DC-90E5-08D4-BF3B-45D8AABD76F1}"/>
              </a:ext>
            </a:extLst>
          </p:cNvPr>
          <p:cNvSpPr txBox="1"/>
          <p:nvPr/>
        </p:nvSpPr>
        <p:spPr>
          <a:xfrm>
            <a:off x="319683" y="358259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dirty="0">
                <a:solidFill>
                  <a:srgbClr val="1A2980"/>
                </a:solidFill>
                <a:latin typeface="Segoe UI" panose="020B0502040204020203" pitchFamily="34" charset="0"/>
              </a:rPr>
              <a:t>功能码字段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推断性能对比</a:t>
            </a:r>
          </a:p>
        </p:txBody>
      </p:sp>
    </p:spTree>
    <p:extLst>
      <p:ext uri="{BB962C8B-B14F-4D97-AF65-F5344CB8AC3E}">
        <p14:creationId xmlns:p14="http://schemas.microsoft.com/office/powerpoint/2010/main" val="3262088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95CAA89-1831-403C-36E5-85A9120D0313}"/>
              </a:ext>
            </a:extLst>
          </p:cNvPr>
          <p:cNvSpPr txBox="1"/>
          <p:nvPr/>
        </p:nvSpPr>
        <p:spPr>
          <a:xfrm>
            <a:off x="441126" y="429696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控制字段的有效性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30E263-C524-3897-93EE-A9A89F1F5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26" y="937959"/>
            <a:ext cx="10602805" cy="363905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59CFD3C-33C6-972E-C0CB-B9C2C4C31B1F}"/>
              </a:ext>
            </a:extLst>
          </p:cNvPr>
          <p:cNvSpPr txBox="1"/>
          <p:nvPr/>
        </p:nvSpPr>
        <p:spPr>
          <a:xfrm>
            <a:off x="634007" y="4715948"/>
            <a:ext cx="10409924" cy="1166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效果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在大多数协议上，使用控制字段进行聚类后，格式和语义推断性能均得到提升。</a:t>
            </a:r>
          </a:p>
          <a:p>
            <a:pPr algn="l">
              <a:spcBef>
                <a:spcPts val="1125"/>
              </a:spcBef>
              <a:buNone/>
            </a:pPr>
            <a:r>
              <a:rPr lang="zh-CN" altLang="en-US" b="1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例外情况</a:t>
            </a:r>
            <a:r>
              <a:rPr lang="en-US" altLang="zh-CN" b="1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b="0" dirty="0">
                <a:solidFill>
                  <a:srgbClr val="D9534F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US" altLang="zh-CN" b="0" dirty="0">
                <a:effectLst/>
                <a:latin typeface="Segoe UI" panose="020B0502040204020203" pitchFamily="34" charset="0"/>
              </a:rPr>
              <a:t>Modbus, </a:t>
            </a:r>
            <a:r>
              <a:rPr lang="en-US" altLang="zh-CN" b="0" dirty="0" err="1">
                <a:effectLst/>
                <a:latin typeface="Segoe UI" panose="020B0502040204020203" pitchFamily="34" charset="0"/>
              </a:rPr>
              <a:t>Omron_Fins</a:t>
            </a:r>
            <a:r>
              <a:rPr lang="en-US" altLang="zh-CN" b="0" dirty="0">
                <a:effectLst/>
                <a:latin typeface="Segoe UI" panose="020B0502040204020203" pitchFamily="34" charset="0"/>
              </a:rPr>
              <a:t> (</a:t>
            </a:r>
            <a:r>
              <a:rPr lang="zh-CN" altLang="en-US" b="0" dirty="0">
                <a:effectLst/>
                <a:latin typeface="Segoe UI" panose="020B0502040204020203" pitchFamily="34" charset="0"/>
              </a:rPr>
              <a:t>无控制字段</a:t>
            </a:r>
            <a:r>
              <a:rPr lang="en-US" altLang="zh-CN" b="0" dirty="0">
                <a:effectLst/>
                <a:latin typeface="Segoe UI" panose="020B0502040204020203" pitchFamily="34" charset="0"/>
              </a:rPr>
              <a:t>)</a:t>
            </a:r>
            <a:r>
              <a:rPr lang="zh-CN" altLang="en-US" b="0" dirty="0">
                <a:effectLst/>
                <a:latin typeface="Segoe UI" panose="020B0502040204020203" pitchFamily="34" charset="0"/>
              </a:rPr>
              <a:t>；</a:t>
            </a:r>
            <a:r>
              <a:rPr lang="en-US" altLang="zh-CN" b="0" dirty="0">
                <a:effectLst/>
                <a:latin typeface="Segoe UI" panose="020B0502040204020203" pitchFamily="34" charset="0"/>
              </a:rPr>
              <a:t>Dnp3 (</a:t>
            </a:r>
            <a:r>
              <a:rPr lang="zh-CN" altLang="en-US" b="0" dirty="0">
                <a:effectLst/>
                <a:latin typeface="Segoe UI" panose="020B0502040204020203" pitchFamily="34" charset="0"/>
              </a:rPr>
              <a:t>控制字段不影响头部格式</a:t>
            </a:r>
            <a:r>
              <a:rPr lang="en-US" altLang="zh-CN" b="0" dirty="0">
                <a:effectLst/>
                <a:latin typeface="Segoe UI" panose="020B0502040204020203" pitchFamily="34" charset="0"/>
              </a:rPr>
              <a:t>) </a:t>
            </a:r>
            <a:r>
              <a:rPr lang="zh-CN" altLang="en-US" b="0" dirty="0">
                <a:effectLst/>
                <a:latin typeface="Segoe UI" panose="020B0502040204020203" pitchFamily="34" charset="0"/>
              </a:rPr>
              <a:t>的性能在两种情况下相同。</a:t>
            </a:r>
          </a:p>
        </p:txBody>
      </p:sp>
    </p:spTree>
    <p:extLst>
      <p:ext uri="{BB962C8B-B14F-4D97-AF65-F5344CB8AC3E}">
        <p14:creationId xmlns:p14="http://schemas.microsoft.com/office/powerpoint/2010/main" val="2257711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E125E4F-1C4C-699E-FF95-B82B17D6ED52}"/>
              </a:ext>
            </a:extLst>
          </p:cNvPr>
          <p:cNvSpPr txBox="1"/>
          <p:nvPr/>
        </p:nvSpPr>
        <p:spPr>
          <a:xfrm>
            <a:off x="383976" y="343971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  <a:buNone/>
            </a:pP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实际应用：模糊测试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38EABE-86EE-DD18-FFE1-23BBCAD7C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82" y="713303"/>
            <a:ext cx="9754391" cy="309285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CD89D53-C41D-A416-4946-2848125A93AC}"/>
              </a:ext>
            </a:extLst>
          </p:cNvPr>
          <p:cNvSpPr txBox="1"/>
          <p:nvPr/>
        </p:nvSpPr>
        <p:spPr>
          <a:xfrm>
            <a:off x="1005482" y="4295957"/>
            <a:ext cx="96672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zh-CN" altLang="en-US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集成工具</a:t>
            </a:r>
            <a:r>
              <a:rPr lang="en-US" altLang="zh-CN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 </a:t>
            </a:r>
            <a:r>
              <a:rPr lang="en-US" altLang="zh-CN" sz="1600" b="1" i="0" dirty="0" err="1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Boofuzz</a:t>
            </a:r>
            <a:r>
              <a:rPr lang="en-US" altLang="zh-CN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 (</a:t>
            </a:r>
            <a:r>
              <a:rPr lang="zh-CN" altLang="en-US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开源黑盒模糊测试器</a:t>
            </a:r>
            <a:r>
              <a:rPr lang="en-US" altLang="zh-CN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)</a:t>
            </a:r>
            <a:r>
              <a:rPr lang="zh-CN" altLang="en-US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。</a:t>
            </a:r>
          </a:p>
          <a:p>
            <a:pPr algn="l">
              <a:spcAft>
                <a:spcPts val="750"/>
              </a:spcAft>
              <a:buNone/>
            </a:pPr>
            <a:r>
              <a:rPr lang="zh-CN" altLang="en-US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方法</a:t>
            </a:r>
            <a:r>
              <a:rPr lang="en-US" altLang="zh-CN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根据 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REInPro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推断的协议规范（字段大小、语义、相互依赖关系）生成变异消息。</a:t>
            </a:r>
          </a:p>
          <a:p>
            <a:pPr algn="l">
              <a:spcAft>
                <a:spcPts val="900"/>
              </a:spcAft>
            </a:pPr>
            <a:r>
              <a:rPr lang="zh-CN" altLang="en-US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效果</a:t>
            </a:r>
            <a:r>
              <a:rPr lang="en-US" altLang="zh-CN" sz="1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REInPro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的推断结果帮助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Boofuzz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测试每个字段的有效性。</a:t>
            </a:r>
          </a:p>
          <a:p>
            <a:pPr algn="l">
              <a:spcBef>
                <a:spcPts val="1125"/>
              </a:spcBef>
              <a:buNone/>
            </a:pPr>
            <a:r>
              <a:rPr lang="zh-CN" altLang="en-US" sz="1600" b="1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结论</a:t>
            </a:r>
            <a:r>
              <a:rPr lang="en-US" altLang="zh-CN" sz="1600" b="1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zh-CN" altLang="en-US" sz="1600" b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US" altLang="zh-CN" sz="1600" b="0" dirty="0" err="1">
                <a:effectLst/>
                <a:latin typeface="Segoe UI" panose="020B0502040204020203" pitchFamily="34" charset="0"/>
              </a:rPr>
              <a:t>REInPro</a:t>
            </a:r>
            <a:r>
              <a:rPr lang="en-US" altLang="zh-CN" sz="1600" b="0" dirty="0">
                <a:effectLst/>
                <a:latin typeface="Segoe UI" panose="020B0502040204020203" pitchFamily="34" charset="0"/>
              </a:rPr>
              <a:t> </a:t>
            </a:r>
            <a:r>
              <a:rPr lang="zh-CN" altLang="en-US" sz="1600" b="0" dirty="0">
                <a:effectLst/>
                <a:latin typeface="Segoe UI" panose="020B0502040204020203" pitchFamily="34" charset="0"/>
              </a:rPr>
              <a:t>的逆向工程结果可用于生成能有效与 </a:t>
            </a:r>
            <a:r>
              <a:rPr lang="en-US" altLang="zh-CN" sz="1600" b="0" dirty="0">
                <a:effectLst/>
                <a:latin typeface="Segoe UI" panose="020B0502040204020203" pitchFamily="34" charset="0"/>
              </a:rPr>
              <a:t>PLC </a:t>
            </a:r>
            <a:r>
              <a:rPr lang="zh-CN" altLang="en-US" sz="1600" b="0" dirty="0">
                <a:effectLst/>
                <a:latin typeface="Segoe UI" panose="020B0502040204020203" pitchFamily="34" charset="0"/>
              </a:rPr>
              <a:t>从站通信的模糊测试消息。</a:t>
            </a:r>
          </a:p>
        </p:txBody>
      </p:sp>
    </p:spTree>
    <p:extLst>
      <p:ext uri="{BB962C8B-B14F-4D97-AF65-F5344CB8AC3E}">
        <p14:creationId xmlns:p14="http://schemas.microsoft.com/office/powerpoint/2010/main" val="3615265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1679</Words>
  <Application>Microsoft Office PowerPoint</Application>
  <PresentationFormat>宽屏</PresentationFormat>
  <Paragraphs>138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Inter</vt:lpstr>
      <vt:lpstr>Menlo</vt:lpstr>
      <vt:lpstr>等线</vt:lpstr>
      <vt:lpstr>等线 Light</vt:lpstr>
      <vt:lpstr>Arial</vt:lpstr>
      <vt:lpstr>Cambria Math</vt:lpstr>
      <vt:lpstr>Segoe UI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奕辉 赵</dc:creator>
  <cp:lastModifiedBy>奕辉 赵</cp:lastModifiedBy>
  <cp:revision>122</cp:revision>
  <dcterms:created xsi:type="dcterms:W3CDTF">2025-12-22T11:43:54Z</dcterms:created>
  <dcterms:modified xsi:type="dcterms:W3CDTF">2025-12-23T01:20:08Z</dcterms:modified>
</cp:coreProperties>
</file>