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1855" r:id="rId2"/>
    <p:sldId id="1779" r:id="rId3"/>
    <p:sldId id="1787" r:id="rId4"/>
    <p:sldId id="1788" r:id="rId5"/>
    <p:sldId id="1877" r:id="rId6"/>
    <p:sldId id="1886" r:id="rId7"/>
    <p:sldId id="1857" r:id="rId8"/>
    <p:sldId id="1882" r:id="rId9"/>
    <p:sldId id="1858" r:id="rId10"/>
    <p:sldId id="1887" r:id="rId11"/>
    <p:sldId id="1883" r:id="rId12"/>
    <p:sldId id="1888" r:id="rId13"/>
    <p:sldId id="1890" r:id="rId14"/>
    <p:sldId id="1889" r:id="rId15"/>
    <p:sldId id="1891" r:id="rId16"/>
    <p:sldId id="1896" r:id="rId17"/>
    <p:sldId id="1893" r:id="rId18"/>
    <p:sldId id="1892" r:id="rId19"/>
    <p:sldId id="1894" r:id="rId20"/>
    <p:sldId id="1895" r:id="rId21"/>
    <p:sldId id="1897" r:id="rId22"/>
    <p:sldId id="1898" r:id="rId23"/>
    <p:sldId id="1899" r:id="rId24"/>
    <p:sldId id="1900" r:id="rId25"/>
    <p:sldId id="1825" r:id="rId26"/>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59431" autoAdjust="0"/>
  </p:normalViewPr>
  <p:slideViewPr>
    <p:cSldViewPr snapToGrid="0">
      <p:cViewPr varScale="1">
        <p:scale>
          <a:sx n="65" d="100"/>
          <a:sy n="65" d="100"/>
        </p:scale>
        <p:origin x="214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B60DB6-D47D-420D-A313-128021A50BB0}" type="datetimeFigureOut">
              <a:rPr lang="zh-CN" altLang="en-US" smtClean="0"/>
              <a:t>2026/7/6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D5B987-1E06-4EBC-82C5-DF6871542F5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7D5B987-1E06-4EBC-82C5-DF6871542F57}" type="slidenum">
              <a:rPr lang="zh-CN" altLang="en-US" smtClean="0"/>
              <a:t>6</a:t>
            </a:fld>
            <a:endParaRPr lang="zh-CN" altLang="en-US"/>
          </a:p>
        </p:txBody>
      </p:sp>
    </p:spTree>
    <p:extLst>
      <p:ext uri="{BB962C8B-B14F-4D97-AF65-F5344CB8AC3E}">
        <p14:creationId xmlns:p14="http://schemas.microsoft.com/office/powerpoint/2010/main" val="2019069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这一页讲的是 </a:t>
            </a:r>
            <a:r>
              <a:rPr lang="en-US" altLang="zh-CN" dirty="0"/>
              <a:t>CANHUNTER </a:t>
            </a:r>
            <a:r>
              <a:rPr lang="zh-CN" altLang="en-US" dirty="0"/>
              <a:t>怎么找到 </a:t>
            </a:r>
            <a:r>
              <a:rPr lang="en-US" altLang="zh-CN" dirty="0"/>
              <a:t>CAN </a:t>
            </a:r>
            <a:r>
              <a:rPr lang="zh-CN" altLang="en-US" dirty="0"/>
              <a:t>命令。</a:t>
            </a:r>
            <a:r>
              <a:rPr lang="en-US" altLang="zh-CN" dirty="0"/>
              <a:t>App </a:t>
            </a:r>
            <a:r>
              <a:rPr lang="zh-CN" altLang="en-US" dirty="0"/>
              <a:t>里代码很多，不能全部分析，所以作者从最终发送数据的低层网络 </a:t>
            </a:r>
            <a:r>
              <a:rPr lang="en-US" altLang="zh-CN" dirty="0"/>
              <a:t>API </a:t>
            </a:r>
            <a:r>
              <a:rPr lang="zh-CN" altLang="en-US" dirty="0"/>
              <a:t>开始反向追踪。因为无论命令怎么生成，最后都要通过蓝牙、</a:t>
            </a:r>
            <a:r>
              <a:rPr lang="en-US" altLang="zh-CN" dirty="0"/>
              <a:t>Wi-Fi </a:t>
            </a:r>
            <a:r>
              <a:rPr lang="zh-CN" altLang="en-US" dirty="0"/>
              <a:t>或 </a:t>
            </a:r>
            <a:r>
              <a:rPr lang="en-US" altLang="zh-CN" dirty="0"/>
              <a:t>Socket </a:t>
            </a:r>
            <a:r>
              <a:rPr lang="zh-CN" altLang="en-US" dirty="0"/>
              <a:t>发出去。后向切片会追踪变量赋值、函数调用和 </a:t>
            </a:r>
            <a:r>
              <a:rPr lang="en-US" altLang="zh-CN" dirty="0"/>
              <a:t>if </a:t>
            </a:r>
            <a:r>
              <a:rPr lang="zh-CN" altLang="en-US" dirty="0"/>
              <a:t>条件，最后得到从命令生成到命令发送的路径。</a:t>
            </a:r>
            <a:endParaRPr lang="en-US" altLang="zh-CN"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37D5B987-1E06-4EBC-82C5-DF6871542F57}" type="slidenum">
              <a:rPr lang="zh-CN" altLang="en-US" smtClean="0"/>
              <a:t>7</a:t>
            </a:fld>
            <a:endParaRPr lang="zh-CN" altLang="en-US"/>
          </a:p>
        </p:txBody>
      </p:sp>
    </p:spTree>
    <p:extLst>
      <p:ext uri="{BB962C8B-B14F-4D97-AF65-F5344CB8AC3E}">
        <p14:creationId xmlns:p14="http://schemas.microsoft.com/office/powerpoint/2010/main" val="2226606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页是后向切片算法。它维护一个目标变量集合，反向遍历控制流图。如果某条语句影响目标变量，就把它加入切片。如果变量来自其他函数，就递归进入函数继续找。最后算法生成一棵执行路径树，根节点是发送 </a:t>
            </a:r>
            <a:r>
              <a:rPr lang="en-US" altLang="zh-CN" dirty="0"/>
              <a:t>API</a:t>
            </a:r>
            <a:r>
              <a:rPr lang="zh-CN" altLang="en-US" dirty="0"/>
              <a:t>，叶节点是命令生成点。</a:t>
            </a:r>
          </a:p>
        </p:txBody>
      </p:sp>
      <p:sp>
        <p:nvSpPr>
          <p:cNvPr id="4" name="灯片编号占位符 3"/>
          <p:cNvSpPr>
            <a:spLocks noGrp="1"/>
          </p:cNvSpPr>
          <p:nvPr>
            <p:ph type="sldNum" sz="quarter" idx="5"/>
          </p:nvPr>
        </p:nvSpPr>
        <p:spPr/>
        <p:txBody>
          <a:bodyPr/>
          <a:lstStyle/>
          <a:p>
            <a:fld id="{37D5B987-1E06-4EBC-82C5-DF6871542F57}" type="slidenum">
              <a:rPr lang="zh-CN" altLang="en-US" smtClean="0"/>
              <a:t>8</a:t>
            </a:fld>
            <a:endParaRPr lang="zh-CN" altLang="en-US"/>
          </a:p>
        </p:txBody>
      </p:sp>
    </p:spTree>
    <p:extLst>
      <p:ext uri="{BB962C8B-B14F-4D97-AF65-F5344CB8AC3E}">
        <p14:creationId xmlns:p14="http://schemas.microsoft.com/office/powerpoint/2010/main" val="2824894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t>这页是语法恢复。前面只是找到了路径，这一步要把路径真正执行起来，算出 </a:t>
            </a:r>
            <a:r>
              <a:rPr lang="en-US" altLang="zh-CN" sz="1800" dirty="0"/>
              <a:t>CAN </a:t>
            </a:r>
            <a:r>
              <a:rPr lang="zh-CN" altLang="en-US" sz="1800" dirty="0"/>
              <a:t>命令的具体十六进制值。</a:t>
            </a:r>
            <a:r>
              <a:rPr lang="en-US" altLang="zh-CN" sz="1800" dirty="0"/>
              <a:t>CANHUNTER </a:t>
            </a:r>
            <a:r>
              <a:rPr lang="zh-CN" altLang="en-US" sz="1800" dirty="0"/>
              <a:t>不需要真实车辆连接，而是通过动态强制执行直接运行相关代码。每次执行到网络发送 </a:t>
            </a:r>
            <a:r>
              <a:rPr lang="en-US" altLang="zh-CN" sz="1800" dirty="0"/>
              <a:t>API</a:t>
            </a:r>
            <a:r>
              <a:rPr lang="zh-CN" altLang="en-US" sz="1800" dirty="0"/>
              <a:t>，就记录生成的数据，然后再根据 </a:t>
            </a:r>
            <a:r>
              <a:rPr lang="en-US" altLang="zh-CN" sz="1800" dirty="0"/>
              <a:t>CAN </a:t>
            </a:r>
            <a:r>
              <a:rPr lang="zh-CN" altLang="en-US" sz="1800" dirty="0"/>
              <a:t>命令格式过滤掉 </a:t>
            </a:r>
            <a:r>
              <a:rPr lang="en-US" altLang="zh-CN" sz="1800" dirty="0"/>
              <a:t>AT </a:t>
            </a:r>
            <a:r>
              <a:rPr lang="zh-CN" altLang="en-US" sz="1800" dirty="0"/>
              <a:t>命令或普通字符串命令。</a:t>
            </a:r>
          </a:p>
        </p:txBody>
      </p:sp>
      <p:sp>
        <p:nvSpPr>
          <p:cNvPr id="4" name="灯片编号占位符 3"/>
          <p:cNvSpPr>
            <a:spLocks noGrp="1"/>
          </p:cNvSpPr>
          <p:nvPr>
            <p:ph type="sldNum" sz="quarter" idx="5"/>
          </p:nvPr>
        </p:nvSpPr>
        <p:spPr/>
        <p:txBody>
          <a:bodyPr/>
          <a:lstStyle/>
          <a:p>
            <a:fld id="{37D5B987-1E06-4EBC-82C5-DF6871542F57}" type="slidenum">
              <a:rPr lang="zh-CN" altLang="en-US" smtClean="0"/>
              <a:t>9</a:t>
            </a:fld>
            <a:endParaRPr lang="zh-CN" altLang="en-US"/>
          </a:p>
        </p:txBody>
      </p:sp>
    </p:spTree>
    <p:extLst>
      <p:ext uri="{BB962C8B-B14F-4D97-AF65-F5344CB8AC3E}">
        <p14:creationId xmlns:p14="http://schemas.microsoft.com/office/powerpoint/2010/main" val="454751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 </a:t>
            </a:r>
            <a:r>
              <a:rPr lang="en-US" altLang="zh-CN" dirty="0"/>
              <a:t>CAN </a:t>
            </a:r>
            <a:r>
              <a:rPr lang="zh-CN" altLang="en-US" dirty="0"/>
              <a:t>总线命令的多样性，我们注意到应用程序开发人员经常将汽车模型信息作为参数集成，以帮助自己区分来自不同制造商的 </a:t>
            </a:r>
            <a:r>
              <a:rPr lang="en-US" altLang="zh-CN" dirty="0"/>
              <a:t>CAN </a:t>
            </a:r>
            <a:r>
              <a:rPr lang="zh-CN" altLang="en-US" dirty="0"/>
              <a:t>总线命令。为了推断模型信息，我们将提取的参数与一组预构建的所有车辆模型进行交叉比较。因此，在执行函数调用指令时，</a:t>
            </a:r>
            <a:r>
              <a:rPr lang="en-US" altLang="zh-CN" dirty="0"/>
              <a:t>CANHUNTER</a:t>
            </a:r>
            <a:r>
              <a:rPr lang="zh-CN" altLang="en-US" dirty="0"/>
              <a:t>会动态提取与命令关联的函数调用的常量字符串参数，以推断语义和模型信息。</a:t>
            </a:r>
          </a:p>
        </p:txBody>
      </p:sp>
      <p:sp>
        <p:nvSpPr>
          <p:cNvPr id="4" name="灯片编号占位符 3"/>
          <p:cNvSpPr>
            <a:spLocks noGrp="1"/>
          </p:cNvSpPr>
          <p:nvPr>
            <p:ph type="sldNum" sz="quarter" idx="5"/>
          </p:nvPr>
        </p:nvSpPr>
        <p:spPr/>
        <p:txBody>
          <a:bodyPr/>
          <a:lstStyle/>
          <a:p>
            <a:fld id="{37D5B987-1E06-4EBC-82C5-DF6871542F57}" type="slidenum">
              <a:rPr lang="zh-CN" altLang="en-US" smtClean="0"/>
              <a:t>10</a:t>
            </a:fld>
            <a:endParaRPr lang="zh-CN" altLang="en-US"/>
          </a:p>
        </p:txBody>
      </p:sp>
    </p:spTree>
    <p:extLst>
      <p:ext uri="{BB962C8B-B14F-4D97-AF65-F5344CB8AC3E}">
        <p14:creationId xmlns:p14="http://schemas.microsoft.com/office/powerpoint/2010/main" val="91870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处理本机库。开发人员将本机库集成到他们的应用程序中是很常见的，因为它可以方便地开发跨平台应用程序。一个典型的例子是用 </a:t>
            </a:r>
            <a:r>
              <a:rPr lang="en-US" altLang="zh-CN" dirty="0"/>
              <a:t>C/C++ </a:t>
            </a:r>
            <a:r>
              <a:rPr lang="zh-CN" altLang="en-US" dirty="0"/>
              <a:t>编写的 </a:t>
            </a:r>
            <a:r>
              <a:rPr lang="en-US" altLang="zh-CN" dirty="0"/>
              <a:t>.so </a:t>
            </a:r>
            <a:r>
              <a:rPr lang="zh-CN" altLang="en-US" dirty="0"/>
              <a:t>库。此外，由于这些库更难进行逆向工程，开发人员可以将重要的代码和数据隐藏在其中。然而，在应用程序中使用此类原生库时，</a:t>
            </a:r>
            <a:r>
              <a:rPr lang="en-US" altLang="zh-CN" dirty="0"/>
              <a:t>CANHUNTER </a:t>
            </a:r>
            <a:r>
              <a:rPr lang="zh-CN" altLang="en-US" dirty="0"/>
              <a:t>在追溯到 </a:t>
            </a:r>
            <a:r>
              <a:rPr lang="en-US" altLang="zh-CN" dirty="0"/>
              <a:t>UI </a:t>
            </a:r>
            <a:r>
              <a:rPr lang="zh-CN" altLang="en-US" dirty="0"/>
              <a:t>组件以恢复 </a:t>
            </a:r>
            <a:r>
              <a:rPr lang="en-US" altLang="zh-CN" dirty="0"/>
              <a:t>CAN </a:t>
            </a:r>
            <a:r>
              <a:rPr lang="zh-CN" altLang="en-US" dirty="0"/>
              <a:t>总线命令的语义时无法直接构建完整的函数调用图。因此，我们设计了一个解决方案，使 </a:t>
            </a:r>
            <a:r>
              <a:rPr lang="en-US" altLang="zh-CN" dirty="0"/>
              <a:t>CANHUNTER </a:t>
            </a:r>
            <a:r>
              <a:rPr lang="zh-CN" altLang="en-US" dirty="0"/>
              <a:t>能够成功恢复超过 </a:t>
            </a:r>
            <a:r>
              <a:rPr lang="en-US" altLang="zh-CN" dirty="0"/>
              <a:t>50% </a:t>
            </a:r>
            <a:r>
              <a:rPr lang="zh-CN" altLang="en-US" dirty="0"/>
              <a:t>的命令的语义。</a:t>
            </a:r>
            <a:endParaRPr lang="en-US" altLang="zh-CN" dirty="0"/>
          </a:p>
          <a:p>
            <a:r>
              <a:rPr lang="zh-CN" altLang="en-US" dirty="0"/>
              <a:t>具体来说，在 </a:t>
            </a:r>
            <a:r>
              <a:rPr lang="en-US" altLang="zh-CN" dirty="0"/>
              <a:t>IDA Pro </a:t>
            </a:r>
            <a:r>
              <a:rPr lang="zh-CN" altLang="en-US" dirty="0"/>
              <a:t>中使用反汇编器静态反汇编和分析 </a:t>
            </a:r>
            <a:r>
              <a:rPr lang="en-US" altLang="zh-CN" dirty="0"/>
              <a:t>Android </a:t>
            </a:r>
            <a:r>
              <a:rPr lang="zh-CN" altLang="en-US" dirty="0"/>
              <a:t>和 </a:t>
            </a:r>
            <a:r>
              <a:rPr lang="en-US" altLang="zh-CN" dirty="0"/>
              <a:t>iOS </a:t>
            </a:r>
            <a:r>
              <a:rPr lang="zh-CN" altLang="en-US" dirty="0"/>
              <a:t>平台中的原生二进制文件时，我们必须解决两个额外的挑战。 </a:t>
            </a:r>
            <a:r>
              <a:rPr lang="en-US" altLang="zh-CN" dirty="0"/>
              <a:t>• </a:t>
            </a:r>
            <a:r>
              <a:rPr lang="zh-CN" altLang="en-US" dirty="0"/>
              <a:t>定位虚拟函数的调用者。在本机二进制文件中，虚函数的调用是通过引用其虚函数表中的虚函数指针来实现的。为了实现这一点，</a:t>
            </a:r>
            <a:r>
              <a:rPr lang="zh-CN" altLang="en-US" b="1" dirty="0">
                <a:solidFill>
                  <a:srgbClr val="C00000"/>
                </a:solidFill>
              </a:rPr>
              <a:t>汇编代码首先加载虚函数表的地址，并通过添加偏移值来计算虚函数地址。因此，无法直接推断出虚函数的调用者。为了解决这个问题，</a:t>
            </a:r>
            <a:r>
              <a:rPr lang="en-US" altLang="zh-CN" b="1" dirty="0">
                <a:solidFill>
                  <a:srgbClr val="C00000"/>
                </a:solidFill>
              </a:rPr>
              <a:t>CANHUNTER</a:t>
            </a:r>
            <a:r>
              <a:rPr lang="zh-CN" altLang="en-US" b="1" dirty="0">
                <a:solidFill>
                  <a:srgbClr val="C00000"/>
                </a:solidFill>
              </a:rPr>
              <a:t>首先根据虚函数指针找到虚函数表地址，然后扫描表地址的所有引用，并检查调用了哪个虚函数，最终找到虚函数的实际调用者。 </a:t>
            </a:r>
            <a:r>
              <a:rPr lang="en-US" altLang="zh-CN" dirty="0"/>
              <a:t>• </a:t>
            </a:r>
            <a:r>
              <a:rPr lang="zh-CN" altLang="en-US" dirty="0"/>
              <a:t>将本机代码与应用程序代码相关联。对于 </a:t>
            </a:r>
            <a:r>
              <a:rPr lang="en-US" altLang="zh-CN" dirty="0"/>
              <a:t>iOS </a:t>
            </a:r>
            <a:r>
              <a:rPr lang="zh-CN" altLang="en-US" dirty="0"/>
              <a:t>应用，本机代码与 </a:t>
            </a:r>
            <a:r>
              <a:rPr lang="en-US" altLang="zh-CN" dirty="0"/>
              <a:t>Objective-C </a:t>
            </a:r>
            <a:r>
              <a:rPr lang="zh-CN" altLang="en-US" dirty="0"/>
              <a:t>代码混合在一起，因此可以在同一二进制文件中显式推断它们的关联。然而，对于</a:t>
            </a:r>
            <a:r>
              <a:rPr lang="en-US" altLang="zh-CN" dirty="0"/>
              <a:t>Android</a:t>
            </a:r>
            <a:r>
              <a:rPr lang="zh-CN" altLang="en-US" dirty="0"/>
              <a:t>应用程序，</a:t>
            </a:r>
            <a:r>
              <a:rPr lang="en-US" altLang="zh-CN" dirty="0"/>
              <a:t>Java</a:t>
            </a:r>
            <a:r>
              <a:rPr lang="zh-CN" altLang="en-US" dirty="0"/>
              <a:t>字节码和库是分开的，本机函数的调用是通过本机开发工具包（</a:t>
            </a:r>
            <a:r>
              <a:rPr lang="en-US" altLang="zh-CN" dirty="0"/>
              <a:t>NDK</a:t>
            </a:r>
            <a:r>
              <a:rPr lang="zh-CN" altLang="en-US" dirty="0"/>
              <a:t>）中的</a:t>
            </a:r>
            <a:r>
              <a:rPr lang="en-US" altLang="zh-CN" dirty="0"/>
              <a:t>Java</a:t>
            </a:r>
            <a:r>
              <a:rPr lang="zh-CN" altLang="en-US" dirty="0"/>
              <a:t>本机接口（</a:t>
            </a:r>
            <a:r>
              <a:rPr lang="en-US" altLang="zh-CN" dirty="0"/>
              <a:t>JNI</a:t>
            </a:r>
            <a:r>
              <a:rPr lang="zh-CN" altLang="en-US" dirty="0"/>
              <a:t>）</a:t>
            </a:r>
            <a:r>
              <a:rPr lang="en-US" altLang="zh-CN" dirty="0"/>
              <a:t>[1]</a:t>
            </a:r>
            <a:r>
              <a:rPr lang="zh-CN" altLang="en-US" dirty="0"/>
              <a:t>。在这种情况下，</a:t>
            </a:r>
            <a:r>
              <a:rPr lang="en-US" altLang="zh-CN" dirty="0"/>
              <a:t>CANHUNTER</a:t>
            </a:r>
            <a:r>
              <a:rPr lang="zh-CN" altLang="en-US" dirty="0"/>
              <a:t>识别</a:t>
            </a:r>
            <a:r>
              <a:rPr lang="en-US" altLang="zh-CN" dirty="0"/>
              <a:t>Java</a:t>
            </a:r>
            <a:r>
              <a:rPr lang="zh-CN" altLang="en-US" dirty="0"/>
              <a:t>字节码中的原生函数，并根据函数签名将其与原生代码中的相关函数相关联。之后，</a:t>
            </a:r>
            <a:r>
              <a:rPr lang="en-US" altLang="zh-CN" dirty="0"/>
              <a:t>CANHUNTER</a:t>
            </a:r>
            <a:r>
              <a:rPr lang="zh-CN" altLang="en-US" dirty="0"/>
              <a:t>构建原生二进制文件的函数调用图，然后将原生函数与应用代码关联，从而建立完整的调用图。</a:t>
            </a:r>
          </a:p>
        </p:txBody>
      </p:sp>
      <p:sp>
        <p:nvSpPr>
          <p:cNvPr id="4" name="灯片编号占位符 3"/>
          <p:cNvSpPr>
            <a:spLocks noGrp="1"/>
          </p:cNvSpPr>
          <p:nvPr>
            <p:ph type="sldNum" sz="quarter" idx="5"/>
          </p:nvPr>
        </p:nvSpPr>
        <p:spPr/>
        <p:txBody>
          <a:bodyPr/>
          <a:lstStyle/>
          <a:p>
            <a:fld id="{37D5B987-1E06-4EBC-82C5-DF6871542F57}" type="slidenum">
              <a:rPr lang="zh-CN" altLang="en-US" smtClean="0"/>
              <a:t>11</a:t>
            </a:fld>
            <a:endParaRPr lang="zh-CN" altLang="en-US"/>
          </a:p>
        </p:txBody>
      </p:sp>
    </p:spTree>
    <p:extLst>
      <p:ext uri="{BB962C8B-B14F-4D97-AF65-F5344CB8AC3E}">
        <p14:creationId xmlns:p14="http://schemas.microsoft.com/office/powerpoint/2010/main" val="671380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IVI</a:t>
            </a:r>
            <a:r>
              <a:rPr lang="zh-CN" altLang="en-US" sz="1200" b="0" i="0" kern="1200" dirty="0">
                <a:solidFill>
                  <a:schemeClr val="tx1"/>
                </a:solidFill>
                <a:effectLst/>
                <a:latin typeface="+mn-lt"/>
                <a:ea typeface="+mn-ea"/>
                <a:cs typeface="+mn-cs"/>
              </a:rPr>
              <a:t> 指的是“</a:t>
            </a:r>
            <a:r>
              <a:rPr lang="zh-CN" altLang="en-US" sz="1200" b="1" i="0" kern="1200" dirty="0">
                <a:solidFill>
                  <a:schemeClr val="tx1"/>
                </a:solidFill>
                <a:effectLst/>
                <a:latin typeface="+mn-lt"/>
                <a:ea typeface="+mn-ea"/>
                <a:cs typeface="+mn-cs"/>
              </a:rPr>
              <a:t>车载信息娱乐系统</a:t>
            </a:r>
            <a:r>
              <a:rPr lang="zh-CN" altLang="en-US" sz="1200" b="0" i="0" kern="1200" dirty="0">
                <a:solidFill>
                  <a:schemeClr val="tx1"/>
                </a:solidFill>
                <a:effectLst/>
                <a:latin typeface="+mn-lt"/>
                <a:ea typeface="+mn-ea"/>
                <a:cs typeface="+mn-cs"/>
              </a:rPr>
              <a:t>”，也就是你车里中控台上的那个大屏幕。</a:t>
            </a:r>
            <a:r>
              <a:rPr lang="en-US" altLang="zh-CN" sz="1200" b="0" i="0" kern="1200" dirty="0">
                <a:solidFill>
                  <a:schemeClr val="tx1"/>
                </a:solidFill>
                <a:effectLst/>
                <a:latin typeface="+mn-lt"/>
                <a:ea typeface="+mn-ea"/>
                <a:cs typeface="+mn-cs"/>
              </a:rPr>
              <a:t>IVI</a:t>
            </a:r>
            <a:r>
              <a:rPr lang="zh-CN" altLang="en-US" sz="1200" b="0" i="0" kern="1200" dirty="0">
                <a:solidFill>
                  <a:schemeClr val="tx1"/>
                </a:solidFill>
                <a:effectLst/>
                <a:latin typeface="+mn-lt"/>
                <a:ea typeface="+mn-ea"/>
                <a:cs typeface="+mn-cs"/>
              </a:rPr>
              <a:t>应用程序通常是由</a:t>
            </a:r>
            <a:r>
              <a:rPr lang="zh-CN" altLang="en-US" sz="1200" b="1" i="0" kern="1200" dirty="0">
                <a:solidFill>
                  <a:schemeClr val="tx1"/>
                </a:solidFill>
                <a:effectLst/>
                <a:latin typeface="+mn-lt"/>
                <a:ea typeface="+mn-ea"/>
                <a:cs typeface="+mn-cs"/>
              </a:rPr>
              <a:t>汽车制造商自己或其授权合作伙伴</a:t>
            </a:r>
            <a:r>
              <a:rPr lang="zh-CN" altLang="en-US" sz="1200" b="0" i="0" kern="1200" dirty="0">
                <a:solidFill>
                  <a:schemeClr val="tx1"/>
                </a:solidFill>
                <a:effectLst/>
                <a:latin typeface="+mn-lt"/>
                <a:ea typeface="+mn-ea"/>
                <a:cs typeface="+mn-cs"/>
              </a:rPr>
              <a:t>开发的官方</a:t>
            </a:r>
            <a:r>
              <a:rPr lang="en-US" altLang="zh-CN" sz="1200" b="0" i="0" kern="1200" dirty="0">
                <a:solidFill>
                  <a:schemeClr val="tx1"/>
                </a:solidFill>
                <a:effectLst/>
                <a:latin typeface="+mn-lt"/>
                <a:ea typeface="+mn-ea"/>
                <a:cs typeface="+mn-cs"/>
              </a:rPr>
              <a:t>App</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“加密狗”（</a:t>
            </a:r>
            <a:r>
              <a:rPr lang="en-US" altLang="zh-CN" sz="1200" b="0" i="0" kern="1200" dirty="0">
                <a:solidFill>
                  <a:schemeClr val="tx1"/>
                </a:solidFill>
                <a:effectLst/>
                <a:latin typeface="+mn-lt"/>
                <a:ea typeface="+mn-ea"/>
                <a:cs typeface="+mn-cs"/>
              </a:rPr>
              <a:t>Dongle</a:t>
            </a:r>
            <a:r>
              <a:rPr lang="zh-CN" altLang="en-US" sz="1200" b="0" i="0" kern="1200" dirty="0">
                <a:solidFill>
                  <a:schemeClr val="tx1"/>
                </a:solidFill>
                <a:effectLst/>
                <a:latin typeface="+mn-lt"/>
                <a:ea typeface="+mn-ea"/>
                <a:cs typeface="+mn-cs"/>
              </a:rPr>
              <a:t>）在这里特指插入汽车 </a:t>
            </a:r>
            <a:r>
              <a:rPr lang="en-US" altLang="zh-CN" sz="1200" b="1" i="0" kern="1200" dirty="0">
                <a:solidFill>
                  <a:schemeClr val="tx1"/>
                </a:solidFill>
                <a:effectLst/>
                <a:latin typeface="+mn-lt"/>
                <a:ea typeface="+mn-ea"/>
                <a:cs typeface="+mn-cs"/>
              </a:rPr>
              <a:t>OBD-II (On-Board Diagnostics) </a:t>
            </a:r>
            <a:r>
              <a:rPr lang="zh-CN" altLang="en-US" sz="1200" b="1" i="0" kern="1200" dirty="0">
                <a:solidFill>
                  <a:schemeClr val="tx1"/>
                </a:solidFill>
                <a:effectLst/>
                <a:latin typeface="+mn-lt"/>
                <a:ea typeface="+mn-ea"/>
                <a:cs typeface="+mn-cs"/>
              </a:rPr>
              <a:t>端口</a:t>
            </a:r>
            <a:r>
              <a:rPr lang="zh-CN" altLang="en-US" sz="1200" b="0" i="0" kern="1200" dirty="0">
                <a:solidFill>
                  <a:schemeClr val="tx1"/>
                </a:solidFill>
                <a:effectLst/>
                <a:latin typeface="+mn-lt"/>
                <a:ea typeface="+mn-ea"/>
                <a:cs typeface="+mn-cs"/>
              </a:rPr>
              <a:t>的小型硬件设备。这些设备和对应的</a:t>
            </a:r>
            <a:r>
              <a:rPr lang="en-US" altLang="zh-CN" sz="1200" b="0" i="0" kern="1200" dirty="0">
                <a:solidFill>
                  <a:schemeClr val="tx1"/>
                </a:solidFill>
                <a:effectLst/>
                <a:latin typeface="+mn-lt"/>
                <a:ea typeface="+mn-ea"/>
                <a:cs typeface="+mn-cs"/>
              </a:rPr>
              <a:t>App</a:t>
            </a:r>
            <a:r>
              <a:rPr lang="zh-CN" altLang="en-US" sz="1200" b="0" i="0" kern="1200" dirty="0">
                <a:solidFill>
                  <a:schemeClr val="tx1"/>
                </a:solidFill>
                <a:effectLst/>
                <a:latin typeface="+mn-lt"/>
                <a:ea typeface="+mn-ea"/>
                <a:cs typeface="+mn-cs"/>
              </a:rPr>
              <a:t>通常由</a:t>
            </a:r>
            <a:r>
              <a:rPr lang="zh-CN" altLang="en-US" sz="1200" b="1" i="0" kern="1200" dirty="0">
                <a:solidFill>
                  <a:schemeClr val="tx1"/>
                </a:solidFill>
                <a:effectLst/>
                <a:latin typeface="+mn-lt"/>
                <a:ea typeface="+mn-ea"/>
                <a:cs typeface="+mn-cs"/>
              </a:rPr>
              <a:t>第三方开发者</a:t>
            </a:r>
            <a:r>
              <a:rPr lang="zh-CN" altLang="en-US" sz="1200" b="0" i="0" kern="1200" dirty="0">
                <a:solidFill>
                  <a:schemeClr val="tx1"/>
                </a:solidFill>
                <a:effectLst/>
                <a:latin typeface="+mn-lt"/>
                <a:ea typeface="+mn-ea"/>
                <a:cs typeface="+mn-cs"/>
              </a:rPr>
              <a:t>制作，用于汽车诊断、性能监控或功能定制。</a:t>
            </a:r>
            <a:endParaRPr lang="zh-CN" altLang="en-US" dirty="0"/>
          </a:p>
        </p:txBody>
      </p:sp>
      <p:sp>
        <p:nvSpPr>
          <p:cNvPr id="4" name="灯片编号占位符 3"/>
          <p:cNvSpPr>
            <a:spLocks noGrp="1"/>
          </p:cNvSpPr>
          <p:nvPr>
            <p:ph type="sldNum" sz="quarter" idx="5"/>
          </p:nvPr>
        </p:nvSpPr>
        <p:spPr/>
        <p:txBody>
          <a:bodyPr/>
          <a:lstStyle/>
          <a:p>
            <a:fld id="{37D5B987-1E06-4EBC-82C5-DF6871542F57}" type="slidenum">
              <a:rPr lang="zh-CN" altLang="en-US" smtClean="0"/>
              <a:t>13</a:t>
            </a:fld>
            <a:endParaRPr lang="zh-CN" altLang="en-US"/>
          </a:p>
        </p:txBody>
      </p:sp>
    </p:spTree>
    <p:extLst>
      <p:ext uri="{BB962C8B-B14F-4D97-AF65-F5344CB8AC3E}">
        <p14:creationId xmlns:p14="http://schemas.microsoft.com/office/powerpoint/2010/main" val="226859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左边代表</a:t>
            </a:r>
            <a:r>
              <a:rPr lang="en-US" altLang="zh-CN" sz="1200" b="1" i="0" kern="1200" dirty="0">
                <a:solidFill>
                  <a:schemeClr val="tx1"/>
                </a:solidFill>
                <a:effectLst/>
                <a:latin typeface="+mn-lt"/>
                <a:ea typeface="+mn-ea"/>
                <a:cs typeface="+mn-cs"/>
              </a:rPr>
              <a:t>Android</a:t>
            </a:r>
            <a:r>
              <a:rPr lang="zh-CN" altLang="en-US" sz="1200" b="1" i="0" kern="1200" dirty="0">
                <a:solidFill>
                  <a:schemeClr val="tx1"/>
                </a:solidFill>
                <a:effectLst/>
                <a:latin typeface="+mn-lt"/>
                <a:ea typeface="+mn-ea"/>
                <a:cs typeface="+mn-cs"/>
              </a:rPr>
              <a:t>平台的数据，右边代表</a:t>
            </a:r>
            <a:r>
              <a:rPr lang="en-US" altLang="zh-CN" sz="1200" b="1" i="0" kern="1200" dirty="0">
                <a:solidFill>
                  <a:schemeClr val="tx1"/>
                </a:solidFill>
                <a:effectLst/>
                <a:latin typeface="+mn-lt"/>
                <a:ea typeface="+mn-ea"/>
                <a:cs typeface="+mn-cs"/>
              </a:rPr>
              <a:t>iOS</a:t>
            </a:r>
            <a:r>
              <a:rPr lang="zh-CN" altLang="en-US" sz="1200" b="1" i="0" kern="1200" dirty="0">
                <a:solidFill>
                  <a:schemeClr val="tx1"/>
                </a:solidFill>
                <a:effectLst/>
                <a:latin typeface="+mn-lt"/>
                <a:ea typeface="+mn-ea"/>
                <a:cs typeface="+mn-cs"/>
              </a:rPr>
              <a:t>平台的数据</a:t>
            </a:r>
            <a:r>
              <a:rPr lang="zh-CN" altLang="en-US" sz="1200" b="0" i="0" kern="1200" dirty="0">
                <a:solidFill>
                  <a:schemeClr val="tx1"/>
                </a:solidFill>
                <a:effectLst/>
                <a:latin typeface="+mn-lt"/>
                <a:ea typeface="+mn-ea"/>
                <a:cs typeface="+mn-cs"/>
              </a:rPr>
              <a:t>。</a:t>
            </a:r>
            <a:endParaRPr lang="en-US" altLang="zh-CN"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 Commands (</a:t>
            </a:r>
            <a:r>
              <a:rPr lang="zh-CN" altLang="en-US" sz="1200" b="1" i="0" kern="1200" dirty="0">
                <a:solidFill>
                  <a:schemeClr val="tx1"/>
                </a:solidFill>
                <a:effectLst/>
                <a:latin typeface="+mn-lt"/>
                <a:ea typeface="+mn-ea"/>
                <a:cs typeface="+mn-cs"/>
              </a:rPr>
              <a:t>发现的命令数量</a:t>
            </a:r>
            <a:r>
              <a:rPr lang="en-US" altLang="zh-CN" sz="1200" b="1" i="0" kern="1200" dirty="0">
                <a:solidFill>
                  <a:schemeClr val="tx1"/>
                </a:solidFill>
                <a:effectLst/>
                <a:latin typeface="+mn-lt"/>
                <a:ea typeface="+mn-ea"/>
                <a:cs typeface="+mn-cs"/>
              </a:rPr>
              <a:t>)</a:t>
            </a:r>
          </a:p>
          <a:p>
            <a:r>
              <a:rPr lang="en-US" altLang="zh-CN" sz="1200" b="1" i="0" kern="1200" dirty="0">
                <a:solidFill>
                  <a:schemeClr val="tx1"/>
                </a:solidFill>
                <a:effectLst/>
                <a:latin typeface="+mn-lt"/>
                <a:ea typeface="+mn-ea"/>
                <a:cs typeface="+mn-cs"/>
              </a:rPr>
              <a:t>Car Model Recovered / Semantics Recovered (</a:t>
            </a:r>
            <a:r>
              <a:rPr lang="zh-CN" altLang="en-US" sz="1200" b="1" i="0" kern="1200" dirty="0">
                <a:solidFill>
                  <a:schemeClr val="tx1"/>
                </a:solidFill>
                <a:effectLst/>
                <a:latin typeface="+mn-lt"/>
                <a:ea typeface="+mn-ea"/>
                <a:cs typeface="+mn-cs"/>
              </a:rPr>
              <a:t>恢复成功率</a:t>
            </a:r>
            <a:r>
              <a:rPr lang="en-US" altLang="zh-CN" sz="1200" b="1" i="0" kern="1200" dirty="0">
                <a:solidFill>
                  <a:schemeClr val="tx1"/>
                </a:solidFill>
                <a:effectLst/>
                <a:latin typeface="+mn-lt"/>
                <a:ea typeface="+mn-ea"/>
                <a:cs typeface="+mn-cs"/>
              </a:rPr>
              <a:t>) </a:t>
            </a:r>
            <a:r>
              <a:rPr lang="zh-CN" altLang="en-US" sz="1200" b="1" i="0" kern="1200" dirty="0">
                <a:solidFill>
                  <a:schemeClr val="tx1"/>
                </a:solidFill>
                <a:effectLst/>
                <a:latin typeface="+mn-lt"/>
                <a:ea typeface="+mn-ea"/>
                <a:cs typeface="+mn-cs"/>
              </a:rPr>
              <a:t>含义</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分别指车辆型号信息和命令功能含义的恢复成功率（百分比）</a:t>
            </a:r>
            <a:endParaRPr lang="en-US" altLang="zh-CN"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Backward Slicing (</a:t>
            </a:r>
            <a:r>
              <a:rPr lang="zh-CN" altLang="en-US" sz="1200" b="1" i="0" kern="1200" dirty="0">
                <a:solidFill>
                  <a:schemeClr val="tx1"/>
                </a:solidFill>
                <a:effectLst/>
                <a:latin typeface="+mn-lt"/>
                <a:ea typeface="+mn-ea"/>
                <a:cs typeface="+mn-cs"/>
              </a:rPr>
              <a:t>向后切片分析</a:t>
            </a:r>
            <a:r>
              <a:rPr lang="en-US" altLang="zh-CN" sz="1200" b="1" i="0" kern="1200" dirty="0">
                <a:solidFill>
                  <a:schemeClr val="tx1"/>
                </a:solidFill>
                <a:effectLst/>
                <a:latin typeface="+mn-lt"/>
                <a:ea typeface="+mn-ea"/>
                <a:cs typeface="+mn-cs"/>
              </a:rPr>
              <a:t>)</a:t>
            </a:r>
            <a:endParaRPr lang="zh-CN" altLang="en-US"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Slicing Cost (s) (</a:t>
            </a:r>
            <a:r>
              <a:rPr lang="zh-CN" altLang="en-US" sz="1200" b="1" i="0" kern="1200" dirty="0">
                <a:solidFill>
                  <a:schemeClr val="tx1"/>
                </a:solidFill>
                <a:effectLst/>
                <a:latin typeface="+mn-lt"/>
                <a:ea typeface="+mn-ea"/>
                <a:cs typeface="+mn-cs"/>
              </a:rPr>
              <a:t>切片耗时</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秒</a:t>
            </a:r>
            <a:r>
              <a:rPr lang="en-US" altLang="zh-CN" sz="1200" b="1"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完成静态代码分析所需的时间。</a:t>
            </a:r>
          </a:p>
          <a:p>
            <a:r>
              <a:rPr lang="en-US" altLang="zh-CN" sz="1200" b="1" i="0" kern="1200" dirty="0">
                <a:solidFill>
                  <a:schemeClr val="tx1"/>
                </a:solidFill>
                <a:effectLst/>
                <a:latin typeface="+mn-lt"/>
                <a:ea typeface="+mn-ea"/>
                <a:cs typeface="+mn-cs"/>
              </a:rPr>
              <a:t># Branches (</a:t>
            </a:r>
            <a:r>
              <a:rPr lang="zh-CN" altLang="en-US" sz="1200" b="1" i="0" kern="1200" dirty="0">
                <a:solidFill>
                  <a:schemeClr val="tx1"/>
                </a:solidFill>
                <a:effectLst/>
                <a:latin typeface="+mn-lt"/>
                <a:ea typeface="+mn-ea"/>
                <a:cs typeface="+mn-cs"/>
              </a:rPr>
              <a:t>分析的分支数</a:t>
            </a:r>
            <a:r>
              <a:rPr lang="en-US" altLang="zh-CN" sz="1200" b="1"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算法在代码中需要追踪和分析的逻辑分支数量，代表了</a:t>
            </a:r>
            <a:r>
              <a:rPr lang="en-US" altLang="zh-CN" sz="1200" b="0" i="0" kern="1200" dirty="0">
                <a:solidFill>
                  <a:schemeClr val="tx1"/>
                </a:solidFill>
                <a:effectLst/>
                <a:latin typeface="+mn-lt"/>
                <a:ea typeface="+mn-ea"/>
                <a:cs typeface="+mn-cs"/>
              </a:rPr>
              <a:t>App</a:t>
            </a:r>
            <a:r>
              <a:rPr lang="zh-CN" altLang="en-US" sz="1200" b="0" i="0" kern="1200" dirty="0">
                <a:solidFill>
                  <a:schemeClr val="tx1"/>
                </a:solidFill>
                <a:effectLst/>
                <a:latin typeface="+mn-lt"/>
                <a:ea typeface="+mn-ea"/>
                <a:cs typeface="+mn-cs"/>
              </a:rPr>
              <a:t>代码的复杂度。</a:t>
            </a:r>
          </a:p>
          <a:p>
            <a:r>
              <a:rPr lang="en-US" altLang="zh-CN" sz="1200" b="1" i="0" kern="1200" dirty="0">
                <a:solidFill>
                  <a:schemeClr val="tx1"/>
                </a:solidFill>
                <a:effectLst/>
                <a:latin typeface="+mn-lt"/>
                <a:ea typeface="+mn-ea"/>
                <a:cs typeface="+mn-cs"/>
              </a:rPr>
              <a:t>Forced Execution (</a:t>
            </a:r>
            <a:r>
              <a:rPr lang="zh-CN" altLang="en-US" sz="1200" b="1" i="0" kern="1200" dirty="0">
                <a:solidFill>
                  <a:schemeClr val="tx1"/>
                </a:solidFill>
                <a:effectLst/>
                <a:latin typeface="+mn-lt"/>
                <a:ea typeface="+mn-ea"/>
                <a:cs typeface="+mn-cs"/>
              </a:rPr>
              <a:t>强制执行</a:t>
            </a:r>
            <a:r>
              <a:rPr lang="en-US" altLang="zh-CN" sz="1200" b="1" i="0" kern="1200" dirty="0">
                <a:solidFill>
                  <a:schemeClr val="tx1"/>
                </a:solidFill>
                <a:effectLst/>
                <a:latin typeface="+mn-lt"/>
                <a:ea typeface="+mn-ea"/>
                <a:cs typeface="+mn-cs"/>
              </a:rPr>
              <a:t>)</a:t>
            </a:r>
            <a:endParaRPr lang="zh-CN" altLang="en-US"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 Instr. (</a:t>
            </a:r>
            <a:r>
              <a:rPr lang="zh-CN" altLang="en-US" sz="1200" b="1" i="0" kern="1200" dirty="0">
                <a:solidFill>
                  <a:schemeClr val="tx1"/>
                </a:solidFill>
                <a:effectLst/>
                <a:latin typeface="+mn-lt"/>
                <a:ea typeface="+mn-ea"/>
                <a:cs typeface="+mn-cs"/>
              </a:rPr>
              <a:t>执行的指令数</a:t>
            </a:r>
            <a:r>
              <a:rPr lang="en-US" altLang="zh-CN" sz="1200" b="1"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为了生成所有命令，系统实际执行的代码指令总数。</a:t>
            </a:r>
          </a:p>
          <a:p>
            <a:r>
              <a:rPr lang="en-US" altLang="zh-CN" sz="1200" b="1" i="0" kern="1200" dirty="0">
                <a:solidFill>
                  <a:schemeClr val="tx1"/>
                </a:solidFill>
                <a:effectLst/>
                <a:latin typeface="+mn-lt"/>
                <a:ea typeface="+mn-ea"/>
                <a:cs typeface="+mn-cs"/>
              </a:rPr>
              <a:t>Execution Cost (m) (</a:t>
            </a:r>
            <a:r>
              <a:rPr lang="zh-CN" altLang="en-US" sz="1200" b="1" i="0" kern="1200" dirty="0">
                <a:solidFill>
                  <a:schemeClr val="tx1"/>
                </a:solidFill>
                <a:effectLst/>
                <a:latin typeface="+mn-lt"/>
                <a:ea typeface="+mn-ea"/>
                <a:cs typeface="+mn-cs"/>
              </a:rPr>
              <a:t>执行耗时</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分钟</a:t>
            </a:r>
            <a:r>
              <a:rPr lang="en-US" altLang="zh-CN" sz="1200" b="1"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完成所有命令生成所需的时间。这通常是整个流程中最耗时的一步。</a:t>
            </a:r>
          </a:p>
          <a:p>
            <a:r>
              <a:rPr lang="en-US" altLang="zh-CN" sz="1200" b="1" i="0" kern="1200" dirty="0">
                <a:solidFill>
                  <a:schemeClr val="tx1"/>
                </a:solidFill>
                <a:effectLst/>
                <a:latin typeface="+mn-lt"/>
                <a:ea typeface="+mn-ea"/>
                <a:cs typeface="+mn-cs"/>
              </a:rPr>
              <a:t>Semantics Recovery (</a:t>
            </a:r>
            <a:r>
              <a:rPr lang="zh-CN" altLang="en-US" sz="1200" b="1" i="0" kern="1200" dirty="0">
                <a:solidFill>
                  <a:schemeClr val="tx1"/>
                </a:solidFill>
                <a:effectLst/>
                <a:latin typeface="+mn-lt"/>
                <a:ea typeface="+mn-ea"/>
                <a:cs typeface="+mn-cs"/>
              </a:rPr>
              <a:t>语义恢复</a:t>
            </a:r>
            <a:r>
              <a:rPr lang="en-US" altLang="zh-CN" sz="1200" b="1" i="0" kern="1200" dirty="0">
                <a:solidFill>
                  <a:schemeClr val="tx1"/>
                </a:solidFill>
                <a:effectLst/>
                <a:latin typeface="+mn-lt"/>
                <a:ea typeface="+mn-ea"/>
                <a:cs typeface="+mn-cs"/>
              </a:rPr>
              <a:t>)</a:t>
            </a:r>
          </a:p>
          <a:p>
            <a:r>
              <a:rPr lang="en-US" altLang="zh-CN" sz="1200" b="1" i="0" kern="1200" dirty="0">
                <a:solidFill>
                  <a:schemeClr val="tx1"/>
                </a:solidFill>
                <a:effectLst/>
                <a:latin typeface="+mn-lt"/>
                <a:ea typeface="+mn-ea"/>
                <a:cs typeface="+mn-cs"/>
              </a:rPr>
              <a:t>By UI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通过</a:t>
            </a:r>
            <a:r>
              <a:rPr lang="zh-CN" altLang="en-US" sz="1200" b="1" i="0" kern="1200" dirty="0">
                <a:solidFill>
                  <a:schemeClr val="tx1"/>
                </a:solidFill>
                <a:effectLst/>
                <a:latin typeface="+mn-lt"/>
                <a:ea typeface="+mn-ea"/>
                <a:cs typeface="+mn-cs"/>
              </a:rPr>
              <a:t>关联</a:t>
            </a:r>
            <a:r>
              <a:rPr lang="en-US" altLang="zh-CN" sz="1200" b="1" i="0" kern="1200" dirty="0">
                <a:solidFill>
                  <a:schemeClr val="tx1"/>
                </a:solidFill>
                <a:effectLst/>
                <a:latin typeface="+mn-lt"/>
                <a:ea typeface="+mn-ea"/>
                <a:cs typeface="+mn-cs"/>
              </a:rPr>
              <a:t>UI</a:t>
            </a:r>
            <a:r>
              <a:rPr lang="zh-CN" altLang="en-US" sz="1200" b="1" i="0" kern="1200" dirty="0">
                <a:solidFill>
                  <a:schemeClr val="tx1"/>
                </a:solidFill>
                <a:effectLst/>
                <a:latin typeface="+mn-lt"/>
                <a:ea typeface="+mn-ea"/>
                <a:cs typeface="+mn-cs"/>
              </a:rPr>
              <a:t>元素</a:t>
            </a:r>
            <a:r>
              <a:rPr lang="zh-CN" altLang="en-US" sz="1200" b="0" i="0" kern="1200" dirty="0">
                <a:solidFill>
                  <a:schemeClr val="tx1"/>
                </a:solidFill>
                <a:effectLst/>
                <a:latin typeface="+mn-lt"/>
                <a:ea typeface="+mn-ea"/>
                <a:cs typeface="+mn-cs"/>
              </a:rPr>
              <a:t>（如按钮文本）恢复的语义所占的百分比。</a:t>
            </a:r>
            <a:endParaRPr lang="en-US" altLang="zh-CN"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By Function Argument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通过</a:t>
            </a:r>
            <a:r>
              <a:rPr lang="zh-CN" altLang="en-US" sz="1200" b="1" i="0" kern="1200" dirty="0">
                <a:solidFill>
                  <a:schemeClr val="tx1"/>
                </a:solidFill>
                <a:effectLst/>
                <a:latin typeface="+mn-lt"/>
                <a:ea typeface="+mn-ea"/>
                <a:cs typeface="+mn-cs"/>
              </a:rPr>
              <a:t>关联函数参数</a:t>
            </a:r>
            <a:r>
              <a:rPr lang="zh-CN" altLang="en-US" sz="1200" b="0" i="0" kern="1200" dirty="0">
                <a:solidFill>
                  <a:schemeClr val="tx1"/>
                </a:solidFill>
                <a:effectLst/>
                <a:latin typeface="+mn-lt"/>
                <a:ea typeface="+mn-ea"/>
                <a:cs typeface="+mn-cs"/>
              </a:rPr>
              <a:t>（代码中命令与描述一起出现）恢复的语义所占的百分比。</a:t>
            </a:r>
          </a:p>
          <a:p>
            <a:br>
              <a:rPr lang="zh-CN" altLang="en-US" sz="1200" b="0" i="0" kern="1200" dirty="0">
                <a:solidFill>
                  <a:schemeClr val="tx1"/>
                </a:solidFill>
                <a:effectLst/>
                <a:latin typeface="+mn-lt"/>
                <a:ea typeface="+mn-ea"/>
                <a:cs typeface="+mn-cs"/>
              </a:rPr>
            </a:br>
            <a:endParaRPr lang="zh-CN" altLang="en-US" dirty="0"/>
          </a:p>
        </p:txBody>
      </p:sp>
      <p:sp>
        <p:nvSpPr>
          <p:cNvPr id="4" name="灯片编号占位符 3"/>
          <p:cNvSpPr>
            <a:spLocks noGrp="1"/>
          </p:cNvSpPr>
          <p:nvPr>
            <p:ph type="sldNum" sz="quarter" idx="5"/>
          </p:nvPr>
        </p:nvSpPr>
        <p:spPr/>
        <p:txBody>
          <a:bodyPr/>
          <a:lstStyle/>
          <a:p>
            <a:fld id="{37D5B987-1E06-4EBC-82C5-DF6871542F57}" type="slidenum">
              <a:rPr lang="zh-CN" altLang="en-US" smtClean="0"/>
              <a:t>14</a:t>
            </a:fld>
            <a:endParaRPr lang="zh-CN" altLang="en-US"/>
          </a:p>
        </p:txBody>
      </p:sp>
    </p:spTree>
    <p:extLst>
      <p:ext uri="{BB962C8B-B14F-4D97-AF65-F5344CB8AC3E}">
        <p14:creationId xmlns:p14="http://schemas.microsoft.com/office/powerpoint/2010/main" val="1564929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控制语义的典型示例是锁门、鸣笛。诊断语义的典型示例是从车辆读取参数，例如速度、温度、电压等，这使用户能够监控汽车的状态。</a:t>
            </a:r>
          </a:p>
        </p:txBody>
      </p:sp>
      <p:sp>
        <p:nvSpPr>
          <p:cNvPr id="4" name="灯片编号占位符 3"/>
          <p:cNvSpPr>
            <a:spLocks noGrp="1"/>
          </p:cNvSpPr>
          <p:nvPr>
            <p:ph type="sldNum" sz="quarter" idx="5"/>
          </p:nvPr>
        </p:nvSpPr>
        <p:spPr/>
        <p:txBody>
          <a:bodyPr/>
          <a:lstStyle/>
          <a:p>
            <a:fld id="{37D5B987-1E06-4EBC-82C5-DF6871542F57}" type="slidenum">
              <a:rPr lang="zh-CN" altLang="en-US" smtClean="0"/>
              <a:t>16</a:t>
            </a:fld>
            <a:endParaRPr lang="zh-CN" altLang="en-US"/>
          </a:p>
        </p:txBody>
      </p:sp>
    </p:spTree>
    <p:extLst>
      <p:ext uri="{BB962C8B-B14F-4D97-AF65-F5344CB8AC3E}">
        <p14:creationId xmlns:p14="http://schemas.microsoft.com/office/powerpoint/2010/main" val="928814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最终，我们在结果中出现的 </a:t>
            </a:r>
            <a:r>
              <a:rPr lang="en-US" altLang="zh-CN" dirty="0"/>
              <a:t>4 </a:t>
            </a:r>
            <a:r>
              <a:rPr lang="zh-CN" altLang="en-US" dirty="0"/>
              <a:t>种车型中总共收集了 </a:t>
            </a:r>
            <a:r>
              <a:rPr lang="en-US" altLang="zh-CN" dirty="0"/>
              <a:t>69 </a:t>
            </a:r>
            <a:r>
              <a:rPr lang="zh-CN" altLang="en-US" dirty="0"/>
              <a:t>个 </a:t>
            </a:r>
            <a:r>
              <a:rPr lang="en-US" altLang="zh-CN" dirty="0"/>
              <a:t>CAN </a:t>
            </a:r>
            <a:r>
              <a:rPr lang="zh-CN" altLang="en-US" dirty="0"/>
              <a:t>总线命令：丰田普锐斯、奥迪 </a:t>
            </a:r>
            <a:r>
              <a:rPr lang="en-US" altLang="zh-CN" dirty="0"/>
              <a:t>A3</a:t>
            </a:r>
            <a:r>
              <a:rPr lang="zh-CN" altLang="en-US" dirty="0"/>
              <a:t>、西雅特 </a:t>
            </a:r>
            <a:r>
              <a:rPr lang="en-US" altLang="zh-CN" dirty="0"/>
              <a:t>Ibiza I-Tech </a:t>
            </a:r>
            <a:r>
              <a:rPr lang="zh-CN" altLang="en-US" dirty="0"/>
              <a:t>和本田思域。 在这 </a:t>
            </a:r>
            <a:r>
              <a:rPr lang="en-US" altLang="zh-CN" dirty="0"/>
              <a:t>69 </a:t>
            </a:r>
            <a:r>
              <a:rPr lang="zh-CN" altLang="en-US" dirty="0"/>
              <a:t>个 </a:t>
            </a:r>
            <a:r>
              <a:rPr lang="en-US" altLang="zh-CN" dirty="0"/>
              <a:t>CAN </a:t>
            </a:r>
            <a:r>
              <a:rPr lang="zh-CN" altLang="en-US" dirty="0"/>
              <a:t>总线命令中，其中 </a:t>
            </a:r>
            <a:r>
              <a:rPr lang="en-US" altLang="zh-CN" dirty="0"/>
              <a:t>38 </a:t>
            </a:r>
            <a:r>
              <a:rPr lang="zh-CN" altLang="en-US" dirty="0"/>
              <a:t>个可以找到与我们实验中发现的命令匹配的语法。</a:t>
            </a:r>
            <a:endParaRPr lang="en-US" altLang="zh-CN" dirty="0"/>
          </a:p>
          <a:p>
            <a:r>
              <a:rPr lang="zh-CN" altLang="en-US" dirty="0"/>
              <a:t>这些命令列在表 </a:t>
            </a:r>
            <a:r>
              <a:rPr lang="en-US" altLang="zh-CN" dirty="0"/>
              <a:t>VI </a:t>
            </a:r>
            <a:r>
              <a:rPr lang="zh-CN" altLang="en-US" dirty="0"/>
              <a:t>中。如图所示，对于这 </a:t>
            </a:r>
            <a:r>
              <a:rPr lang="en-US" altLang="zh-CN" dirty="0"/>
              <a:t>38 </a:t>
            </a:r>
            <a:r>
              <a:rPr lang="zh-CN" altLang="en-US" dirty="0"/>
              <a:t>个命令，</a:t>
            </a:r>
            <a:r>
              <a:rPr lang="en-US" altLang="zh-CN" dirty="0"/>
              <a:t>CANHUNTER </a:t>
            </a:r>
            <a:r>
              <a:rPr lang="zh-CN" altLang="en-US" dirty="0"/>
              <a:t>能够恢复 </a:t>
            </a:r>
            <a:r>
              <a:rPr lang="en-US" altLang="zh-CN" dirty="0"/>
              <a:t>33 </a:t>
            </a:r>
            <a:r>
              <a:rPr lang="zh-CN" altLang="en-US" dirty="0"/>
              <a:t>个 （</a:t>
            </a:r>
            <a:r>
              <a:rPr lang="en-US" altLang="zh-CN" dirty="0"/>
              <a:t>86.84%</a:t>
            </a:r>
            <a:r>
              <a:rPr lang="zh-CN" altLang="en-US" dirty="0"/>
              <a:t>） 命令的语义。在这 </a:t>
            </a:r>
            <a:r>
              <a:rPr lang="en-US" altLang="zh-CN" dirty="0"/>
              <a:t>33 </a:t>
            </a:r>
            <a:r>
              <a:rPr lang="zh-CN" altLang="en-US" dirty="0"/>
              <a:t>个命令中，有 </a:t>
            </a:r>
            <a:r>
              <a:rPr lang="en-US" altLang="zh-CN" dirty="0"/>
              <a:t>30 </a:t>
            </a:r>
            <a:r>
              <a:rPr lang="zh-CN" altLang="en-US" dirty="0"/>
              <a:t>个 （</a:t>
            </a:r>
            <a:r>
              <a:rPr lang="en-US" altLang="zh-CN" dirty="0"/>
              <a:t>90.91%</a:t>
            </a:r>
            <a:r>
              <a:rPr lang="zh-CN" altLang="en-US" dirty="0"/>
              <a:t>） 具有匹配的语义，而其余 </a:t>
            </a:r>
            <a:r>
              <a:rPr lang="en-US" altLang="zh-CN" dirty="0"/>
              <a:t>3 </a:t>
            </a:r>
            <a:r>
              <a:rPr lang="zh-CN" altLang="en-US" dirty="0"/>
              <a:t>个是误报，在表中用十字标记表示。</a:t>
            </a:r>
            <a:r>
              <a:rPr lang="zh-CN" altLang="en-US" b="1" dirty="0"/>
              <a:t>例如，对于命令</a:t>
            </a:r>
            <a:r>
              <a:rPr lang="en-US" altLang="zh-CN" b="1" dirty="0"/>
              <a:t>0x324</a:t>
            </a:r>
            <a:r>
              <a:rPr lang="zh-CN" altLang="en-US" b="1" dirty="0"/>
              <a:t>，正确的语义应该是“水温”，但我们的工具将其恢复为“</a:t>
            </a:r>
            <a:r>
              <a:rPr lang="en-US" altLang="zh-CN" b="1" dirty="0"/>
              <a:t>ENG_TEMP”</a:t>
            </a:r>
            <a:r>
              <a:rPr lang="zh-CN" altLang="en-US" b="1" dirty="0"/>
              <a:t>。我们回去查看应用代码，发现这</a:t>
            </a:r>
            <a:r>
              <a:rPr lang="en-US" altLang="zh-CN" b="1" dirty="0"/>
              <a:t>3</a:t>
            </a:r>
            <a:r>
              <a:rPr lang="zh-CN" altLang="en-US" b="1" dirty="0"/>
              <a:t>个</a:t>
            </a:r>
            <a:r>
              <a:rPr lang="en-US" altLang="zh-CN" b="1" dirty="0"/>
              <a:t>CAN</a:t>
            </a:r>
            <a:r>
              <a:rPr lang="zh-CN" altLang="en-US" b="1" dirty="0"/>
              <a:t>总线命令关联的语义字符串确实被我们的工具根据我们的语义恢复算法正确恢复了。</a:t>
            </a:r>
            <a:r>
              <a:rPr lang="zh-CN" altLang="en-US" dirty="0"/>
              <a:t>因此，这些误报实际上不是由 </a:t>
            </a:r>
            <a:r>
              <a:rPr lang="en-US" altLang="zh-CN" dirty="0"/>
              <a:t>CANHUNTER </a:t>
            </a:r>
            <a:r>
              <a:rPr lang="zh-CN" altLang="en-US" dirty="0"/>
              <a:t>的设计或实现引起的，而极有可能是由于程序员的错误造成的。</a:t>
            </a:r>
          </a:p>
        </p:txBody>
      </p:sp>
      <p:sp>
        <p:nvSpPr>
          <p:cNvPr id="4" name="灯片编号占位符 3"/>
          <p:cNvSpPr>
            <a:spLocks noGrp="1"/>
          </p:cNvSpPr>
          <p:nvPr>
            <p:ph type="sldNum" sz="quarter" idx="5"/>
          </p:nvPr>
        </p:nvSpPr>
        <p:spPr/>
        <p:txBody>
          <a:bodyPr/>
          <a:lstStyle/>
          <a:p>
            <a:fld id="{37D5B987-1E06-4EBC-82C5-DF6871542F57}" type="slidenum">
              <a:rPr lang="zh-CN" altLang="en-US" smtClean="0"/>
              <a:t>18</a:t>
            </a:fld>
            <a:endParaRPr lang="zh-CN" altLang="en-US"/>
          </a:p>
        </p:txBody>
      </p:sp>
    </p:spTree>
    <p:extLst>
      <p:ext uri="{BB962C8B-B14F-4D97-AF65-F5344CB8AC3E}">
        <p14:creationId xmlns:p14="http://schemas.microsoft.com/office/powerpoint/2010/main" val="2082989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在所有公开 </a:t>
            </a:r>
            <a:r>
              <a:rPr lang="en-US" altLang="zh-CN" dirty="0"/>
              <a:t>CAN </a:t>
            </a:r>
            <a:r>
              <a:rPr lang="zh-CN" altLang="en-US" dirty="0"/>
              <a:t>总线命令的汽车伴侣应用程序中，其中 </a:t>
            </a:r>
            <a:r>
              <a:rPr lang="en-US" altLang="zh-CN" dirty="0"/>
              <a:t>31 </a:t>
            </a:r>
            <a:r>
              <a:rPr lang="zh-CN" altLang="en-US" dirty="0"/>
              <a:t>个可在 </a:t>
            </a:r>
            <a:r>
              <a:rPr lang="en-US" altLang="zh-CN" dirty="0"/>
              <a:t>Android </a:t>
            </a:r>
            <a:r>
              <a:rPr lang="zh-CN" altLang="en-US" dirty="0"/>
              <a:t>和 </a:t>
            </a:r>
            <a:r>
              <a:rPr lang="en-US" altLang="zh-CN" dirty="0"/>
              <a:t>iOS </a:t>
            </a:r>
            <a:r>
              <a:rPr lang="zh-CN" altLang="en-US" dirty="0"/>
              <a:t>平台上使用。我们比较了 </a:t>
            </a:r>
            <a:r>
              <a:rPr lang="en-US" altLang="zh-CN" dirty="0"/>
              <a:t>CANHUNTER </a:t>
            </a:r>
            <a:r>
              <a:rPr lang="zh-CN" altLang="en-US" dirty="0"/>
              <a:t>从中发现的 </a:t>
            </a:r>
            <a:r>
              <a:rPr lang="en-US" altLang="zh-CN" dirty="0"/>
              <a:t>CAN </a:t>
            </a:r>
            <a:r>
              <a:rPr lang="zh-CN" altLang="en-US" dirty="0"/>
              <a:t>总线命令，发现其中 </a:t>
            </a:r>
            <a:r>
              <a:rPr lang="en-US" altLang="zh-CN" dirty="0"/>
              <a:t>15 </a:t>
            </a:r>
            <a:r>
              <a:rPr lang="zh-CN" altLang="en-US" dirty="0"/>
              <a:t>个应用程序中发现的 </a:t>
            </a:r>
            <a:r>
              <a:rPr lang="en-US" altLang="zh-CN" dirty="0"/>
              <a:t>129</a:t>
            </a:r>
            <a:r>
              <a:rPr lang="zh-CN" altLang="en-US" dirty="0"/>
              <a:t>， </a:t>
            </a:r>
            <a:r>
              <a:rPr lang="en-US" altLang="zh-CN" dirty="0"/>
              <a:t>266 </a:t>
            </a:r>
            <a:r>
              <a:rPr lang="zh-CN" altLang="en-US" dirty="0"/>
              <a:t>个 （</a:t>
            </a:r>
            <a:r>
              <a:rPr lang="en-US" altLang="zh-CN" dirty="0"/>
              <a:t>70.8%</a:t>
            </a:r>
            <a:r>
              <a:rPr lang="zh-CN" altLang="en-US" dirty="0"/>
              <a:t>） 命令通过交叉比较十六进制值匹配了语法。</a:t>
            </a:r>
            <a:endParaRPr lang="en-US" altLang="zh-CN" dirty="0"/>
          </a:p>
          <a:p>
            <a:r>
              <a:rPr lang="zh-CN" altLang="en-US" dirty="0"/>
              <a:t>在具有匹配语法的 </a:t>
            </a:r>
            <a:r>
              <a:rPr lang="en-US" altLang="zh-CN" dirty="0"/>
              <a:t>CAN </a:t>
            </a:r>
            <a:r>
              <a:rPr lang="zh-CN" altLang="en-US" dirty="0"/>
              <a:t>总线命令对中，我们比较了恢复两个命令语义的 </a:t>
            </a:r>
            <a:r>
              <a:rPr lang="en-US" altLang="zh-CN" dirty="0"/>
              <a:t>128</a:t>
            </a:r>
            <a:r>
              <a:rPr lang="zh-CN" altLang="en-US" dirty="0"/>
              <a:t>， </a:t>
            </a:r>
            <a:r>
              <a:rPr lang="en-US" altLang="zh-CN" dirty="0"/>
              <a:t>200 </a:t>
            </a:r>
            <a:r>
              <a:rPr lang="zh-CN" altLang="en-US" dirty="0"/>
              <a:t>对 （</a:t>
            </a:r>
            <a:r>
              <a:rPr lang="en-US" altLang="zh-CN" dirty="0"/>
              <a:t>99.2%</a:t>
            </a:r>
            <a:r>
              <a:rPr lang="zh-CN" altLang="en-US" dirty="0"/>
              <a:t>）。</a:t>
            </a:r>
            <a:endParaRPr lang="en-US" altLang="zh-CN" dirty="0"/>
          </a:p>
          <a:p>
            <a:r>
              <a:rPr lang="en-US" altLang="zh-CN" sz="1200" b="1" i="0" kern="1200" dirty="0">
                <a:solidFill>
                  <a:schemeClr val="tx1"/>
                </a:solidFill>
                <a:effectLst/>
                <a:latin typeface="+mn-lt"/>
                <a:ea typeface="+mn-ea"/>
                <a:cs typeface="+mn-cs"/>
              </a:rPr>
              <a:t>Android</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 </a:t>
            </a:r>
            <a:r>
              <a:rPr lang="en-US" altLang="zh-CN" sz="1200" b="1" i="0" kern="1200" dirty="0">
                <a:solidFill>
                  <a:schemeClr val="tx1"/>
                </a:solidFill>
                <a:effectLst/>
                <a:latin typeface="+mn-lt"/>
                <a:ea typeface="+mn-ea"/>
                <a:cs typeface="+mn-cs"/>
              </a:rPr>
              <a:t>iOS</a:t>
            </a:r>
            <a:r>
              <a:rPr lang="en-US" altLang="zh-CN" sz="1200" b="0" i="0" kern="1200" dirty="0">
                <a:solidFill>
                  <a:schemeClr val="tx1"/>
                </a:solidFill>
                <a:effectLst/>
                <a:latin typeface="+mn-lt"/>
                <a:ea typeface="+mn-ea"/>
                <a:cs typeface="+mn-cs"/>
              </a:rPr>
              <a:t>:</a:t>
            </a:r>
          </a:p>
          <a:p>
            <a:pPr lvl="1"/>
            <a:r>
              <a:rPr lang="en-US" altLang="zh-CN" sz="1200" b="1" i="0" kern="1200" dirty="0">
                <a:solidFill>
                  <a:schemeClr val="tx1"/>
                </a:solidFill>
                <a:effectLst/>
                <a:latin typeface="+mn-lt"/>
                <a:ea typeface="+mn-ea"/>
                <a:cs typeface="+mn-cs"/>
              </a:rPr>
              <a:t># Syn.</a:t>
            </a:r>
            <a:r>
              <a:rPr lang="zh-CN" altLang="en-US" sz="1200" b="1" i="0" kern="1200" dirty="0">
                <a:solidFill>
                  <a:schemeClr val="tx1"/>
                </a:solidFill>
                <a:effectLst/>
                <a:latin typeface="+mn-lt"/>
                <a:ea typeface="+mn-ea"/>
                <a:cs typeface="+mn-cs"/>
              </a:rPr>
              <a:t> </a:t>
            </a:r>
            <a:r>
              <a:rPr lang="en-US" altLang="zh-CN" sz="1200" b="1" i="0" kern="1200" dirty="0">
                <a:solidFill>
                  <a:schemeClr val="tx1"/>
                </a:solidFill>
                <a:effectLst/>
                <a:latin typeface="+mn-lt"/>
                <a:ea typeface="+mn-ea"/>
                <a:cs typeface="+mn-cs"/>
              </a:rPr>
              <a:t>(Syntactics)</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在该平台上发现的**独特</a:t>
            </a:r>
            <a:r>
              <a:rPr lang="en-US" altLang="zh-CN" sz="1200" b="0" i="0" kern="1200" dirty="0">
                <a:solidFill>
                  <a:schemeClr val="tx1"/>
                </a:solidFill>
                <a:effectLst/>
                <a:latin typeface="+mn-lt"/>
                <a:ea typeface="+mn-ea"/>
                <a:cs typeface="+mn-cs"/>
              </a:rPr>
              <a:t>CAN</a:t>
            </a:r>
            <a:r>
              <a:rPr lang="zh-CN" altLang="en-US" sz="1200" b="0" i="0" kern="1200" dirty="0">
                <a:solidFill>
                  <a:schemeClr val="tx1"/>
                </a:solidFill>
                <a:effectLst/>
                <a:latin typeface="+mn-lt"/>
                <a:ea typeface="+mn-ea"/>
                <a:cs typeface="+mn-cs"/>
              </a:rPr>
              <a:t>命令语法（十六进制字符串）**的总数量。</a:t>
            </a:r>
          </a:p>
          <a:p>
            <a:pPr lvl="1"/>
            <a:r>
              <a:rPr lang="en-US" altLang="zh-CN" sz="1200" b="1" i="0" kern="1200" dirty="0">
                <a:solidFill>
                  <a:schemeClr val="tx1"/>
                </a:solidFill>
                <a:effectLst/>
                <a:latin typeface="+mn-lt"/>
                <a:ea typeface="+mn-ea"/>
                <a:cs typeface="+mn-cs"/>
              </a:rPr>
              <a:t># Sem.</a:t>
            </a:r>
            <a:r>
              <a:rPr lang="zh-CN" altLang="en-US" sz="1200" b="1" i="0" kern="1200" dirty="0">
                <a:solidFill>
                  <a:schemeClr val="tx1"/>
                </a:solidFill>
                <a:effectLst/>
                <a:latin typeface="+mn-lt"/>
                <a:ea typeface="+mn-ea"/>
                <a:cs typeface="+mn-cs"/>
              </a:rPr>
              <a:t> </a:t>
            </a:r>
            <a:r>
              <a:rPr lang="en-US" altLang="zh-CN" sz="1200" b="1" i="0" kern="1200" dirty="0">
                <a:solidFill>
                  <a:schemeClr val="tx1"/>
                </a:solidFill>
                <a:effectLst/>
                <a:latin typeface="+mn-lt"/>
                <a:ea typeface="+mn-ea"/>
                <a:cs typeface="+mn-cs"/>
              </a:rPr>
              <a:t>(Semantics)</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在该平台上，成功恢复出</a:t>
            </a:r>
            <a:r>
              <a:rPr lang="zh-CN" altLang="en-US" sz="1200" b="1" i="0" kern="1200" dirty="0">
                <a:solidFill>
                  <a:schemeClr val="tx1"/>
                </a:solidFill>
                <a:effectLst/>
                <a:latin typeface="+mn-lt"/>
                <a:ea typeface="+mn-ea"/>
                <a:cs typeface="+mn-cs"/>
              </a:rPr>
              <a:t>功能含义</a:t>
            </a:r>
            <a:r>
              <a:rPr lang="zh-CN" altLang="en-US" sz="1200" b="0" i="0" kern="1200" dirty="0">
                <a:solidFill>
                  <a:schemeClr val="tx1"/>
                </a:solidFill>
                <a:effectLst/>
                <a:latin typeface="+mn-lt"/>
                <a:ea typeface="+mn-ea"/>
                <a:cs typeface="+mn-cs"/>
              </a:rPr>
              <a:t>的</a:t>
            </a:r>
            <a:r>
              <a:rPr lang="en-US" altLang="zh-CN" sz="1200" b="0" i="0" kern="1200" dirty="0">
                <a:solidFill>
                  <a:schemeClr val="tx1"/>
                </a:solidFill>
                <a:effectLst/>
                <a:latin typeface="+mn-lt"/>
                <a:ea typeface="+mn-ea"/>
                <a:cs typeface="+mn-cs"/>
              </a:rPr>
              <a:t>CAN</a:t>
            </a:r>
            <a:r>
              <a:rPr lang="zh-CN" altLang="en-US" sz="1200" b="0" i="0" kern="1200" dirty="0">
                <a:solidFill>
                  <a:schemeClr val="tx1"/>
                </a:solidFill>
                <a:effectLst/>
                <a:latin typeface="+mn-lt"/>
                <a:ea typeface="+mn-ea"/>
                <a:cs typeface="+mn-cs"/>
              </a:rPr>
              <a:t>命令的数量。</a:t>
            </a:r>
          </a:p>
          <a:p>
            <a:r>
              <a:rPr lang="en-US" altLang="zh-CN" sz="1200" b="1" i="0" kern="1200" dirty="0">
                <a:solidFill>
                  <a:schemeClr val="tx1"/>
                </a:solidFill>
                <a:effectLst/>
                <a:latin typeface="+mn-lt"/>
                <a:ea typeface="+mn-ea"/>
                <a:cs typeface="+mn-cs"/>
              </a:rPr>
              <a:t>Overlapped</a:t>
            </a:r>
            <a:r>
              <a:rPr lang="zh-CN" altLang="en-US" sz="1200" b="1" i="0" kern="1200" dirty="0">
                <a:solidFill>
                  <a:schemeClr val="tx1"/>
                </a:solidFill>
                <a:effectLst/>
                <a:latin typeface="+mn-lt"/>
                <a:ea typeface="+mn-ea"/>
                <a:cs typeface="+mn-cs"/>
              </a:rPr>
              <a:t> </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重叠部分</a:t>
            </a:r>
            <a:r>
              <a:rPr lang="en-US" altLang="zh-CN" sz="1200" b="1"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a:t>
            </a:r>
          </a:p>
          <a:p>
            <a:pPr lvl="1"/>
            <a:r>
              <a:rPr lang="zh-CN" altLang="en-US" sz="1200" b="1" i="0" kern="1200" dirty="0">
                <a:solidFill>
                  <a:schemeClr val="tx1"/>
                </a:solidFill>
                <a:effectLst/>
                <a:latin typeface="+mn-lt"/>
                <a:ea typeface="+mn-ea"/>
                <a:cs typeface="+mn-cs"/>
              </a:rPr>
              <a:t>这是表格最核心的一列</a:t>
            </a:r>
            <a:r>
              <a:rPr lang="zh-CN" altLang="en-US" sz="1200" b="0" i="0" kern="1200" dirty="0">
                <a:solidFill>
                  <a:schemeClr val="tx1"/>
                </a:solidFill>
                <a:effectLst/>
                <a:latin typeface="+mn-lt"/>
                <a:ea typeface="+mn-ea"/>
                <a:cs typeface="+mn-cs"/>
              </a:rPr>
              <a:t>，直接展示了两个平台之间结果的一致性程度。</a:t>
            </a:r>
          </a:p>
          <a:p>
            <a:pPr lvl="1"/>
            <a:r>
              <a:rPr lang="en-US" altLang="zh-CN" sz="1200" b="1" i="0" kern="1200" dirty="0">
                <a:solidFill>
                  <a:schemeClr val="tx1"/>
                </a:solidFill>
                <a:effectLst/>
                <a:latin typeface="+mn-lt"/>
                <a:ea typeface="+mn-ea"/>
                <a:cs typeface="+mn-cs"/>
              </a:rPr>
              <a:t># Syn.</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在</a:t>
            </a:r>
            <a:r>
              <a:rPr lang="en-US" altLang="zh-CN" sz="1200" b="0" i="0" kern="1200" dirty="0">
                <a:solidFill>
                  <a:schemeClr val="tx1"/>
                </a:solidFill>
                <a:effectLst/>
                <a:latin typeface="+mn-lt"/>
                <a:ea typeface="+mn-ea"/>
                <a:cs typeface="+mn-cs"/>
              </a:rPr>
              <a:t>Android</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iOS</a:t>
            </a:r>
            <a:r>
              <a:rPr lang="zh-CN" altLang="en-US" sz="1200" b="0" i="0" kern="1200" dirty="0">
                <a:solidFill>
                  <a:schemeClr val="tx1"/>
                </a:solidFill>
                <a:effectLst/>
                <a:latin typeface="+mn-lt"/>
                <a:ea typeface="+mn-ea"/>
                <a:cs typeface="+mn-cs"/>
              </a:rPr>
              <a:t>两个版本中</a:t>
            </a:r>
            <a:r>
              <a:rPr lang="zh-CN" altLang="en-US" sz="1200" b="1" i="0" kern="1200" dirty="0">
                <a:solidFill>
                  <a:schemeClr val="tx1"/>
                </a:solidFill>
                <a:effectLst/>
                <a:latin typeface="+mn-lt"/>
                <a:ea typeface="+mn-ea"/>
                <a:cs typeface="+mn-cs"/>
              </a:rPr>
              <a:t>完全相同</a:t>
            </a:r>
            <a:r>
              <a:rPr lang="zh-CN" altLang="en-US" sz="1200" b="0" i="0" kern="1200" dirty="0">
                <a:solidFill>
                  <a:schemeClr val="tx1"/>
                </a:solidFill>
                <a:effectLst/>
                <a:latin typeface="+mn-lt"/>
                <a:ea typeface="+mn-ea"/>
                <a:cs typeface="+mn-cs"/>
              </a:rPr>
              <a:t>的</a:t>
            </a:r>
            <a:r>
              <a:rPr lang="en-US" altLang="zh-CN" sz="1200" b="0" i="0" kern="1200" dirty="0">
                <a:solidFill>
                  <a:schemeClr val="tx1"/>
                </a:solidFill>
                <a:effectLst/>
                <a:latin typeface="+mn-lt"/>
                <a:ea typeface="+mn-ea"/>
                <a:cs typeface="+mn-cs"/>
              </a:rPr>
              <a:t>CAN</a:t>
            </a:r>
            <a:r>
              <a:rPr lang="zh-CN" altLang="en-US" sz="1200" b="0" i="0" kern="1200" dirty="0">
                <a:solidFill>
                  <a:schemeClr val="tx1"/>
                </a:solidFill>
                <a:effectLst/>
                <a:latin typeface="+mn-lt"/>
                <a:ea typeface="+mn-ea"/>
                <a:cs typeface="+mn-cs"/>
              </a:rPr>
              <a:t>命令语法的数量。</a:t>
            </a:r>
          </a:p>
          <a:p>
            <a:pPr lvl="1"/>
            <a:r>
              <a:rPr lang="en-US" altLang="zh-CN" sz="1200" b="1" i="0" kern="1200" dirty="0">
                <a:solidFill>
                  <a:schemeClr val="tx1"/>
                </a:solidFill>
                <a:effectLst/>
                <a:latin typeface="+mn-lt"/>
                <a:ea typeface="+mn-ea"/>
                <a:cs typeface="+mn-cs"/>
              </a:rPr>
              <a:t># Sem.</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在上述语法相同的命令中，其恢复出的</a:t>
            </a:r>
            <a:r>
              <a:rPr lang="zh-CN" altLang="en-US" sz="1200" b="1" i="0" kern="1200" dirty="0">
                <a:solidFill>
                  <a:schemeClr val="tx1"/>
                </a:solidFill>
                <a:effectLst/>
                <a:latin typeface="+mn-lt"/>
                <a:ea typeface="+mn-ea"/>
                <a:cs typeface="+mn-cs"/>
              </a:rPr>
              <a:t>功能含义也完全相同</a:t>
            </a:r>
            <a:r>
              <a:rPr lang="zh-CN" altLang="en-US" sz="1200" b="0" i="0" kern="1200" dirty="0">
                <a:solidFill>
                  <a:schemeClr val="tx1"/>
                </a:solidFill>
                <a:effectLst/>
                <a:latin typeface="+mn-lt"/>
                <a:ea typeface="+mn-ea"/>
                <a:cs typeface="+mn-cs"/>
              </a:rPr>
              <a:t>的命令数量。</a:t>
            </a:r>
          </a:p>
          <a:p>
            <a:endParaRPr lang="zh-CN" altLang="en-US" dirty="0"/>
          </a:p>
        </p:txBody>
      </p:sp>
      <p:sp>
        <p:nvSpPr>
          <p:cNvPr id="4" name="灯片编号占位符 3"/>
          <p:cNvSpPr>
            <a:spLocks noGrp="1"/>
          </p:cNvSpPr>
          <p:nvPr>
            <p:ph type="sldNum" sz="quarter" idx="5"/>
          </p:nvPr>
        </p:nvSpPr>
        <p:spPr/>
        <p:txBody>
          <a:bodyPr/>
          <a:lstStyle/>
          <a:p>
            <a:fld id="{37D5B987-1E06-4EBC-82C5-DF6871542F57}" type="slidenum">
              <a:rPr lang="zh-CN" altLang="en-US" smtClean="0"/>
              <a:t>19</a:t>
            </a:fld>
            <a:endParaRPr lang="zh-CN" altLang="en-US"/>
          </a:p>
        </p:txBody>
      </p:sp>
    </p:spTree>
    <p:extLst>
      <p:ext uri="{BB962C8B-B14F-4D97-AF65-F5344CB8AC3E}">
        <p14:creationId xmlns:p14="http://schemas.microsoft.com/office/powerpoint/2010/main" val="1679128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除了跨平台验证外，我们还执行同平台跨应用验证。具体来说，我们检查同一平台（</a:t>
            </a:r>
            <a:r>
              <a:rPr lang="en-US" altLang="zh-CN" dirty="0"/>
              <a:t>Android </a:t>
            </a:r>
            <a:r>
              <a:rPr lang="zh-CN" altLang="en-US" dirty="0"/>
              <a:t>或 </a:t>
            </a:r>
            <a:r>
              <a:rPr lang="en-US" altLang="zh-CN" dirty="0"/>
              <a:t>iOS</a:t>
            </a:r>
            <a:r>
              <a:rPr lang="zh-CN" altLang="en-US" dirty="0"/>
              <a:t>）中来自不同应用程序的同一车型的命令对是否存在重叠。</a:t>
            </a:r>
            <a:endParaRPr lang="en-US" altLang="zh-CN" dirty="0"/>
          </a:p>
          <a:p>
            <a:r>
              <a:rPr lang="zh-CN" altLang="en-US" dirty="0"/>
              <a:t>我们能够找到 </a:t>
            </a:r>
            <a:r>
              <a:rPr lang="en-US" altLang="zh-CN" dirty="0"/>
              <a:t>745 </a:t>
            </a:r>
            <a:r>
              <a:rPr lang="zh-CN" altLang="en-US" dirty="0"/>
              <a:t>个具有匹配语法的 </a:t>
            </a:r>
            <a:r>
              <a:rPr lang="en-US" altLang="zh-CN" dirty="0"/>
              <a:t>CAN </a:t>
            </a:r>
            <a:r>
              <a:rPr lang="zh-CN" altLang="en-US" dirty="0"/>
              <a:t>总线命令对，它们属于来自 </a:t>
            </a:r>
            <a:r>
              <a:rPr lang="en-US" altLang="zh-CN" dirty="0"/>
              <a:t>6 </a:t>
            </a:r>
            <a:r>
              <a:rPr lang="zh-CN" altLang="en-US" dirty="0"/>
              <a:t>个不同应用程序的 </a:t>
            </a:r>
            <a:r>
              <a:rPr lang="en-US" altLang="zh-CN" dirty="0"/>
              <a:t>22 </a:t>
            </a:r>
            <a:r>
              <a:rPr lang="zh-CN" altLang="en-US" dirty="0"/>
              <a:t>个车型。其中，</a:t>
            </a:r>
            <a:r>
              <a:rPr lang="en-US" altLang="zh-CN" dirty="0"/>
              <a:t>98</a:t>
            </a:r>
            <a:r>
              <a:rPr lang="zh-CN" altLang="en-US" dirty="0"/>
              <a:t>对（</a:t>
            </a:r>
            <a:r>
              <a:rPr lang="en-US" altLang="zh-CN" dirty="0"/>
              <a:t>13.2%</a:t>
            </a:r>
            <a:r>
              <a:rPr lang="zh-CN" altLang="en-US" dirty="0"/>
              <a:t>）在语义恢复的对中同时具有命令，且未观察到这些对之间不一致的语义。</a:t>
            </a:r>
          </a:p>
        </p:txBody>
      </p:sp>
      <p:sp>
        <p:nvSpPr>
          <p:cNvPr id="4" name="灯片编号占位符 3"/>
          <p:cNvSpPr>
            <a:spLocks noGrp="1"/>
          </p:cNvSpPr>
          <p:nvPr>
            <p:ph type="sldNum" sz="quarter" idx="5"/>
          </p:nvPr>
        </p:nvSpPr>
        <p:spPr/>
        <p:txBody>
          <a:bodyPr/>
          <a:lstStyle/>
          <a:p>
            <a:fld id="{37D5B987-1E06-4EBC-82C5-DF6871542F57}" type="slidenum">
              <a:rPr lang="zh-CN" altLang="en-US" smtClean="0"/>
              <a:t>20</a:t>
            </a:fld>
            <a:endParaRPr lang="zh-CN" altLang="en-US"/>
          </a:p>
        </p:txBody>
      </p:sp>
    </p:spTree>
    <p:extLst>
      <p:ext uri="{BB962C8B-B14F-4D97-AF65-F5344CB8AC3E}">
        <p14:creationId xmlns:p14="http://schemas.microsoft.com/office/powerpoint/2010/main" val="26604398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AFD74-12F5-5611-FF48-8BACD0677E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9D58BF-C0D4-7F7E-2C31-2F985B6F13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630B8B7-EB38-DE38-E721-5F4AF98DA342}"/>
              </a:ext>
            </a:extLst>
          </p:cNvPr>
          <p:cNvSpPr>
            <a:spLocks noGrp="1"/>
          </p:cNvSpPr>
          <p:nvPr>
            <p:ph type="body" idx="1"/>
          </p:nvPr>
        </p:nvSpPr>
        <p:spPr/>
        <p:txBody>
          <a:bodyPr/>
          <a:lstStyle/>
          <a:p>
            <a:r>
              <a:rPr lang="zh-CN" altLang="en-US" dirty="0"/>
              <a:t>除了跨平台验证外，我们还执行同平台跨应用验证。具体来说，我们检查同一平台（</a:t>
            </a:r>
            <a:r>
              <a:rPr lang="en-US" altLang="zh-CN" dirty="0"/>
              <a:t>Android </a:t>
            </a:r>
            <a:r>
              <a:rPr lang="zh-CN" altLang="en-US" dirty="0"/>
              <a:t>或 </a:t>
            </a:r>
            <a:r>
              <a:rPr lang="en-US" altLang="zh-CN" dirty="0"/>
              <a:t>iOS</a:t>
            </a:r>
            <a:r>
              <a:rPr lang="zh-CN" altLang="en-US" dirty="0"/>
              <a:t>）中来自不同应用程序的同一车型的命令对是否存在重叠。</a:t>
            </a:r>
            <a:endParaRPr lang="en-US" altLang="zh-CN" dirty="0"/>
          </a:p>
          <a:p>
            <a:r>
              <a:rPr lang="zh-CN" altLang="en-US" dirty="0"/>
              <a:t>我们能够找到 </a:t>
            </a:r>
            <a:r>
              <a:rPr lang="en-US" altLang="zh-CN" dirty="0"/>
              <a:t>745 </a:t>
            </a:r>
            <a:r>
              <a:rPr lang="zh-CN" altLang="en-US" dirty="0"/>
              <a:t>个具有匹配语法的 </a:t>
            </a:r>
            <a:r>
              <a:rPr lang="en-US" altLang="zh-CN" dirty="0"/>
              <a:t>CAN </a:t>
            </a:r>
            <a:r>
              <a:rPr lang="zh-CN" altLang="en-US" dirty="0"/>
              <a:t>总线命令对，它们属于来自 </a:t>
            </a:r>
            <a:r>
              <a:rPr lang="en-US" altLang="zh-CN" dirty="0"/>
              <a:t>6 </a:t>
            </a:r>
            <a:r>
              <a:rPr lang="zh-CN" altLang="en-US" dirty="0"/>
              <a:t>个不同应用程序的 </a:t>
            </a:r>
            <a:r>
              <a:rPr lang="en-US" altLang="zh-CN" dirty="0"/>
              <a:t>22 </a:t>
            </a:r>
            <a:r>
              <a:rPr lang="zh-CN" altLang="en-US" dirty="0"/>
              <a:t>个车型。其中，</a:t>
            </a:r>
            <a:r>
              <a:rPr lang="en-US" altLang="zh-CN" dirty="0"/>
              <a:t>98</a:t>
            </a:r>
            <a:r>
              <a:rPr lang="zh-CN" altLang="en-US" dirty="0"/>
              <a:t>对（</a:t>
            </a:r>
            <a:r>
              <a:rPr lang="en-US" altLang="zh-CN" dirty="0"/>
              <a:t>13.2%</a:t>
            </a:r>
            <a:r>
              <a:rPr lang="zh-CN" altLang="en-US" dirty="0"/>
              <a:t>）在语义恢复的对中同时具有命令，且未观察到这些对之间不一致的语义。</a:t>
            </a:r>
          </a:p>
        </p:txBody>
      </p:sp>
      <p:sp>
        <p:nvSpPr>
          <p:cNvPr id="4" name="灯片编号占位符 3">
            <a:extLst>
              <a:ext uri="{FF2B5EF4-FFF2-40B4-BE49-F238E27FC236}">
                <a16:creationId xmlns:a16="http://schemas.microsoft.com/office/drawing/2014/main" id="{AE8CDCB2-4A51-8B33-1425-A9AC90BB7588}"/>
              </a:ext>
            </a:extLst>
          </p:cNvPr>
          <p:cNvSpPr>
            <a:spLocks noGrp="1"/>
          </p:cNvSpPr>
          <p:nvPr>
            <p:ph type="sldNum" sz="quarter" idx="5"/>
          </p:nvPr>
        </p:nvSpPr>
        <p:spPr/>
        <p:txBody>
          <a:bodyPr/>
          <a:lstStyle/>
          <a:p>
            <a:fld id="{37D5B987-1E06-4EBC-82C5-DF6871542F57}" type="slidenum">
              <a:rPr lang="zh-CN" altLang="en-US" smtClean="0"/>
              <a:t>21</a:t>
            </a:fld>
            <a:endParaRPr lang="zh-CN" altLang="en-US"/>
          </a:p>
        </p:txBody>
      </p:sp>
    </p:spTree>
    <p:extLst>
      <p:ext uri="{BB962C8B-B14F-4D97-AF65-F5344CB8AC3E}">
        <p14:creationId xmlns:p14="http://schemas.microsoft.com/office/powerpoint/2010/main" val="565850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F05C0-785E-F438-103B-E0E62CCDC0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57A304-01EB-59D9-8C96-DC4FB11C93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C0D5A6-1486-9DD1-CCCE-114C7A026DF1}"/>
              </a:ext>
            </a:extLst>
          </p:cNvPr>
          <p:cNvSpPr>
            <a:spLocks noGrp="1"/>
          </p:cNvSpPr>
          <p:nvPr>
            <p:ph type="body" idx="1"/>
          </p:nvPr>
        </p:nvSpPr>
        <p:spPr/>
        <p:txBody>
          <a:bodyPr/>
          <a:lstStyle/>
          <a:p>
            <a:r>
              <a:rPr lang="zh-CN" altLang="en-US" dirty="0"/>
              <a:t>测试结果与 </a:t>
            </a:r>
            <a:r>
              <a:rPr lang="en-US" altLang="zh-CN" dirty="0"/>
              <a:t>CANHUNTER </a:t>
            </a:r>
            <a:r>
              <a:rPr lang="zh-CN" altLang="en-US" dirty="0"/>
              <a:t>报告的结果进行比较。我们总共从丰田</a:t>
            </a:r>
            <a:r>
              <a:rPr lang="en-US" altLang="zh-CN" dirty="0"/>
              <a:t>RAV88</a:t>
            </a:r>
            <a:r>
              <a:rPr lang="zh-CN" altLang="en-US" dirty="0"/>
              <a:t>获得了</a:t>
            </a:r>
            <a:r>
              <a:rPr lang="en-US" altLang="zh-CN" dirty="0"/>
              <a:t>4</a:t>
            </a:r>
            <a:r>
              <a:rPr lang="zh-CN" altLang="en-US" dirty="0"/>
              <a:t>个命令，从丰田卡罗拉获得了</a:t>
            </a:r>
            <a:r>
              <a:rPr lang="en-US" altLang="zh-CN" dirty="0"/>
              <a:t>84</a:t>
            </a:r>
            <a:r>
              <a:rPr lang="zh-CN" altLang="en-US" dirty="0"/>
              <a:t>个命令，并且它们都与从</a:t>
            </a:r>
            <a:r>
              <a:rPr lang="en-US" altLang="zh-CN" dirty="0"/>
              <a:t>CANHUNTER</a:t>
            </a:r>
            <a:r>
              <a:rPr lang="zh-CN" altLang="en-US"/>
              <a:t>自动发现的命令相匹配，从而具体地展示了我们系统的有效性。</a:t>
            </a:r>
            <a:endParaRPr lang="zh-CN" altLang="en-US" dirty="0"/>
          </a:p>
        </p:txBody>
      </p:sp>
      <p:sp>
        <p:nvSpPr>
          <p:cNvPr id="4" name="灯片编号占位符 3">
            <a:extLst>
              <a:ext uri="{FF2B5EF4-FFF2-40B4-BE49-F238E27FC236}">
                <a16:creationId xmlns:a16="http://schemas.microsoft.com/office/drawing/2014/main" id="{641DACC1-7BFE-AD3E-A04B-40A6EC26A3C7}"/>
              </a:ext>
            </a:extLst>
          </p:cNvPr>
          <p:cNvSpPr>
            <a:spLocks noGrp="1"/>
          </p:cNvSpPr>
          <p:nvPr>
            <p:ph type="sldNum" sz="quarter" idx="5"/>
          </p:nvPr>
        </p:nvSpPr>
        <p:spPr/>
        <p:txBody>
          <a:bodyPr/>
          <a:lstStyle/>
          <a:p>
            <a:fld id="{37D5B987-1E06-4EBC-82C5-DF6871542F57}" type="slidenum">
              <a:rPr lang="zh-CN" altLang="en-US" smtClean="0"/>
              <a:t>22</a:t>
            </a:fld>
            <a:endParaRPr lang="zh-CN" altLang="en-US"/>
          </a:p>
        </p:txBody>
      </p:sp>
    </p:spTree>
    <p:extLst>
      <p:ext uri="{BB962C8B-B14F-4D97-AF65-F5344CB8AC3E}">
        <p14:creationId xmlns:p14="http://schemas.microsoft.com/office/powerpoint/2010/main" val="2793159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79633-2D0E-ED2F-EF31-BA69E8B1C1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FC8EEE-CF2C-F173-B3BA-670F0DF232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607EBE-D811-F4FD-CF04-9D6B1960BEF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DE2F06E-5EAB-F8A5-1BF8-7A28826D68A1}"/>
              </a:ext>
            </a:extLst>
          </p:cNvPr>
          <p:cNvSpPr>
            <a:spLocks noGrp="1"/>
          </p:cNvSpPr>
          <p:nvPr>
            <p:ph type="sldNum" sz="quarter" idx="5"/>
          </p:nvPr>
        </p:nvSpPr>
        <p:spPr/>
        <p:txBody>
          <a:bodyPr/>
          <a:lstStyle/>
          <a:p>
            <a:fld id="{37D5B987-1E06-4EBC-82C5-DF6871542F57}" type="slidenum">
              <a:rPr lang="zh-CN" altLang="en-US" smtClean="0"/>
              <a:t>23</a:t>
            </a:fld>
            <a:endParaRPr lang="zh-CN" altLang="en-US"/>
          </a:p>
        </p:txBody>
      </p:sp>
    </p:spTree>
    <p:extLst>
      <p:ext uri="{BB962C8B-B14F-4D97-AF65-F5344CB8AC3E}">
        <p14:creationId xmlns:p14="http://schemas.microsoft.com/office/powerpoint/2010/main" val="40866012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EC385-B19A-307C-36DB-5B59B947FA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7114F4-31D5-1671-AFF6-2810416EF5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C08038-F6DB-38DB-5185-36A80D57580E}"/>
              </a:ext>
            </a:extLst>
          </p:cNvPr>
          <p:cNvSpPr>
            <a:spLocks noGrp="1"/>
          </p:cNvSpPr>
          <p:nvPr>
            <p:ph type="body" idx="1"/>
          </p:nvPr>
        </p:nvSpPr>
        <p:spPr/>
        <p:txBody>
          <a:bodyPr/>
          <a:lstStyle/>
          <a:p>
            <a:r>
              <a:rPr lang="zh-CN" altLang="en-US" dirty="0"/>
              <a:t>本文对于</a:t>
            </a:r>
            <a:r>
              <a:rPr lang="en-US" altLang="zh-CN" dirty="0"/>
              <a:t>CAN</a:t>
            </a:r>
            <a:r>
              <a:rPr lang="zh-CN" altLang="en-US" dirty="0"/>
              <a:t>协议的逆向程度：没有涉及到</a:t>
            </a:r>
            <a:r>
              <a:rPr lang="en-US" altLang="zh-CN" dirty="0"/>
              <a:t>CAN</a:t>
            </a:r>
            <a:r>
              <a:rPr lang="zh-CN" altLang="en-US" dirty="0"/>
              <a:t>帧结构和对数据编码方式，但可以自动大规模的提取出完整的静态命令（</a:t>
            </a:r>
            <a:r>
              <a:rPr lang="en-US" altLang="zh-CN" dirty="0"/>
              <a:t>ID+</a:t>
            </a:r>
            <a:r>
              <a:rPr lang="zh-CN" altLang="en-US" dirty="0"/>
              <a:t>数据），能自动关联命令和具体功能</a:t>
            </a:r>
          </a:p>
        </p:txBody>
      </p:sp>
      <p:sp>
        <p:nvSpPr>
          <p:cNvPr id="4" name="灯片编号占位符 3">
            <a:extLst>
              <a:ext uri="{FF2B5EF4-FFF2-40B4-BE49-F238E27FC236}">
                <a16:creationId xmlns:a16="http://schemas.microsoft.com/office/drawing/2014/main" id="{0A18B040-4B2E-9E16-64BA-1FA753263E5F}"/>
              </a:ext>
            </a:extLst>
          </p:cNvPr>
          <p:cNvSpPr>
            <a:spLocks noGrp="1"/>
          </p:cNvSpPr>
          <p:nvPr>
            <p:ph type="sldNum" sz="quarter" idx="5"/>
          </p:nvPr>
        </p:nvSpPr>
        <p:spPr/>
        <p:txBody>
          <a:bodyPr/>
          <a:lstStyle/>
          <a:p>
            <a:fld id="{37D5B987-1E06-4EBC-82C5-DF6871542F57}" type="slidenum">
              <a:rPr lang="zh-CN" altLang="en-US" smtClean="0"/>
              <a:t>24</a:t>
            </a:fld>
            <a:endParaRPr lang="zh-CN" altLang="en-US"/>
          </a:p>
        </p:txBody>
      </p:sp>
    </p:spTree>
    <p:extLst>
      <p:ext uri="{BB962C8B-B14F-4D97-AF65-F5344CB8AC3E}">
        <p14:creationId xmlns:p14="http://schemas.microsoft.com/office/powerpoint/2010/main" val="42773497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0135EF0-F1E5-476D-8FAE-E222393CAF14}" type="datetimeFigureOut">
              <a:rPr lang="zh-CN" altLang="en-US" smtClean="0"/>
              <a:t>2026/7/6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0135EF0-F1E5-476D-8FAE-E222393CAF14}" type="datetimeFigureOut">
              <a:rPr lang="zh-CN" altLang="en-US" smtClean="0"/>
              <a:t>2026/7/6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30135EF0-F1E5-476D-8FAE-E222393CAF14}" type="datetimeFigureOut">
              <a:rPr lang="zh-CN" altLang="en-US" smtClean="0"/>
              <a:t>2026/7/6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0135EF0-F1E5-476D-8FAE-E222393CAF14}" type="datetimeFigureOut">
              <a:rPr lang="zh-CN" altLang="en-US" smtClean="0"/>
              <a:t>2026/7/6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0135EF0-F1E5-476D-8FAE-E222393CAF14}" type="datetimeFigureOut">
              <a:rPr lang="zh-CN" altLang="en-US" smtClean="0"/>
              <a:t>2026/7/6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0135EF0-F1E5-476D-8FAE-E222393CAF14}" type="datetimeFigureOut">
              <a:rPr lang="zh-CN" altLang="en-US" smtClean="0"/>
              <a:t>2026/7/6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0135EF0-F1E5-476D-8FAE-E222393CAF14}" type="datetimeFigureOut">
              <a:rPr lang="zh-CN" altLang="en-US" smtClean="0"/>
              <a:t>2026/7/6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30135EF0-F1E5-476D-8FAE-E222393CAF14}" type="datetimeFigureOut">
              <a:rPr lang="zh-CN" altLang="en-US" smtClean="0"/>
              <a:t>2026/7/6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30135EF0-F1E5-476D-8FAE-E222393CAF14}" type="datetimeFigureOut">
              <a:rPr lang="zh-CN" altLang="en-US" smtClean="0"/>
              <a:t>2026/7/6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0135EF0-F1E5-476D-8FAE-E222393CAF14}" type="datetimeFigureOut">
              <a:rPr lang="zh-CN" altLang="en-US" smtClean="0"/>
              <a:t>2026/7/6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0135EF0-F1E5-476D-8FAE-E222393CAF14}" type="datetimeFigureOut">
              <a:rPr lang="zh-CN" altLang="en-US" smtClean="0"/>
              <a:t>2026/7/6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165F9D-F3F6-4996-8EE6-4E8463525FF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封面">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print">
            <a:extLst>
              <a:ext uri="{BEBA8EAE-BF5A-486C-A8C5-ECC9F3942E4B}">
                <a14:imgProps xmlns:a14="http://schemas.microsoft.com/office/drawing/2010/main">
                  <a14:imgLayer r:embed="rId3">
                    <a14:imgEffect>
                      <a14:artisticBlur/>
                    </a14:imgEffect>
                  </a14:imgLayer>
                </a14:imgProps>
              </a:ext>
            </a:extLst>
          </a:blip>
          <a:srcRect t="23405" b="8394"/>
          <a:stretch>
            <a:fillRect/>
          </a:stretch>
        </p:blipFill>
        <p:spPr>
          <a:xfrm>
            <a:off x="-7998" y="-6894"/>
            <a:ext cx="12199999" cy="4347246"/>
          </a:xfrm>
          <a:prstGeom prst="rect">
            <a:avLst/>
          </a:prstGeom>
        </p:spPr>
      </p:pic>
      <p:sp>
        <p:nvSpPr>
          <p:cNvPr id="15" name="矩形 14"/>
          <p:cNvSpPr/>
          <p:nvPr userDrawn="1"/>
        </p:nvSpPr>
        <p:spPr>
          <a:xfrm>
            <a:off x="-7999" y="0"/>
            <a:ext cx="12199999" cy="4340352"/>
          </a:xfrm>
          <a:prstGeom prst="rect">
            <a:avLst/>
          </a:prstGeom>
          <a:gradFill flip="none" rotWithShape="1">
            <a:gsLst>
              <a:gs pos="55000">
                <a:schemeClr val="bg1"/>
              </a:gs>
              <a:gs pos="0">
                <a:schemeClr val="bg1">
                  <a:alpha val="66000"/>
                </a:schemeClr>
              </a:gs>
              <a:gs pos="100000">
                <a:schemeClr val="bg1">
                  <a:alpha val="64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10845"/>
            <a:endParaRPr lang="zh-CN" altLang="en-US" sz="665" kern="0" dirty="0">
              <a:solidFill>
                <a:srgbClr val="FFFFFF"/>
              </a:solidFill>
              <a:sym typeface="Helvetica"/>
            </a:endParaRPr>
          </a:p>
        </p:txBody>
      </p:sp>
      <p:sp>
        <p:nvSpPr>
          <p:cNvPr id="4" name="Shape 30"/>
          <p:cNvSpPr/>
          <p:nvPr userDrawn="1"/>
        </p:nvSpPr>
        <p:spPr>
          <a:xfrm>
            <a:off x="-7998" y="4340352"/>
            <a:ext cx="12199999" cy="2517649"/>
          </a:xfrm>
          <a:prstGeom prst="rect">
            <a:avLst/>
          </a:prstGeo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18900000" scaled="1"/>
            <a:tileRect/>
          </a:gradFill>
          <a:ln>
            <a:solidFill>
              <a:schemeClr val="accent1">
                <a:lumMod val="75000"/>
              </a:schemeClr>
            </a:solidFill>
          </a:ln>
        </p:spPr>
        <p:style>
          <a:lnRef idx="0">
            <a:schemeClr val="accent1"/>
          </a:lnRef>
          <a:fillRef idx="3">
            <a:schemeClr val="accent1"/>
          </a:fillRef>
          <a:effectRef idx="3">
            <a:schemeClr val="accent1"/>
          </a:effectRef>
          <a:fontRef idx="minor">
            <a:schemeClr val="lt1"/>
          </a:fontRef>
        </p:style>
        <p:txBody>
          <a:bodyPr lIns="0" tIns="0" rIns="0" bIns="0" anchor="ctr"/>
          <a:lstStyle/>
          <a:p>
            <a:pPr algn="ctr" defTabSz="410845">
              <a:defRPr sz="2400">
                <a:solidFill>
                  <a:srgbClr val="FFFFFF"/>
                </a:solidFill>
                <a:latin typeface="Helvetica Light"/>
                <a:ea typeface="Helvetica Light"/>
                <a:cs typeface="Helvetica Light"/>
                <a:sym typeface="Helvetica Light"/>
              </a:defRPr>
            </a:pPr>
            <a:endParaRPr sz="2250" kern="0" dirty="0">
              <a:solidFill>
                <a:srgbClr val="FFFFFF"/>
              </a:solidFill>
              <a:latin typeface="Helvetica Light"/>
              <a:ea typeface="Helvetica Light"/>
              <a:cs typeface="Helvetica Light"/>
              <a:sym typeface="Helvetica Light"/>
            </a:endParaRPr>
          </a:p>
        </p:txBody>
      </p:sp>
      <p:sp>
        <p:nvSpPr>
          <p:cNvPr id="5" name="AutoShape 7" descr="C:\Users\netlab\AppData\Roaming\Tencent\Users\152540513\QQ\WinTemp\RichOle\%JV)]WU0%W6ZJA7RU(.png"/>
          <p:cNvSpPr>
            <a:spLocks noChangeAspect="1" noChangeArrowheads="1"/>
          </p:cNvSpPr>
          <p:nvPr userDrawn="1"/>
        </p:nvSpPr>
        <p:spPr bwMode="auto">
          <a:xfrm>
            <a:off x="0" y="607568"/>
            <a:ext cx="214306" cy="214313"/>
          </a:xfrm>
          <a:prstGeom prst="rect">
            <a:avLst/>
          </a:prstGeom>
          <a:noFill/>
        </p:spPr>
        <p:txBody>
          <a:bodyPr vert="horz" wrap="square" lIns="64290" tIns="32145" rIns="64290" bIns="32145" numCol="1" anchor="t" anchorCtr="0" compatLnSpc="1"/>
          <a:lstStyle/>
          <a:p>
            <a:pPr algn="ctr" defTabSz="410845"/>
            <a:endParaRPr lang="zh-CN" altLang="en-US" sz="1265" kern="0">
              <a:solidFill>
                <a:sysClr val="windowText" lastClr="000000"/>
              </a:solidFill>
              <a:sym typeface="Helvetica"/>
            </a:endParaRPr>
          </a:p>
        </p:txBody>
      </p:sp>
      <p:sp>
        <p:nvSpPr>
          <p:cNvPr id="6" name="AutoShape 8" descr="C:\Users\netlab\AppData\Roaming\Tencent\Users\152540513\QQ\WinTemp\RichOle\%JV)]WU0%W6ZJA7RU(.png"/>
          <p:cNvSpPr>
            <a:spLocks noChangeAspect="1" noChangeArrowheads="1"/>
          </p:cNvSpPr>
          <p:nvPr userDrawn="1"/>
        </p:nvSpPr>
        <p:spPr bwMode="auto">
          <a:xfrm>
            <a:off x="0" y="607568"/>
            <a:ext cx="214306" cy="214313"/>
          </a:xfrm>
          <a:prstGeom prst="rect">
            <a:avLst/>
          </a:prstGeom>
          <a:noFill/>
        </p:spPr>
        <p:txBody>
          <a:bodyPr vert="horz" wrap="square" lIns="64290" tIns="32145" rIns="64290" bIns="32145" numCol="1" anchor="t" anchorCtr="0" compatLnSpc="1"/>
          <a:lstStyle/>
          <a:p>
            <a:pPr algn="ctr" defTabSz="410845"/>
            <a:endParaRPr lang="zh-CN" altLang="en-US" sz="1265" kern="0">
              <a:solidFill>
                <a:sysClr val="windowText" lastClr="000000"/>
              </a:solidFill>
              <a:sym typeface="Helvetica"/>
            </a:endParaRPr>
          </a:p>
        </p:txBody>
      </p:sp>
      <p:sp>
        <p:nvSpPr>
          <p:cNvPr id="7" name="AutoShape 9" descr="C:\Users\netlab\AppData\Roaming\Tencent\Users\152540513\QQ\WinTemp\RichOle\%JV)]WU0%W6ZJA7RU(.png"/>
          <p:cNvSpPr>
            <a:spLocks noChangeAspect="1" noChangeArrowheads="1"/>
          </p:cNvSpPr>
          <p:nvPr userDrawn="1"/>
        </p:nvSpPr>
        <p:spPr bwMode="auto">
          <a:xfrm>
            <a:off x="0" y="607568"/>
            <a:ext cx="214306" cy="214313"/>
          </a:xfrm>
          <a:prstGeom prst="rect">
            <a:avLst/>
          </a:prstGeom>
          <a:noFill/>
        </p:spPr>
        <p:txBody>
          <a:bodyPr vert="horz" wrap="square" lIns="64290" tIns="32145" rIns="64290" bIns="32145" numCol="1" anchor="t" anchorCtr="0" compatLnSpc="1"/>
          <a:lstStyle/>
          <a:p>
            <a:pPr algn="ctr" defTabSz="410845"/>
            <a:endParaRPr lang="zh-CN" altLang="en-US" sz="1265" kern="0">
              <a:solidFill>
                <a:sysClr val="windowText" lastClr="000000"/>
              </a:solidFill>
              <a:sym typeface="Helvetica"/>
            </a:endParaRPr>
          </a:p>
        </p:txBody>
      </p:sp>
      <p:sp>
        <p:nvSpPr>
          <p:cNvPr id="8" name="AutoShape 10" descr="C:\Users\netlab\AppData\Roaming\Tencent\Users\152540513\QQ\WinTemp\RichOle\%JV)]WU0%W6ZJA7RU(.png"/>
          <p:cNvSpPr>
            <a:spLocks noChangeAspect="1" noChangeArrowheads="1"/>
          </p:cNvSpPr>
          <p:nvPr userDrawn="1"/>
        </p:nvSpPr>
        <p:spPr bwMode="auto">
          <a:xfrm>
            <a:off x="0" y="607568"/>
            <a:ext cx="214306" cy="214313"/>
          </a:xfrm>
          <a:prstGeom prst="rect">
            <a:avLst/>
          </a:prstGeom>
          <a:noFill/>
        </p:spPr>
        <p:txBody>
          <a:bodyPr vert="horz" wrap="square" lIns="64290" tIns="32145" rIns="64290" bIns="32145" numCol="1" anchor="t" anchorCtr="0" compatLnSpc="1"/>
          <a:lstStyle/>
          <a:p>
            <a:pPr algn="ctr" defTabSz="410845"/>
            <a:endParaRPr lang="zh-CN" altLang="en-US" sz="1265" kern="0">
              <a:solidFill>
                <a:sysClr val="windowText" lastClr="000000"/>
              </a:solidFill>
              <a:sym typeface="Helvetica"/>
            </a:endParaRPr>
          </a:p>
        </p:txBody>
      </p:sp>
      <p:sp>
        <p:nvSpPr>
          <p:cNvPr id="9" name="AutoShape 11" descr="C:\Users\netlab\AppData\Roaming\Tencent\Users\152540513\QQ\WinTemp\RichOle\%JV)]WU0%W6ZJA7RU(.png"/>
          <p:cNvSpPr>
            <a:spLocks noChangeAspect="1" noChangeArrowheads="1"/>
          </p:cNvSpPr>
          <p:nvPr userDrawn="1"/>
        </p:nvSpPr>
        <p:spPr bwMode="auto">
          <a:xfrm>
            <a:off x="0" y="607568"/>
            <a:ext cx="214306" cy="214313"/>
          </a:xfrm>
          <a:prstGeom prst="rect">
            <a:avLst/>
          </a:prstGeom>
          <a:noFill/>
        </p:spPr>
        <p:txBody>
          <a:bodyPr vert="horz" wrap="square" lIns="64290" tIns="32145" rIns="64290" bIns="32145" numCol="1" anchor="t" anchorCtr="0" compatLnSpc="1"/>
          <a:lstStyle/>
          <a:p>
            <a:pPr algn="ctr" defTabSz="410845"/>
            <a:endParaRPr lang="zh-CN" altLang="en-US" sz="1265" kern="0">
              <a:solidFill>
                <a:sysClr val="windowText" lastClr="000000"/>
              </a:solidFill>
              <a:sym typeface="Helvetica"/>
            </a:endParaRPr>
          </a:p>
        </p:txBody>
      </p:sp>
      <p:sp>
        <p:nvSpPr>
          <p:cNvPr id="14" name="Title Placeholder 1"/>
          <p:cNvSpPr>
            <a:spLocks noGrp="1"/>
          </p:cNvSpPr>
          <p:nvPr>
            <p:ph type="ctrTitle" hasCustomPrompt="1"/>
          </p:nvPr>
        </p:nvSpPr>
        <p:spPr>
          <a:xfrm>
            <a:off x="1033092" y="543055"/>
            <a:ext cx="10125816" cy="3008784"/>
          </a:xfrm>
          <a:prstGeom prst="rect">
            <a:avLst/>
          </a:prstGeom>
          <a:noFill/>
          <a:ln w="12700" cap="rnd">
            <a:solidFill>
              <a:schemeClr val="bg1"/>
            </a:solidFill>
            <a:prstDash val="dash"/>
            <a:round/>
          </a:ln>
        </p:spPr>
        <p:txBody>
          <a:bodyPr anchor="ctr"/>
          <a:lstStyle>
            <a:lvl1pPr lvl="0" algn="ctr">
              <a:defRPr sz="6185" b="0" kern="1200" cap="none" spc="0">
                <a:ln w="0"/>
                <a:solidFill>
                  <a:schemeClr val="tx1"/>
                </a:solidFill>
                <a:effectLst>
                  <a:outerShdw blurRad="38100" dist="19050" dir="2700000" algn="tl" rotWithShape="0">
                    <a:schemeClr val="dk1">
                      <a:alpha val="40000"/>
                    </a:schemeClr>
                  </a:outerShdw>
                </a:effectLst>
              </a:defRPr>
            </a:lvl1pPr>
          </a:lstStyle>
          <a:p>
            <a:pPr lvl="0"/>
            <a:r>
              <a:rPr lang="zh-CN" altLang="en-US" dirty="0"/>
              <a:t>标题</a:t>
            </a:r>
          </a:p>
        </p:txBody>
      </p:sp>
    </p:spTree>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
        <p:nvSpPr>
          <p:cNvPr id="6" name="Shape 30"/>
          <p:cNvSpPr/>
          <p:nvPr userDrawn="1"/>
        </p:nvSpPr>
        <p:spPr>
          <a:xfrm>
            <a:off x="-8255" y="-1905"/>
            <a:ext cx="12200255" cy="737235"/>
          </a:xfrm>
          <a:prstGeom prst="rect">
            <a:avLst/>
          </a:prstGeo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18900000" scaled="1"/>
            <a:tileRect/>
          </a:gradFill>
          <a:ln>
            <a:solidFill>
              <a:schemeClr val="accent1">
                <a:lumMod val="75000"/>
              </a:schemeClr>
            </a:solidFill>
          </a:ln>
        </p:spPr>
        <p:style>
          <a:lnRef idx="0">
            <a:schemeClr val="accent1"/>
          </a:lnRef>
          <a:fillRef idx="3">
            <a:schemeClr val="accent1"/>
          </a:fillRef>
          <a:effectRef idx="3">
            <a:schemeClr val="accent1"/>
          </a:effectRef>
          <a:fontRef idx="minor">
            <a:schemeClr val="lt1"/>
          </a:fontRef>
        </p:style>
        <p:txBody>
          <a:bodyPr lIns="0" tIns="0" rIns="0" bIns="0" anchor="ctr"/>
          <a:lstStyle/>
          <a:p>
            <a:pPr algn="ctr" defTabSz="410845">
              <a:defRPr sz="2400">
                <a:solidFill>
                  <a:srgbClr val="FFFFFF"/>
                </a:solidFill>
                <a:latin typeface="Helvetica Light"/>
                <a:ea typeface="Helvetica Light"/>
                <a:cs typeface="Helvetica Light"/>
                <a:sym typeface="Helvetica Light"/>
              </a:defRPr>
            </a:pPr>
            <a:endParaRPr sz="2250" kern="0" dirty="0">
              <a:solidFill>
                <a:srgbClr val="FFFFFF"/>
              </a:solidFill>
              <a:latin typeface="Helvetica Light"/>
              <a:ea typeface="Helvetica Light"/>
              <a:cs typeface="Helvetica Light"/>
              <a:sym typeface="Helvetica Light"/>
            </a:endParaRPr>
          </a:p>
        </p:txBody>
      </p:sp>
      <p:sp>
        <p:nvSpPr>
          <p:cNvPr id="2" name="标题 1"/>
          <p:cNvSpPr>
            <a:spLocks noGrp="1"/>
          </p:cNvSpPr>
          <p:nvPr>
            <p:ph type="title"/>
          </p:nvPr>
        </p:nvSpPr>
        <p:spPr>
          <a:xfrm>
            <a:off x="210358" y="67310"/>
            <a:ext cx="11772207" cy="744625"/>
          </a:xfrm>
        </p:spPr>
        <p:txBody>
          <a:bodyPr>
            <a:normAutofit/>
          </a:bodyPr>
          <a:lstStyle>
            <a:lvl1pPr>
              <a:defRPr sz="3000" b="1" baseline="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135EF0-F1E5-476D-8FAE-E222393CAF14}" type="datetimeFigureOut">
              <a:rPr lang="zh-CN" altLang="en-US" smtClean="0"/>
              <a:t>2026/7/6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165F9D-F3F6-4996-8EE6-4E8463525FF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0188" y="214721"/>
            <a:ext cx="3113573" cy="834597"/>
          </a:xfrm>
          <a:prstGeom prst="rect">
            <a:avLst/>
          </a:prstGeom>
        </p:spPr>
      </p:pic>
      <p:sp>
        <p:nvSpPr>
          <p:cNvPr id="2" name="文本框 1"/>
          <p:cNvSpPr txBox="1"/>
          <p:nvPr/>
        </p:nvSpPr>
        <p:spPr>
          <a:xfrm>
            <a:off x="1210310" y="1339850"/>
            <a:ext cx="9346565" cy="1443990"/>
          </a:xfrm>
          <a:prstGeom prst="rect">
            <a:avLst/>
          </a:prstGeom>
          <a:noFill/>
        </p:spPr>
        <p:txBody>
          <a:bodyPr wrap="square" rtlCol="0">
            <a:noAutofit/>
          </a:bodyPr>
          <a:lstStyle/>
          <a:p>
            <a:endParaRPr lang="zh-CN" altLang="en-US"/>
          </a:p>
        </p:txBody>
      </p:sp>
      <p:sp>
        <p:nvSpPr>
          <p:cNvPr id="3" name="文本框 2"/>
          <p:cNvSpPr txBox="1"/>
          <p:nvPr/>
        </p:nvSpPr>
        <p:spPr>
          <a:xfrm>
            <a:off x="0" y="1339850"/>
            <a:ext cx="11817985" cy="1592580"/>
          </a:xfrm>
          <a:prstGeom prst="rect">
            <a:avLst/>
          </a:prstGeom>
          <a:noFill/>
        </p:spPr>
        <p:txBody>
          <a:bodyPr wrap="square" rtlCol="0" anchor="t">
            <a:noAutofit/>
          </a:bodyPr>
          <a:lstStyle/>
          <a:p>
            <a:pPr algn="ctr"/>
            <a:r>
              <a:rPr lang="en-US" altLang="zh-CN" sz="4000" dirty="0">
                <a:latin typeface="+mn-ea"/>
                <a:sym typeface="+mn-ea"/>
              </a:rPr>
              <a:t>Automated Cross-Platform Reverse Engineering of  CAN Bus Commands From Mobile Apps</a:t>
            </a:r>
          </a:p>
        </p:txBody>
      </p:sp>
      <p:sp>
        <p:nvSpPr>
          <p:cNvPr id="4" name="文本框 3"/>
          <p:cNvSpPr txBox="1"/>
          <p:nvPr/>
        </p:nvSpPr>
        <p:spPr>
          <a:xfrm>
            <a:off x="229870" y="2997200"/>
            <a:ext cx="11588750" cy="746760"/>
          </a:xfrm>
          <a:prstGeom prst="rect">
            <a:avLst/>
          </a:prstGeom>
          <a:noFill/>
        </p:spPr>
        <p:txBody>
          <a:bodyPr wrap="square" rtlCol="0">
            <a:noAutofit/>
          </a:bodyPr>
          <a:lstStyle/>
          <a:p>
            <a:pPr algn="ctr"/>
            <a:r>
              <a:rPr lang="zh-CN" altLang="en-US" sz="3200" dirty="0"/>
              <a:t>来自移动应用程序的</a:t>
            </a:r>
            <a:r>
              <a:rPr lang="en-US" altLang="zh-CN" sz="3200" dirty="0"/>
              <a:t>CAN</a:t>
            </a:r>
            <a:r>
              <a:rPr lang="zh-CN" altLang="en-US" sz="3200" dirty="0"/>
              <a:t>总线命令的自动跨平台逆向工程</a:t>
            </a:r>
          </a:p>
        </p:txBody>
      </p:sp>
      <p:sp>
        <p:nvSpPr>
          <p:cNvPr id="6" name="文本框 5"/>
          <p:cNvSpPr txBox="1"/>
          <p:nvPr/>
        </p:nvSpPr>
        <p:spPr>
          <a:xfrm>
            <a:off x="9313545" y="4267200"/>
            <a:ext cx="2437130" cy="460375"/>
          </a:xfrm>
          <a:prstGeom prst="rect">
            <a:avLst/>
          </a:prstGeom>
          <a:noFill/>
        </p:spPr>
        <p:txBody>
          <a:bodyPr wrap="square" rtlCol="0">
            <a:spAutoFit/>
          </a:bodyPr>
          <a:lstStyle/>
          <a:p>
            <a:r>
              <a:rPr lang="zh-CN" altLang="en-US" sz="2400" dirty="0"/>
              <a:t>汇报人：任东辰</a:t>
            </a:r>
          </a:p>
        </p:txBody>
      </p:sp>
      <p:sp>
        <p:nvSpPr>
          <p:cNvPr id="8" name="文本框 7"/>
          <p:cNvSpPr txBox="1"/>
          <p:nvPr/>
        </p:nvSpPr>
        <p:spPr>
          <a:xfrm>
            <a:off x="687705" y="5322570"/>
            <a:ext cx="10469245" cy="959485"/>
          </a:xfrm>
          <a:prstGeom prst="rect">
            <a:avLst/>
          </a:prstGeom>
          <a:noFill/>
        </p:spPr>
        <p:txBody>
          <a:bodyPr wrap="square" rtlCol="0">
            <a:noAutofit/>
          </a:bodyPr>
          <a:lstStyle/>
          <a:p>
            <a:pPr algn="ctr"/>
            <a:r>
              <a:rPr lang="en-US" altLang="zh-CN" dirty="0"/>
              <a:t>Haohuang Wen, Qingchuan Zhao, Qi Alfred Chen, Zhiqiang Lin,</a:t>
            </a:r>
          </a:p>
          <a:p>
            <a:pPr algn="ctr"/>
            <a:r>
              <a:rPr lang="en-US" altLang="zh-CN" dirty="0"/>
              <a:t>The Ohio State University, University of California, Irvine</a:t>
            </a:r>
          </a:p>
          <a:p>
            <a:pPr algn="ctr"/>
            <a:r>
              <a:rPr lang="en-US" altLang="zh-CN" dirty="0"/>
              <a:t>Network and Distributed Systems Security (NDSS) Symposium 2020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1"/>
          <p:cNvSpPr>
            <a:spLocks noGrp="1"/>
          </p:cNvSpPr>
          <p:nvPr/>
        </p:nvSpPr>
        <p:spPr>
          <a:xfrm>
            <a:off x="2055225" y="1565804"/>
            <a:ext cx="8256270" cy="868680"/>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200" b="0" i="0" kern="1200">
                <a:solidFill>
                  <a:schemeClr val="tx1"/>
                </a:solidFill>
                <a:latin typeface="宋体" panose="02010600030101010101" pitchFamily="2" charset="-122"/>
                <a:ea typeface="宋体" panose="02010600030101010101" pitchFamily="2" charset="-122"/>
                <a:cs typeface="+mj-cs"/>
              </a:defRPr>
            </a:lvl1pPr>
            <a:lvl2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2pPr>
            <a:lvl3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3pPr>
            <a:lvl4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4pPr>
            <a:lvl5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5pPr>
            <a:lvl6pPr marL="457200" algn="ctr" rtl="0" fontAlgn="base">
              <a:spcBef>
                <a:spcPct val="0"/>
              </a:spcBef>
              <a:spcAft>
                <a:spcPct val="0"/>
              </a:spcAft>
              <a:defRPr sz="4200" b="1" i="1">
                <a:solidFill>
                  <a:schemeClr val="tx1"/>
                </a:solidFill>
                <a:latin typeface="Arial" panose="020B0604020202020204" pitchFamily="34" charset="0"/>
              </a:defRPr>
            </a:lvl6pPr>
            <a:lvl7pPr marL="914400" algn="ctr" rtl="0" fontAlgn="base">
              <a:spcBef>
                <a:spcPct val="0"/>
              </a:spcBef>
              <a:spcAft>
                <a:spcPct val="0"/>
              </a:spcAft>
              <a:defRPr sz="4200" b="1" i="1">
                <a:solidFill>
                  <a:schemeClr val="tx1"/>
                </a:solidFill>
                <a:latin typeface="Arial" panose="020B0604020202020204" pitchFamily="34" charset="0"/>
              </a:defRPr>
            </a:lvl7pPr>
            <a:lvl8pPr marL="1371600" algn="ctr" rtl="0" fontAlgn="base">
              <a:spcBef>
                <a:spcPct val="0"/>
              </a:spcBef>
              <a:spcAft>
                <a:spcPct val="0"/>
              </a:spcAft>
              <a:defRPr sz="4200" b="1" i="1">
                <a:solidFill>
                  <a:schemeClr val="tx1"/>
                </a:solidFill>
                <a:latin typeface="Arial" panose="020B0604020202020204" pitchFamily="34" charset="0"/>
              </a:defRPr>
            </a:lvl8pPr>
            <a:lvl9pPr marL="1828800" algn="ctr" rtl="0" fontAlgn="base">
              <a:spcBef>
                <a:spcPct val="0"/>
              </a:spcBef>
              <a:spcAft>
                <a:spcPct val="0"/>
              </a:spcAft>
              <a:defRPr sz="4200" b="1" i="1">
                <a:solidFill>
                  <a:schemeClr val="tx1"/>
                </a:solidFill>
                <a:latin typeface="Arial" panose="020B0604020202020204" pitchFamily="34" charset="0"/>
              </a:defRPr>
            </a:lvl9pPr>
          </a:lstStyle>
          <a:p>
            <a:pPr algn="ctr"/>
            <a:endParaRPr lang="zh-CN" altLang="en-US" sz="3600" b="1" dirty="0">
              <a:solidFill>
                <a:schemeClr val="accent5"/>
              </a:solidFill>
              <a:sym typeface="+mn-ea"/>
            </a:endParaRPr>
          </a:p>
        </p:txBody>
      </p:sp>
      <p:grpSp>
        <p:nvGrpSpPr>
          <p:cNvPr id="9" name="组合 16"/>
          <p:cNvGrpSpPr/>
          <p:nvPr/>
        </p:nvGrpSpPr>
        <p:grpSpPr>
          <a:xfrm>
            <a:off x="2646511" y="1497863"/>
            <a:ext cx="7242295" cy="664444"/>
            <a:chOff x="4562352" y="4005559"/>
            <a:chExt cx="10300467" cy="945016"/>
          </a:xfr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16200000" scaled="1"/>
            <a:tileRect/>
          </a:gradFill>
          <a:effectLst>
            <a:outerShdw blurRad="76200" dist="12700" dir="2700000" sy="-23000" kx="-800400" algn="bl" rotWithShape="0">
              <a:prstClr val="black">
                <a:alpha val="20000"/>
              </a:prstClr>
            </a:outerShdw>
          </a:effectLst>
        </p:grpSpPr>
        <p:sp>
          <p:nvSpPr>
            <p:cNvPr id="10" name="MH_SubTitle_1"/>
            <p:cNvSpPr>
              <a:spLocks noChangeArrowheads="1"/>
            </p:cNvSpPr>
            <p:nvPr/>
          </p:nvSpPr>
          <p:spPr bwMode="auto">
            <a:xfrm flipH="1">
              <a:off x="4562352" y="4005559"/>
              <a:ext cx="8974666" cy="945015"/>
            </a:xfrm>
            <a:prstGeom prst="homePlate">
              <a:avLst>
                <a:gd name="adj" fmla="val 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anchor="ctr"/>
            <a:lstStyle/>
            <a:p>
              <a:pPr defTabSz="410845"/>
              <a:r>
                <a:rPr lang="zh-CN" altLang="en-US" sz="3165" b="1" kern="0" dirty="0">
                  <a:solidFill>
                    <a:srgbClr val="FFFFFF"/>
                  </a:solidFill>
                  <a:latin typeface="华文中宋" panose="02010600040101010101" charset="-122"/>
                  <a:ea typeface="华文中宋" panose="02010600040101010101" charset="-122"/>
                  <a:sym typeface="Helvetica"/>
                </a:rPr>
                <a:t>一、研究背景</a:t>
              </a:r>
            </a:p>
          </p:txBody>
        </p:sp>
        <p:sp>
          <p:nvSpPr>
            <p:cNvPr id="11" name="MH_Other_2"/>
            <p:cNvSpPr/>
            <p:nvPr/>
          </p:nvSpPr>
          <p:spPr bwMode="auto">
            <a:xfrm flipH="1">
              <a:off x="13822575" y="4005560"/>
              <a:ext cx="1040244" cy="945015"/>
            </a:xfrm>
            <a:custGeom>
              <a:avLst/>
              <a:gdLst/>
              <a:ahLst/>
              <a:cxnLst>
                <a:cxn ang="0">
                  <a:pos x="406047" y="0"/>
                </a:cxn>
                <a:cxn ang="0">
                  <a:pos x="0" y="0"/>
                </a:cxn>
                <a:cxn ang="0">
                  <a:pos x="137728" y="252028"/>
                </a:cxn>
                <a:cxn ang="0">
                  <a:pos x="0" y="504056"/>
                </a:cxn>
                <a:cxn ang="0">
                  <a:pos x="406047" y="504056"/>
                </a:cxn>
                <a:cxn ang="0">
                  <a:pos x="406047" y="0"/>
                </a:cxn>
              </a:cxnLst>
              <a:rect l="0" t="0" r="r" b="b"/>
              <a:pathLst>
                <a:path w="406047" h="504056">
                  <a:moveTo>
                    <a:pt x="406047" y="0"/>
                  </a:moveTo>
                  <a:lnTo>
                    <a:pt x="0" y="0"/>
                  </a:lnTo>
                  <a:lnTo>
                    <a:pt x="137728" y="252028"/>
                  </a:lnTo>
                  <a:lnTo>
                    <a:pt x="0" y="504056"/>
                  </a:lnTo>
                  <a:lnTo>
                    <a:pt x="406047" y="504056"/>
                  </a:lnTo>
                  <a:lnTo>
                    <a:pt x="406047"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anchor="ctr"/>
            <a:lstStyle/>
            <a:p>
              <a:pPr algn="ctr" defTabSz="410845"/>
              <a:endParaRPr lang="zh-CN" altLang="en-US" sz="2530" kern="0">
                <a:solidFill>
                  <a:sysClr val="windowText" lastClr="000000"/>
                </a:solidFill>
                <a:sym typeface="Helvetica"/>
              </a:endParaRPr>
            </a:p>
          </p:txBody>
        </p:sp>
      </p:grpSp>
      <p:grpSp>
        <p:nvGrpSpPr>
          <p:cNvPr id="18" name="组合 16"/>
          <p:cNvGrpSpPr/>
          <p:nvPr/>
        </p:nvGrpSpPr>
        <p:grpSpPr>
          <a:xfrm>
            <a:off x="2646512" y="4142847"/>
            <a:ext cx="7242294" cy="664444"/>
            <a:chOff x="4562353" y="4005559"/>
            <a:chExt cx="10300466" cy="945016"/>
          </a:xfr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16200000" scaled="1"/>
            <a:tileRect/>
          </a:gradFill>
          <a:effectLst>
            <a:outerShdw blurRad="76200" dist="12700" dir="2700000" sy="-23000" kx="-800400" algn="bl" rotWithShape="0">
              <a:prstClr val="black">
                <a:alpha val="20000"/>
              </a:prstClr>
            </a:outerShdw>
          </a:effectLst>
        </p:grpSpPr>
        <p:sp>
          <p:nvSpPr>
            <p:cNvPr id="19" name="MH_SubTitle_1"/>
            <p:cNvSpPr>
              <a:spLocks noChangeArrowheads="1"/>
            </p:cNvSpPr>
            <p:nvPr/>
          </p:nvSpPr>
          <p:spPr bwMode="auto">
            <a:xfrm flipH="1">
              <a:off x="4562353" y="4005559"/>
              <a:ext cx="8974665" cy="945015"/>
            </a:xfrm>
            <a:prstGeom prst="homePlate">
              <a:avLst>
                <a:gd name="adj" fmla="val 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anchor="ctr"/>
            <a:lstStyle/>
            <a:p>
              <a:pPr algn="l" defTabSz="410845">
                <a:buClrTx/>
                <a:buSzTx/>
                <a:buFontTx/>
              </a:pPr>
              <a:r>
                <a:rPr lang="zh-CN" altLang="en-US" sz="3165" b="1" kern="0" dirty="0">
                  <a:solidFill>
                    <a:srgbClr val="FFFFFF"/>
                  </a:solidFill>
                  <a:latin typeface="华文中宋" panose="02010600040101010101" charset="-122"/>
                  <a:ea typeface="华文中宋" panose="02010600040101010101" charset="-122"/>
                  <a:sym typeface="Helvetica"/>
                </a:rPr>
                <a:t>三、实验评估</a:t>
              </a:r>
            </a:p>
          </p:txBody>
        </p:sp>
        <p:sp>
          <p:nvSpPr>
            <p:cNvPr id="20" name="MH_Other_2"/>
            <p:cNvSpPr/>
            <p:nvPr/>
          </p:nvSpPr>
          <p:spPr bwMode="auto">
            <a:xfrm flipH="1">
              <a:off x="13822575" y="4005560"/>
              <a:ext cx="1040244" cy="945015"/>
            </a:xfrm>
            <a:custGeom>
              <a:avLst/>
              <a:gdLst/>
              <a:ahLst/>
              <a:cxnLst>
                <a:cxn ang="0">
                  <a:pos x="406047" y="0"/>
                </a:cxn>
                <a:cxn ang="0">
                  <a:pos x="0" y="0"/>
                </a:cxn>
                <a:cxn ang="0">
                  <a:pos x="137728" y="252028"/>
                </a:cxn>
                <a:cxn ang="0">
                  <a:pos x="0" y="504056"/>
                </a:cxn>
                <a:cxn ang="0">
                  <a:pos x="406047" y="504056"/>
                </a:cxn>
                <a:cxn ang="0">
                  <a:pos x="406047" y="0"/>
                </a:cxn>
              </a:cxnLst>
              <a:rect l="0" t="0" r="r" b="b"/>
              <a:pathLst>
                <a:path w="406047" h="504056">
                  <a:moveTo>
                    <a:pt x="406047" y="0"/>
                  </a:moveTo>
                  <a:lnTo>
                    <a:pt x="0" y="0"/>
                  </a:lnTo>
                  <a:lnTo>
                    <a:pt x="137728" y="252028"/>
                  </a:lnTo>
                  <a:lnTo>
                    <a:pt x="0" y="504056"/>
                  </a:lnTo>
                  <a:lnTo>
                    <a:pt x="406047" y="504056"/>
                  </a:lnTo>
                  <a:lnTo>
                    <a:pt x="406047"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anchor="ctr"/>
            <a:lstStyle/>
            <a:p>
              <a:pPr algn="ctr" defTabSz="410845"/>
              <a:endParaRPr lang="zh-CN" altLang="en-US" sz="2530" kern="0">
                <a:solidFill>
                  <a:sysClr val="windowText" lastClr="000000"/>
                </a:solidFill>
                <a:sym typeface="Helvetica"/>
              </a:endParaRPr>
            </a:p>
          </p:txBody>
        </p:sp>
      </p:grpSp>
      <p:grpSp>
        <p:nvGrpSpPr>
          <p:cNvPr id="21" name="组合 16"/>
          <p:cNvGrpSpPr/>
          <p:nvPr/>
        </p:nvGrpSpPr>
        <p:grpSpPr>
          <a:xfrm>
            <a:off x="2646567" y="5453401"/>
            <a:ext cx="7242294" cy="738738"/>
            <a:chOff x="4562353" y="4005560"/>
            <a:chExt cx="10300466" cy="1050682"/>
          </a:xfr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16200000" scaled="1"/>
            <a:tileRect/>
          </a:gradFill>
          <a:effectLst>
            <a:outerShdw blurRad="76200" dist="12700" dir="2700000" sy="-23000" kx="-800400" algn="bl" rotWithShape="0">
              <a:prstClr val="black">
                <a:alpha val="20000"/>
              </a:prstClr>
            </a:outerShdw>
          </a:effectLst>
        </p:grpSpPr>
        <p:sp>
          <p:nvSpPr>
            <p:cNvPr id="22" name="MH_SubTitle_1"/>
            <p:cNvSpPr>
              <a:spLocks noChangeArrowheads="1"/>
            </p:cNvSpPr>
            <p:nvPr/>
          </p:nvSpPr>
          <p:spPr bwMode="auto">
            <a:xfrm flipH="1">
              <a:off x="4562353" y="4111227"/>
              <a:ext cx="8974665" cy="945015"/>
            </a:xfrm>
            <a:prstGeom prst="homePlate">
              <a:avLst>
                <a:gd name="adj" fmla="val 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anchor="ctr"/>
            <a:lstStyle/>
            <a:p>
              <a:pPr algn="l" defTabSz="410845">
                <a:buClrTx/>
                <a:buSzTx/>
                <a:buFontTx/>
              </a:pPr>
              <a:r>
                <a:rPr lang="zh-CN" altLang="en-US" sz="3165" b="1" kern="0" dirty="0">
                  <a:solidFill>
                    <a:srgbClr val="FFFFFF"/>
                  </a:solidFill>
                  <a:latin typeface="华文中宋" panose="02010600040101010101" charset="-122"/>
                  <a:ea typeface="华文中宋" panose="02010600040101010101" charset="-122"/>
                  <a:sym typeface="Helvetica"/>
                </a:rPr>
                <a:t>四、总结</a:t>
              </a:r>
            </a:p>
          </p:txBody>
        </p:sp>
        <p:sp>
          <p:nvSpPr>
            <p:cNvPr id="23" name="MH_Other_2"/>
            <p:cNvSpPr/>
            <p:nvPr/>
          </p:nvSpPr>
          <p:spPr bwMode="auto">
            <a:xfrm flipH="1">
              <a:off x="13822575" y="4005560"/>
              <a:ext cx="1040244" cy="945015"/>
            </a:xfrm>
            <a:custGeom>
              <a:avLst/>
              <a:gdLst/>
              <a:ahLst/>
              <a:cxnLst>
                <a:cxn ang="0">
                  <a:pos x="406047" y="0"/>
                </a:cxn>
                <a:cxn ang="0">
                  <a:pos x="0" y="0"/>
                </a:cxn>
                <a:cxn ang="0">
                  <a:pos x="137728" y="252028"/>
                </a:cxn>
                <a:cxn ang="0">
                  <a:pos x="0" y="504056"/>
                </a:cxn>
                <a:cxn ang="0">
                  <a:pos x="406047" y="504056"/>
                </a:cxn>
                <a:cxn ang="0">
                  <a:pos x="406047" y="0"/>
                </a:cxn>
              </a:cxnLst>
              <a:rect l="0" t="0" r="r" b="b"/>
              <a:pathLst>
                <a:path w="406047" h="504056">
                  <a:moveTo>
                    <a:pt x="406047" y="0"/>
                  </a:moveTo>
                  <a:lnTo>
                    <a:pt x="0" y="0"/>
                  </a:lnTo>
                  <a:lnTo>
                    <a:pt x="137728" y="252028"/>
                  </a:lnTo>
                  <a:lnTo>
                    <a:pt x="0" y="504056"/>
                  </a:lnTo>
                  <a:lnTo>
                    <a:pt x="406047" y="504056"/>
                  </a:lnTo>
                  <a:lnTo>
                    <a:pt x="406047"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anchor="ctr"/>
            <a:lstStyle/>
            <a:p>
              <a:pPr algn="ctr" defTabSz="410845"/>
              <a:endParaRPr lang="zh-CN" altLang="en-US" sz="2530" kern="0">
                <a:solidFill>
                  <a:sysClr val="windowText" lastClr="000000"/>
                </a:solidFill>
                <a:sym typeface="Helvetica"/>
              </a:endParaRPr>
            </a:p>
          </p:txBody>
        </p:sp>
      </p:grpSp>
      <p:sp>
        <p:nvSpPr>
          <p:cNvPr id="24" name="标题 1"/>
          <p:cNvSpPr>
            <a:spLocks noGrp="1"/>
          </p:cNvSpPr>
          <p:nvPr/>
        </p:nvSpPr>
        <p:spPr>
          <a:xfrm>
            <a:off x="755923" y="884771"/>
            <a:ext cx="1275147" cy="5307260"/>
          </a:xfrm>
          <a:prstGeom prst="rect">
            <a:avLst/>
          </a:prstGeom>
          <a:noFill/>
          <a:ln w="9525">
            <a:noFill/>
            <a:miter lim="800000"/>
          </a:ln>
        </p:spPr>
        <p:txBody>
          <a:bodyPr vert="eaVert" wrap="square" lIns="91440" tIns="45720" rIns="91440" bIns="45720" numCol="1" anchor="ctr" anchorCtr="0" compatLnSpc="1"/>
          <a:lstStyle>
            <a:lvl1pPr algn="ctr" rtl="0" eaLnBrk="0" fontAlgn="base" hangingPunct="0">
              <a:spcBef>
                <a:spcPct val="0"/>
              </a:spcBef>
              <a:spcAft>
                <a:spcPct val="0"/>
              </a:spcAft>
              <a:defRPr sz="4200" b="0" i="0" kern="1200">
                <a:solidFill>
                  <a:schemeClr val="tx1"/>
                </a:solidFill>
                <a:latin typeface="宋体" panose="02010600030101010101" pitchFamily="2" charset="-122"/>
                <a:ea typeface="宋体" panose="02010600030101010101" pitchFamily="2" charset="-122"/>
                <a:cs typeface="+mj-cs"/>
              </a:defRPr>
            </a:lvl1pPr>
            <a:lvl2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2pPr>
            <a:lvl3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3pPr>
            <a:lvl4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4pPr>
            <a:lvl5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5pPr>
            <a:lvl6pPr marL="457200" algn="ctr" rtl="0" fontAlgn="base">
              <a:spcBef>
                <a:spcPct val="0"/>
              </a:spcBef>
              <a:spcAft>
                <a:spcPct val="0"/>
              </a:spcAft>
              <a:defRPr sz="4200" b="1" i="1">
                <a:solidFill>
                  <a:schemeClr val="tx1"/>
                </a:solidFill>
                <a:latin typeface="Arial" panose="020B0604020202020204" pitchFamily="34" charset="0"/>
              </a:defRPr>
            </a:lvl6pPr>
            <a:lvl7pPr marL="914400" algn="ctr" rtl="0" fontAlgn="base">
              <a:spcBef>
                <a:spcPct val="0"/>
              </a:spcBef>
              <a:spcAft>
                <a:spcPct val="0"/>
              </a:spcAft>
              <a:defRPr sz="4200" b="1" i="1">
                <a:solidFill>
                  <a:schemeClr val="tx1"/>
                </a:solidFill>
                <a:latin typeface="Arial" panose="020B0604020202020204" pitchFamily="34" charset="0"/>
              </a:defRPr>
            </a:lvl7pPr>
            <a:lvl8pPr marL="1371600" algn="ctr" rtl="0" fontAlgn="base">
              <a:spcBef>
                <a:spcPct val="0"/>
              </a:spcBef>
              <a:spcAft>
                <a:spcPct val="0"/>
              </a:spcAft>
              <a:defRPr sz="4200" b="1" i="1">
                <a:solidFill>
                  <a:schemeClr val="tx1"/>
                </a:solidFill>
                <a:latin typeface="Arial" panose="020B0604020202020204" pitchFamily="34" charset="0"/>
              </a:defRPr>
            </a:lvl8pPr>
            <a:lvl9pPr marL="1828800" algn="ctr" rtl="0" fontAlgn="base">
              <a:spcBef>
                <a:spcPct val="0"/>
              </a:spcBef>
              <a:spcAft>
                <a:spcPct val="0"/>
              </a:spcAft>
              <a:defRPr sz="4200" b="1" i="1">
                <a:solidFill>
                  <a:schemeClr val="tx1"/>
                </a:solidFill>
                <a:latin typeface="Arial" panose="020B0604020202020204" pitchFamily="34" charset="0"/>
              </a:defRPr>
            </a:lvl9pPr>
          </a:lstStyle>
          <a:p>
            <a:pPr algn="ctr"/>
            <a:r>
              <a:rPr lang="zh-CN" altLang="en-US" sz="4400" b="1" dirty="0">
                <a:solidFill>
                  <a:schemeClr val="accent5"/>
                </a:solidFill>
                <a:sym typeface="+mn-ea"/>
              </a:rPr>
              <a:t>目 录</a:t>
            </a:r>
          </a:p>
        </p:txBody>
      </p:sp>
      <p:grpSp>
        <p:nvGrpSpPr>
          <p:cNvPr id="26" name="组合 16"/>
          <p:cNvGrpSpPr/>
          <p:nvPr/>
        </p:nvGrpSpPr>
        <p:grpSpPr>
          <a:xfrm>
            <a:off x="2646511" y="2912771"/>
            <a:ext cx="7242294" cy="664443"/>
            <a:chOff x="4562353" y="4005560"/>
            <a:chExt cx="10300466" cy="945015"/>
          </a:xfr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lin ang="16200000" scaled="1"/>
            <a:tileRect/>
          </a:gradFill>
          <a:effectLst>
            <a:outerShdw blurRad="76200" dist="12700" dir="2700000" sy="-23000" kx="-800400" algn="bl" rotWithShape="0">
              <a:prstClr val="black">
                <a:alpha val="20000"/>
              </a:prstClr>
            </a:outerShdw>
          </a:effectLst>
        </p:grpSpPr>
        <p:sp>
          <p:nvSpPr>
            <p:cNvPr id="27" name="MH_SubTitle_1"/>
            <p:cNvSpPr>
              <a:spLocks noChangeArrowheads="1"/>
            </p:cNvSpPr>
            <p:nvPr/>
          </p:nvSpPr>
          <p:spPr bwMode="auto">
            <a:xfrm flipH="1">
              <a:off x="4562353" y="4005560"/>
              <a:ext cx="8974666" cy="945015"/>
            </a:xfrm>
            <a:prstGeom prst="homePlate">
              <a:avLst>
                <a:gd name="adj" fmla="val 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anchor="ctr"/>
            <a:lstStyle/>
            <a:p>
              <a:pPr defTabSz="410845"/>
              <a:r>
                <a:rPr lang="zh-CN" altLang="en-US" sz="3165" b="1" kern="0" dirty="0">
                  <a:solidFill>
                    <a:srgbClr val="FFFFFF"/>
                  </a:solidFill>
                  <a:latin typeface="华文中宋" panose="02010600040101010101" charset="-122"/>
                  <a:ea typeface="华文中宋" panose="02010600040101010101" charset="-122"/>
                  <a:sym typeface="Helvetica"/>
                </a:rPr>
                <a:t>二、技术实现</a:t>
              </a:r>
            </a:p>
          </p:txBody>
        </p:sp>
        <p:sp>
          <p:nvSpPr>
            <p:cNvPr id="28" name="MH_Other_2"/>
            <p:cNvSpPr/>
            <p:nvPr/>
          </p:nvSpPr>
          <p:spPr bwMode="auto">
            <a:xfrm flipH="1">
              <a:off x="13822575" y="4005560"/>
              <a:ext cx="1040244" cy="945015"/>
            </a:xfrm>
            <a:custGeom>
              <a:avLst/>
              <a:gdLst/>
              <a:ahLst/>
              <a:cxnLst>
                <a:cxn ang="0">
                  <a:pos x="406047" y="0"/>
                </a:cxn>
                <a:cxn ang="0">
                  <a:pos x="0" y="0"/>
                </a:cxn>
                <a:cxn ang="0">
                  <a:pos x="137728" y="252028"/>
                </a:cxn>
                <a:cxn ang="0">
                  <a:pos x="0" y="504056"/>
                </a:cxn>
                <a:cxn ang="0">
                  <a:pos x="406047" y="504056"/>
                </a:cxn>
                <a:cxn ang="0">
                  <a:pos x="406047" y="0"/>
                </a:cxn>
              </a:cxnLst>
              <a:rect l="0" t="0" r="r" b="b"/>
              <a:pathLst>
                <a:path w="406047" h="504056">
                  <a:moveTo>
                    <a:pt x="406047" y="0"/>
                  </a:moveTo>
                  <a:lnTo>
                    <a:pt x="0" y="0"/>
                  </a:lnTo>
                  <a:lnTo>
                    <a:pt x="137728" y="252028"/>
                  </a:lnTo>
                  <a:lnTo>
                    <a:pt x="0" y="504056"/>
                  </a:lnTo>
                  <a:lnTo>
                    <a:pt x="406047" y="504056"/>
                  </a:lnTo>
                  <a:lnTo>
                    <a:pt x="406047" y="0"/>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anchor="ctr"/>
            <a:lstStyle/>
            <a:p>
              <a:pPr algn="ctr" defTabSz="410845"/>
              <a:endParaRPr lang="zh-CN" altLang="en-US" sz="2530" kern="0">
                <a:solidFill>
                  <a:sysClr val="windowText" lastClr="000000"/>
                </a:solidFill>
                <a:sym typeface="Helvetica"/>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1"/>
          <p:cNvSpPr>
            <a:spLocks noGrp="1"/>
          </p:cNvSpPr>
          <p:nvPr/>
        </p:nvSpPr>
        <p:spPr>
          <a:xfrm>
            <a:off x="1773555" y="1107440"/>
            <a:ext cx="8256270" cy="868680"/>
          </a:xfrm>
          <a:prstGeom prst="rect">
            <a:avLst/>
          </a:prstGeom>
          <a:noFill/>
          <a:ln w="9525">
            <a:noFill/>
            <a:miter lim="800000"/>
          </a:ln>
        </p:spPr>
        <p:txBody>
          <a:bodyPr vert="horz" wrap="square" lIns="91440" tIns="45720" rIns="91440" bIns="45720" numCol="1" anchor="ctr" anchorCtr="0" compatLnSpc="1"/>
          <a:lstStyle>
            <a:lvl1pPr algn="ctr" rtl="0" eaLnBrk="0" fontAlgn="base" hangingPunct="0">
              <a:spcBef>
                <a:spcPct val="0"/>
              </a:spcBef>
              <a:spcAft>
                <a:spcPct val="0"/>
              </a:spcAft>
              <a:defRPr sz="4200" b="0" i="0" kern="1200">
                <a:solidFill>
                  <a:schemeClr val="tx1"/>
                </a:solidFill>
                <a:latin typeface="宋体" panose="02010600030101010101" pitchFamily="2" charset="-122"/>
                <a:ea typeface="宋体" panose="02010600030101010101" pitchFamily="2" charset="-122"/>
                <a:cs typeface="+mj-cs"/>
              </a:defRPr>
            </a:lvl1pPr>
            <a:lvl2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2pPr>
            <a:lvl3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3pPr>
            <a:lvl4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4pPr>
            <a:lvl5pPr algn="ctr" rtl="0" eaLnBrk="0" fontAlgn="base" hangingPunct="0">
              <a:spcBef>
                <a:spcPct val="0"/>
              </a:spcBef>
              <a:spcAft>
                <a:spcPct val="0"/>
              </a:spcAft>
              <a:defRPr sz="4200">
                <a:solidFill>
                  <a:schemeClr val="tx1"/>
                </a:solidFill>
                <a:latin typeface="宋体" panose="02010600030101010101" pitchFamily="2" charset="-122"/>
                <a:ea typeface="宋体" panose="02010600030101010101" pitchFamily="2" charset="-122"/>
              </a:defRPr>
            </a:lvl5pPr>
            <a:lvl6pPr marL="457200" algn="ctr" rtl="0" fontAlgn="base">
              <a:spcBef>
                <a:spcPct val="0"/>
              </a:spcBef>
              <a:spcAft>
                <a:spcPct val="0"/>
              </a:spcAft>
              <a:defRPr sz="4200" b="1" i="1">
                <a:solidFill>
                  <a:schemeClr val="tx1"/>
                </a:solidFill>
                <a:latin typeface="Arial" panose="020B0604020202020204" pitchFamily="34" charset="0"/>
              </a:defRPr>
            </a:lvl6pPr>
            <a:lvl7pPr marL="914400" algn="ctr" rtl="0" fontAlgn="base">
              <a:spcBef>
                <a:spcPct val="0"/>
              </a:spcBef>
              <a:spcAft>
                <a:spcPct val="0"/>
              </a:spcAft>
              <a:defRPr sz="4200" b="1" i="1">
                <a:solidFill>
                  <a:schemeClr val="tx1"/>
                </a:solidFill>
                <a:latin typeface="Arial" panose="020B0604020202020204" pitchFamily="34" charset="0"/>
              </a:defRPr>
            </a:lvl7pPr>
            <a:lvl8pPr marL="1371600" algn="ctr" rtl="0" fontAlgn="base">
              <a:spcBef>
                <a:spcPct val="0"/>
              </a:spcBef>
              <a:spcAft>
                <a:spcPct val="0"/>
              </a:spcAft>
              <a:defRPr sz="4200" b="1" i="1">
                <a:solidFill>
                  <a:schemeClr val="tx1"/>
                </a:solidFill>
                <a:latin typeface="Arial" panose="020B0604020202020204" pitchFamily="34" charset="0"/>
              </a:defRPr>
            </a:lvl8pPr>
            <a:lvl9pPr marL="1828800" algn="ctr" rtl="0" fontAlgn="base">
              <a:spcBef>
                <a:spcPct val="0"/>
              </a:spcBef>
              <a:spcAft>
                <a:spcPct val="0"/>
              </a:spcAft>
              <a:defRPr sz="4200" b="1" i="1">
                <a:solidFill>
                  <a:schemeClr val="tx1"/>
                </a:solidFill>
                <a:latin typeface="Arial" panose="020B0604020202020204" pitchFamily="34" charset="0"/>
              </a:defRPr>
            </a:lvl9pPr>
          </a:lstStyle>
          <a:p>
            <a:pPr algn="ctr"/>
            <a:endParaRPr lang="zh-CN" altLang="en-US" sz="3600" b="1" dirty="0">
              <a:solidFill>
                <a:schemeClr val="accent5"/>
              </a:solidFill>
              <a:sym typeface="+mn-ea"/>
            </a:endParaRPr>
          </a:p>
        </p:txBody>
      </p:sp>
      <p:sp>
        <p:nvSpPr>
          <p:cNvPr id="3" name="文本框 2"/>
          <p:cNvSpPr txBox="1"/>
          <p:nvPr/>
        </p:nvSpPr>
        <p:spPr>
          <a:xfrm>
            <a:off x="153187" y="120730"/>
            <a:ext cx="6169842" cy="583565"/>
          </a:xfrm>
          <a:prstGeom prst="rect">
            <a:avLst/>
          </a:prstGeom>
          <a:noFill/>
        </p:spPr>
        <p:txBody>
          <a:bodyPr wrap="square">
            <a:spAutoFit/>
          </a:bodyPr>
          <a:lstStyle/>
          <a:p>
            <a:pPr defTabSz="410845"/>
            <a:r>
              <a:rPr lang="zh-CN" altLang="en-US" sz="3200" b="1" kern="0" dirty="0">
                <a:solidFill>
                  <a:srgbClr val="FFFFFF"/>
                </a:solidFill>
                <a:latin typeface="华文中宋" panose="02010600040101010101" charset="-122"/>
                <a:ea typeface="华文中宋" panose="02010600040101010101" charset="-122"/>
                <a:sym typeface="Helvetica"/>
              </a:rPr>
              <a:t>一、研究背景</a:t>
            </a:r>
          </a:p>
        </p:txBody>
      </p:sp>
      <p:sp>
        <p:nvSpPr>
          <p:cNvPr id="9" name="文本框 8"/>
          <p:cNvSpPr txBox="1"/>
          <p:nvPr/>
        </p:nvSpPr>
        <p:spPr>
          <a:xfrm>
            <a:off x="388988" y="1121154"/>
            <a:ext cx="10279011" cy="607695"/>
          </a:xfrm>
          <a:prstGeom prst="rect">
            <a:avLst/>
          </a:prstGeom>
          <a:noFill/>
        </p:spPr>
        <p:txBody>
          <a:bodyPr wrap="square">
            <a:spAutoFit/>
          </a:bodyPr>
          <a:lstStyle/>
          <a:p>
            <a:pPr marL="457200" indent="-457200" algn="just">
              <a:lnSpc>
                <a:spcPct val="120000"/>
              </a:lnSpc>
              <a:buFont typeface="Arial" panose="020B0604020202020204" pitchFamily="34" charset="0"/>
              <a:buChar char="•"/>
            </a:pPr>
            <a:r>
              <a:rPr lang="en-US" altLang="zh-CN" sz="2800" dirty="0"/>
              <a:t>CAN</a:t>
            </a:r>
            <a:endParaRPr lang="zh-CN" altLang="en-US" sz="4000" dirty="0">
              <a:solidFill>
                <a:srgbClr val="0070C0"/>
              </a:solidFill>
              <a:latin typeface="+mn-ea"/>
              <a:sym typeface="+mn-ea"/>
            </a:endParaRPr>
          </a:p>
        </p:txBody>
      </p:sp>
      <p:sp>
        <p:nvSpPr>
          <p:cNvPr id="10" name="文本框 9"/>
          <p:cNvSpPr txBox="1"/>
          <p:nvPr/>
        </p:nvSpPr>
        <p:spPr>
          <a:xfrm>
            <a:off x="677545" y="1850390"/>
            <a:ext cx="11004550" cy="1815882"/>
          </a:xfrm>
          <a:prstGeom prst="rect">
            <a:avLst/>
          </a:prstGeom>
          <a:noFill/>
        </p:spPr>
        <p:txBody>
          <a:bodyPr wrap="square" rtlCol="0">
            <a:spAutoFit/>
          </a:bodyPr>
          <a:lstStyle/>
          <a:p>
            <a:r>
              <a:rPr lang="en-US" altLang="zh-CN" sz="2800" b="1" dirty="0"/>
              <a:t>CAN </a:t>
            </a:r>
            <a:r>
              <a:rPr lang="zh-CN" altLang="en-US" sz="2800" b="1" dirty="0"/>
              <a:t>总线：车辆内部 </a:t>
            </a:r>
            <a:r>
              <a:rPr lang="en-US" altLang="zh-CN" sz="2800" b="1" dirty="0"/>
              <a:t>ECU </a:t>
            </a:r>
            <a:r>
              <a:rPr lang="zh-CN" altLang="en-US" sz="2800" b="1" dirty="0"/>
              <a:t>通信的核心协议</a:t>
            </a:r>
            <a:endParaRPr lang="zh-CN" altLang="en-US" sz="2800" dirty="0"/>
          </a:p>
          <a:p>
            <a:r>
              <a:rPr lang="en-US" altLang="zh-CN" sz="2800" dirty="0"/>
              <a:t>ECU </a:t>
            </a:r>
            <a:r>
              <a:rPr lang="zh-CN" altLang="en-US" sz="2800" dirty="0"/>
              <a:t>通过 </a:t>
            </a:r>
            <a:r>
              <a:rPr lang="en-US" altLang="zh-CN" sz="2800" dirty="0"/>
              <a:t>CAN </a:t>
            </a:r>
            <a:r>
              <a:rPr lang="zh-CN" altLang="en-US" sz="2800" dirty="0"/>
              <a:t>总线交换控制</a:t>
            </a:r>
            <a:r>
              <a:rPr lang="en-US" altLang="zh-CN" sz="2800" dirty="0"/>
              <a:t>/</a:t>
            </a:r>
            <a:r>
              <a:rPr lang="zh-CN" altLang="en-US" sz="2800" dirty="0"/>
              <a:t>诊断消息 </a:t>
            </a:r>
          </a:p>
          <a:p>
            <a:r>
              <a:rPr lang="en-US" altLang="zh-CN" sz="2800" dirty="0"/>
              <a:t>CAN </a:t>
            </a:r>
            <a:r>
              <a:rPr lang="zh-CN" altLang="en-US" sz="2800" dirty="0"/>
              <a:t>帧主要由 </a:t>
            </a:r>
            <a:r>
              <a:rPr lang="en-US" altLang="zh-CN" sz="2800" b="1" dirty="0"/>
              <a:t>CAN ID + </a:t>
            </a:r>
            <a:r>
              <a:rPr lang="zh-CN" altLang="en-US" sz="2800" b="1" dirty="0"/>
              <a:t>数据字段</a:t>
            </a:r>
            <a:r>
              <a:rPr lang="zh-CN" altLang="en-US" sz="2800" dirty="0"/>
              <a:t> 决定功能 </a:t>
            </a:r>
          </a:p>
          <a:p>
            <a:r>
              <a:rPr lang="zh-CN" altLang="en-US" sz="2800" dirty="0"/>
              <a:t>大多数 </a:t>
            </a:r>
            <a:r>
              <a:rPr lang="en-US" altLang="zh-CN" sz="2800" dirty="0"/>
              <a:t>CAN </a:t>
            </a:r>
            <a:r>
              <a:rPr lang="zh-CN" altLang="en-US" sz="2800" dirty="0"/>
              <a:t>命令由车厂私有定义，不同车型差异大 </a:t>
            </a:r>
          </a:p>
        </p:txBody>
      </p:sp>
      <p:sp>
        <p:nvSpPr>
          <p:cNvPr id="2" name="文本框 1"/>
          <p:cNvSpPr txBox="1"/>
          <p:nvPr/>
        </p:nvSpPr>
        <p:spPr>
          <a:xfrm>
            <a:off x="888365" y="4332605"/>
            <a:ext cx="10457815" cy="1818005"/>
          </a:xfrm>
          <a:prstGeom prst="rect">
            <a:avLst/>
          </a:prstGeom>
          <a:noFill/>
        </p:spPr>
        <p:txBody>
          <a:bodyPr wrap="square" rtlCol="0">
            <a:noAutofit/>
          </a:bodyPr>
          <a:lstStyle/>
          <a:p>
            <a:endParaRPr lang="zh-CN" altLang="en-US" sz="2000"/>
          </a:p>
        </p:txBody>
      </p:sp>
      <p:pic>
        <p:nvPicPr>
          <p:cNvPr id="7" name="图片 6"/>
          <p:cNvPicPr>
            <a:picLocks noChangeAspect="1"/>
          </p:cNvPicPr>
          <p:nvPr/>
        </p:nvPicPr>
        <p:blipFill>
          <a:blip r:embed="rId2"/>
          <a:stretch>
            <a:fillRect/>
          </a:stretch>
        </p:blipFill>
        <p:spPr>
          <a:xfrm>
            <a:off x="1550505" y="4470582"/>
            <a:ext cx="8773749" cy="183858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3187" y="93425"/>
            <a:ext cx="6169842" cy="583565"/>
          </a:xfrm>
          <a:prstGeom prst="rect">
            <a:avLst/>
          </a:prstGeom>
          <a:noFill/>
        </p:spPr>
        <p:txBody>
          <a:bodyPr wrap="square">
            <a:spAutoFit/>
          </a:bodyPr>
          <a:lstStyle/>
          <a:p>
            <a:pPr defTabSz="410845"/>
            <a:r>
              <a:rPr lang="zh-CN" altLang="en-US" sz="3200" b="1" kern="0" dirty="0">
                <a:solidFill>
                  <a:srgbClr val="FFFFFF"/>
                </a:solidFill>
                <a:latin typeface="华文中宋" panose="02010600040101010101" charset="-122"/>
                <a:ea typeface="华文中宋" panose="02010600040101010101" charset="-122"/>
                <a:sym typeface="Helvetica"/>
              </a:rPr>
              <a:t>一、研究背景</a:t>
            </a:r>
          </a:p>
        </p:txBody>
      </p:sp>
      <p:sp>
        <p:nvSpPr>
          <p:cNvPr id="5" name="文本框 4"/>
          <p:cNvSpPr txBox="1"/>
          <p:nvPr/>
        </p:nvSpPr>
        <p:spPr>
          <a:xfrm>
            <a:off x="342900" y="1071880"/>
            <a:ext cx="5143500" cy="4874260"/>
          </a:xfrm>
          <a:prstGeom prst="rect">
            <a:avLst/>
          </a:prstGeom>
          <a:noFill/>
        </p:spPr>
        <p:txBody>
          <a:bodyPr wrap="square" rtlCol="0">
            <a:noAutofit/>
          </a:bodyPr>
          <a:lstStyle/>
          <a:p>
            <a:r>
              <a:rPr lang="zh-CN" altLang="en-US" sz="2000" dirty="0"/>
              <a:t>目前传统方法的困境：</a:t>
            </a:r>
          </a:p>
          <a:p>
            <a:endParaRPr lang="zh-CN" altLang="en-US" sz="2000" dirty="0"/>
          </a:p>
          <a:p>
            <a:r>
              <a:rPr lang="en-US" altLang="zh-CN" sz="2000" dirty="0"/>
              <a:t>1</a:t>
            </a:r>
            <a:r>
              <a:rPr lang="zh-CN" altLang="en-US" sz="2000" dirty="0"/>
              <a:t>）成本高昂，必须使用真实车辆和专业的</a:t>
            </a:r>
            <a:r>
              <a:rPr lang="en-US" altLang="zh-CN" sz="2000" dirty="0"/>
              <a:t>CAN</a:t>
            </a:r>
            <a:r>
              <a:rPr lang="zh-CN" altLang="en-US" sz="2000" dirty="0"/>
              <a:t>分析仪硬件。</a:t>
            </a:r>
          </a:p>
          <a:p>
            <a:endParaRPr lang="zh-CN" altLang="en-US" sz="2000" dirty="0"/>
          </a:p>
          <a:p>
            <a:endParaRPr lang="zh-CN" altLang="en-US" sz="2000" dirty="0"/>
          </a:p>
          <a:p>
            <a:r>
              <a:rPr lang="en-US" altLang="zh-CN" sz="2000" dirty="0"/>
              <a:t>2</a:t>
            </a:r>
            <a:r>
              <a:rPr lang="zh-CN" altLang="en-US" sz="2000" dirty="0"/>
              <a:t>）效率低下，依赖大量人工操作、猜测和验证，过程繁琐且易错。</a:t>
            </a:r>
          </a:p>
          <a:p>
            <a:endParaRPr lang="zh-CN" altLang="en-US" sz="2000" dirty="0"/>
          </a:p>
          <a:p>
            <a:endParaRPr lang="zh-CN" altLang="en-US" sz="2000" dirty="0"/>
          </a:p>
          <a:p>
            <a:r>
              <a:rPr lang="en-US" altLang="zh-CN" sz="2000" dirty="0"/>
              <a:t>3</a:t>
            </a:r>
            <a:r>
              <a:rPr lang="zh-CN" altLang="en-US" sz="2000" dirty="0"/>
              <a:t>）风险高，错误注入命令可能损坏车辆</a:t>
            </a:r>
            <a:r>
              <a:rPr lang="en-US" altLang="zh-CN" sz="2000" dirty="0"/>
              <a:t>ECU</a:t>
            </a:r>
            <a:r>
              <a:rPr lang="zh-CN" altLang="en-US" sz="2000" dirty="0"/>
              <a:t>。</a:t>
            </a:r>
          </a:p>
        </p:txBody>
      </p:sp>
      <p:pic>
        <p:nvPicPr>
          <p:cNvPr id="4" name="图片 3"/>
          <p:cNvPicPr>
            <a:picLocks noChangeAspect="1"/>
          </p:cNvPicPr>
          <p:nvPr/>
        </p:nvPicPr>
        <p:blipFill>
          <a:blip r:embed="rId2"/>
          <a:stretch>
            <a:fillRect/>
          </a:stretch>
        </p:blipFill>
        <p:spPr>
          <a:xfrm>
            <a:off x="5811520" y="1296670"/>
            <a:ext cx="3839210" cy="2259965"/>
          </a:xfrm>
          <a:prstGeom prst="rect">
            <a:avLst/>
          </a:prstGeom>
        </p:spPr>
      </p:pic>
      <p:pic>
        <p:nvPicPr>
          <p:cNvPr id="6" name="图片 5"/>
          <p:cNvPicPr>
            <a:picLocks noChangeAspect="1"/>
          </p:cNvPicPr>
          <p:nvPr/>
        </p:nvPicPr>
        <p:blipFill>
          <a:blip r:embed="rId3"/>
          <a:stretch>
            <a:fillRect/>
          </a:stretch>
        </p:blipFill>
        <p:spPr>
          <a:xfrm>
            <a:off x="8909050" y="3556635"/>
            <a:ext cx="2953385" cy="27089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marL="0" marR="0" lvl="0" indent="0" defTabSz="410845" rtl="0" eaLnBrk="1" fontAlgn="auto" latinLnBrk="0" hangingPunct="1">
              <a:lnSpc>
                <a:spcPct val="100000"/>
              </a:lnSpc>
              <a:spcBef>
                <a:spcPts val="0"/>
              </a:spcBef>
              <a:spcAft>
                <a:spcPts val="0"/>
              </a:spcAft>
              <a:defRPr/>
            </a:pPr>
            <a:br>
              <a:rPr kumimoji="0" lang="zh-CN" altLang="en-US" sz="3200" b="1" i="0" u="none" strike="noStrike" kern="0" cap="none" spc="0" normalizeH="0" baseline="0" noProof="0" dirty="0">
                <a:ln>
                  <a:noFill/>
                </a:ln>
                <a:solidFill>
                  <a:srgbClr val="FFFFFF"/>
                </a:solidFill>
                <a:effectLst/>
                <a:uLnTx/>
                <a:uFillTx/>
                <a:latin typeface="华文中宋" panose="02010600040101010101" charset="-122"/>
                <a:ea typeface="华文中宋" panose="02010600040101010101" charset="-122"/>
                <a:cs typeface="+mn-cs"/>
                <a:sym typeface="Helvetica"/>
              </a:rPr>
            </a:br>
            <a:endParaRPr lang="zh-CN" altLang="en-US" dirty="0"/>
          </a:p>
        </p:txBody>
      </p:sp>
      <p:sp>
        <p:nvSpPr>
          <p:cNvPr id="3" name="文本框 2"/>
          <p:cNvSpPr txBox="1"/>
          <p:nvPr/>
        </p:nvSpPr>
        <p:spPr>
          <a:xfrm>
            <a:off x="209435" y="67310"/>
            <a:ext cx="6169842" cy="583565"/>
          </a:xfrm>
          <a:prstGeom prst="rect">
            <a:avLst/>
          </a:prstGeom>
          <a:noFill/>
        </p:spPr>
        <p:txBody>
          <a:bodyPr wrap="square">
            <a:spAutoFit/>
          </a:bodyPr>
          <a:lstStyle/>
          <a:p>
            <a:pPr defTabSz="410845"/>
            <a:r>
              <a:rPr lang="zh-CN" altLang="en-US" sz="3200" b="1" kern="0" dirty="0">
                <a:solidFill>
                  <a:srgbClr val="FFFFFF"/>
                </a:solidFill>
                <a:latin typeface="华文中宋" panose="02010600040101010101" charset="-122"/>
                <a:ea typeface="华文中宋" panose="02010600040101010101" charset="-122"/>
                <a:sym typeface="Helvetica"/>
              </a:rPr>
              <a:t>一、研究背景</a:t>
            </a:r>
          </a:p>
        </p:txBody>
      </p:sp>
      <p:sp>
        <p:nvSpPr>
          <p:cNvPr id="5" name="文本框 4"/>
          <p:cNvSpPr txBox="1"/>
          <p:nvPr/>
        </p:nvSpPr>
        <p:spPr>
          <a:xfrm>
            <a:off x="476952" y="1386840"/>
            <a:ext cx="5902325" cy="4511675"/>
          </a:xfrm>
          <a:prstGeom prst="rect">
            <a:avLst/>
          </a:prstGeom>
          <a:noFill/>
        </p:spPr>
        <p:txBody>
          <a:bodyPr wrap="square" rtlCol="0">
            <a:noAutofit/>
          </a:bodyPr>
          <a:lstStyle/>
          <a:p>
            <a:r>
              <a:rPr lang="zh-CN" altLang="en-US" sz="2000" dirty="0"/>
              <a:t>新思路：如今，汽车制造商和第三方开发商已经制作了大量的移动应用程序来连接车载系统，例如车载信息娱乐</a:t>
            </a:r>
            <a:r>
              <a:rPr lang="en-US" altLang="zh-CN" sz="2000" dirty="0"/>
              <a:t> </a:t>
            </a:r>
            <a:r>
              <a:rPr lang="zh-CN" altLang="en-US" sz="2000" dirty="0"/>
              <a:t>（</a:t>
            </a:r>
            <a:r>
              <a:rPr lang="en-US" altLang="zh-CN" sz="2000" dirty="0"/>
              <a:t>IVI</a:t>
            </a:r>
            <a:r>
              <a:rPr lang="zh-CN" altLang="en-US" sz="2000" dirty="0"/>
              <a:t>），并提供方便的基于应用程序的车辆控制或诊断。有趣的是，为了实现与现有车载系统的兼容性，这些应用程序从根本上仍然依赖</a:t>
            </a:r>
            <a:r>
              <a:rPr lang="en-US" altLang="zh-CN" sz="2000" dirty="0"/>
              <a:t> CAN </a:t>
            </a:r>
            <a:r>
              <a:rPr lang="zh-CN" altLang="en-US" sz="2000" dirty="0"/>
              <a:t>总线命令来与车辆交互。</a:t>
            </a:r>
          </a:p>
          <a:p>
            <a:endParaRPr lang="zh-CN" altLang="en-US" sz="2000" dirty="0"/>
          </a:p>
          <a:p>
            <a:r>
              <a:rPr lang="zh-CN" altLang="en-US" sz="2000" dirty="0"/>
              <a:t>因此，该论文团队提出了一种经济高效（无需真车）和自动（无需人工干预）系统</a:t>
            </a:r>
            <a:r>
              <a:rPr lang="en-US" altLang="zh-CN" sz="2000" dirty="0"/>
              <a:t>CANHUNTER</a:t>
            </a:r>
            <a:r>
              <a:rPr lang="zh-CN" altLang="en-US" sz="2000" dirty="0"/>
              <a:t>，用于对来自汽车配套应用程序的</a:t>
            </a:r>
            <a:r>
              <a:rPr lang="en-US" altLang="zh-CN" sz="2000" dirty="0"/>
              <a:t> CAN </a:t>
            </a:r>
            <a:r>
              <a:rPr lang="zh-CN" altLang="en-US" sz="2000" dirty="0"/>
              <a:t>总线命令（针对语法和语义）进行逆向工程。为了实现高效性，设计了一种通过反向切片和动态强制执行来揭示</a:t>
            </a:r>
            <a:r>
              <a:rPr lang="en-US" altLang="zh-CN" sz="2000" dirty="0"/>
              <a:t>CAN</a:t>
            </a:r>
            <a:r>
              <a:rPr lang="zh-CN" altLang="en-US" sz="2000" dirty="0"/>
              <a:t>总线命令语法的高效技术</a:t>
            </a:r>
            <a:r>
              <a:rPr lang="en-US" altLang="zh-CN" sz="2000" dirty="0"/>
              <a:t>.</a:t>
            </a:r>
            <a:endParaRPr lang="zh-CN" altLang="en-US" sz="2000" dirty="0"/>
          </a:p>
        </p:txBody>
      </p:sp>
      <p:pic>
        <p:nvPicPr>
          <p:cNvPr id="4" name="图片 3"/>
          <p:cNvPicPr>
            <a:picLocks noChangeAspect="1"/>
          </p:cNvPicPr>
          <p:nvPr/>
        </p:nvPicPr>
        <p:blipFill>
          <a:blip r:embed="rId2"/>
          <a:stretch>
            <a:fillRect/>
          </a:stretch>
        </p:blipFill>
        <p:spPr>
          <a:xfrm>
            <a:off x="7503795" y="1002030"/>
            <a:ext cx="3812540" cy="52806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二、技术实现</a:t>
            </a:r>
            <a:endParaRPr lang="zh-CN" altLang="en-US"/>
          </a:p>
        </p:txBody>
      </p:sp>
      <p:sp>
        <p:nvSpPr>
          <p:cNvPr id="9" name="文本框 8"/>
          <p:cNvSpPr txBox="1"/>
          <p:nvPr/>
        </p:nvSpPr>
        <p:spPr>
          <a:xfrm>
            <a:off x="749956" y="2148370"/>
            <a:ext cx="9868001" cy="368300"/>
          </a:xfrm>
          <a:prstGeom prst="rect">
            <a:avLst/>
          </a:prstGeom>
          <a:noFill/>
        </p:spPr>
        <p:txBody>
          <a:bodyPr wrap="square">
            <a:spAutoFit/>
          </a:bodyPr>
          <a:lstStyle/>
          <a:p>
            <a:pPr indent="179705" algn="just"/>
            <a:r>
              <a:rPr lang="zh-CN" altLang="en-US" sz="1800" kern="100" dirty="0">
                <a:effectLst/>
                <a:latin typeface="+mn-ea"/>
                <a:cs typeface="Times New Roman" panose="02020603050405020304" pitchFamily="18" charset="0"/>
              </a:rPr>
              <a:t>	</a:t>
            </a:r>
            <a:r>
              <a:rPr lang="zh-CN" altLang="en-US" sz="1800" kern="100" dirty="0">
                <a:effectLst/>
                <a:latin typeface="Calibri" panose="020F0502020204030204" pitchFamily="34" charset="0"/>
                <a:ea typeface="宋体" panose="02010600030101010101" pitchFamily="2" charset="-122"/>
                <a:cs typeface="Times New Roman" panose="02020603050405020304" pitchFamily="18" charset="0"/>
              </a:rPr>
              <a:t>	</a:t>
            </a:r>
          </a:p>
        </p:txBody>
      </p:sp>
      <p:sp>
        <p:nvSpPr>
          <p:cNvPr id="5" name="文本框 4"/>
          <p:cNvSpPr txBox="1"/>
          <p:nvPr/>
        </p:nvSpPr>
        <p:spPr>
          <a:xfrm>
            <a:off x="849573" y="1249320"/>
            <a:ext cx="6175612" cy="460375"/>
          </a:xfrm>
          <a:prstGeom prst="rect">
            <a:avLst/>
          </a:prstGeom>
          <a:noFill/>
        </p:spPr>
        <p:txBody>
          <a:bodyPr wrap="square">
            <a:spAutoFit/>
          </a:bodyPr>
          <a:lstStyle/>
          <a:p>
            <a:r>
              <a:rPr lang="en-US" altLang="zh-CN" sz="2400" dirty="0">
                <a:latin typeface="+mj-lt"/>
              </a:rPr>
              <a:t>CANHUNTER</a:t>
            </a:r>
            <a:r>
              <a:rPr lang="zh-CN" altLang="en-US" sz="2400" dirty="0">
                <a:latin typeface="+mj-lt"/>
              </a:rPr>
              <a:t>整体流程</a:t>
            </a:r>
            <a:r>
              <a:rPr lang="zh-CN" altLang="en-US" sz="2400" dirty="0"/>
              <a:t>：</a:t>
            </a:r>
          </a:p>
        </p:txBody>
      </p:sp>
      <p:pic>
        <p:nvPicPr>
          <p:cNvPr id="3" name="图片 2"/>
          <p:cNvPicPr>
            <a:picLocks noChangeAspect="1"/>
          </p:cNvPicPr>
          <p:nvPr/>
        </p:nvPicPr>
        <p:blipFill>
          <a:blip r:embed="rId3"/>
          <a:stretch>
            <a:fillRect/>
          </a:stretch>
        </p:blipFill>
        <p:spPr>
          <a:xfrm>
            <a:off x="1116330" y="1929765"/>
            <a:ext cx="9841865" cy="1609725"/>
          </a:xfrm>
          <a:prstGeom prst="rect">
            <a:avLst/>
          </a:prstGeom>
        </p:spPr>
      </p:pic>
      <p:sp>
        <p:nvSpPr>
          <p:cNvPr id="6" name="文本框 5"/>
          <p:cNvSpPr txBox="1"/>
          <p:nvPr/>
        </p:nvSpPr>
        <p:spPr>
          <a:xfrm>
            <a:off x="849630" y="4058285"/>
            <a:ext cx="9803765" cy="1754326"/>
          </a:xfrm>
          <a:prstGeom prst="rect">
            <a:avLst/>
          </a:prstGeom>
          <a:noFill/>
        </p:spPr>
        <p:txBody>
          <a:bodyPr wrap="square" rtlCol="0">
            <a:spAutoFit/>
          </a:bodyPr>
          <a:lstStyle/>
          <a:p>
            <a:r>
              <a:rPr lang="zh-CN" altLang="en-US" dirty="0"/>
              <a:t>主要是三个部分：</a:t>
            </a:r>
          </a:p>
          <a:p>
            <a:r>
              <a:rPr lang="en-US" altLang="zh-CN" dirty="0"/>
              <a:t>1)</a:t>
            </a:r>
            <a:r>
              <a:rPr lang="zh-CN" altLang="en-US" dirty="0"/>
              <a:t>向后切片：生成执行路径</a:t>
            </a:r>
            <a:endParaRPr lang="en-US" altLang="zh-CN" dirty="0"/>
          </a:p>
          <a:p>
            <a:endParaRPr lang="zh-CN" altLang="en-US" dirty="0"/>
          </a:p>
          <a:p>
            <a:r>
              <a:rPr lang="en-US" altLang="zh-CN" dirty="0"/>
              <a:t>2)</a:t>
            </a:r>
            <a:r>
              <a:rPr lang="zh-CN" altLang="en-US" dirty="0"/>
              <a:t>动态强制执行：执行具有感兴趣的执行路径的应用程序</a:t>
            </a:r>
            <a:endParaRPr lang="en-US" altLang="zh-CN" dirty="0"/>
          </a:p>
          <a:p>
            <a:endParaRPr lang="zh-CN" altLang="en-US" dirty="0"/>
          </a:p>
          <a:p>
            <a:r>
              <a:rPr lang="en-US" altLang="zh-CN" dirty="0"/>
              <a:t>3)</a:t>
            </a:r>
            <a:r>
              <a:rPr lang="zh-CN" altLang="en-US" dirty="0"/>
              <a:t>语义恢复：结合</a:t>
            </a:r>
            <a:r>
              <a:rPr lang="en-US" altLang="zh-CN" dirty="0" err="1"/>
              <a:t>ui</a:t>
            </a:r>
            <a:r>
              <a:rPr lang="zh-CN" altLang="en-US" dirty="0"/>
              <a:t>组件关联和函数参数关联恢复语义。</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二、技术实现</a:t>
            </a:r>
            <a:endParaRPr lang="zh-CN" altLang="en-US"/>
          </a:p>
        </p:txBody>
      </p:sp>
      <p:sp>
        <p:nvSpPr>
          <p:cNvPr id="3" name="文本框 2"/>
          <p:cNvSpPr txBox="1"/>
          <p:nvPr/>
        </p:nvSpPr>
        <p:spPr>
          <a:xfrm>
            <a:off x="668020" y="1118870"/>
            <a:ext cx="4064000" cy="584775"/>
          </a:xfrm>
          <a:prstGeom prst="rect">
            <a:avLst/>
          </a:prstGeom>
          <a:noFill/>
        </p:spPr>
        <p:txBody>
          <a:bodyPr wrap="square" rtlCol="0">
            <a:spAutoFit/>
          </a:bodyPr>
          <a:lstStyle/>
          <a:p>
            <a:r>
              <a:rPr lang="en-US" altLang="zh-CN" sz="3200" b="1" dirty="0"/>
              <a:t>Step1</a:t>
            </a:r>
            <a:r>
              <a:rPr lang="zh-CN" altLang="en-US" sz="3200" b="1" dirty="0"/>
              <a:t>：向后切片</a:t>
            </a:r>
          </a:p>
        </p:txBody>
      </p:sp>
      <p:sp>
        <p:nvSpPr>
          <p:cNvPr id="4" name="文本框 3"/>
          <p:cNvSpPr txBox="1"/>
          <p:nvPr/>
        </p:nvSpPr>
        <p:spPr>
          <a:xfrm>
            <a:off x="668020" y="1832747"/>
            <a:ext cx="10375117" cy="4832092"/>
          </a:xfrm>
          <a:prstGeom prst="rect">
            <a:avLst/>
          </a:prstGeom>
          <a:noFill/>
        </p:spPr>
        <p:txBody>
          <a:bodyPr wrap="square" rtlCol="0">
            <a:spAutoFit/>
          </a:bodyPr>
          <a:lstStyle/>
          <a:p>
            <a:r>
              <a:rPr lang="zh-CN" altLang="en-US" sz="2800" b="1" dirty="0"/>
              <a:t>核心思路：从“发送出口”反推“命令来源”</a:t>
            </a:r>
            <a:endParaRPr lang="zh-CN" altLang="en-US" sz="2800" dirty="0"/>
          </a:p>
          <a:p>
            <a:r>
              <a:rPr lang="en-US" altLang="zh-CN" sz="2800" dirty="0"/>
              <a:t>1</a:t>
            </a:r>
            <a:r>
              <a:rPr lang="zh-CN" altLang="en-US" sz="2800" dirty="0"/>
              <a:t>）定位底层网络 </a:t>
            </a:r>
            <a:r>
              <a:rPr lang="en-US" altLang="zh-CN" sz="2800" dirty="0"/>
              <a:t>API </a:t>
            </a:r>
          </a:p>
          <a:p>
            <a:pPr lvl="1"/>
            <a:r>
              <a:rPr lang="en-US" altLang="zh-CN" sz="2800" dirty="0"/>
              <a:t>Bluetooth / BLE / Wi-Fi / Socket </a:t>
            </a:r>
          </a:p>
          <a:p>
            <a:r>
              <a:rPr lang="en-US" altLang="zh-CN" sz="2800" dirty="0"/>
              <a:t>2</a:t>
            </a:r>
            <a:r>
              <a:rPr lang="zh-CN" altLang="en-US" sz="2800" dirty="0"/>
              <a:t>）追踪发送数据的来源 </a:t>
            </a:r>
          </a:p>
          <a:p>
            <a:pPr lvl="1"/>
            <a:r>
              <a:rPr lang="zh-CN" altLang="en-US" sz="2800" dirty="0"/>
              <a:t>变量赋值 </a:t>
            </a:r>
          </a:p>
          <a:p>
            <a:pPr lvl="1"/>
            <a:r>
              <a:rPr lang="zh-CN" altLang="en-US" sz="2800" dirty="0"/>
              <a:t>函数返回值 </a:t>
            </a:r>
          </a:p>
          <a:p>
            <a:pPr lvl="1"/>
            <a:r>
              <a:rPr lang="zh-CN" altLang="en-US" sz="2800" dirty="0"/>
              <a:t>全局变量 </a:t>
            </a:r>
          </a:p>
          <a:p>
            <a:pPr lvl="1"/>
            <a:r>
              <a:rPr lang="zh-CN" altLang="en-US" sz="2800" dirty="0"/>
              <a:t>控制条件 </a:t>
            </a:r>
          </a:p>
          <a:p>
            <a:r>
              <a:rPr lang="en-US" altLang="zh-CN" sz="2800" dirty="0"/>
              <a:t>3</a:t>
            </a:r>
            <a:r>
              <a:rPr lang="zh-CN" altLang="en-US" sz="2800" dirty="0"/>
              <a:t>）生成执行路径 </a:t>
            </a:r>
          </a:p>
          <a:p>
            <a:pPr lvl="1"/>
            <a:r>
              <a:rPr lang="zh-CN" altLang="en-US" sz="2800" dirty="0"/>
              <a:t>叶节点：命令生成点 </a:t>
            </a:r>
          </a:p>
          <a:p>
            <a:pPr lvl="1"/>
            <a:r>
              <a:rPr lang="zh-CN" altLang="en-US" sz="2800" dirty="0"/>
              <a:t>根节点：网络发送 </a:t>
            </a:r>
            <a:r>
              <a:rPr lang="en-US" altLang="zh-CN" sz="2800" dirty="0"/>
              <a:t>API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二、技术实现</a:t>
            </a:r>
            <a:endParaRPr lang="zh-CN" altLang="en-US" dirty="0"/>
          </a:p>
        </p:txBody>
      </p:sp>
      <p:sp>
        <p:nvSpPr>
          <p:cNvPr id="4" name="文本框 3"/>
          <p:cNvSpPr txBox="1"/>
          <p:nvPr/>
        </p:nvSpPr>
        <p:spPr>
          <a:xfrm>
            <a:off x="1239715" y="1872651"/>
            <a:ext cx="8150469" cy="1200329"/>
          </a:xfrm>
          <a:prstGeom prst="rect">
            <a:avLst/>
          </a:prstGeom>
          <a:noFill/>
        </p:spPr>
        <p:txBody>
          <a:bodyPr wrap="square">
            <a:spAutoFit/>
          </a:bodyPr>
          <a:lstStyle/>
          <a:p>
            <a:endParaRPr lang="en-US" altLang="zh-CN" dirty="0"/>
          </a:p>
          <a:p>
            <a:endParaRPr lang="en-US" altLang="zh-CN" dirty="0"/>
          </a:p>
          <a:p>
            <a:endParaRPr lang="en-US" altLang="zh-CN" dirty="0"/>
          </a:p>
          <a:p>
            <a:endParaRPr lang="zh-CN" altLang="en-US" dirty="0"/>
          </a:p>
        </p:txBody>
      </p:sp>
      <p:pic>
        <p:nvPicPr>
          <p:cNvPr id="5" name="图片 4">
            <a:extLst>
              <a:ext uri="{FF2B5EF4-FFF2-40B4-BE49-F238E27FC236}">
                <a16:creationId xmlns:a16="http://schemas.microsoft.com/office/drawing/2014/main" id="{2919173D-673A-BD0E-DBF0-E2DADCB9559C}"/>
              </a:ext>
            </a:extLst>
          </p:cNvPr>
          <p:cNvPicPr>
            <a:picLocks noChangeAspect="1"/>
          </p:cNvPicPr>
          <p:nvPr/>
        </p:nvPicPr>
        <p:blipFill>
          <a:blip r:embed="rId3"/>
          <a:stretch>
            <a:fillRect/>
          </a:stretch>
        </p:blipFill>
        <p:spPr>
          <a:xfrm>
            <a:off x="4818186" y="1160585"/>
            <a:ext cx="7037543" cy="5697415"/>
          </a:xfrm>
          <a:prstGeom prst="rect">
            <a:avLst/>
          </a:prstGeom>
        </p:spPr>
      </p:pic>
      <p:pic>
        <p:nvPicPr>
          <p:cNvPr id="6" name="图片 5">
            <a:extLst>
              <a:ext uri="{FF2B5EF4-FFF2-40B4-BE49-F238E27FC236}">
                <a16:creationId xmlns:a16="http://schemas.microsoft.com/office/drawing/2014/main" id="{9E8F6C2F-39B4-01F1-653A-CFEAA6C077BA}"/>
              </a:ext>
            </a:extLst>
          </p:cNvPr>
          <p:cNvPicPr>
            <a:picLocks noChangeAspect="1"/>
          </p:cNvPicPr>
          <p:nvPr/>
        </p:nvPicPr>
        <p:blipFill>
          <a:blip r:embed="rId4"/>
          <a:stretch>
            <a:fillRect/>
          </a:stretch>
        </p:blipFill>
        <p:spPr>
          <a:xfrm>
            <a:off x="51035" y="1324299"/>
            <a:ext cx="4767151" cy="53699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二、技术实现</a:t>
            </a:r>
            <a:endParaRPr lang="zh-CN" altLang="en-US"/>
          </a:p>
        </p:txBody>
      </p:sp>
      <p:sp>
        <p:nvSpPr>
          <p:cNvPr id="9" name="文本框 8"/>
          <p:cNvSpPr txBox="1"/>
          <p:nvPr/>
        </p:nvSpPr>
        <p:spPr>
          <a:xfrm>
            <a:off x="653707" y="1742592"/>
            <a:ext cx="10166692" cy="2800767"/>
          </a:xfrm>
          <a:prstGeom prst="rect">
            <a:avLst/>
          </a:prstGeom>
          <a:noFill/>
        </p:spPr>
        <p:txBody>
          <a:bodyPr wrap="square" rtlCol="0">
            <a:spAutoFit/>
          </a:bodyPr>
          <a:lstStyle/>
          <a:p>
            <a:r>
              <a:rPr lang="en-US" altLang="zh-CN" sz="3200" b="1" dirty="0"/>
              <a:t>Step 2</a:t>
            </a:r>
            <a:r>
              <a:rPr lang="zh-CN" altLang="en-US" sz="3200" b="1" dirty="0"/>
              <a:t>：语法恢复</a:t>
            </a:r>
            <a:r>
              <a:rPr lang="en-US" altLang="zh-CN" sz="3200" b="1" dirty="0"/>
              <a:t>——</a:t>
            </a:r>
            <a:r>
              <a:rPr lang="zh-CN" altLang="en-US" sz="3200" b="1" dirty="0"/>
              <a:t>得到 </a:t>
            </a:r>
            <a:r>
              <a:rPr lang="en-US" altLang="zh-CN" sz="3200" b="1" dirty="0"/>
              <a:t>CAN </a:t>
            </a:r>
            <a:r>
              <a:rPr lang="zh-CN" altLang="en-US" sz="3200" b="1" dirty="0"/>
              <a:t>命令的具体值</a:t>
            </a:r>
            <a:endParaRPr lang="en-US" altLang="zh-CN" sz="3200" b="1" dirty="0"/>
          </a:p>
          <a:p>
            <a:endParaRPr lang="zh-CN" altLang="en-US" sz="3200" dirty="0"/>
          </a:p>
          <a:p>
            <a:r>
              <a:rPr lang="en-US" altLang="zh-CN" sz="2800" dirty="0"/>
              <a:t>1</a:t>
            </a:r>
            <a:r>
              <a:rPr lang="zh-CN" altLang="en-US" sz="2800" dirty="0"/>
              <a:t>）对后向切片得到的路径进行动态强制执行 </a:t>
            </a:r>
          </a:p>
          <a:p>
            <a:r>
              <a:rPr lang="en-US" altLang="zh-CN" sz="2800" dirty="0"/>
              <a:t>2</a:t>
            </a:r>
            <a:r>
              <a:rPr lang="zh-CN" altLang="en-US" sz="2800" dirty="0"/>
              <a:t>）不需要真实车辆或 </a:t>
            </a:r>
            <a:r>
              <a:rPr lang="en-US" altLang="zh-CN" sz="2800" dirty="0"/>
              <a:t>OBD-II </a:t>
            </a:r>
            <a:r>
              <a:rPr lang="zh-CN" altLang="en-US" sz="2800" dirty="0"/>
              <a:t>设备连接 </a:t>
            </a:r>
          </a:p>
          <a:p>
            <a:r>
              <a:rPr lang="en-US" altLang="zh-CN" sz="2800" dirty="0"/>
              <a:t>3</a:t>
            </a:r>
            <a:r>
              <a:rPr lang="zh-CN" altLang="en-US" sz="2800" dirty="0"/>
              <a:t>）每次触发网络发送 </a:t>
            </a:r>
            <a:r>
              <a:rPr lang="en-US" altLang="zh-CN" sz="2800" dirty="0"/>
              <a:t>API</a:t>
            </a:r>
            <a:r>
              <a:rPr lang="zh-CN" altLang="en-US" sz="2800" dirty="0"/>
              <a:t>，就记录生成的命令 </a:t>
            </a:r>
          </a:p>
          <a:p>
            <a:r>
              <a:rPr lang="en-US" altLang="zh-CN" sz="2800" dirty="0"/>
              <a:t>4</a:t>
            </a:r>
            <a:r>
              <a:rPr lang="zh-CN" altLang="en-US" sz="2800" dirty="0"/>
              <a:t>）根据 </a:t>
            </a:r>
            <a:r>
              <a:rPr lang="en-US" altLang="zh-CN" sz="2800" dirty="0"/>
              <a:t>CAN </a:t>
            </a:r>
            <a:r>
              <a:rPr lang="zh-CN" altLang="en-US" sz="2800" dirty="0"/>
              <a:t>帧结构过滤非 </a:t>
            </a:r>
            <a:r>
              <a:rPr lang="en-US" altLang="zh-CN" sz="2800" dirty="0"/>
              <a:t>CAN </a:t>
            </a:r>
            <a:r>
              <a:rPr lang="zh-CN" altLang="en-US" sz="2800" dirty="0"/>
              <a:t>命令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二、技术实现</a:t>
            </a:r>
            <a:endParaRPr lang="zh-CN" altLang="en-US"/>
          </a:p>
        </p:txBody>
      </p:sp>
      <p:sp>
        <p:nvSpPr>
          <p:cNvPr id="3" name="文本框 2"/>
          <p:cNvSpPr txBox="1"/>
          <p:nvPr/>
        </p:nvSpPr>
        <p:spPr>
          <a:xfrm>
            <a:off x="794384" y="1099185"/>
            <a:ext cx="8841985" cy="584775"/>
          </a:xfrm>
          <a:prstGeom prst="rect">
            <a:avLst/>
          </a:prstGeom>
          <a:noFill/>
        </p:spPr>
        <p:txBody>
          <a:bodyPr wrap="square" rtlCol="0">
            <a:spAutoFit/>
          </a:bodyPr>
          <a:lstStyle/>
          <a:p>
            <a:r>
              <a:rPr lang="en-US" altLang="zh-CN" sz="3200" b="1" dirty="0"/>
              <a:t>Step3</a:t>
            </a:r>
            <a:r>
              <a:rPr lang="zh-CN" altLang="en-US" sz="3200" b="1" dirty="0"/>
              <a:t>：语法恢复</a:t>
            </a:r>
            <a:r>
              <a:rPr lang="en-US" altLang="zh-CN" sz="3200" b="1" dirty="0"/>
              <a:t>——</a:t>
            </a:r>
            <a:r>
              <a:rPr lang="zh-CN" altLang="en-US" sz="3200" b="1" dirty="0"/>
              <a:t>得到 </a:t>
            </a:r>
            <a:r>
              <a:rPr lang="en-US" altLang="zh-CN" sz="3200" b="1" dirty="0"/>
              <a:t>CAN </a:t>
            </a:r>
            <a:r>
              <a:rPr lang="zh-CN" altLang="en-US" sz="3200" b="1" dirty="0"/>
              <a:t>命令的具体值</a:t>
            </a:r>
          </a:p>
        </p:txBody>
      </p:sp>
      <p:sp>
        <p:nvSpPr>
          <p:cNvPr id="9" name="文本框 8"/>
          <p:cNvSpPr txBox="1"/>
          <p:nvPr/>
        </p:nvSpPr>
        <p:spPr>
          <a:xfrm>
            <a:off x="794384" y="1848100"/>
            <a:ext cx="10166692" cy="3785652"/>
          </a:xfrm>
          <a:prstGeom prst="rect">
            <a:avLst/>
          </a:prstGeom>
          <a:noFill/>
        </p:spPr>
        <p:txBody>
          <a:bodyPr wrap="square" rtlCol="0">
            <a:spAutoFit/>
          </a:bodyPr>
          <a:lstStyle/>
          <a:p>
            <a:r>
              <a:rPr lang="zh-CN" altLang="en-US" sz="2000" dirty="0"/>
              <a:t>根据经验观察设计了一种语义恢复算法：</a:t>
            </a:r>
            <a:r>
              <a:rPr lang="en-US" altLang="zh-CN" sz="2000" dirty="0"/>
              <a:t>CAN </a:t>
            </a:r>
            <a:r>
              <a:rPr lang="zh-CN" altLang="en-US" sz="2000" dirty="0"/>
              <a:t>总线命令的语义含义通常在应用程序代码中显示为常量字符串，这些字符串不会被 </a:t>
            </a:r>
            <a:r>
              <a:rPr lang="en-US" altLang="zh-CN" sz="2000" dirty="0"/>
              <a:t>OBD-II </a:t>
            </a:r>
            <a:r>
              <a:rPr lang="zh-CN" altLang="en-US" sz="2000" dirty="0"/>
              <a:t>加密狗或车内的 </a:t>
            </a:r>
            <a:r>
              <a:rPr lang="en-US" altLang="zh-CN" sz="2000" dirty="0"/>
              <a:t>CAN </a:t>
            </a:r>
            <a:r>
              <a:rPr lang="zh-CN" altLang="en-US" sz="2000" dirty="0"/>
              <a:t>识别或使用。开发人员将这些人类可理解的语义集成到汽车配套应用程序中的原因是为了帮助用户将 </a:t>
            </a:r>
            <a:r>
              <a:rPr lang="en-US" altLang="zh-CN" sz="2000" dirty="0"/>
              <a:t>CAN </a:t>
            </a:r>
            <a:r>
              <a:rPr lang="zh-CN" altLang="en-US" sz="2000" dirty="0"/>
              <a:t>总线命令与相关功能相关联。因此，我们的语义恢复算法使用以下两种启发式方法：（</a:t>
            </a:r>
            <a:r>
              <a:rPr lang="en-US" altLang="zh-CN" sz="2000" dirty="0" err="1"/>
              <a:t>i</a:t>
            </a:r>
            <a:r>
              <a:rPr lang="zh-CN" altLang="en-US" sz="2000" dirty="0"/>
              <a:t>） </a:t>
            </a:r>
            <a:r>
              <a:rPr lang="en-US" altLang="zh-CN" sz="2000" dirty="0"/>
              <a:t>UI </a:t>
            </a:r>
            <a:r>
              <a:rPr lang="zh-CN" altLang="en-US" sz="2000" dirty="0"/>
              <a:t>组件关联和 （</a:t>
            </a:r>
            <a:r>
              <a:rPr lang="en-US" altLang="zh-CN" sz="2000" dirty="0"/>
              <a:t>ii</a:t>
            </a:r>
            <a:r>
              <a:rPr lang="zh-CN" altLang="en-US" sz="2000" dirty="0"/>
              <a:t>） 函数参数关联，以推断 </a:t>
            </a:r>
            <a:r>
              <a:rPr lang="en-US" altLang="zh-CN" sz="2000" dirty="0"/>
              <a:t>CAN </a:t>
            </a:r>
            <a:r>
              <a:rPr lang="zh-CN" altLang="en-US" sz="2000" dirty="0"/>
              <a:t>总线命令的语义。</a:t>
            </a:r>
            <a:endParaRPr lang="en-US" altLang="zh-CN" sz="2000" dirty="0"/>
          </a:p>
          <a:p>
            <a:r>
              <a:rPr lang="zh-CN" altLang="en-US" sz="2000" dirty="0"/>
              <a:t>（</a:t>
            </a:r>
            <a:r>
              <a:rPr lang="en-US" altLang="zh-CN" sz="2000" dirty="0" err="1"/>
              <a:t>i</a:t>
            </a:r>
            <a:r>
              <a:rPr lang="zh-CN" altLang="en-US" sz="2000" dirty="0"/>
              <a:t>）</a:t>
            </a:r>
            <a:r>
              <a:rPr lang="en-US" altLang="zh-CN" sz="2000" dirty="0"/>
              <a:t> UI </a:t>
            </a:r>
            <a:r>
              <a:rPr lang="zh-CN" altLang="en-US" sz="2000" dirty="0"/>
              <a:t>组件关联：用户经常使用</a:t>
            </a:r>
            <a:r>
              <a:rPr lang="en-US" altLang="zh-CN" sz="2000" dirty="0"/>
              <a:t>app</a:t>
            </a:r>
            <a:r>
              <a:rPr lang="zh-CN" altLang="en-US" sz="2000" dirty="0"/>
              <a:t>界面组件，来触发于车辆相关的操作。它的文本信息有助于用户进行特定操作，例如，一个名为“读取速度”的按钮会触发发送到车辆的速度读取命令，然后应用程序将获取数据并将其显示给用户。 </a:t>
            </a:r>
            <a:r>
              <a:rPr lang="en-US" altLang="zh-CN" sz="2000" dirty="0"/>
              <a:t>CANHUNTER </a:t>
            </a:r>
            <a:r>
              <a:rPr lang="zh-CN" altLang="en-US" sz="2000" dirty="0"/>
              <a:t>提取这些元素的文本作为</a:t>
            </a:r>
            <a:r>
              <a:rPr lang="en-US" altLang="zh-CN" sz="2000" dirty="0"/>
              <a:t>CAN</a:t>
            </a:r>
            <a:r>
              <a:rPr lang="zh-CN" altLang="en-US" sz="2000" dirty="0"/>
              <a:t>命令语义。</a:t>
            </a:r>
            <a:endParaRPr lang="en-US" altLang="zh-CN" sz="2000" dirty="0"/>
          </a:p>
          <a:p>
            <a:r>
              <a:rPr lang="zh-CN" altLang="en-US" sz="2000" dirty="0"/>
              <a:t>（</a:t>
            </a:r>
            <a:r>
              <a:rPr lang="en-US" altLang="zh-CN" sz="2000" dirty="0"/>
              <a:t>ii</a:t>
            </a:r>
            <a:r>
              <a:rPr lang="zh-CN" altLang="en-US" sz="2000" dirty="0"/>
              <a:t>）函数参数关联：</a:t>
            </a:r>
            <a:r>
              <a:rPr lang="en-US" altLang="zh-CN" sz="2000" dirty="0"/>
              <a:t> CAN </a:t>
            </a:r>
            <a:r>
              <a:rPr lang="zh-CN" altLang="en-US" sz="2000" dirty="0"/>
              <a:t>总线命令的语义也可能通过函数调用及其参数公开。例如，如图 </a:t>
            </a:r>
            <a:r>
              <a:rPr lang="en-US" altLang="zh-CN" sz="2000" dirty="0"/>
              <a:t>3 </a:t>
            </a:r>
            <a:r>
              <a:rPr lang="zh-CN" altLang="en-US" sz="2000" dirty="0"/>
              <a:t>中的函数调用 </a:t>
            </a:r>
            <a:r>
              <a:rPr lang="en-US" altLang="zh-CN" sz="2000" dirty="0" err="1"/>
              <a:t>initWithRequestId</a:t>
            </a:r>
            <a:r>
              <a:rPr lang="en-US" altLang="zh-CN" sz="2000" dirty="0"/>
              <a:t> </a:t>
            </a:r>
            <a:r>
              <a:rPr lang="zh-CN" altLang="en-US" sz="2000" dirty="0"/>
              <a:t>（“</a:t>
            </a:r>
            <a:r>
              <a:rPr lang="en-US" altLang="zh-CN" sz="2000" dirty="0"/>
              <a:t>0x7E0”</a:t>
            </a:r>
            <a:r>
              <a:rPr lang="zh-CN" altLang="en-US" sz="2000" dirty="0"/>
              <a:t>， “</a:t>
            </a:r>
            <a:r>
              <a:rPr lang="en-US" altLang="zh-CN" sz="2000" dirty="0"/>
              <a:t>Engine Controls”</a:t>
            </a:r>
            <a:r>
              <a:rPr lang="zh-CN" altLang="en-US" sz="2000" dirty="0"/>
              <a:t>） 所示，</a:t>
            </a:r>
            <a:r>
              <a:rPr lang="en-US" altLang="zh-CN" sz="2000" dirty="0"/>
              <a:t>CAN </a:t>
            </a:r>
            <a:r>
              <a:rPr lang="zh-CN" altLang="en-US" sz="2000" dirty="0"/>
              <a:t>命令语法“</a:t>
            </a:r>
            <a:r>
              <a:rPr lang="en-US" altLang="zh-CN" sz="2000" dirty="0"/>
              <a:t>0x7E0”</a:t>
            </a:r>
            <a:r>
              <a:rPr lang="zh-CN" altLang="en-US" sz="2000" dirty="0"/>
              <a:t>与常量字符串“</a:t>
            </a:r>
            <a:r>
              <a:rPr lang="en-US" altLang="zh-CN" sz="2000" dirty="0"/>
              <a:t>Engine Controls”</a:t>
            </a:r>
            <a:r>
              <a:rPr lang="zh-CN" altLang="en-US" sz="2000" dirty="0"/>
              <a:t>（语义）一起作为参数出现。</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二、技术实现</a:t>
            </a:r>
            <a:endParaRPr lang="zh-CN" altLang="en-US" dirty="0">
              <a:latin typeface="华文宋体" panose="02010600040101010101" pitchFamily="2" charset="-122"/>
              <a:ea typeface="华文宋体" panose="02010600040101010101" pitchFamily="2" charset="-122"/>
            </a:endParaRPr>
          </a:p>
        </p:txBody>
      </p:sp>
      <p:sp>
        <p:nvSpPr>
          <p:cNvPr id="3" name="文本框 2"/>
          <p:cNvSpPr txBox="1"/>
          <p:nvPr/>
        </p:nvSpPr>
        <p:spPr>
          <a:xfrm>
            <a:off x="457200" y="1136469"/>
            <a:ext cx="10554789" cy="3139321"/>
          </a:xfrm>
          <a:prstGeom prst="rect">
            <a:avLst/>
          </a:prstGeom>
          <a:noFill/>
        </p:spPr>
        <p:txBody>
          <a:bodyPr wrap="square" rtlCol="0">
            <a:spAutoFit/>
          </a:bodyPr>
          <a:lstStyle/>
          <a:p>
            <a:r>
              <a:rPr lang="zh-CN" altLang="en-US" dirty="0"/>
              <a:t>该团队为 </a:t>
            </a:r>
            <a:r>
              <a:rPr lang="en-US" altLang="zh-CN" dirty="0"/>
              <a:t>Android </a:t>
            </a:r>
            <a:r>
              <a:rPr lang="zh-CN" altLang="en-US" dirty="0"/>
              <a:t>和 </a:t>
            </a:r>
            <a:r>
              <a:rPr lang="en-US" altLang="zh-CN" dirty="0"/>
              <a:t>iOS </a:t>
            </a:r>
            <a:r>
              <a:rPr lang="zh-CN" altLang="en-US" dirty="0"/>
              <a:t>平台实现了 </a:t>
            </a:r>
            <a:r>
              <a:rPr lang="en-US" altLang="zh-CN" dirty="0"/>
              <a:t>CANHUNTER</a:t>
            </a:r>
            <a:r>
              <a:rPr lang="zh-CN" altLang="en-US" dirty="0"/>
              <a:t>。</a:t>
            </a:r>
            <a:r>
              <a:rPr lang="en-US" altLang="zh-CN" dirty="0"/>
              <a:t>https://github.com/OSUSecLab/CANHunter</a:t>
            </a:r>
          </a:p>
          <a:p>
            <a:endParaRPr lang="en-US" altLang="zh-CN" dirty="0"/>
          </a:p>
          <a:p>
            <a:r>
              <a:rPr lang="zh-CN" altLang="en-US" dirty="0"/>
              <a:t>目标</a:t>
            </a:r>
            <a:r>
              <a:rPr lang="en-US" altLang="zh-CN" dirty="0"/>
              <a:t>API</a:t>
            </a:r>
            <a:r>
              <a:rPr lang="zh-CN" altLang="en-US" dirty="0"/>
              <a:t>标识：重点关注 </a:t>
            </a:r>
            <a:r>
              <a:rPr lang="en-US" altLang="zh-CN" dirty="0"/>
              <a:t>Google </a:t>
            </a:r>
            <a:r>
              <a:rPr lang="zh-CN" altLang="en-US" dirty="0"/>
              <a:t>和 </a:t>
            </a:r>
            <a:r>
              <a:rPr lang="en-US" altLang="zh-CN" dirty="0"/>
              <a:t>Apple </a:t>
            </a:r>
            <a:r>
              <a:rPr lang="zh-CN" altLang="en-US" dirty="0"/>
              <a:t>官方 </a:t>
            </a:r>
            <a:r>
              <a:rPr lang="en-US" altLang="zh-CN" dirty="0"/>
              <a:t>SDK </a:t>
            </a:r>
            <a:r>
              <a:rPr lang="zh-CN" altLang="en-US" dirty="0"/>
              <a:t>定义的两类低级 </a:t>
            </a:r>
            <a:r>
              <a:rPr lang="en-US" altLang="zh-CN" dirty="0"/>
              <a:t>API</a:t>
            </a:r>
            <a:r>
              <a:rPr lang="zh-CN" altLang="en-US" dirty="0"/>
              <a:t>，它们可能将 </a:t>
            </a:r>
            <a:r>
              <a:rPr lang="en-US" altLang="zh-CN" dirty="0"/>
              <a:t>CAN </a:t>
            </a:r>
            <a:r>
              <a:rPr lang="zh-CN" altLang="en-US" dirty="0"/>
              <a:t>总线命令作为参数。第一类是 </a:t>
            </a:r>
            <a:r>
              <a:rPr lang="en-US" altLang="zh-CN" dirty="0"/>
              <a:t>BLE API</a:t>
            </a:r>
            <a:r>
              <a:rPr lang="zh-CN" altLang="en-US" dirty="0"/>
              <a:t>（</a:t>
            </a:r>
            <a:r>
              <a:rPr lang="en-US" altLang="zh-CN" dirty="0"/>
              <a:t>Android </a:t>
            </a:r>
            <a:r>
              <a:rPr lang="zh-CN" altLang="en-US" dirty="0"/>
              <a:t>中的 </a:t>
            </a:r>
            <a:r>
              <a:rPr lang="en-US" altLang="zh-CN" dirty="0" err="1"/>
              <a:t>setValue</a:t>
            </a:r>
            <a:r>
              <a:rPr lang="zh-CN" altLang="en-US" dirty="0"/>
              <a:t>，</a:t>
            </a:r>
            <a:r>
              <a:rPr lang="en-US" altLang="zh-CN" dirty="0"/>
              <a:t>iOS </a:t>
            </a:r>
            <a:r>
              <a:rPr lang="zh-CN" altLang="en-US" dirty="0"/>
              <a:t>中的 </a:t>
            </a:r>
            <a:r>
              <a:rPr lang="en-US" altLang="zh-CN" dirty="0" err="1"/>
              <a:t>writeValue</a:t>
            </a:r>
            <a:r>
              <a:rPr lang="zh-CN" altLang="en-US" dirty="0"/>
              <a:t>）。第二类低级 </a:t>
            </a:r>
            <a:r>
              <a:rPr lang="en-US" altLang="zh-CN" dirty="0"/>
              <a:t>API </a:t>
            </a:r>
            <a:r>
              <a:rPr lang="zh-CN" altLang="en-US" dirty="0"/>
              <a:t>包括套接字 </a:t>
            </a:r>
            <a:r>
              <a:rPr lang="en-US" altLang="zh-CN" dirty="0"/>
              <a:t>API</a:t>
            </a:r>
            <a:r>
              <a:rPr lang="zh-CN" altLang="en-US" dirty="0"/>
              <a:t>，例如适用于 </a:t>
            </a:r>
            <a:r>
              <a:rPr lang="en-US" altLang="zh-CN" dirty="0"/>
              <a:t>Android </a:t>
            </a:r>
            <a:r>
              <a:rPr lang="zh-CN" altLang="en-US" dirty="0"/>
              <a:t>和 </a:t>
            </a:r>
            <a:r>
              <a:rPr lang="en-US" altLang="zh-CN" dirty="0"/>
              <a:t>iOS </a:t>
            </a:r>
            <a:r>
              <a:rPr lang="zh-CN" altLang="en-US" dirty="0"/>
              <a:t>的写入，以及适用于 </a:t>
            </a:r>
            <a:r>
              <a:rPr lang="en-US" altLang="zh-CN" dirty="0"/>
              <a:t>Android </a:t>
            </a:r>
            <a:r>
              <a:rPr lang="zh-CN" altLang="en-US" dirty="0"/>
              <a:t>的 </a:t>
            </a:r>
            <a:r>
              <a:rPr lang="en-US" altLang="zh-CN" dirty="0" err="1"/>
              <a:t>openConnection</a:t>
            </a:r>
            <a:r>
              <a:rPr lang="en-US" altLang="zh-CN" dirty="0"/>
              <a:t> </a:t>
            </a:r>
            <a:r>
              <a:rPr lang="zh-CN" altLang="en-US" dirty="0"/>
              <a:t>和适用于 </a:t>
            </a:r>
            <a:r>
              <a:rPr lang="en-US" altLang="zh-CN" dirty="0"/>
              <a:t>iOS </a:t>
            </a:r>
            <a:r>
              <a:rPr lang="zh-CN" altLang="en-US" dirty="0"/>
              <a:t>的 </a:t>
            </a:r>
            <a:r>
              <a:rPr lang="en-US" altLang="zh-CN" dirty="0" err="1"/>
              <a:t>dataTaskWithRequest</a:t>
            </a:r>
            <a:r>
              <a:rPr lang="en-US" altLang="zh-CN" dirty="0"/>
              <a:t> </a:t>
            </a:r>
            <a:r>
              <a:rPr lang="zh-CN" altLang="en-US" dirty="0"/>
              <a:t>等 </a:t>
            </a:r>
            <a:r>
              <a:rPr lang="en-US" altLang="zh-CN" dirty="0"/>
              <a:t>HTTP API</a:t>
            </a:r>
            <a:r>
              <a:rPr lang="zh-CN" altLang="en-US" dirty="0"/>
              <a:t>。</a:t>
            </a:r>
            <a:r>
              <a:rPr lang="en-US" altLang="zh-CN" dirty="0"/>
              <a:t>  </a:t>
            </a:r>
          </a:p>
          <a:p>
            <a:endParaRPr lang="en-US" altLang="zh-CN" dirty="0"/>
          </a:p>
          <a:p>
            <a:r>
              <a:rPr lang="zh-CN" altLang="en-US" dirty="0"/>
              <a:t>向后切片：</a:t>
            </a:r>
            <a:r>
              <a:rPr lang="en-US" altLang="zh-CN" dirty="0"/>
              <a:t>CANHUNTER</a:t>
            </a:r>
            <a:r>
              <a:rPr lang="zh-CN" altLang="en-US" dirty="0"/>
              <a:t>的向后切片是基于</a:t>
            </a:r>
            <a:r>
              <a:rPr lang="en-US" altLang="zh-CN" dirty="0"/>
              <a:t>IDA-Pro</a:t>
            </a:r>
            <a:r>
              <a:rPr lang="zh-CN" altLang="en-US" dirty="0"/>
              <a:t>和</a:t>
            </a:r>
            <a:r>
              <a:rPr lang="en-US" altLang="zh-CN" dirty="0" err="1"/>
              <a:t>IDAPython</a:t>
            </a:r>
            <a:r>
              <a:rPr lang="zh-CN" altLang="en-US" dirty="0"/>
              <a:t>（</a:t>
            </a:r>
            <a:r>
              <a:rPr lang="en-US" altLang="zh-CN" dirty="0"/>
              <a:t>iOS</a:t>
            </a:r>
            <a:r>
              <a:rPr lang="zh-CN" altLang="en-US" dirty="0"/>
              <a:t>）以及</a:t>
            </a:r>
            <a:r>
              <a:rPr lang="en-US" altLang="zh-CN" dirty="0"/>
              <a:t>Soot </a:t>
            </a:r>
            <a:r>
              <a:rPr lang="zh-CN" altLang="en-US" dirty="0"/>
              <a:t>（</a:t>
            </a:r>
            <a:r>
              <a:rPr lang="en-US" altLang="zh-CN" dirty="0"/>
              <a:t>Android</a:t>
            </a:r>
            <a:r>
              <a:rPr lang="zh-CN" altLang="en-US" dirty="0"/>
              <a:t>）实现的。</a:t>
            </a:r>
            <a:endParaRPr lang="en-US" altLang="zh-CN" dirty="0"/>
          </a:p>
          <a:p>
            <a:endParaRPr lang="en-US" altLang="zh-CN" dirty="0"/>
          </a:p>
          <a:p>
            <a:r>
              <a:rPr lang="zh-CN" altLang="en-US" dirty="0"/>
              <a:t>动态强制执行。强制执行的实现基于</a:t>
            </a:r>
            <a:r>
              <a:rPr lang="en-US" altLang="zh-CN" dirty="0" err="1"/>
              <a:t>Cycript</a:t>
            </a:r>
            <a:r>
              <a:rPr lang="en-US" altLang="zh-CN" dirty="0"/>
              <a:t> </a:t>
            </a:r>
            <a:r>
              <a:rPr lang="zh-CN" altLang="en-US" dirty="0"/>
              <a:t>和</a:t>
            </a:r>
            <a:r>
              <a:rPr lang="en-US" altLang="zh-CN" dirty="0"/>
              <a:t>Frida </a:t>
            </a:r>
            <a:r>
              <a:rPr lang="zh-CN" altLang="en-US" dirty="0"/>
              <a:t>，它们是兼容各种平台（包括</a:t>
            </a:r>
            <a:r>
              <a:rPr lang="en-US" altLang="zh-CN" dirty="0"/>
              <a:t>Android</a:t>
            </a:r>
            <a:r>
              <a:rPr lang="zh-CN" altLang="en-US" dirty="0"/>
              <a:t>和</a:t>
            </a:r>
            <a:r>
              <a:rPr lang="en-US" altLang="zh-CN" dirty="0"/>
              <a:t>iOS</a:t>
            </a:r>
            <a:r>
              <a:rPr lang="zh-CN" altLang="en-US" dirty="0"/>
              <a:t>）的动态代码检测工具包。它们提供了 </a:t>
            </a:r>
            <a:r>
              <a:rPr lang="en-US" altLang="zh-CN" dirty="0"/>
              <a:t>JavaScript </a:t>
            </a:r>
            <a:r>
              <a:rPr lang="zh-CN" altLang="en-US" dirty="0"/>
              <a:t>接口，允许我们动态执行指令，而不是自己实现执行过程。</a:t>
            </a:r>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三、实验评估</a:t>
            </a:r>
            <a:endParaRPr lang="zh-CN" altLang="en-US" dirty="0">
              <a:latin typeface="华文宋体" panose="02010600040101010101" pitchFamily="2" charset="-122"/>
              <a:ea typeface="华文宋体" panose="02010600040101010101" pitchFamily="2" charset="-122"/>
            </a:endParaRPr>
          </a:p>
        </p:txBody>
      </p:sp>
      <p:sp>
        <p:nvSpPr>
          <p:cNvPr id="3" name="文本框 2"/>
          <p:cNvSpPr txBox="1"/>
          <p:nvPr/>
        </p:nvSpPr>
        <p:spPr>
          <a:xfrm>
            <a:off x="457200" y="1136469"/>
            <a:ext cx="10554789" cy="646331"/>
          </a:xfrm>
          <a:prstGeom prst="rect">
            <a:avLst/>
          </a:prstGeom>
          <a:noFill/>
        </p:spPr>
        <p:txBody>
          <a:bodyPr wrap="square" rtlCol="0">
            <a:spAutoFit/>
          </a:bodyPr>
          <a:lstStyle/>
          <a:p>
            <a:r>
              <a:rPr lang="zh-CN" altLang="en-US" dirty="0"/>
              <a:t>为了进行评估，我们于 </a:t>
            </a:r>
            <a:r>
              <a:rPr lang="en-US" altLang="zh-CN" dirty="0"/>
              <a:t>2019 </a:t>
            </a:r>
            <a:r>
              <a:rPr lang="zh-CN" altLang="en-US" dirty="0"/>
              <a:t>年 </a:t>
            </a:r>
            <a:r>
              <a:rPr lang="en-US" altLang="zh-CN" dirty="0"/>
              <a:t>4 </a:t>
            </a:r>
            <a:r>
              <a:rPr lang="zh-CN" altLang="en-US" dirty="0"/>
              <a:t>月从官方 </a:t>
            </a:r>
            <a:r>
              <a:rPr lang="en-US" altLang="zh-CN" dirty="0"/>
              <a:t>Apple App Store </a:t>
            </a:r>
            <a:r>
              <a:rPr lang="zh-CN" altLang="en-US" dirty="0"/>
              <a:t>和 </a:t>
            </a:r>
            <a:r>
              <a:rPr lang="en-US" altLang="zh-CN" dirty="0"/>
              <a:t>Google Play Store </a:t>
            </a:r>
            <a:r>
              <a:rPr lang="zh-CN" altLang="en-US" dirty="0"/>
              <a:t>中抓取了所有与车辆相关的免费应用程序。我们最终从</a:t>
            </a:r>
            <a:r>
              <a:rPr lang="en-US" altLang="zh-CN" dirty="0"/>
              <a:t>Android</a:t>
            </a:r>
            <a:r>
              <a:rPr lang="zh-CN" altLang="en-US" dirty="0"/>
              <a:t>和</a:t>
            </a:r>
            <a:r>
              <a:rPr lang="en-US" altLang="zh-CN" dirty="0"/>
              <a:t>iOS</a:t>
            </a:r>
            <a:r>
              <a:rPr lang="zh-CN" altLang="en-US" dirty="0"/>
              <a:t>平台分别收集了</a:t>
            </a:r>
            <a:r>
              <a:rPr lang="en-US" altLang="zh-CN" dirty="0"/>
              <a:t>122</a:t>
            </a:r>
            <a:r>
              <a:rPr lang="zh-CN" altLang="en-US" dirty="0"/>
              <a:t>个和</a:t>
            </a:r>
            <a:r>
              <a:rPr lang="en-US" altLang="zh-CN" dirty="0"/>
              <a:t>114</a:t>
            </a:r>
            <a:r>
              <a:rPr lang="zh-CN" altLang="en-US" dirty="0"/>
              <a:t>个汽车伴侣应用程序。</a:t>
            </a:r>
            <a:endParaRPr lang="en-US" altLang="zh-CN" dirty="0"/>
          </a:p>
        </p:txBody>
      </p:sp>
      <p:pic>
        <p:nvPicPr>
          <p:cNvPr id="6" name="图片 5">
            <a:extLst>
              <a:ext uri="{FF2B5EF4-FFF2-40B4-BE49-F238E27FC236}">
                <a16:creationId xmlns:a16="http://schemas.microsoft.com/office/drawing/2014/main" id="{20511F20-B4D9-4EA0-DDF7-E50FF863CD42}"/>
              </a:ext>
            </a:extLst>
          </p:cNvPr>
          <p:cNvPicPr>
            <a:picLocks noChangeAspect="1"/>
          </p:cNvPicPr>
          <p:nvPr/>
        </p:nvPicPr>
        <p:blipFill>
          <a:blip r:embed="rId2"/>
          <a:stretch>
            <a:fillRect/>
          </a:stretch>
        </p:blipFill>
        <p:spPr>
          <a:xfrm>
            <a:off x="1991272" y="1931403"/>
            <a:ext cx="7486643" cy="3066929"/>
          </a:xfrm>
          <a:prstGeom prst="rect">
            <a:avLst/>
          </a:prstGeom>
        </p:spPr>
      </p:pic>
      <p:sp>
        <p:nvSpPr>
          <p:cNvPr id="8" name="文本框 7">
            <a:extLst>
              <a:ext uri="{FF2B5EF4-FFF2-40B4-BE49-F238E27FC236}">
                <a16:creationId xmlns:a16="http://schemas.microsoft.com/office/drawing/2014/main" id="{DC5B3EE5-A99A-D372-1146-669FFC29858E}"/>
              </a:ext>
            </a:extLst>
          </p:cNvPr>
          <p:cNvSpPr txBox="1"/>
          <p:nvPr/>
        </p:nvSpPr>
        <p:spPr>
          <a:xfrm>
            <a:off x="612356" y="4769732"/>
            <a:ext cx="10967288" cy="2308324"/>
          </a:xfrm>
          <a:prstGeom prst="rect">
            <a:avLst/>
          </a:prstGeom>
          <a:noFill/>
        </p:spPr>
        <p:txBody>
          <a:bodyPr wrap="square">
            <a:spAutoFit/>
          </a:bodyPr>
          <a:lstStyle/>
          <a:p>
            <a:r>
              <a:rPr lang="zh-CN" altLang="en-US" sz="2400" dirty="0">
                <a:latin typeface="+mj-lt"/>
              </a:rPr>
              <a:t>实验结果</a:t>
            </a:r>
            <a:r>
              <a:rPr lang="zh-CN" altLang="en-US" sz="2400" dirty="0"/>
              <a:t>：</a:t>
            </a:r>
            <a:r>
              <a:rPr lang="en-US" altLang="zh-CN" sz="2400" dirty="0"/>
              <a:t>CANHUNTER </a:t>
            </a:r>
            <a:r>
              <a:rPr lang="zh-CN" altLang="en-US" sz="2400" dirty="0"/>
              <a:t>在我们测试的 </a:t>
            </a:r>
            <a:r>
              <a:rPr lang="en-US" altLang="zh-CN" sz="2400" dirty="0"/>
              <a:t>236 </a:t>
            </a:r>
            <a:r>
              <a:rPr lang="zh-CN" altLang="en-US" sz="2400" dirty="0"/>
              <a:t>个应用程序中的 </a:t>
            </a:r>
            <a:r>
              <a:rPr lang="en-US" altLang="zh-CN" sz="2400" dirty="0"/>
              <a:t>107 </a:t>
            </a:r>
            <a:r>
              <a:rPr lang="zh-CN" altLang="en-US" sz="2400" dirty="0"/>
              <a:t>个程序中总共发现了 </a:t>
            </a:r>
            <a:r>
              <a:rPr lang="en-US" altLang="zh-CN" sz="2400" dirty="0"/>
              <a:t>182619 </a:t>
            </a:r>
            <a:r>
              <a:rPr lang="zh-CN" altLang="en-US" sz="2400" dirty="0"/>
              <a:t>个 </a:t>
            </a:r>
            <a:r>
              <a:rPr lang="en-US" altLang="zh-CN" sz="2400" dirty="0"/>
              <a:t>CAN </a:t>
            </a:r>
            <a:r>
              <a:rPr lang="zh-CN" altLang="en-US" sz="2400" dirty="0"/>
              <a:t>总线命令，其中，</a:t>
            </a:r>
            <a:r>
              <a:rPr lang="en-US" altLang="zh-CN" sz="2400" dirty="0"/>
              <a:t>157296</a:t>
            </a:r>
            <a:r>
              <a:rPr lang="zh-CN" altLang="en-US" sz="2400" dirty="0"/>
              <a:t>条命令（</a:t>
            </a:r>
            <a:r>
              <a:rPr lang="en-US" altLang="zh-CN" sz="2400" dirty="0"/>
              <a:t>86.1%</a:t>
            </a:r>
            <a:r>
              <a:rPr lang="zh-CN" altLang="en-US" sz="2400" dirty="0"/>
              <a:t>）采用语义恢复。 </a:t>
            </a:r>
            <a:r>
              <a:rPr lang="en-US" altLang="zh-CN" sz="2400" dirty="0"/>
              <a:t>CANHUNTER</a:t>
            </a:r>
            <a:r>
              <a:rPr lang="zh-CN" altLang="en-US" sz="2400" dirty="0"/>
              <a:t>还发现了称为</a:t>
            </a:r>
            <a:r>
              <a:rPr lang="en-US" altLang="zh-CN" sz="2400" dirty="0"/>
              <a:t>OBD PID</a:t>
            </a:r>
            <a:r>
              <a:rPr lang="zh-CN" altLang="en-US" sz="2400" dirty="0"/>
              <a:t>的标准化</a:t>
            </a:r>
            <a:r>
              <a:rPr lang="en-US" altLang="zh-CN" sz="2400" dirty="0"/>
              <a:t>CAN</a:t>
            </a:r>
            <a:r>
              <a:rPr lang="zh-CN" altLang="en-US" sz="2400" dirty="0"/>
              <a:t>总线命令，这些命令用于诊断目的，这些 </a:t>
            </a:r>
            <a:r>
              <a:rPr lang="en-US" altLang="zh-CN" sz="2400" dirty="0"/>
              <a:t>OBD PID </a:t>
            </a:r>
            <a:r>
              <a:rPr lang="zh-CN" altLang="en-US" sz="2400" dirty="0"/>
              <a:t>约占我们结果的 </a:t>
            </a:r>
            <a:r>
              <a:rPr lang="en-US" altLang="zh-CN" sz="2400" dirty="0"/>
              <a:t>15%</a:t>
            </a:r>
            <a:r>
              <a:rPr lang="zh-CN" altLang="en-US" sz="2400" dirty="0"/>
              <a:t>，而其余 </a:t>
            </a:r>
            <a:r>
              <a:rPr lang="en-US" altLang="zh-CN" sz="2400" dirty="0"/>
              <a:t>85% </a:t>
            </a:r>
            <a:r>
              <a:rPr lang="zh-CN" altLang="en-US" sz="2400" dirty="0"/>
              <a:t>是自定义的 </a:t>
            </a:r>
            <a:r>
              <a:rPr lang="en-US" altLang="zh-CN" sz="2400" dirty="0"/>
              <a:t>CAN </a:t>
            </a:r>
            <a:r>
              <a:rPr lang="zh-CN" altLang="en-US" sz="2400" dirty="0"/>
              <a:t>总线命令。</a:t>
            </a:r>
            <a:endParaRPr lang="en-US" altLang="zh-CN" sz="2400" dirty="0"/>
          </a:p>
          <a:p>
            <a:endParaRPr lang="zh-CN" alt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三、实验评估</a:t>
            </a:r>
            <a:endParaRPr lang="zh-CN" altLang="en-US" dirty="0">
              <a:latin typeface="华文宋体" panose="02010600040101010101" pitchFamily="2" charset="-122"/>
              <a:ea typeface="华文宋体" panose="02010600040101010101" pitchFamily="2" charset="-122"/>
            </a:endParaRPr>
          </a:p>
        </p:txBody>
      </p:sp>
      <p:sp>
        <p:nvSpPr>
          <p:cNvPr id="3" name="文本框 2">
            <a:extLst>
              <a:ext uri="{FF2B5EF4-FFF2-40B4-BE49-F238E27FC236}">
                <a16:creationId xmlns:a16="http://schemas.microsoft.com/office/drawing/2014/main" id="{9C58B5B6-FFA9-2A50-AB18-4EA8EA8382FE}"/>
              </a:ext>
            </a:extLst>
          </p:cNvPr>
          <p:cNvSpPr txBox="1"/>
          <p:nvPr/>
        </p:nvSpPr>
        <p:spPr>
          <a:xfrm>
            <a:off x="703385" y="1248508"/>
            <a:ext cx="10603523" cy="3970318"/>
          </a:xfrm>
          <a:prstGeom prst="rect">
            <a:avLst/>
          </a:prstGeom>
          <a:noFill/>
        </p:spPr>
        <p:txBody>
          <a:bodyPr wrap="square" rtlCol="0">
            <a:spAutoFit/>
          </a:bodyPr>
          <a:lstStyle/>
          <a:p>
            <a:r>
              <a:rPr lang="zh-CN" altLang="en-US" dirty="0"/>
              <a:t>在发现</a:t>
            </a:r>
            <a:r>
              <a:rPr lang="en-US" altLang="zh-CN" dirty="0"/>
              <a:t>CAN</a:t>
            </a:r>
            <a:r>
              <a:rPr lang="zh-CN" altLang="en-US" dirty="0"/>
              <a:t>总线命令的</a:t>
            </a:r>
            <a:r>
              <a:rPr lang="en-US" altLang="zh-CN" dirty="0"/>
              <a:t>107</a:t>
            </a:r>
            <a:r>
              <a:rPr lang="zh-CN" altLang="en-US" dirty="0"/>
              <a:t>个应用中，只有</a:t>
            </a:r>
            <a:r>
              <a:rPr lang="en-US" altLang="zh-CN" dirty="0"/>
              <a:t>3</a:t>
            </a:r>
            <a:r>
              <a:rPr lang="zh-CN" altLang="en-US" dirty="0"/>
              <a:t>个是</a:t>
            </a:r>
            <a:r>
              <a:rPr lang="en-US" altLang="zh-CN" dirty="0"/>
              <a:t>IVI</a:t>
            </a:r>
            <a:r>
              <a:rPr lang="zh-CN" altLang="en-US" dirty="0"/>
              <a:t>应用，其他</a:t>
            </a:r>
            <a:r>
              <a:rPr lang="en-US" altLang="zh-CN" dirty="0"/>
              <a:t>104</a:t>
            </a:r>
            <a:r>
              <a:rPr lang="zh-CN" altLang="en-US" dirty="0"/>
              <a:t>个是加密狗应用。</a:t>
            </a:r>
            <a:endParaRPr lang="en-US" altLang="zh-CN" dirty="0"/>
          </a:p>
          <a:p>
            <a:endParaRPr lang="en-US" altLang="zh-CN" dirty="0"/>
          </a:p>
          <a:p>
            <a:r>
              <a:rPr lang="en-US" altLang="zh-CN" dirty="0"/>
              <a:t>IVI </a:t>
            </a:r>
            <a:r>
              <a:rPr lang="zh-CN" altLang="en-US" dirty="0"/>
              <a:t>应用程序：实验中的 </a:t>
            </a:r>
            <a:r>
              <a:rPr lang="en-US" altLang="zh-CN" dirty="0"/>
              <a:t>90 </a:t>
            </a:r>
            <a:r>
              <a:rPr lang="zh-CN" altLang="en-US" dirty="0"/>
              <a:t>个 </a:t>
            </a:r>
            <a:r>
              <a:rPr lang="en-US" altLang="zh-CN" dirty="0"/>
              <a:t>IVI </a:t>
            </a:r>
            <a:r>
              <a:rPr lang="zh-CN" altLang="en-US" dirty="0"/>
              <a:t>应用程序确实提供了远程车辆控制功能，但我们发现 </a:t>
            </a:r>
            <a:r>
              <a:rPr lang="en-US" altLang="zh-CN" dirty="0"/>
              <a:t>CANHUNTER </a:t>
            </a:r>
            <a:r>
              <a:rPr lang="zh-CN" altLang="en-US" dirty="0"/>
              <a:t>仅从其中 </a:t>
            </a:r>
            <a:r>
              <a:rPr lang="en-US" altLang="zh-CN" dirty="0"/>
              <a:t>3 </a:t>
            </a:r>
            <a:r>
              <a:rPr lang="zh-CN" altLang="en-US" dirty="0"/>
              <a:t>个中产生了 </a:t>
            </a:r>
            <a:r>
              <a:rPr lang="en-US" altLang="zh-CN" dirty="0"/>
              <a:t>CAN </a:t>
            </a:r>
            <a:r>
              <a:rPr lang="zh-CN" altLang="en-US" dirty="0"/>
              <a:t>总线命令。对于这三个应用程序，我们发现它们的开发人员不小心将 </a:t>
            </a:r>
            <a:r>
              <a:rPr lang="en-US" altLang="zh-CN" dirty="0"/>
              <a:t>CAN </a:t>
            </a:r>
            <a:r>
              <a:rPr lang="zh-CN" altLang="en-US" dirty="0"/>
              <a:t>总线命令集成到应用程序中。尽管 </a:t>
            </a:r>
            <a:r>
              <a:rPr lang="en-US" altLang="zh-CN" dirty="0"/>
              <a:t>CANHUNTER </a:t>
            </a:r>
            <a:r>
              <a:rPr lang="zh-CN" altLang="en-US" dirty="0"/>
              <a:t>能够从网络 </a:t>
            </a:r>
            <a:r>
              <a:rPr lang="en-US" altLang="zh-CN" dirty="0"/>
              <a:t>API </a:t>
            </a:r>
            <a:r>
              <a:rPr lang="zh-CN" altLang="en-US" dirty="0"/>
              <a:t>中找到它们，但这些命令实际上永远无法从应用程序触发和发送。事实上，</a:t>
            </a:r>
            <a:r>
              <a:rPr lang="en-US" altLang="zh-CN" dirty="0"/>
              <a:t>IVI </a:t>
            </a:r>
            <a:r>
              <a:rPr lang="zh-CN" altLang="en-US" dirty="0"/>
              <a:t>应用程序不会直接为应用程序端支持的控制功能生成 </a:t>
            </a:r>
            <a:r>
              <a:rPr lang="en-US" altLang="zh-CN" dirty="0"/>
              <a:t>CAN </a:t>
            </a:r>
            <a:r>
              <a:rPr lang="zh-CN" altLang="en-US" dirty="0"/>
              <a:t>总线命令，而是依赖于第三个实体来解释对 </a:t>
            </a:r>
            <a:r>
              <a:rPr lang="en-US" altLang="zh-CN" dirty="0"/>
              <a:t>CAN </a:t>
            </a:r>
            <a:r>
              <a:rPr lang="zh-CN" altLang="en-US" dirty="0"/>
              <a:t>总线命令的请求。其中大多数首先将控制命令（通常以用于车门解锁的“</a:t>
            </a:r>
            <a:r>
              <a:rPr lang="en-US" altLang="zh-CN" dirty="0"/>
              <a:t>UNLOCK”</a:t>
            </a:r>
            <a:r>
              <a:rPr lang="zh-CN" altLang="en-US" dirty="0"/>
              <a:t>等常量字符串的形式）发送到云服务器，并依靠云服务器与车辆之间的连接进行控制。</a:t>
            </a:r>
            <a:endParaRPr lang="en-US" altLang="zh-CN" dirty="0"/>
          </a:p>
          <a:p>
            <a:endParaRPr lang="en-US" altLang="zh-CN" dirty="0"/>
          </a:p>
          <a:p>
            <a:r>
              <a:rPr lang="en-US" altLang="zh-CN" dirty="0"/>
              <a:t>OBD-II </a:t>
            </a:r>
            <a:r>
              <a:rPr lang="zh-CN" altLang="en-US" dirty="0"/>
              <a:t>适配器</a:t>
            </a:r>
            <a:r>
              <a:rPr lang="en-US" altLang="zh-CN" dirty="0"/>
              <a:t>/</a:t>
            </a:r>
            <a:r>
              <a:rPr lang="zh-CN" altLang="en-US" dirty="0"/>
              <a:t>诊断盒（加密狗）应用程序：在 </a:t>
            </a:r>
            <a:r>
              <a:rPr lang="en-US" altLang="zh-CN" dirty="0"/>
              <a:t>146 </a:t>
            </a:r>
            <a:r>
              <a:rPr lang="zh-CN" altLang="en-US" dirty="0"/>
              <a:t>个加密狗应用程序中，</a:t>
            </a:r>
            <a:r>
              <a:rPr lang="en-US" altLang="zh-CN" dirty="0"/>
              <a:t>CANHUNTER </a:t>
            </a:r>
            <a:r>
              <a:rPr lang="zh-CN" altLang="en-US" dirty="0"/>
              <a:t>能够从其中 </a:t>
            </a:r>
            <a:r>
              <a:rPr lang="en-US" altLang="zh-CN" dirty="0"/>
              <a:t>104 </a:t>
            </a:r>
            <a:r>
              <a:rPr lang="zh-CN" altLang="en-US" dirty="0"/>
              <a:t>个（</a:t>
            </a:r>
            <a:r>
              <a:rPr lang="en-US" altLang="zh-CN" dirty="0"/>
              <a:t>71.2%</a:t>
            </a:r>
            <a:r>
              <a:rPr lang="zh-CN" altLang="en-US" dirty="0"/>
              <a:t>）中发现 </a:t>
            </a:r>
            <a:r>
              <a:rPr lang="en-US" altLang="zh-CN" dirty="0"/>
              <a:t>CAN </a:t>
            </a:r>
            <a:r>
              <a:rPr lang="zh-CN" altLang="en-US" dirty="0"/>
              <a:t>总线命令，这表明加密狗应用程序在应用程序端直接构建 </a:t>
            </a:r>
            <a:r>
              <a:rPr lang="en-US" altLang="zh-CN" dirty="0"/>
              <a:t>CAN </a:t>
            </a:r>
            <a:r>
              <a:rPr lang="zh-CN" altLang="en-US" dirty="0"/>
              <a:t>总线命令比 </a:t>
            </a:r>
            <a:r>
              <a:rPr lang="en-US" altLang="zh-CN" dirty="0"/>
              <a:t>IVI </a:t>
            </a:r>
            <a:r>
              <a:rPr lang="zh-CN" altLang="en-US" dirty="0"/>
              <a:t>应用程序要常见得多。其余 </a:t>
            </a:r>
            <a:r>
              <a:rPr lang="en-US" altLang="zh-CN" dirty="0"/>
              <a:t>42 </a:t>
            </a:r>
            <a:r>
              <a:rPr lang="zh-CN" altLang="en-US" dirty="0"/>
              <a:t>个加密狗应用，发现其中 </a:t>
            </a:r>
            <a:r>
              <a:rPr lang="en-US" altLang="zh-CN" dirty="0"/>
              <a:t>22 </a:t>
            </a:r>
            <a:r>
              <a:rPr lang="zh-CN" altLang="en-US" dirty="0"/>
              <a:t>个也采用了解释命令的设计进行 </a:t>
            </a:r>
            <a:r>
              <a:rPr lang="en-US" altLang="zh-CN" dirty="0"/>
              <a:t>CAN </a:t>
            </a:r>
            <a:r>
              <a:rPr lang="zh-CN" altLang="en-US" dirty="0"/>
              <a:t>总线命令构建，对于其余 </a:t>
            </a:r>
            <a:r>
              <a:rPr lang="en-US" altLang="zh-CN" dirty="0"/>
              <a:t>20 </a:t>
            </a:r>
            <a:r>
              <a:rPr lang="zh-CN" altLang="en-US" dirty="0"/>
              <a:t>个应用程序，由于混淆（即反分析技术），</a:t>
            </a:r>
            <a:r>
              <a:rPr lang="en-US" altLang="zh-CN" dirty="0"/>
              <a:t>CANHUNTER </a:t>
            </a:r>
            <a:r>
              <a:rPr lang="zh-CN" altLang="en-US" dirty="0"/>
              <a:t>没有识别出任何命令，这些命令阻止了我们的分析在向后切片步骤中构建完整的 </a:t>
            </a:r>
            <a:r>
              <a:rPr lang="en-US" altLang="zh-CN" dirty="0"/>
              <a:t>CFG</a:t>
            </a:r>
            <a:r>
              <a:rPr lang="zh-CN" altLang="en-US"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三、实验评估</a:t>
            </a:r>
            <a:endParaRPr lang="zh-CN" altLang="en-US" dirty="0">
              <a:latin typeface="华文宋体" panose="02010600040101010101" pitchFamily="2" charset="-122"/>
              <a:ea typeface="华文宋体" panose="02010600040101010101" pitchFamily="2" charset="-122"/>
            </a:endParaRPr>
          </a:p>
        </p:txBody>
      </p:sp>
      <p:pic>
        <p:nvPicPr>
          <p:cNvPr id="8" name="图片 7">
            <a:extLst>
              <a:ext uri="{FF2B5EF4-FFF2-40B4-BE49-F238E27FC236}">
                <a16:creationId xmlns:a16="http://schemas.microsoft.com/office/drawing/2014/main" id="{55327D69-72C9-BDD7-EAF9-D3F1FADF8A66}"/>
              </a:ext>
            </a:extLst>
          </p:cNvPr>
          <p:cNvPicPr>
            <a:picLocks noChangeAspect="1"/>
          </p:cNvPicPr>
          <p:nvPr/>
        </p:nvPicPr>
        <p:blipFill>
          <a:blip r:embed="rId3"/>
          <a:stretch>
            <a:fillRect/>
          </a:stretch>
        </p:blipFill>
        <p:spPr>
          <a:xfrm>
            <a:off x="888163" y="811935"/>
            <a:ext cx="10415674" cy="58709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三、实验评估</a:t>
            </a:r>
            <a:endParaRPr lang="zh-CN" altLang="en-US" dirty="0">
              <a:latin typeface="华文宋体" panose="02010600040101010101" pitchFamily="2" charset="-122"/>
              <a:ea typeface="华文宋体" panose="02010600040101010101" pitchFamily="2" charset="-122"/>
            </a:endParaRPr>
          </a:p>
        </p:txBody>
      </p:sp>
      <p:sp>
        <p:nvSpPr>
          <p:cNvPr id="3" name="文本框 2"/>
          <p:cNvSpPr txBox="1"/>
          <p:nvPr/>
        </p:nvSpPr>
        <p:spPr>
          <a:xfrm>
            <a:off x="7895493" y="2039850"/>
            <a:ext cx="3798275" cy="3108543"/>
          </a:xfrm>
          <a:prstGeom prst="rect">
            <a:avLst/>
          </a:prstGeom>
          <a:noFill/>
        </p:spPr>
        <p:txBody>
          <a:bodyPr wrap="square" rtlCol="0">
            <a:spAutoFit/>
          </a:bodyPr>
          <a:lstStyle/>
          <a:p>
            <a:r>
              <a:rPr lang="zh-CN" altLang="en-US" sz="2800" dirty="0"/>
              <a:t>按车型划分的结果特征：</a:t>
            </a:r>
            <a:r>
              <a:rPr lang="en-US" altLang="zh-CN" sz="2800" dirty="0"/>
              <a:t>CANHUNTER</a:t>
            </a:r>
            <a:r>
              <a:rPr lang="zh-CN" altLang="en-US" sz="2800" dirty="0"/>
              <a:t>恢复了</a:t>
            </a:r>
            <a:r>
              <a:rPr lang="en-US" altLang="zh-CN" sz="2800" dirty="0"/>
              <a:t>161819</a:t>
            </a:r>
            <a:r>
              <a:rPr lang="zh-CN" altLang="en-US" sz="2800" dirty="0"/>
              <a:t>个（</a:t>
            </a:r>
            <a:r>
              <a:rPr lang="en-US" altLang="zh-CN" sz="2800" dirty="0"/>
              <a:t>88.6%</a:t>
            </a:r>
            <a:r>
              <a:rPr lang="zh-CN" altLang="en-US" sz="2800" dirty="0"/>
              <a:t>）的</a:t>
            </a:r>
            <a:r>
              <a:rPr lang="en-US" altLang="zh-CN" sz="2800" dirty="0"/>
              <a:t>CAN</a:t>
            </a:r>
            <a:r>
              <a:rPr lang="zh-CN" altLang="en-US" sz="2800" dirty="0"/>
              <a:t>总线命令的车型信息，覆盖了来自</a:t>
            </a:r>
            <a:r>
              <a:rPr lang="en-US" altLang="zh-CN" sz="2800" dirty="0"/>
              <a:t>21</a:t>
            </a:r>
            <a:r>
              <a:rPr lang="zh-CN" altLang="en-US" sz="2800" dirty="0"/>
              <a:t>家汽车制造商的</a:t>
            </a:r>
            <a:r>
              <a:rPr lang="en-US" altLang="zh-CN" sz="2800" dirty="0"/>
              <a:t>360</a:t>
            </a:r>
            <a:r>
              <a:rPr lang="zh-CN" altLang="en-US" sz="2800" dirty="0"/>
              <a:t>多个车型。</a:t>
            </a:r>
            <a:endParaRPr lang="en-US" altLang="zh-CN" sz="2800" dirty="0"/>
          </a:p>
        </p:txBody>
      </p:sp>
      <p:pic>
        <p:nvPicPr>
          <p:cNvPr id="6" name="图片 5">
            <a:extLst>
              <a:ext uri="{FF2B5EF4-FFF2-40B4-BE49-F238E27FC236}">
                <a16:creationId xmlns:a16="http://schemas.microsoft.com/office/drawing/2014/main" id="{6E1F2689-F22F-C5C8-0DA6-74A420D0664C}"/>
              </a:ext>
            </a:extLst>
          </p:cNvPr>
          <p:cNvPicPr>
            <a:picLocks noChangeAspect="1"/>
          </p:cNvPicPr>
          <p:nvPr/>
        </p:nvPicPr>
        <p:blipFill>
          <a:blip r:embed="rId2"/>
          <a:stretch>
            <a:fillRect/>
          </a:stretch>
        </p:blipFill>
        <p:spPr>
          <a:xfrm>
            <a:off x="1025769" y="1301297"/>
            <a:ext cx="6525861" cy="52914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FAA35-E877-80FD-4A96-73E9960383C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EF35984-FBBD-2369-84BC-E109720F0B52}"/>
              </a:ext>
            </a:extLst>
          </p:cNvPr>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三、实验评估</a:t>
            </a:r>
            <a:endParaRPr lang="zh-CN" altLang="en-US" dirty="0">
              <a:latin typeface="华文宋体" panose="02010600040101010101" pitchFamily="2" charset="-122"/>
              <a:ea typeface="华文宋体" panose="02010600040101010101" pitchFamily="2" charset="-122"/>
            </a:endParaRPr>
          </a:p>
        </p:txBody>
      </p:sp>
      <p:sp>
        <p:nvSpPr>
          <p:cNvPr id="3" name="文本框 2">
            <a:extLst>
              <a:ext uri="{FF2B5EF4-FFF2-40B4-BE49-F238E27FC236}">
                <a16:creationId xmlns:a16="http://schemas.microsoft.com/office/drawing/2014/main" id="{6266EB82-F905-0B07-2C06-22B1EEF991A4}"/>
              </a:ext>
            </a:extLst>
          </p:cNvPr>
          <p:cNvSpPr txBox="1"/>
          <p:nvPr/>
        </p:nvSpPr>
        <p:spPr>
          <a:xfrm>
            <a:off x="7618264" y="1564809"/>
            <a:ext cx="3389706" cy="4401205"/>
          </a:xfrm>
          <a:prstGeom prst="rect">
            <a:avLst/>
          </a:prstGeom>
          <a:noFill/>
        </p:spPr>
        <p:txBody>
          <a:bodyPr wrap="square" rtlCol="0">
            <a:spAutoFit/>
          </a:bodyPr>
          <a:lstStyle/>
          <a:p>
            <a:r>
              <a:rPr lang="zh-CN" altLang="en-US" sz="2800" dirty="0"/>
              <a:t>按语义划分的结果特征：</a:t>
            </a:r>
            <a:r>
              <a:rPr lang="en-US" altLang="zh-CN" sz="2800" dirty="0"/>
              <a:t>CANHUNTER</a:t>
            </a:r>
            <a:r>
              <a:rPr lang="zh-CN" altLang="en-US" sz="2800" dirty="0"/>
              <a:t>总共成功恢复了</a:t>
            </a:r>
            <a:r>
              <a:rPr lang="en-US" altLang="zh-CN" sz="2800" dirty="0"/>
              <a:t>157296</a:t>
            </a:r>
            <a:r>
              <a:rPr lang="zh-CN" altLang="en-US" sz="2800" dirty="0"/>
              <a:t>条（</a:t>
            </a:r>
            <a:r>
              <a:rPr lang="en-US" altLang="zh-CN" sz="2800" dirty="0"/>
              <a:t>86.1%</a:t>
            </a:r>
            <a:r>
              <a:rPr lang="zh-CN" altLang="en-US" sz="2800" dirty="0"/>
              <a:t>）命令的相关语义。发现了 </a:t>
            </a:r>
            <a:r>
              <a:rPr lang="en-US" altLang="zh-CN" sz="2800" dirty="0"/>
              <a:t>3439 </a:t>
            </a:r>
            <a:r>
              <a:rPr lang="zh-CN" altLang="en-US" sz="2800" dirty="0"/>
              <a:t>种不同种类的语义。其中，</a:t>
            </a:r>
            <a:r>
              <a:rPr lang="en-US" altLang="zh-CN" sz="2800" dirty="0"/>
              <a:t>1309 </a:t>
            </a:r>
            <a:r>
              <a:rPr lang="zh-CN" altLang="en-US" sz="2800" dirty="0"/>
              <a:t>个命令语义用于车辆控制，其余用于诊断。</a:t>
            </a:r>
            <a:endParaRPr lang="en-US" altLang="zh-CN" sz="2800" dirty="0"/>
          </a:p>
        </p:txBody>
      </p:sp>
      <p:pic>
        <p:nvPicPr>
          <p:cNvPr id="5" name="图片 4">
            <a:extLst>
              <a:ext uri="{FF2B5EF4-FFF2-40B4-BE49-F238E27FC236}">
                <a16:creationId xmlns:a16="http://schemas.microsoft.com/office/drawing/2014/main" id="{47F7AB82-87A1-DA26-2F86-95004981759E}"/>
              </a:ext>
            </a:extLst>
          </p:cNvPr>
          <p:cNvPicPr>
            <a:picLocks noChangeAspect="1"/>
          </p:cNvPicPr>
          <p:nvPr/>
        </p:nvPicPr>
        <p:blipFill>
          <a:blip r:embed="rId3"/>
          <a:stretch>
            <a:fillRect/>
          </a:stretch>
        </p:blipFill>
        <p:spPr>
          <a:xfrm>
            <a:off x="347430" y="1329898"/>
            <a:ext cx="7116183" cy="4886720"/>
          </a:xfrm>
          <a:prstGeom prst="rect">
            <a:avLst/>
          </a:prstGeom>
        </p:spPr>
      </p:pic>
    </p:spTree>
    <p:extLst>
      <p:ext uri="{BB962C8B-B14F-4D97-AF65-F5344CB8AC3E}">
        <p14:creationId xmlns:p14="http://schemas.microsoft.com/office/powerpoint/2010/main" val="2863984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三、实验评估</a:t>
            </a:r>
            <a:endParaRPr lang="zh-CN" altLang="en-US" dirty="0">
              <a:latin typeface="华文宋体" panose="02010600040101010101" pitchFamily="2" charset="-122"/>
              <a:ea typeface="华文宋体" panose="02010600040101010101" pitchFamily="2" charset="-122"/>
            </a:endParaRPr>
          </a:p>
        </p:txBody>
      </p:sp>
      <p:sp>
        <p:nvSpPr>
          <p:cNvPr id="3" name="文本框 2"/>
          <p:cNvSpPr txBox="1"/>
          <p:nvPr/>
        </p:nvSpPr>
        <p:spPr>
          <a:xfrm>
            <a:off x="818605" y="2050867"/>
            <a:ext cx="10554789" cy="3108543"/>
          </a:xfrm>
          <a:prstGeom prst="rect">
            <a:avLst/>
          </a:prstGeom>
          <a:noFill/>
        </p:spPr>
        <p:txBody>
          <a:bodyPr wrap="square" rtlCol="0">
            <a:spAutoFit/>
          </a:bodyPr>
          <a:lstStyle/>
          <a:p>
            <a:r>
              <a:rPr lang="zh-CN" altLang="en-US" sz="2800" dirty="0"/>
              <a:t>正确性评估：为了评估 </a:t>
            </a:r>
            <a:r>
              <a:rPr lang="en-US" altLang="zh-CN" sz="2800" dirty="0"/>
              <a:t>CANHUNTER </a:t>
            </a:r>
            <a:r>
              <a:rPr lang="zh-CN" altLang="en-US" sz="2800" dirty="0"/>
              <a:t>的有效性，我们需要验证从实验中恢复的 </a:t>
            </a:r>
            <a:r>
              <a:rPr lang="en-US" altLang="zh-CN" sz="2800" dirty="0"/>
              <a:t>CAN </a:t>
            </a:r>
            <a:r>
              <a:rPr lang="zh-CN" altLang="en-US" sz="2800" dirty="0"/>
              <a:t>总线命令的正确性。在本文中，从公共资源、交叉验证和实车测试三个来源评估其有效性。这使我们能够成功验证 </a:t>
            </a:r>
            <a:r>
              <a:rPr lang="en-US" altLang="zh-CN" sz="2800" dirty="0"/>
              <a:t>130,011 </a:t>
            </a:r>
            <a:r>
              <a:rPr lang="zh-CN" altLang="en-US" sz="2800" dirty="0"/>
              <a:t>个 （</a:t>
            </a:r>
            <a:r>
              <a:rPr lang="en-US" altLang="zh-CN" sz="2800" dirty="0"/>
              <a:t>71.2%</a:t>
            </a:r>
            <a:r>
              <a:rPr lang="zh-CN" altLang="en-US" sz="2800" dirty="0"/>
              <a:t>） 命令语法以及 </a:t>
            </a:r>
            <a:r>
              <a:rPr lang="en-US" altLang="zh-CN" sz="2800" dirty="0"/>
              <a:t>128,298 </a:t>
            </a:r>
            <a:r>
              <a:rPr lang="zh-CN" altLang="en-US" sz="2800" dirty="0"/>
              <a:t>个 （</a:t>
            </a:r>
            <a:r>
              <a:rPr lang="en-US" altLang="zh-CN" sz="2800" dirty="0"/>
              <a:t>70.3%</a:t>
            </a:r>
            <a:r>
              <a:rPr lang="zh-CN" altLang="en-US" sz="2800" dirty="0"/>
              <a:t>） 命令语义。由于不同车型的命令通常大不相同，因此文中只比较同一车型的命令。评估我们结果的方法有三种：（</a:t>
            </a:r>
            <a:r>
              <a:rPr lang="en-US" altLang="zh-CN" sz="2800" dirty="0"/>
              <a:t>1</a:t>
            </a:r>
            <a:r>
              <a:rPr lang="zh-CN" altLang="en-US" sz="2800" dirty="0"/>
              <a:t>）公共资源，（</a:t>
            </a:r>
            <a:r>
              <a:rPr lang="en-US" altLang="zh-CN" sz="2800" dirty="0"/>
              <a:t>2</a:t>
            </a:r>
            <a:r>
              <a:rPr lang="zh-CN" altLang="en-US" sz="2800" dirty="0"/>
              <a:t>）跨应用和跨平台验证，以及（</a:t>
            </a:r>
            <a:r>
              <a:rPr lang="en-US" altLang="zh-CN" sz="2800" dirty="0"/>
              <a:t>3</a:t>
            </a:r>
            <a:r>
              <a:rPr lang="zh-CN" altLang="en-US" sz="2800" dirty="0"/>
              <a:t>）实车测试。</a:t>
            </a:r>
            <a:endParaRPr lang="en-US" altLang="zh-CN"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三、实验评估</a:t>
            </a:r>
            <a:endParaRPr lang="zh-CN" altLang="en-US" dirty="0">
              <a:latin typeface="华文宋体" panose="02010600040101010101" pitchFamily="2" charset="-122"/>
              <a:ea typeface="华文宋体" panose="02010600040101010101" pitchFamily="2" charset="-122"/>
            </a:endParaRPr>
          </a:p>
        </p:txBody>
      </p:sp>
      <p:sp>
        <p:nvSpPr>
          <p:cNvPr id="6" name="文本框 5">
            <a:extLst>
              <a:ext uri="{FF2B5EF4-FFF2-40B4-BE49-F238E27FC236}">
                <a16:creationId xmlns:a16="http://schemas.microsoft.com/office/drawing/2014/main" id="{7570F848-FF3F-EEE6-C944-A01E8BCC563A}"/>
              </a:ext>
            </a:extLst>
          </p:cNvPr>
          <p:cNvSpPr txBox="1"/>
          <p:nvPr/>
        </p:nvSpPr>
        <p:spPr>
          <a:xfrm>
            <a:off x="712177" y="1459331"/>
            <a:ext cx="3209192" cy="4801314"/>
          </a:xfrm>
          <a:prstGeom prst="rect">
            <a:avLst/>
          </a:prstGeom>
          <a:noFill/>
        </p:spPr>
        <p:txBody>
          <a:bodyPr wrap="square">
            <a:spAutoFit/>
          </a:bodyPr>
          <a:lstStyle/>
          <a:p>
            <a:r>
              <a:rPr lang="zh-CN" altLang="en-US" sz="1800" dirty="0"/>
              <a:t>（</a:t>
            </a:r>
            <a:r>
              <a:rPr lang="en-US" altLang="zh-CN" sz="1800" dirty="0"/>
              <a:t>1</a:t>
            </a:r>
            <a:r>
              <a:rPr lang="zh-CN" altLang="en-US" sz="1800" dirty="0"/>
              <a:t>）公共资源。虽然 </a:t>
            </a:r>
            <a:r>
              <a:rPr lang="en-US" altLang="zh-CN" sz="1800" dirty="0"/>
              <a:t>CAN </a:t>
            </a:r>
            <a:r>
              <a:rPr lang="zh-CN" altLang="en-US" sz="1800" dirty="0"/>
              <a:t>总线命令是机密的，但我们发现其中一些仍然公开可用，例如，发布在汽车黑客论坛上，但分散在互联网上。我们尽最大努力从在线论坛和文档中搜索基本事实。此外，我们还查了 </a:t>
            </a:r>
            <a:r>
              <a:rPr lang="en-US" altLang="zh-CN" sz="1800" dirty="0"/>
              <a:t>3 </a:t>
            </a:r>
            <a:r>
              <a:rPr lang="zh-CN" altLang="en-US" sz="1800" dirty="0"/>
              <a:t>个开源自动驾驶汽车平台的源代码：</a:t>
            </a:r>
            <a:r>
              <a:rPr lang="en-US" altLang="zh-CN" sz="1800" dirty="0" err="1"/>
              <a:t>ApolloAuto</a:t>
            </a:r>
            <a:r>
              <a:rPr lang="zh-CN" altLang="en-US" sz="1800" dirty="0"/>
              <a:t>、</a:t>
            </a:r>
            <a:r>
              <a:rPr lang="en-US" altLang="zh-CN" sz="1800" dirty="0" err="1"/>
              <a:t>Autoware</a:t>
            </a:r>
            <a:r>
              <a:rPr lang="en-US" altLang="zh-CN" sz="1800" dirty="0"/>
              <a:t> </a:t>
            </a:r>
            <a:r>
              <a:rPr lang="zh-CN" altLang="en-US" sz="1800" dirty="0"/>
              <a:t>和 </a:t>
            </a:r>
            <a:r>
              <a:rPr lang="en-US" altLang="zh-CN" sz="1800" dirty="0" err="1"/>
              <a:t>Openpilot</a:t>
            </a:r>
            <a:r>
              <a:rPr lang="zh-CN" altLang="en-US" sz="1800" dirty="0"/>
              <a:t>，它们也可能有 </a:t>
            </a:r>
            <a:r>
              <a:rPr lang="en-US" altLang="zh-CN" sz="1800" dirty="0"/>
              <a:t>CAN </a:t>
            </a:r>
            <a:r>
              <a:rPr lang="zh-CN" altLang="en-US" sz="1800" dirty="0"/>
              <a:t>总线命令。其中，我们从 </a:t>
            </a:r>
            <a:r>
              <a:rPr lang="en-US" altLang="zh-CN" sz="1800" dirty="0" err="1"/>
              <a:t>Openpilot</a:t>
            </a:r>
            <a:r>
              <a:rPr lang="en-US" altLang="zh-CN" sz="1800" dirty="0"/>
              <a:t> </a:t>
            </a:r>
            <a:r>
              <a:rPr lang="zh-CN" altLang="en-US" sz="1800" dirty="0"/>
              <a:t>中找到了匹配的 </a:t>
            </a:r>
            <a:r>
              <a:rPr lang="en-US" altLang="zh-CN" sz="1800" dirty="0"/>
              <a:t>CAN </a:t>
            </a:r>
            <a:r>
              <a:rPr lang="zh-CN" altLang="en-US" sz="1800" dirty="0"/>
              <a:t>总线命令，但没有从其他两个代码库中找到匹配的 </a:t>
            </a:r>
            <a:r>
              <a:rPr lang="en-US" altLang="zh-CN" sz="1800" dirty="0"/>
              <a:t>CAN </a:t>
            </a:r>
            <a:r>
              <a:rPr lang="zh-CN" altLang="en-US" sz="1800" dirty="0"/>
              <a:t>总线命令，因为它们的汽车型号与我们结果中的车型不匹配。</a:t>
            </a:r>
            <a:endParaRPr lang="en-US" altLang="zh-CN" sz="1800" dirty="0"/>
          </a:p>
        </p:txBody>
      </p:sp>
      <p:pic>
        <p:nvPicPr>
          <p:cNvPr id="11" name="图片 10">
            <a:extLst>
              <a:ext uri="{FF2B5EF4-FFF2-40B4-BE49-F238E27FC236}">
                <a16:creationId xmlns:a16="http://schemas.microsoft.com/office/drawing/2014/main" id="{EC4E9E12-F839-5071-1954-D9C4C29713D7}"/>
              </a:ext>
            </a:extLst>
          </p:cNvPr>
          <p:cNvPicPr>
            <a:picLocks noChangeAspect="1"/>
          </p:cNvPicPr>
          <p:nvPr/>
        </p:nvPicPr>
        <p:blipFill>
          <a:blip r:embed="rId3"/>
          <a:stretch>
            <a:fillRect/>
          </a:stretch>
        </p:blipFill>
        <p:spPr>
          <a:xfrm>
            <a:off x="5893576" y="1022936"/>
            <a:ext cx="4754114" cy="576775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三、实验评估</a:t>
            </a:r>
            <a:endParaRPr lang="zh-CN" altLang="en-US" dirty="0">
              <a:latin typeface="华文宋体" panose="02010600040101010101" pitchFamily="2" charset="-122"/>
              <a:ea typeface="华文宋体" panose="02010600040101010101" pitchFamily="2" charset="-122"/>
            </a:endParaRPr>
          </a:p>
        </p:txBody>
      </p:sp>
      <p:sp>
        <p:nvSpPr>
          <p:cNvPr id="6" name="文本框 5">
            <a:extLst>
              <a:ext uri="{FF2B5EF4-FFF2-40B4-BE49-F238E27FC236}">
                <a16:creationId xmlns:a16="http://schemas.microsoft.com/office/drawing/2014/main" id="{1EB25E21-D324-1A42-1E1B-CAC0161BAE9F}"/>
              </a:ext>
            </a:extLst>
          </p:cNvPr>
          <p:cNvSpPr txBox="1"/>
          <p:nvPr/>
        </p:nvSpPr>
        <p:spPr>
          <a:xfrm>
            <a:off x="414337" y="1128713"/>
            <a:ext cx="11115675" cy="830997"/>
          </a:xfrm>
          <a:prstGeom prst="rect">
            <a:avLst/>
          </a:prstGeom>
          <a:noFill/>
        </p:spPr>
        <p:txBody>
          <a:bodyPr wrap="square" rtlCol="0">
            <a:spAutoFit/>
          </a:bodyPr>
          <a:lstStyle/>
          <a:p>
            <a:r>
              <a:rPr lang="en-US" altLang="zh-CN" sz="2400" dirty="0"/>
              <a:t>(2)</a:t>
            </a:r>
            <a:r>
              <a:rPr lang="zh-CN" altLang="en-US" sz="2400" dirty="0"/>
              <a:t>跨应用和跨平台验证</a:t>
            </a:r>
            <a:r>
              <a:rPr lang="en-US" altLang="zh-CN" sz="2400" dirty="0"/>
              <a:t>:</a:t>
            </a:r>
            <a:r>
              <a:rPr lang="zh-CN" altLang="en-US" sz="2400" dirty="0"/>
              <a:t>由于</a:t>
            </a:r>
            <a:r>
              <a:rPr lang="en-US" altLang="zh-CN" sz="2400" dirty="0"/>
              <a:t>CAN</a:t>
            </a:r>
            <a:r>
              <a:rPr lang="zh-CN" altLang="en-US" sz="2400" dirty="0"/>
              <a:t>总线命令独立于汽车配套应用程序，因此同一车型的命令语法和语义在不同应用程序之间应保持一致，从而可以进行正确性评估。</a:t>
            </a:r>
          </a:p>
        </p:txBody>
      </p:sp>
      <p:pic>
        <p:nvPicPr>
          <p:cNvPr id="11" name="图片 10">
            <a:extLst>
              <a:ext uri="{FF2B5EF4-FFF2-40B4-BE49-F238E27FC236}">
                <a16:creationId xmlns:a16="http://schemas.microsoft.com/office/drawing/2014/main" id="{BC459D71-91FC-2AB6-8F26-B5E69F2F7D31}"/>
              </a:ext>
            </a:extLst>
          </p:cNvPr>
          <p:cNvPicPr>
            <a:picLocks noChangeAspect="1"/>
          </p:cNvPicPr>
          <p:nvPr/>
        </p:nvPicPr>
        <p:blipFill>
          <a:blip r:embed="rId3"/>
          <a:stretch>
            <a:fillRect/>
          </a:stretch>
        </p:blipFill>
        <p:spPr>
          <a:xfrm>
            <a:off x="3490451" y="2346943"/>
            <a:ext cx="6611273" cy="3962953"/>
          </a:xfrm>
          <a:prstGeom prst="rect">
            <a:avLst/>
          </a:prstGeom>
        </p:spPr>
      </p:pic>
      <p:sp>
        <p:nvSpPr>
          <p:cNvPr id="12" name="文本框 11">
            <a:extLst>
              <a:ext uri="{FF2B5EF4-FFF2-40B4-BE49-F238E27FC236}">
                <a16:creationId xmlns:a16="http://schemas.microsoft.com/office/drawing/2014/main" id="{3F5062B2-A5AE-06F9-E585-E692FF57D5CD}"/>
              </a:ext>
            </a:extLst>
          </p:cNvPr>
          <p:cNvSpPr txBox="1"/>
          <p:nvPr/>
        </p:nvSpPr>
        <p:spPr>
          <a:xfrm>
            <a:off x="414337" y="2647623"/>
            <a:ext cx="2057401" cy="523220"/>
          </a:xfrm>
          <a:prstGeom prst="rect">
            <a:avLst/>
          </a:prstGeom>
          <a:noFill/>
        </p:spPr>
        <p:txBody>
          <a:bodyPr wrap="square" rtlCol="0">
            <a:spAutoFit/>
          </a:bodyPr>
          <a:lstStyle/>
          <a:p>
            <a:r>
              <a:rPr lang="zh-CN" altLang="en-US" sz="2800" dirty="0"/>
              <a:t>跨应用验证：</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三、实验评估</a:t>
            </a:r>
            <a:endParaRPr lang="zh-CN" altLang="en-US" dirty="0">
              <a:latin typeface="华文宋体" panose="02010600040101010101" pitchFamily="2" charset="-122"/>
              <a:ea typeface="华文宋体" panose="02010600040101010101" pitchFamily="2" charset="-122"/>
            </a:endParaRPr>
          </a:p>
        </p:txBody>
      </p:sp>
      <p:sp>
        <p:nvSpPr>
          <p:cNvPr id="3" name="文本框 2"/>
          <p:cNvSpPr txBox="1"/>
          <p:nvPr/>
        </p:nvSpPr>
        <p:spPr>
          <a:xfrm>
            <a:off x="1028701" y="1305341"/>
            <a:ext cx="2643188" cy="523220"/>
          </a:xfrm>
          <a:prstGeom prst="rect">
            <a:avLst/>
          </a:prstGeom>
          <a:noFill/>
        </p:spPr>
        <p:txBody>
          <a:bodyPr wrap="square" rtlCol="0">
            <a:spAutoFit/>
          </a:bodyPr>
          <a:lstStyle/>
          <a:p>
            <a:r>
              <a:rPr lang="zh-CN" altLang="en-US" sz="2800" dirty="0"/>
              <a:t>跨应用验证：</a:t>
            </a:r>
            <a:endParaRPr lang="en-US" altLang="zh-CN" sz="2800" dirty="0"/>
          </a:p>
        </p:txBody>
      </p:sp>
      <p:pic>
        <p:nvPicPr>
          <p:cNvPr id="6" name="图片 5">
            <a:extLst>
              <a:ext uri="{FF2B5EF4-FFF2-40B4-BE49-F238E27FC236}">
                <a16:creationId xmlns:a16="http://schemas.microsoft.com/office/drawing/2014/main" id="{70A3F3CD-8F32-5CD5-1869-AED85FC4C50E}"/>
              </a:ext>
            </a:extLst>
          </p:cNvPr>
          <p:cNvPicPr>
            <a:picLocks noChangeAspect="1"/>
          </p:cNvPicPr>
          <p:nvPr/>
        </p:nvPicPr>
        <p:blipFill>
          <a:blip r:embed="rId3"/>
          <a:stretch>
            <a:fillRect/>
          </a:stretch>
        </p:blipFill>
        <p:spPr>
          <a:xfrm>
            <a:off x="4104770" y="1012908"/>
            <a:ext cx="6467980" cy="56169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9DE0F-0397-8874-5FC5-272B58B4321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6D95FEA-28FD-38D5-A371-7E261EBAE917}"/>
              </a:ext>
            </a:extLst>
          </p:cNvPr>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三、实验评估</a:t>
            </a:r>
            <a:endParaRPr lang="zh-CN" altLang="en-US" dirty="0">
              <a:latin typeface="华文宋体" panose="02010600040101010101" pitchFamily="2" charset="-122"/>
              <a:ea typeface="华文宋体" panose="02010600040101010101" pitchFamily="2" charset="-122"/>
            </a:endParaRPr>
          </a:p>
        </p:txBody>
      </p:sp>
      <p:sp>
        <p:nvSpPr>
          <p:cNvPr id="3" name="文本框 2">
            <a:extLst>
              <a:ext uri="{FF2B5EF4-FFF2-40B4-BE49-F238E27FC236}">
                <a16:creationId xmlns:a16="http://schemas.microsoft.com/office/drawing/2014/main" id="{7E0925B2-A95B-88EC-0A8C-A49DD86CAC3F}"/>
              </a:ext>
            </a:extLst>
          </p:cNvPr>
          <p:cNvSpPr txBox="1"/>
          <p:nvPr/>
        </p:nvSpPr>
        <p:spPr>
          <a:xfrm>
            <a:off x="1028701" y="1305341"/>
            <a:ext cx="2643188" cy="523220"/>
          </a:xfrm>
          <a:prstGeom prst="rect">
            <a:avLst/>
          </a:prstGeom>
          <a:noFill/>
        </p:spPr>
        <p:txBody>
          <a:bodyPr wrap="square" rtlCol="0">
            <a:spAutoFit/>
          </a:bodyPr>
          <a:lstStyle/>
          <a:p>
            <a:r>
              <a:rPr lang="zh-CN" altLang="en-US" sz="2800" dirty="0"/>
              <a:t>跨应用验证：</a:t>
            </a:r>
            <a:endParaRPr lang="en-US" altLang="zh-CN" sz="2800" dirty="0"/>
          </a:p>
        </p:txBody>
      </p:sp>
      <p:pic>
        <p:nvPicPr>
          <p:cNvPr id="6" name="图片 5">
            <a:extLst>
              <a:ext uri="{FF2B5EF4-FFF2-40B4-BE49-F238E27FC236}">
                <a16:creationId xmlns:a16="http://schemas.microsoft.com/office/drawing/2014/main" id="{A8701C2C-19DA-845E-00C2-ADB8E8A0BFCC}"/>
              </a:ext>
            </a:extLst>
          </p:cNvPr>
          <p:cNvPicPr>
            <a:picLocks noChangeAspect="1"/>
          </p:cNvPicPr>
          <p:nvPr/>
        </p:nvPicPr>
        <p:blipFill>
          <a:blip r:embed="rId3"/>
          <a:stretch>
            <a:fillRect/>
          </a:stretch>
        </p:blipFill>
        <p:spPr>
          <a:xfrm>
            <a:off x="4104770" y="1012908"/>
            <a:ext cx="6467980" cy="5616930"/>
          </a:xfrm>
          <a:prstGeom prst="rect">
            <a:avLst/>
          </a:prstGeom>
        </p:spPr>
      </p:pic>
    </p:spTree>
    <p:extLst>
      <p:ext uri="{BB962C8B-B14F-4D97-AF65-F5344CB8AC3E}">
        <p14:creationId xmlns:p14="http://schemas.microsoft.com/office/powerpoint/2010/main" val="2230173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A7969-E9AB-93F1-D119-2DDE2A5E7AC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BDB5683-A711-ACA7-C3B7-1F526EF15703}"/>
              </a:ext>
            </a:extLst>
          </p:cNvPr>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三、实验评估</a:t>
            </a:r>
            <a:endParaRPr lang="zh-CN" altLang="en-US" dirty="0">
              <a:latin typeface="华文宋体" panose="02010600040101010101" pitchFamily="2" charset="-122"/>
              <a:ea typeface="华文宋体" panose="02010600040101010101" pitchFamily="2" charset="-122"/>
            </a:endParaRPr>
          </a:p>
        </p:txBody>
      </p:sp>
      <p:sp>
        <p:nvSpPr>
          <p:cNvPr id="3" name="文本框 2">
            <a:extLst>
              <a:ext uri="{FF2B5EF4-FFF2-40B4-BE49-F238E27FC236}">
                <a16:creationId xmlns:a16="http://schemas.microsoft.com/office/drawing/2014/main" id="{46929854-F321-3122-63B8-7C4787928079}"/>
              </a:ext>
            </a:extLst>
          </p:cNvPr>
          <p:cNvSpPr txBox="1"/>
          <p:nvPr/>
        </p:nvSpPr>
        <p:spPr>
          <a:xfrm>
            <a:off x="385764" y="1057275"/>
            <a:ext cx="2643188" cy="523220"/>
          </a:xfrm>
          <a:prstGeom prst="rect">
            <a:avLst/>
          </a:prstGeom>
          <a:noFill/>
        </p:spPr>
        <p:txBody>
          <a:bodyPr wrap="square" rtlCol="0">
            <a:spAutoFit/>
          </a:bodyPr>
          <a:lstStyle/>
          <a:p>
            <a:r>
              <a:rPr lang="zh-CN" altLang="en-US" sz="2800" dirty="0"/>
              <a:t>实车测试：</a:t>
            </a:r>
            <a:endParaRPr lang="en-US" altLang="zh-CN" sz="2800" dirty="0"/>
          </a:p>
        </p:txBody>
      </p:sp>
      <p:pic>
        <p:nvPicPr>
          <p:cNvPr id="5" name="图片 4">
            <a:extLst>
              <a:ext uri="{FF2B5EF4-FFF2-40B4-BE49-F238E27FC236}">
                <a16:creationId xmlns:a16="http://schemas.microsoft.com/office/drawing/2014/main" id="{46163E6F-D5D1-4F53-D4B0-37A4F6E013BF}"/>
              </a:ext>
            </a:extLst>
          </p:cNvPr>
          <p:cNvPicPr>
            <a:picLocks noChangeAspect="1"/>
          </p:cNvPicPr>
          <p:nvPr/>
        </p:nvPicPr>
        <p:blipFill>
          <a:blip r:embed="rId3"/>
          <a:stretch>
            <a:fillRect/>
          </a:stretch>
        </p:blipFill>
        <p:spPr>
          <a:xfrm>
            <a:off x="385764" y="1686257"/>
            <a:ext cx="6241889" cy="4962813"/>
          </a:xfrm>
          <a:prstGeom prst="rect">
            <a:avLst/>
          </a:prstGeom>
        </p:spPr>
      </p:pic>
      <p:sp>
        <p:nvSpPr>
          <p:cNvPr id="7" name="文本框 6">
            <a:extLst>
              <a:ext uri="{FF2B5EF4-FFF2-40B4-BE49-F238E27FC236}">
                <a16:creationId xmlns:a16="http://schemas.microsoft.com/office/drawing/2014/main" id="{B2A055D2-54A9-2011-16E3-D41E1708CECD}"/>
              </a:ext>
            </a:extLst>
          </p:cNvPr>
          <p:cNvSpPr txBox="1"/>
          <p:nvPr/>
        </p:nvSpPr>
        <p:spPr>
          <a:xfrm>
            <a:off x="7375550" y="1951672"/>
            <a:ext cx="2868587" cy="3416320"/>
          </a:xfrm>
          <a:prstGeom prst="rect">
            <a:avLst/>
          </a:prstGeom>
          <a:noFill/>
        </p:spPr>
        <p:txBody>
          <a:bodyPr wrap="square" rtlCol="0">
            <a:spAutoFit/>
          </a:bodyPr>
          <a:lstStyle/>
          <a:p>
            <a:r>
              <a:rPr lang="zh-CN" altLang="en-US" sz="2400" dirty="0"/>
              <a:t>测试的两款车型是丰田 </a:t>
            </a:r>
            <a:r>
              <a:rPr lang="en-US" altLang="zh-CN" sz="2400" dirty="0"/>
              <a:t>RAV 4 2014 </a:t>
            </a:r>
            <a:r>
              <a:rPr lang="zh-CN" altLang="en-US" sz="2400" dirty="0"/>
              <a:t>和丰田卡罗拉 </a:t>
            </a:r>
            <a:r>
              <a:rPr lang="en-US" altLang="zh-CN" sz="2400" dirty="0"/>
              <a:t>2014</a:t>
            </a:r>
            <a:r>
              <a:rPr lang="zh-CN" altLang="en-US" sz="2400" dirty="0"/>
              <a:t>，测试的应用程序是 </a:t>
            </a:r>
            <a:r>
              <a:rPr lang="en-US" altLang="zh-CN" sz="2400" dirty="0" err="1"/>
              <a:t>com.prizmos.Carista</a:t>
            </a:r>
            <a:r>
              <a:rPr lang="zh-CN" altLang="en-US" sz="2400" dirty="0"/>
              <a:t>，它具有适用于 </a:t>
            </a:r>
            <a:r>
              <a:rPr lang="en-US" altLang="zh-CN" sz="2400" dirty="0"/>
              <a:t>Android </a:t>
            </a:r>
            <a:r>
              <a:rPr lang="zh-CN" altLang="en-US" sz="2400" dirty="0"/>
              <a:t>和 </a:t>
            </a:r>
            <a:r>
              <a:rPr lang="en-US" altLang="zh-CN" sz="2400" dirty="0"/>
              <a:t>iOS </a:t>
            </a:r>
            <a:r>
              <a:rPr lang="zh-CN" altLang="en-US" sz="2400" dirty="0"/>
              <a:t>的相同一组 </a:t>
            </a:r>
            <a:r>
              <a:rPr lang="en-US" altLang="zh-CN" sz="2400" dirty="0"/>
              <a:t>CAN </a:t>
            </a:r>
            <a:r>
              <a:rPr lang="zh-CN" altLang="en-US" sz="2400" dirty="0"/>
              <a:t>总线命令</a:t>
            </a:r>
            <a:r>
              <a:rPr lang="zh-CN" altLang="en-US" dirty="0"/>
              <a:t>。</a:t>
            </a:r>
          </a:p>
        </p:txBody>
      </p:sp>
    </p:spTree>
    <p:extLst>
      <p:ext uri="{BB962C8B-B14F-4D97-AF65-F5344CB8AC3E}">
        <p14:creationId xmlns:p14="http://schemas.microsoft.com/office/powerpoint/2010/main" val="1264829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6BFD2-8F75-83E1-5940-71CDDE9FBFF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33284E7-6D94-1D33-7FE3-D00E2E95EDFD}"/>
              </a:ext>
            </a:extLst>
          </p:cNvPr>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四、总结</a:t>
            </a:r>
            <a:endParaRPr lang="zh-CN" altLang="en-US" dirty="0">
              <a:latin typeface="华文宋体" panose="02010600040101010101" pitchFamily="2" charset="-122"/>
              <a:ea typeface="华文宋体" panose="02010600040101010101" pitchFamily="2" charset="-122"/>
            </a:endParaRPr>
          </a:p>
        </p:txBody>
      </p:sp>
      <p:sp>
        <p:nvSpPr>
          <p:cNvPr id="7" name="文本框 6">
            <a:extLst>
              <a:ext uri="{FF2B5EF4-FFF2-40B4-BE49-F238E27FC236}">
                <a16:creationId xmlns:a16="http://schemas.microsoft.com/office/drawing/2014/main" id="{4A236D6F-7F13-9787-73A8-6313FB263D5E}"/>
              </a:ext>
            </a:extLst>
          </p:cNvPr>
          <p:cNvSpPr txBox="1"/>
          <p:nvPr/>
        </p:nvSpPr>
        <p:spPr>
          <a:xfrm>
            <a:off x="1016794" y="1720840"/>
            <a:ext cx="10158411" cy="3416320"/>
          </a:xfrm>
          <a:prstGeom prst="rect">
            <a:avLst/>
          </a:prstGeom>
          <a:noFill/>
        </p:spPr>
        <p:txBody>
          <a:bodyPr wrap="square" rtlCol="0">
            <a:spAutoFit/>
          </a:bodyPr>
          <a:lstStyle/>
          <a:p>
            <a:r>
              <a:rPr lang="zh-CN" altLang="en-US" sz="2400" dirty="0"/>
              <a:t> </a:t>
            </a:r>
            <a:r>
              <a:rPr lang="en-US" altLang="zh-CN" sz="2400" dirty="0"/>
              <a:t>CANHUNTER</a:t>
            </a:r>
            <a:r>
              <a:rPr lang="zh-CN" altLang="en-US" sz="2400" dirty="0"/>
              <a:t>，这是第一个经济高效的自动跨平台 </a:t>
            </a:r>
            <a:r>
              <a:rPr lang="en-US" altLang="zh-CN" sz="2400" dirty="0"/>
              <a:t>CAN </a:t>
            </a:r>
            <a:r>
              <a:rPr lang="zh-CN" altLang="en-US" sz="2400" dirty="0"/>
              <a:t>总线命令逆向工程系统，通过仅分析配套的移动应用程序，而不使用真车。它具有使用向后切片和动态强制执行对 </a:t>
            </a:r>
            <a:r>
              <a:rPr lang="en-US" altLang="zh-CN" sz="2400" dirty="0"/>
              <a:t>CAN </a:t>
            </a:r>
            <a:r>
              <a:rPr lang="zh-CN" altLang="en-US" sz="2400" dirty="0"/>
              <a:t>总线命令进行语法恢复，以及使用 </a:t>
            </a:r>
            <a:r>
              <a:rPr lang="en-US" altLang="zh-CN" sz="2400" dirty="0"/>
              <a:t>UI </a:t>
            </a:r>
            <a:r>
              <a:rPr lang="zh-CN" altLang="en-US" sz="2400" dirty="0"/>
              <a:t>组件关联和函数参数关联进行语义恢复。开发了适用于 </a:t>
            </a:r>
            <a:r>
              <a:rPr lang="en-US" altLang="zh-CN" sz="2400" dirty="0"/>
              <a:t>Android </a:t>
            </a:r>
            <a:r>
              <a:rPr lang="zh-CN" altLang="en-US" sz="2400" dirty="0"/>
              <a:t>和 </a:t>
            </a:r>
            <a:r>
              <a:rPr lang="en-US" altLang="zh-CN" sz="2400" dirty="0"/>
              <a:t>iOS </a:t>
            </a:r>
            <a:r>
              <a:rPr lang="zh-CN" altLang="en-US" sz="2400" dirty="0"/>
              <a:t>平台的 </a:t>
            </a:r>
            <a:r>
              <a:rPr lang="en-US" altLang="zh-CN" sz="2400" dirty="0"/>
              <a:t>CANHUNTER </a:t>
            </a:r>
            <a:r>
              <a:rPr lang="zh-CN" altLang="en-US" sz="2400" dirty="0"/>
              <a:t>原型，并应用于测试来自两个应用市场的 </a:t>
            </a:r>
            <a:r>
              <a:rPr lang="en-US" altLang="zh-CN" sz="2400" dirty="0"/>
              <a:t>236 </a:t>
            </a:r>
            <a:r>
              <a:rPr lang="zh-CN" altLang="en-US" sz="2400" dirty="0"/>
              <a:t>款汽车伴侣应用程序。测评结果表明，</a:t>
            </a:r>
            <a:r>
              <a:rPr lang="en-US" altLang="zh-CN" sz="2400" dirty="0"/>
              <a:t>CANHUNTER</a:t>
            </a:r>
            <a:r>
              <a:rPr lang="zh-CN" altLang="en-US" sz="2400" dirty="0"/>
              <a:t>能够发现来自</a:t>
            </a:r>
            <a:r>
              <a:rPr lang="en-US" altLang="zh-CN" sz="2400" dirty="0"/>
              <a:t>21</a:t>
            </a:r>
            <a:r>
              <a:rPr lang="zh-CN" altLang="en-US" sz="2400" dirty="0"/>
              <a:t>家汽车制造商的</a:t>
            </a:r>
            <a:r>
              <a:rPr lang="en-US" altLang="zh-CN" sz="2400" dirty="0"/>
              <a:t>360</a:t>
            </a:r>
            <a:r>
              <a:rPr lang="zh-CN" altLang="en-US" sz="2400" dirty="0"/>
              <a:t>种车型的</a:t>
            </a:r>
            <a:r>
              <a:rPr lang="en-US" altLang="zh-CN" sz="2400" dirty="0"/>
              <a:t>182,619</a:t>
            </a:r>
            <a:r>
              <a:rPr lang="zh-CN" altLang="en-US" sz="2400" dirty="0"/>
              <a:t>个唯一</a:t>
            </a:r>
            <a:r>
              <a:rPr lang="en-US" altLang="zh-CN" sz="2400" dirty="0"/>
              <a:t>CAN</a:t>
            </a:r>
            <a:r>
              <a:rPr lang="zh-CN" altLang="en-US" sz="2400" dirty="0"/>
              <a:t>总线命令，并恢复了其中</a:t>
            </a:r>
            <a:r>
              <a:rPr lang="en-US" altLang="zh-CN" sz="2400" dirty="0"/>
              <a:t>86.1%</a:t>
            </a:r>
            <a:r>
              <a:rPr lang="zh-CN" altLang="en-US" sz="2400" dirty="0"/>
              <a:t>的语义。通过公共资源、交叉验证以及实车测试，我们已经验证了超过 </a:t>
            </a:r>
            <a:r>
              <a:rPr lang="en-US" altLang="zh-CN" sz="2400" dirty="0"/>
              <a:t>70% </a:t>
            </a:r>
            <a:r>
              <a:rPr lang="zh-CN" altLang="en-US" sz="2400" dirty="0"/>
              <a:t>的恢复 </a:t>
            </a:r>
            <a:r>
              <a:rPr lang="en-US" altLang="zh-CN" sz="2400" dirty="0"/>
              <a:t>CAN </a:t>
            </a:r>
            <a:r>
              <a:rPr lang="zh-CN" altLang="en-US" sz="2400" dirty="0"/>
              <a:t>总线命令的语法和语义。</a:t>
            </a:r>
          </a:p>
        </p:txBody>
      </p:sp>
    </p:spTree>
    <p:extLst>
      <p:ext uri="{BB962C8B-B14F-4D97-AF65-F5344CB8AC3E}">
        <p14:creationId xmlns:p14="http://schemas.microsoft.com/office/powerpoint/2010/main" val="2475293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EB9E2-303E-7500-D386-248428A82C9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372A2C7-83F1-65B6-F890-3857A9E70817}"/>
              </a:ext>
            </a:extLst>
          </p:cNvPr>
          <p:cNvSpPr>
            <a:spLocks noGrp="1"/>
          </p:cNvSpPr>
          <p:nvPr>
            <p:ph type="title"/>
          </p:nvPr>
        </p:nvSpPr>
        <p:spPr/>
        <p:txBody>
          <a:bodyPr/>
          <a:lstStyle/>
          <a:p>
            <a:r>
              <a:rPr lang="zh-CN" altLang="en-US" kern="0" dirty="0">
                <a:solidFill>
                  <a:srgbClr val="FFFFFF"/>
                </a:solidFill>
                <a:latin typeface="华文中宋" panose="02010600040101010101" charset="-122"/>
                <a:ea typeface="华文中宋" panose="02010600040101010101" charset="-122"/>
                <a:sym typeface="Helvetica"/>
              </a:rPr>
              <a:t>四、总结</a:t>
            </a:r>
            <a:endParaRPr lang="zh-CN" altLang="en-US" dirty="0">
              <a:latin typeface="华文宋体" panose="02010600040101010101" pitchFamily="2" charset="-122"/>
              <a:ea typeface="华文宋体" panose="02010600040101010101" pitchFamily="2" charset="-122"/>
            </a:endParaRPr>
          </a:p>
        </p:txBody>
      </p:sp>
      <p:sp>
        <p:nvSpPr>
          <p:cNvPr id="4" name="文本框 3">
            <a:extLst>
              <a:ext uri="{FF2B5EF4-FFF2-40B4-BE49-F238E27FC236}">
                <a16:creationId xmlns:a16="http://schemas.microsoft.com/office/drawing/2014/main" id="{D4DC53C4-8245-3BAA-D5B3-DEC56C573507}"/>
              </a:ext>
            </a:extLst>
          </p:cNvPr>
          <p:cNvSpPr txBox="1"/>
          <p:nvPr/>
        </p:nvSpPr>
        <p:spPr>
          <a:xfrm>
            <a:off x="485775" y="1157288"/>
            <a:ext cx="3200400" cy="523220"/>
          </a:xfrm>
          <a:prstGeom prst="rect">
            <a:avLst/>
          </a:prstGeom>
          <a:noFill/>
        </p:spPr>
        <p:txBody>
          <a:bodyPr wrap="square" rtlCol="0">
            <a:spAutoFit/>
          </a:bodyPr>
          <a:lstStyle/>
          <a:p>
            <a:r>
              <a:rPr lang="zh-CN" altLang="en-US" sz="2800" dirty="0"/>
              <a:t>未来展望和不足：</a:t>
            </a:r>
          </a:p>
        </p:txBody>
      </p:sp>
      <p:sp>
        <p:nvSpPr>
          <p:cNvPr id="6" name="文本框 5">
            <a:extLst>
              <a:ext uri="{FF2B5EF4-FFF2-40B4-BE49-F238E27FC236}">
                <a16:creationId xmlns:a16="http://schemas.microsoft.com/office/drawing/2014/main" id="{CC8FF5DC-02DA-EDA7-47AD-908F73240086}"/>
              </a:ext>
            </a:extLst>
          </p:cNvPr>
          <p:cNvSpPr txBox="1"/>
          <p:nvPr/>
        </p:nvSpPr>
        <p:spPr>
          <a:xfrm>
            <a:off x="771525" y="2128838"/>
            <a:ext cx="10658475" cy="3477875"/>
          </a:xfrm>
          <a:prstGeom prst="rect">
            <a:avLst/>
          </a:prstGeom>
          <a:noFill/>
        </p:spPr>
        <p:txBody>
          <a:bodyPr wrap="square" rtlCol="0">
            <a:spAutoFit/>
          </a:bodyPr>
          <a:lstStyle/>
          <a:p>
            <a:r>
              <a:rPr lang="zh-CN" altLang="en-US" sz="2000" dirty="0"/>
              <a:t>虽然 </a:t>
            </a:r>
            <a:r>
              <a:rPr lang="en-US" altLang="zh-CN" sz="2000" dirty="0"/>
              <a:t>CANHUNTER </a:t>
            </a:r>
            <a:r>
              <a:rPr lang="zh-CN" altLang="en-US" sz="2000" dirty="0"/>
              <a:t>已经发现了大量的 </a:t>
            </a:r>
            <a:r>
              <a:rPr lang="en-US" altLang="zh-CN" sz="2000" dirty="0"/>
              <a:t>CAN </a:t>
            </a:r>
            <a:r>
              <a:rPr lang="zh-CN" altLang="en-US" sz="2000" dirty="0"/>
              <a:t>总线命令，但它仍然存在一些局限性。首先，由于基本事实和资源有限，我们只能验证 </a:t>
            </a:r>
            <a:r>
              <a:rPr lang="en-US" altLang="zh-CN" sz="2000" dirty="0"/>
              <a:t>70% </a:t>
            </a:r>
            <a:r>
              <a:rPr lang="zh-CN" altLang="en-US" sz="2000" dirty="0"/>
              <a:t>的结果。此外，假阴性可能存在，因为 </a:t>
            </a:r>
            <a:r>
              <a:rPr lang="en-US" altLang="zh-CN" sz="2000" dirty="0"/>
              <a:t>CANHUNTER </a:t>
            </a:r>
            <a:r>
              <a:rPr lang="zh-CN" altLang="en-US" sz="2000" dirty="0"/>
              <a:t>只关注从低级网络 </a:t>
            </a:r>
            <a:r>
              <a:rPr lang="en-US" altLang="zh-CN" sz="2000" dirty="0"/>
              <a:t>API </a:t>
            </a:r>
            <a:r>
              <a:rPr lang="zh-CN" altLang="en-US" sz="2000" dirty="0"/>
              <a:t>发送的 </a:t>
            </a:r>
            <a:r>
              <a:rPr lang="en-US" altLang="zh-CN" sz="2000" dirty="0"/>
              <a:t>CAN </a:t>
            </a:r>
            <a:r>
              <a:rPr lang="zh-CN" altLang="en-US" sz="2000" dirty="0"/>
              <a:t>总线命令。</a:t>
            </a:r>
            <a:endParaRPr lang="en-US" altLang="zh-CN" sz="2000" dirty="0"/>
          </a:p>
          <a:p>
            <a:r>
              <a:rPr lang="zh-CN" altLang="en-US" sz="2000" dirty="0"/>
              <a:t>其次，正如中发现的，我们当前的 </a:t>
            </a:r>
            <a:r>
              <a:rPr lang="en-US" altLang="zh-CN" sz="2000" dirty="0"/>
              <a:t>CANHUNTER </a:t>
            </a:r>
            <a:r>
              <a:rPr lang="zh-CN" altLang="en-US" sz="2000" dirty="0"/>
              <a:t>实现对控制流混淆等反分析技术没有弹性，这可能会使我们的向后切片失败。混淆一直是静态程序分析和逆向工程的挑战。</a:t>
            </a:r>
            <a:endParaRPr lang="en-US" altLang="zh-CN" sz="2000" dirty="0"/>
          </a:p>
          <a:p>
            <a:r>
              <a:rPr lang="zh-CN" altLang="en-US" sz="2000" dirty="0"/>
              <a:t>最后，随着物联网行业的蓬勃发展，有大量的物联网设备具有配套的移动应用程序，例如智能家居系统中的应用程序。为了使这些移动应用程序能够与物联网设备进行通信，设计了各种物联网协议。</a:t>
            </a:r>
            <a:r>
              <a:rPr lang="en-US" altLang="zh-CN" sz="2000" dirty="0"/>
              <a:t>CAN</a:t>
            </a:r>
            <a:r>
              <a:rPr lang="zh-CN" altLang="en-US" sz="2000" dirty="0"/>
              <a:t>是一种特殊类型的物联网协议，</a:t>
            </a:r>
            <a:r>
              <a:rPr lang="en-US" altLang="zh-CN" sz="2000" dirty="0"/>
              <a:t>CAN</a:t>
            </a:r>
            <a:r>
              <a:rPr lang="zh-CN" altLang="en-US" sz="2000" dirty="0"/>
              <a:t>总线命令是决定该功能的协议消息数据。因此，</a:t>
            </a:r>
            <a:r>
              <a:rPr lang="en-US" altLang="zh-CN" sz="2000" dirty="0"/>
              <a:t>CANHUNTER </a:t>
            </a:r>
            <a:r>
              <a:rPr lang="zh-CN" altLang="en-US" sz="2000" dirty="0"/>
              <a:t>有可能扩展到对其他物联网协议的语法和语义进行逆向工程。此外，由于</a:t>
            </a:r>
            <a:r>
              <a:rPr lang="en-US" altLang="zh-CN" sz="2000" dirty="0"/>
              <a:t>CANHUNTER</a:t>
            </a:r>
            <a:r>
              <a:rPr lang="zh-CN" altLang="en-US" sz="2000" dirty="0"/>
              <a:t>采用动态强制执行，分析不需要真实设备连接，因此具有实现大规模物联网配套移动应用分析的巨大潜力。</a:t>
            </a:r>
          </a:p>
        </p:txBody>
      </p:sp>
    </p:spTree>
    <p:extLst>
      <p:ext uri="{BB962C8B-B14F-4D97-AF65-F5344CB8AC3E}">
        <p14:creationId xmlns:p14="http://schemas.microsoft.com/office/powerpoint/2010/main" val="1353202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583" y="117566"/>
            <a:ext cx="3113573" cy="834597"/>
          </a:xfrm>
          <a:prstGeom prst="rect">
            <a:avLst/>
          </a:prstGeom>
        </p:spPr>
      </p:pic>
      <p:sp>
        <p:nvSpPr>
          <p:cNvPr id="2" name="文本框 1"/>
          <p:cNvSpPr txBox="1"/>
          <p:nvPr/>
        </p:nvSpPr>
        <p:spPr>
          <a:xfrm>
            <a:off x="4372803" y="2186609"/>
            <a:ext cx="3446394" cy="769441"/>
          </a:xfrm>
          <a:prstGeom prst="rect">
            <a:avLst/>
          </a:prstGeom>
          <a:noFill/>
        </p:spPr>
        <p:txBody>
          <a:bodyPr wrap="square" rtlCol="0">
            <a:spAutoFit/>
          </a:bodyPr>
          <a:lstStyle/>
          <a:p>
            <a:r>
              <a:rPr lang="zh-CN" altLang="en-US" sz="4400" dirty="0"/>
              <a:t>望批评指正！</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M2ZTE3OWRlNDlmN2Y2NmFhOGFlMmQxMzZkYmYwY2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380</TotalTime>
  <Words>4023</Words>
  <Application>Microsoft Office PowerPoint</Application>
  <PresentationFormat>宽屏</PresentationFormat>
  <Paragraphs>168</Paragraphs>
  <Slides>25</Slides>
  <Notes>17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25</vt:i4>
      </vt:variant>
    </vt:vector>
  </HeadingPairs>
  <TitlesOfParts>
    <vt:vector size="35" baseType="lpstr">
      <vt:lpstr>Helvetica Light</vt:lpstr>
      <vt:lpstr>等线</vt:lpstr>
      <vt:lpstr>等线 Light</vt:lpstr>
      <vt:lpstr>华文宋体</vt:lpstr>
      <vt:lpstr>华文中宋</vt:lpstr>
      <vt:lpstr>微软雅黑</vt:lpstr>
      <vt:lpstr>Arial</vt:lpstr>
      <vt:lpstr>Calibri</vt:lpstr>
      <vt:lpstr>Helvetica</vt:lpstr>
      <vt:lpstr>Office 主题​​</vt:lpstr>
      <vt:lpstr>PowerPoint 演示文稿</vt:lpstr>
      <vt:lpstr>PowerPoint 演示文稿</vt:lpstr>
      <vt:lpstr>PowerPoint 演示文稿</vt:lpstr>
      <vt:lpstr>PowerPoint 演示文稿</vt:lpstr>
      <vt:lpstr> </vt:lpstr>
      <vt:lpstr>二、技术实现</vt:lpstr>
      <vt:lpstr>二、技术实现</vt:lpstr>
      <vt:lpstr>二、技术实现</vt:lpstr>
      <vt:lpstr>二、技术实现</vt:lpstr>
      <vt:lpstr>二、技术实现</vt:lpstr>
      <vt:lpstr>二、技术实现</vt:lpstr>
      <vt:lpstr>三、实验评估</vt:lpstr>
      <vt:lpstr>三、实验评估</vt:lpstr>
      <vt:lpstr>三、实验评估</vt:lpstr>
      <vt:lpstr>三、实验评估</vt:lpstr>
      <vt:lpstr>三、实验评估</vt:lpstr>
      <vt:lpstr>三、实验评估</vt:lpstr>
      <vt:lpstr>三、实验评估</vt:lpstr>
      <vt:lpstr>三、实验评估</vt:lpstr>
      <vt:lpstr>三、实验评估</vt:lpstr>
      <vt:lpstr>三、实验评估</vt:lpstr>
      <vt:lpstr>三、实验评估</vt:lpstr>
      <vt:lpstr>四、总结</vt:lpstr>
      <vt:lpstr>四、总结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xiaoguozi</dc:creator>
  <cp:lastModifiedBy>东辰 任</cp:lastModifiedBy>
  <cp:revision>687</cp:revision>
  <dcterms:created xsi:type="dcterms:W3CDTF">2024-04-25T08:40:00Z</dcterms:created>
  <dcterms:modified xsi:type="dcterms:W3CDTF">2026-07-06T14:00:03Z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C9056D03F92C4479B005BEC483885459_13</vt:lpwstr>
  </property>
  <property fmtid="{D5CDD505-2E9C-101B-9397-08002B2CF9AE}" pid="3" name="KSOProductBuildVer">
    <vt:lpwstr>2052-12.1.0.22529</vt:lpwstr>
  </property>
</Properties>
</file>